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본문" id="{779901bf-8dbf-6d5f-1f2d-6dad03250486}">
          <p14:sldIdLst>
            <p14:sldId id="256"/>
            <p14:sldId id="257"/>
            <p14:sldId id="258"/>
            <p14:sldId id="259"/>
            <p14:sldId id="260"/>
            <p14:sldId id="261"/>
            <p14:sldId id="262"/>
            <p14:sldId id="263"/>
            <p14:sldId id="264"/>
            <p14:sldId id="265"/>
            <p14:sldId id="266"/>
            <p14:sldId id="267"/>
            <p14:sldId id="268"/>
            <p14:sldId id="269"/>
            <p14:sldId id="270"/>
            <p14:sldId id="271"/>
          </p14:sldIdLst>
        </p14:section>
        <p14:section name="부록" id="{c3fdfa25-1529-9abf-7e0b-28aa337cda7c}">
          <p14:sldIdLst>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감정</c:v>
                </c:pt>
              </c:strCache>
            </c:strRef>
          </c:tx>
          <c:spPr>
            <a:solidFill>
              <a:srgbClr val="1C86D9"/>
            </a:solidFill>
            <a:ln w="31750" cap="flat">
              <a:solidFill>
                <a:srgbClr val="1C86D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9"/>
            <c:spPr>
              <a:solidFill>
                <a:srgbClr val="1C86D9"/>
              </a:solidFill>
              <a:ln w="9525" cap="flat">
                <a:solidFill>
                  <a:srgbClr val="1C86D9"/>
                </a:solidFill>
                <a:prstDash val="solid"/>
                <a:round/>
              </a:ln>
              <a:effectLst/>
            </c:spPr>
          </c:marker>
          <c:cat>
            <c:multiLvlStrRef>
              <c:f>Sheet1!$A$2:$A$7</c:f>
              <c:multiLvlStrCache>
                <c:ptCount val="6"/>
                <c:lvl>
                  <c:pt idx="0">
                    <c:v>① 소식 알기</c:v>
                  </c:pt>
                  <c:pt idx="1">
                    <c:v>② 찾기</c:v>
                  </c:pt>
                  <c:pt idx="2">
                    <c:v>③ 살지 판단</c:v>
                  </c:pt>
                  <c:pt idx="3">
                    <c:v>④ 기록</c:v>
                  </c:pt>
                  <c:pt idx="4">
                    <c:v>⑤ 모은 것 보기</c:v>
                  </c:pt>
                  <c:pt idx="5">
                    <c:v>⑥ 나누기</c:v>
                  </c:pt>
                </c:lvl>
              </c:multiLvlStrCache>
            </c:multiLvlStrRef>
          </c:cat>
          <c:val>
            <c:numRef>
              <c:f>Sheet1!$B$2:$B$7</c:f>
              <c:numCache>
                <c:formatCode>General</c:formatCode>
                <c:ptCount val="6"/>
                <c:pt idx="0">
                  <c:v>0</c:v>
                </c:pt>
                <c:pt idx="1">
                  <c:v>-1</c:v>
                </c:pt>
                <c:pt idx="2">
                  <c:v>-2</c:v>
                </c:pt>
                <c:pt idx="3">
                  <c:v>-1</c:v>
                </c:pt>
                <c:pt idx="4">
                  <c:v>0</c:v>
                </c:pt>
                <c:pt idx="5">
                  <c:v>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111111"/>
                </a:solidFill>
                <a:latin typeface="Malgun Gothic"/>
              </a:defRPr>
            </a:pPr>
            <a:endParaRPr lang="en-US"/>
          </a:p>
        </c:txPr>
        <c:crossAx val="2094734552"/>
        <c:crosses val="autoZero"/>
        <c:auto val="1"/>
        <c:lblAlgn val="ctr"/>
        <c:noMultiLvlLbl val="1"/>
      </c:catAx>
      <c:valAx>
        <c:axId val="2094734552"/>
        <c:scaling>
          <c:orientation val="minMax"/>
          <c:max val="2"/>
          <c:min val="-2"/>
        </c:scaling>
        <c:delete val="0"/>
        <c:axPos val="l"/>
        <c:majorGridlines>
          <c:spPr>
            <a:ln w="9525" cap="flat">
              <a:solidFill>
                <a:srgbClr val="EEEEEE"/>
              </a:solidFill>
              <a:prstDash val="solid"/>
              <a:round/>
            </a:ln>
          </c:spPr>
        </c:majorGridlines>
        <c:numFmt formatCode="+0;-0;0" sourceLinked="0"/>
        <c:majorTickMark val="out"/>
        <c:minorTickMark val="none"/>
        <c:tickLblPos val="nextTo"/>
        <c:spPr>
          <a:ln w="12700" cap="flat">
            <a:noFill/>
            <a:prstDash val="solid"/>
            <a:round/>
          </a:ln>
        </c:spPr>
        <c:txPr>
          <a:bodyPr/>
          <a:lstStyle/>
          <a:p>
            <a:pPr>
              <a:defRPr sz="900" b="0" i="0" u="none" strike="noStrike">
                <a:solidFill>
                  <a:srgbClr val="9AA0A6"/>
                </a:solidFill>
                <a:latin typeface="Malgun Gothic"/>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【표지 · 0:05】
[한국어]
안녕하세요. Hobby Atlas를 발표할 ZHENG BOWEN입니다.
[中文]
大家好，我是发表 Hobby Atlas 的 ZHENG BOWEN。</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【목차 · 0:05】
[한국어]
개요, 문제 정의, 화면이 바뀐 과정, 셀프 논증, 구현, 데모 순서로 말씀드리겠습니다.
[中文]
我会按 概要、问题定义、画面怎么变的、自我论证、实现、演示 的顺序讲。</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【프로젝트 개요 1/2 · 0:20】
[한국어]
Hobby Atlas는 피규어와 프라모델 수집가를 위한 앱입니다. 관심 있는 IP의 새 소식을 먼저 보고, 하트와 리본으로 한 번에 기록하면 도감이 켜집니다. 바탕이 된 앱은 hobbyDB입니다.
[中文]
Hobby Atlas 是给手办和模型收藏玩家的 App。先看关心 IP 的新消息，用爱心和丝带一次记录，图鉴就会亮。原型 App 是 hobbyDB。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【프로젝트 개요 2/2 — 첫 버전 → 지금 · 0:20】
[한국어]
왼쪽이 AI가 처음 만든 버전, 오른쪽이 지금입니다. 첫 버전은 hobbyDB처럼 상품 목록뿐이어서, 제가 화면을 다시 설계했습니다. 4일 동안 커밋 54번, 제 요청으로 하나씩 바꿨고, 그 과정은 해결 방법에서 보여 드리겠습니다.
[中文]
左边是 AI 最初做的版本，右边是现在。第一版像 hobbyDB 一样只有商品列表，所以我自己重新设计了画面。4 天里提交了 54 次，按我的要求一步一步改，过程在"解决方法"里展示。</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4</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【문제 정의 1/3 — 왜 만들었나 · 0:20】
[한국어]
건담 하나만 봐도, 프라모델은 호비 사이트, 완성품은 TAMASHII NATIONS, 한정판은 프리미엄 반다이, 경품은 BANPRESTO에 있습니다. 포켓몬과 베이블레이드까지 모으면 공식 사이트가 열 곳이 넘고, 서로 연결되지 않아 지난 상품은 찾기도 어렵습니다.
[中文]
光是高达：模型在 Bandai Hobby 官网，成品在 TAMASHII NATIONS，限定版在 Premium Bandai，景品在 BANPRESTO。再加上宝可梦和战斗陀螺，官网超过十个，彼此不互通，过去的商品也很难找到。</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5</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【문제 정의 2/3 — 기존 앱에 없는 기능 · 0:25】
[한국어]
이런 정보를 모아 주는 기존 앱 hobbyDB의 리뷰를 보면, 버그보다 없는 기능과 불편함이 많습니다. 라인별로 정리할 수 없고, 신상품은 늦게 올라오고, 넣고 빼기가 번거롭고, 자기 나라 통화 시세가 없습니다. 오른쪽이 Hobby Atlas의 답입니다.
[中文]
看现有 App hobbyDB 的评论，比起 bug，更多的是缺少的功能和不方便：不能按系列整理、新品上得慢、加入删除麻烦、没有本国货币的行情。右边是 Hobby Atlas 的回答。</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6</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【문제 정의 3/3 — 근본 원인 · 0:25】
[한국어]
퍼소나 민준의 저니에서 가장 낮은 곳은 "살지 판단"입니다. 정가, 시세, 이미 가졌는지를 한곳에서 볼 수 없습니다. 5 Why로 내려가 보니 근본 원인은, 화면이 내가 하는 일의 순서로 짜여 있지 않다는 것이었습니다.
[中文]
用户画像"民俊"的旅程里最低点是"判断要不要买"：定价、行情、是否已拥有，没法在一个地方看到。用 5 Why 追下去，根本原因是：画面不是按我做事的顺序组织的。</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7</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【해결 방법 1/4 — 홈 · 0:25】
[한국어]
이제 화면이 바뀐 과정입니다. 위의 노란 칸이 제 요청, 아래가 바뀐 화면입니다. 홈은 AI가 만든 목록에서 시작해, 제가 고른 매거진형, 배너와 가로 줄로 바뀌었습니다. 알약 필터는 너무 못생겨서 작품별 필터 패널로 바꿨습니다.
[中文]
下面是画面变化的过程。上面黄色格子是我的要求，下面是改后的画面。首页从 AI 做的列表开始，变成我选的杂志式，再变成横幅加横排。胶囊筛选太丑，改成按作品的筛选面板。</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8</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【해결 방법 2/4 — 상품 상세 · 0:25】
[한국어]
상품 상세는 크고 검은 버튼이 앱과 안 어울려서 작은 알약으로 바꾸고, AI 제안 중 세 가지만 골라 아래 고정 버튼과 정가 아래 시세 한 줄로 정리했습니다. 마지막으로 내가 쓴 돈도 적을 수 있게 했습니다.
[中文]
商品详情：大黑按钮和 App 不搭，改成小胶囊；AI 的建议里我只选了三条，做成底部固定按钮和定价下面一行行情。最后加上了记录自己花了多少钱。</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9</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【해결 방법 3/4 — 좋아요 · 구매함 · 도감 · 0:25】
[한국어]
좋아요와 구매함은 사진에서 바로 누르게 했고, 하나 더 모으면 레벨이 오르는 도감을 만들었습니다. IMDb처럼 리본으로 바꾼 뒤, AI가 모양이 제각각이라고 지적해서 모든 화면을 하나로 맞췄습니다.
[中文]
喜欢和已购买改成在图片上直接点；做了多收集一个就升级的图鉴。改成 IMDb 那样的丝带后，AI 指出样子不统一，于是把所有画面统一成一种。</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10</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【해결 방법 4/4 — 친구 · 내 정보 · 넓은 창 · 0:25】
[한국어]
내 정보에는 숫자와 사진 벽을 넣고, 친구 화면은 QQ처럼 홈에서 옆으로 여는 서랍으로 만들었습니다. 넓은 창에서는 폰 화면이 늘어나기만 해서, 폴드처럼 반반 화면으로 바꿨습니다.
[中文]
个人页加了数字和照片墙；好友画面做成像 QQ 一样从首页侧滑出来的抽屉。宽屏下原来只是把手机画面拉宽，所以改成像折叠屏那样的分屏。</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11</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【셀프 논증 · 0:40】
[한국어]
셀프 논증입니다. 왼쪽은 AI 반론을 받아들인 경우입니다. 저는 자리마다 다른 모양을 썼는데, AI에게 UI의 문제를 물으니 같은 구매함이 서너 가지 모양이라 일관성에 어긋난다고 했습니다. 리뷰 근거도 있어서 로고만 빼고 받아들였습니다. 오른쪽은 반대로 AI 제안을 제가 버린 경우입니다. 상태로 거르는 목록 대신 작품별로 거르게 했습니다.
[中文]
这是自我论证。左边是接受 AI 反驳的例子：我原本每个位置用不同样子，问 AI 我的 UI 有什么问题，它说同一个"已购买"有三四种样子，违反一致性。也有评论作依据，所以除了 Logo 都接受了。右边是我否决 AI 提议的例子：不按状态筛选，改成按作品筛选。</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12</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【Flutter 구현 · 0:30】
[한국어]
구현은 위젯 트리 하나입니다. 화면 이동은 쌓기, 옆으로, 덮기 세 가지, 데이터는 json-server GET만, 모든 화면에 로딩 · 오류 · 빈 상태가 있고, 창 너비에 따라 반반 화면으로 바뀝니다. 상태관리 패키지 없이 setState를 맨 위로 올렸습니다.
[中文]
实现就是一棵 Widget 树。跳转三种：叠加、横向、覆盖；数据只从 json-server 做 GET；所有画面都有加载、错误、空状态；根据窗口宽度切换分屏。没有用状态管理套件，把 setState 放到了最上层。</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13</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【데모 (라이브) · 1:00】
[한국어]
직접 보여 드리겠습니다. [홈] 배너가 넘어갑니다. 이 상품의 리본을 누르면 구매함에 들어갑니다. [카메라] 찍으면 AI가 비교하고 후보가 나옵니다. 미리 정해 둔 결과입니다. [컬렉션] 방금 담은 상품이 여기 있습니다. [도감] 칸이 켜지고 레벨이 오릅니다. [창 넓히기] 왼쪽은 앱, 오른쪽은 상세입니다. [오류] 서버를 끄고 채널을 바꾸면 오류와 다시 시도가 나옵니다.
[中文]
现在直接演示。【首页】横幅在翻页，点这个商品的丝带就加入已购买。【相机】拍照后 AI 比对给出候选，这是预设的结果。【收藏】刚才的商品在这里。【图鉴】格子亮了，等级上升。【拉宽窗口】左边 App，右边详情。【错误】关掉服务器再切换频道，出现错误和"重试"。</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14</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【Personal Learnings · 0:10】
[한국어]
가장 크게 배운 것은 화면을 사용자가 하는 일의 순서로 나눠야 한다는 것입니다. 감사합니다.
[中文]
最大的收获是：画面要按用户做事的顺序来划分。谢谢大家。</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15</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【Q&amp;A · 2:00】
[한국어]
질문 받겠습니다.
[中文]
现在接受提问。
Q1. AI 제안 중 받아들이지 않은 것은?
A. AI가 처음 만든 화면 자체를 버리고 제가 다시 설계했습니다. 또 상태로 거르는 목록, 알약 필터, 로고 시안도 폐기했습니다. 부록 B3 prompt-log에 있습니다.
问：没接受的 AI 提议？答：AI 最初做的整个画面我都推翻重新设计了；按状态筛选的列表、胶囊筛选、Logo 草案也都否决了。见附录 B3。
Q2. 상태관리 패키지 없이 화면끼리 값을 어떻게 맞췄나요?
A. 맨 위 StatefulWidget의 setState를 InheritedWidget으로 내려 줍니다. 홈에서 리본을 누르면 컬렉션 숫자가 같이 바뀌고, 저장은 하지 않습니다. 부록 B5-5에 있습니다.
问：没有状态管理套件怎么同步？答：最上层 StatefulWidget 的 setState 通过 InheritedWidget 往下传，首页点丝带收藏页数字一起变，不做保存。见附录 B5-5。
Q3. 카메라 인식이나 AI 후보는 진짜인가요?
A. 아닙니다. 미리 정해 둔 결과로 흐름만 보여 줍니다. 저장이나 전송은 없습니다.
问：相机识别和 AI 候选是真的吗？答：不是，是预设结果，只演示流程，没有保存或传输。</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16</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본문에서는 넘기지 않는다. 질문에 맞는 부록 장으로 바로 이동(장 번호 + Enter).</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17</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'다른 화면은요?' — 화면 16개 목록은 README 3장 · 디자인 가이드 1장.</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18</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나머지 화면. 카메라 결과 · AI 후보는 미리 쓴 임의 결과(디자인 가이드 4장).</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19</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같은 홈 화면을 --dart-define=DEMO_STATE 로 실행한 3상태. 서버를 끄고 채널을 바꿔도 오류 + 다시 시도가 나온다.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20</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P01 시스템 상태의 가시성 — 원칙 → 근거(리뷰) → 적용(요소 번호) → 시연 → 판단(버린 대안) 순서로. 원본 docs/원칙카드.md, 코드 grep -rn "P01"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21</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P02 시스템과 실세계의 일치 — 원칙 → 근거(리뷰) → 적용(요소 번호) → 시연 → 판단(버린 대안) 순서로. 원본 docs/원칙카드.md, 코드 grep -rn "P02"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22</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P03 사용자 통제와 자유 — 원칙 → 근거(리뷰) → 적용(요소 번호) → 시연 → 판단(버린 대안) 순서로. 원본 docs/원칙카드.md, 코드 grep -rn "P03"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23</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P04 일관성과 표준 — 원칙 → 근거(리뷰) → 적용(요소 번호) → 시연 → 판단(버린 대안) 순서로. 원본 docs/원칙카드.md, 코드 grep -rn "P04"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24</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P05 오류 예방 — 원칙 → 근거(리뷰) → 적용(요소 번호) → 시연 → 판단(버린 대안) 순서로. 원본 docs/원칙카드.md, 코드 grep -rn "P05"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25</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P06 기억보다 재인 — 원칙 → 근거(리뷰) → 적용(요소 번호) → 시연 → 판단(버린 대안) 순서로. 원본 docs/원칙카드.md, 코드 grep -rn "P06"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26</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P07 사용의 유연성과 효율성 — 원칙 → 근거(리뷰) → 적용(요소 번호) → 시연 → 판단(버린 대안) 순서로. 원본 docs/원칙카드.md, 코드 grep -rn "P07"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27</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P08 미학적이고 미니멀한 디자인 — 원칙 → 근거(리뷰) → 적용(요소 번호) → 시연 → 판단(버린 대안) 순서로. 원본 docs/원칙카드.md, 코드 grep -rn "P08"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28</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P09 오류 인식 · 진단 · 복구 돕기 — 원칙 → 근거(리뷰) → 적용(요소 번호) → 시연 → 판단(버린 대안) 순서로. 원본 docs/원칙카드.md, 코드 grep -rn "P09"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29</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P10 도움말과 문서 — 원칙 → 근거(리뷰) → 적용(요소 번호) → 시연 → 판단(버린 대안) 순서로. 원본 docs/원칙카드.md, 코드 grep -rn "P10"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30</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'AI를 어떻게 썼나요?' — 요청 → AI 결과 → 내 판단 → 이유. 받아들이지 않은 예: 10/25 홈 › 전체 목록(알약 거르기 폐기), 로고 시안 폐기.</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31</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'AI를 어떻게 썼나요?' — 요청 → AI 결과 → 내 판단 → 이유. 받아들이지 않은 예: 10/25 홈 › 전체 목록(알약 거르기 폐기), 로고 시안 폐기.</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32</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발표 때 넘기지 않는다 — 제출 전 자가 칸을 직접 채운다. 감점 grep 결과 없음(2026.10.26).</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33</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'누구를 위해 왜 고치나요?' — 목표 → 퍼소나 → 문제 4가지 → 핵심 가치. 범위는 UI만(저장 · 로그인 · 결제 · 실제 인식 없음). 원본 docs/기획.md 2장.</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34</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목표에서 출발해 단계별 리뷰와 감정을 짚고, 최저점 ③ 살지 판단과 어긴 원칙 P07 · P08 · P10. 필요한 데이터 = json-server GET 필드.</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35</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피쉬본 머리 → 여섯 시각 → 우선순위 "익히기 어렵다" → 5 Why → 근본 원인 → v2 C-1 · S-3. 원본 docs/기획.md 4 · 5장.</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36</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화면 A 요소를 번호로 — 위젯명 · 비즈니스 명칭 · 정보 전달 기준 · P번호 · 편의성 · 가이드 글. 번호는 캡처 · 코드 주석과 같다.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37</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화면 D 요소를 번호로 — 위젯명 · 비즈니스 명칭 · 정보 전달 기준 · P번호 · 편의성 · 가이드 글. 번호는 캡처 · 코드 주석과 같다.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38</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화면 G 요소를 번호로 — 위젯명 · 비즈니스 명칭 · 정보 전달 기준 · P번호 · 편의성 · 가이드 글. 번호는 캡처 · 코드 주석과 같다.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39</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'어떤 데이터가 바뀌고 어느 위젯이 보여 주나'를 S번호로. 패키지 없음 · 저장 안 함. 원본 docs/디자인가이드.md 5장.</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40</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ODY">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37376"/>
            <a:ext cx="8229600" cy="219456"/>
          </a:xfrm>
          <a:prstGeom prst="rect">
            <a:avLst/>
          </a:prstGeom>
          <a:noFill/>
          <a:ln/>
        </p:spPr>
        <p:txBody>
          <a:bodyPr wrap="square" lIns="0" tIns="0" rIns="0" bIns="0" rtlCol="0" anchor="ctr"/>
          <a:lstStyle/>
          <a:p>
            <a:pPr indent="0" marL="0">
              <a:buNone/>
            </a:pPr>
            <a:r>
              <a:rPr lang="ko-KR" altLang="en-US" sz="900" dirty="0">
                <a:solidFill>
                  <a:srgbClr val="9AA0A6"/>
                </a:solidFill>
                <a:latin typeface="Malgun Gothic" pitchFamily="34" charset="0"/>
                <a:ea typeface="Malgun Gothic" pitchFamily="34" charset="-122"/>
                <a:cs typeface="Malgun Gothic" pitchFamily="34" charset="-120"/>
              </a:rPr>
              <a:t>GAI3008-01 응용모바일프로그래밍 · 중간고사 · Hobby Atlas · ZHENG BOWEN</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1003</a:t>
            </a:fld>
            <a:endParaRPr lang="ko-KR"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PPX">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37376"/>
            <a:ext cx="8229600" cy="219456"/>
          </a:xfrm>
          <a:prstGeom prst="rect">
            <a:avLst/>
          </a:prstGeom>
          <a:noFill/>
          <a:ln/>
        </p:spPr>
        <p:txBody>
          <a:bodyPr wrap="square" lIns="0" tIns="0" rIns="0" bIns="0" rtlCol="0" anchor="ctr"/>
          <a:lstStyle/>
          <a:p>
            <a:pPr indent="0" marL="0">
              <a:buNone/>
            </a:pPr>
            <a:r>
              <a:rPr lang="ko-KR" altLang="en-US" sz="900" dirty="0">
                <a:solidFill>
                  <a:srgbClr val="9AA0A6"/>
                </a:solidFill>
                <a:latin typeface="Malgun Gothic" pitchFamily="34" charset="0"/>
                <a:ea typeface="Malgun Gothic" pitchFamily="34" charset="-122"/>
                <a:cs typeface="Malgun Gothic" pitchFamily="34" charset="-120"/>
              </a:rPr>
              <a:t>부록 — 질의 응답 때만 · Hobby Atlas</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1004</a:t>
            </a:fld>
            <a:endParaRPr lang="ko-KR"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IVIDER">
    <p:bg>
      <p:bgPr>
        <a:solidFill>
          <a:srgbClr val="F4F5F7"/>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1005</a:t>
            </a:fld>
            <a:endParaRPr lang="ko-KR"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null</a:t>
            </a:fld>
            <a:endParaRPr lang="ko-KR"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lang="ko-K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lang="ko-K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lang="ko-K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lang="ko-K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9pPr>
    </p:bodyStyle>
    <p:otherStyle>
      <a:defPPr>
        <a:defRPr lang="ko-KR" altLang="en-US"/>
      </a:defPPr>
      <a:lvl1pPr marL="0" algn="l" defTabSz="914400" rtl="0" eaLnBrk="1" latinLnBrk="0" hangingPunct="1">
        <a:defRPr lang="ko-KR" sz="1800" kern="1200">
          <a:solidFill>
            <a:schemeClr val="tx1"/>
          </a:solidFill>
          <a:latin typeface="+mn-lt"/>
          <a:ea typeface="+mn-ea"/>
          <a:cs typeface="+mn-cs"/>
        </a:defRPr>
      </a:lvl1pPr>
      <a:lvl2pPr marL="457200" algn="l" defTabSz="914400" rtl="0" eaLnBrk="1" latinLnBrk="0" hangingPunct="1">
        <a:defRPr lang="ko-KR" sz="1800" kern="1200">
          <a:solidFill>
            <a:schemeClr val="tx1"/>
          </a:solidFill>
          <a:latin typeface="+mn-lt"/>
          <a:ea typeface="+mn-ea"/>
          <a:cs typeface="+mn-cs"/>
        </a:defRPr>
      </a:lvl2pPr>
      <a:lvl3pPr marL="914400" algn="l" defTabSz="914400" rtl="0" eaLnBrk="1" latinLnBrk="0" hangingPunct="1">
        <a:defRPr lang="ko-KR" sz="1800" kern="1200">
          <a:solidFill>
            <a:schemeClr val="tx1"/>
          </a:solidFill>
          <a:latin typeface="+mn-lt"/>
          <a:ea typeface="+mn-ea"/>
          <a:cs typeface="+mn-cs"/>
        </a:defRPr>
      </a:lvl3pPr>
      <a:lvl4pPr marL="1371600" algn="l" defTabSz="914400" rtl="0" eaLnBrk="1" latinLnBrk="0" hangingPunct="1">
        <a:defRPr lang="ko-KR" sz="1800" kern="1200">
          <a:solidFill>
            <a:schemeClr val="tx1"/>
          </a:solidFill>
          <a:latin typeface="+mn-lt"/>
          <a:ea typeface="+mn-ea"/>
          <a:cs typeface="+mn-cs"/>
        </a:defRPr>
      </a:lvl4pPr>
      <a:lvl5pPr marL="1828800" algn="l" defTabSz="914400" rtl="0" eaLnBrk="1" latinLnBrk="0" hangingPunct="1">
        <a:defRPr lang="ko-KR" sz="1800" kern="1200">
          <a:solidFill>
            <a:schemeClr val="tx1"/>
          </a:solidFill>
          <a:latin typeface="+mn-lt"/>
          <a:ea typeface="+mn-ea"/>
          <a:cs typeface="+mn-cs"/>
        </a:defRPr>
      </a:lvl5pPr>
      <a:lvl6pPr marL="2286000" algn="l" defTabSz="914400" rtl="0" eaLnBrk="1" latinLnBrk="0" hangingPunct="1">
        <a:defRPr lang="ko-KR" sz="1800" kern="1200">
          <a:solidFill>
            <a:schemeClr val="tx1"/>
          </a:solidFill>
          <a:latin typeface="+mn-lt"/>
          <a:ea typeface="+mn-ea"/>
          <a:cs typeface="+mn-cs"/>
        </a:defRPr>
      </a:lvl6pPr>
      <a:lvl7pPr marL="2743200" algn="l" defTabSz="914400" rtl="0" eaLnBrk="1" latinLnBrk="0" hangingPunct="1">
        <a:defRPr lang="ko-KR" sz="1800" kern="1200">
          <a:solidFill>
            <a:schemeClr val="tx1"/>
          </a:solidFill>
          <a:latin typeface="+mn-lt"/>
          <a:ea typeface="+mn-ea"/>
          <a:cs typeface="+mn-cs"/>
        </a:defRPr>
      </a:lvl7pPr>
      <a:lvl8pPr marL="3200400" algn="l" defTabSz="914400" rtl="0" eaLnBrk="1" latinLnBrk="0" hangingPunct="1">
        <a:defRPr lang="ko-KR" sz="1800" kern="1200">
          <a:solidFill>
            <a:schemeClr val="tx1"/>
          </a:solidFill>
          <a:latin typeface="+mn-lt"/>
          <a:ea typeface="+mn-ea"/>
          <a:cs typeface="+mn-cs"/>
        </a:defRPr>
      </a:lvl8pPr>
      <a:lvl9pPr marL="3657600" algn="l" defTabSz="914400" rtl="0" eaLnBrk="1" latinLnBrk="0" hangingPunct="1">
        <a:defRPr lang="ko-K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slideLayout" Target="../slideLayouts/slideLayout3.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4.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4.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4.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4.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4.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640080"/>
            <a:ext cx="6035040" cy="274320"/>
          </a:xfrm>
          <a:prstGeom prst="rect">
            <a:avLst/>
          </a:prstGeom>
          <a:noFill/>
          <a:ln/>
        </p:spPr>
        <p:txBody>
          <a:bodyPr wrap="square" lIns="0" tIns="0" rIns="0" bIns="0" rtlCol="0" anchor="t"/>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GAI3008-01 응용모바일프로그래밍 · 중간고사 발표</a:t>
            </a:r>
            <a:endParaRPr lang="ko-KR" altLang="en-US" sz="1300" dirty="0"/>
          </a:p>
        </p:txBody>
      </p:sp>
      <p:sp>
        <p:nvSpPr>
          <p:cNvPr id="3" name="Text 1"/>
          <p:cNvSpPr txBox="1"/>
          <p:nvPr/>
        </p:nvSpPr>
        <p:spPr>
          <a:xfrm>
            <a:off x="731520" y="914400"/>
            <a:ext cx="6035040" cy="274320"/>
          </a:xfrm>
          <a:prstGeom prst="rect">
            <a:avLst/>
          </a:prstGeom>
          <a:noFill/>
          <a:ln/>
        </p:spPr>
        <p:txBody>
          <a:bodyPr wrap="square" lIns="0" tIns="0" rIns="0" bIns="0" rtlCol="0" anchor="t"/>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2026. 10. 29</a:t>
            </a:r>
            <a:endParaRPr lang="ko-KR" altLang="en-US" sz="1300" dirty="0"/>
          </a:p>
        </p:txBody>
      </p:sp>
      <p:sp>
        <p:nvSpPr>
          <p:cNvPr id="4" name="Text 2"/>
          <p:cNvSpPr txBox="1"/>
          <p:nvPr/>
        </p:nvSpPr>
        <p:spPr>
          <a:xfrm>
            <a:off x="731520" y="2148840"/>
            <a:ext cx="6035040" cy="310896"/>
          </a:xfrm>
          <a:prstGeom prst="rect">
            <a:avLst/>
          </a:prstGeom>
          <a:noFill/>
          <a:ln/>
        </p:spPr>
        <p:txBody>
          <a:bodyPr wrap="square" lIns="0" tIns="0" rIns="0" bIns="0" rtlCol="0" anchor="t"/>
          <a:lstStyle/>
          <a:p>
            <a:pPr indent="0" marL="0">
              <a:buNone/>
            </a:pPr>
            <a:r>
              <a:rPr lang="ko-KR" altLang="en-US" sz="1400" b="1" dirty="0">
                <a:solidFill>
                  <a:srgbClr val="1C86D9"/>
                </a:solidFill>
                <a:latin typeface="Malgun Gothic" pitchFamily="34" charset="0"/>
                <a:ea typeface="Malgun Gothic" pitchFamily="34" charset="-122"/>
                <a:cs typeface="Malgun Gothic" pitchFamily="34" charset="-120"/>
              </a:rPr>
              <a:t>hobbyDB v2 재설계 · UX/UI 기획 + Flutter UI 프로토타입</a:t>
            </a:r>
            <a:endParaRPr lang="ko-KR" altLang="en-US" sz="1400" dirty="0"/>
          </a:p>
        </p:txBody>
      </p:sp>
      <p:sp>
        <p:nvSpPr>
          <p:cNvPr id="5" name="Text 3"/>
          <p:cNvSpPr txBox="1"/>
          <p:nvPr/>
        </p:nvSpPr>
        <p:spPr>
          <a:xfrm>
            <a:off x="731520" y="2514600"/>
            <a:ext cx="6035040" cy="960120"/>
          </a:xfrm>
          <a:prstGeom prst="rect">
            <a:avLst/>
          </a:prstGeom>
          <a:noFill/>
          <a:ln/>
        </p:spPr>
        <p:txBody>
          <a:bodyPr wrap="square" lIns="0" tIns="0" rIns="0" bIns="0" rtlCol="0" anchor="ctr"/>
          <a:lstStyle/>
          <a:p>
            <a:pPr indent="0" marL="0">
              <a:buNone/>
            </a:pPr>
            <a:r>
              <a:rPr lang="ko-KR" altLang="en-US" sz="6000" b="1" dirty="0">
                <a:solidFill>
                  <a:srgbClr val="111111"/>
                </a:solidFill>
                <a:latin typeface="Malgun Gothic" pitchFamily="34" charset="0"/>
                <a:ea typeface="Malgun Gothic" pitchFamily="34" charset="-122"/>
                <a:cs typeface="Malgun Gothic" pitchFamily="34" charset="-120"/>
              </a:rPr>
              <a:t>Hobby Atlas</a:t>
            </a:r>
            <a:endParaRPr lang="ko-KR" altLang="en-US" sz="6000" dirty="0"/>
          </a:p>
        </p:txBody>
      </p:sp>
      <p:sp>
        <p:nvSpPr>
          <p:cNvPr id="6" name="Text 4"/>
          <p:cNvSpPr txBox="1"/>
          <p:nvPr/>
        </p:nvSpPr>
        <p:spPr>
          <a:xfrm>
            <a:off x="731520" y="3547872"/>
            <a:ext cx="6035040" cy="457200"/>
          </a:xfrm>
          <a:prstGeom prst="rect">
            <a:avLst/>
          </a:prstGeom>
          <a:noFill/>
          <a:ln/>
        </p:spPr>
        <p:txBody>
          <a:bodyPr wrap="square" lIns="0" tIns="0" rIns="0" bIns="0" rtlCol="0" anchor="t"/>
          <a:lstStyle/>
          <a:p>
            <a:pPr indent="0" marL="0">
              <a:buNone/>
            </a:pPr>
            <a:r>
              <a:rPr lang="ko-KR" altLang="en-US" sz="2400" dirty="0">
                <a:solidFill>
                  <a:srgbClr val="3D4148"/>
                </a:solidFill>
                <a:latin typeface="Malgun Gothic" pitchFamily="34" charset="0"/>
                <a:ea typeface="Malgun Gothic" pitchFamily="34" charset="-122"/>
                <a:cs typeface="Malgun Gothic" pitchFamily="34" charset="-120"/>
              </a:rPr>
              <a:t>새 소식부터 내 도감까지, 수집가의 한 앱</a:t>
            </a:r>
            <a:endParaRPr lang="ko-KR" altLang="en-US" sz="2400" dirty="0"/>
          </a:p>
        </p:txBody>
      </p:sp>
      <p:sp>
        <p:nvSpPr>
          <p:cNvPr id="7" name="Text 5"/>
          <p:cNvSpPr txBox="1"/>
          <p:nvPr/>
        </p:nvSpPr>
        <p:spPr>
          <a:xfrm>
            <a:off x="731520" y="5074920"/>
            <a:ext cx="5486400" cy="329184"/>
          </a:xfrm>
          <a:prstGeom prst="rect">
            <a:avLst/>
          </a:prstGeom>
          <a:noFill/>
          <a:ln/>
        </p:spPr>
        <p:txBody>
          <a:bodyPr wrap="square" lIns="0" tIns="0" rIns="0" bIns="0" rtlCol="0" anchor="t"/>
          <a:lstStyle/>
          <a:p>
            <a:pPr indent="0" marL="0">
              <a:buNone/>
            </a:pPr>
            <a:r>
              <a:rPr lang="ko-KR" altLang="en-US" sz="1800" b="1" dirty="0">
                <a:solidFill>
                  <a:srgbClr val="111111"/>
                </a:solidFill>
                <a:latin typeface="Malgun Gothic" pitchFamily="34" charset="0"/>
                <a:ea typeface="Malgun Gothic" pitchFamily="34" charset="-122"/>
                <a:cs typeface="Malgun Gothic" pitchFamily="34" charset="-120"/>
              </a:rPr>
              <a:t>ZHENG BOWEN</a:t>
            </a:r>
            <a:endParaRPr lang="ko-KR" altLang="en-US" sz="1800" dirty="0"/>
          </a:p>
        </p:txBody>
      </p:sp>
      <p:sp>
        <p:nvSpPr>
          <p:cNvPr id="8" name="Text 6"/>
          <p:cNvSpPr txBox="1"/>
          <p:nvPr/>
        </p:nvSpPr>
        <p:spPr>
          <a:xfrm>
            <a:off x="731520" y="5422392"/>
            <a:ext cx="5486400" cy="274320"/>
          </a:xfrm>
          <a:prstGeom prst="rect">
            <a:avLst/>
          </a:prstGeom>
          <a:noFill/>
          <a:ln/>
        </p:spPr>
        <p:txBody>
          <a:bodyPr wrap="square" lIns="0" tIns="0" rIns="0" bIns="0" rtlCol="0" anchor="t"/>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2023106124 · 1인 1팀</a:t>
            </a:r>
            <a:endParaRPr lang="ko-KR" altLang="en-US" sz="1300" dirty="0"/>
          </a:p>
        </p:txBody>
      </p:sp>
      <p:sp>
        <p:nvSpPr>
          <p:cNvPr id="9" name="Shape 7"/>
          <p:cNvSpPr/>
          <p:nvPr/>
        </p:nvSpPr>
        <p:spPr>
          <a:xfrm>
            <a:off x="7086600" y="548640"/>
            <a:ext cx="4553712" cy="5760720"/>
          </a:xfrm>
          <a:prstGeom prst="roundRect">
            <a:avLst>
              <a:gd name="adj" fmla="val 6024"/>
            </a:avLst>
          </a:prstGeom>
          <a:solidFill>
            <a:srgbClr val="F4F5F7"/>
          </a:solidFill>
          <a:ln/>
        </p:spPr>
      </p:sp>
      <p:sp>
        <p:nvSpPr>
          <p:cNvPr id="10" name="Shape 8"/>
          <p:cNvSpPr/>
          <p:nvPr/>
        </p:nvSpPr>
        <p:spPr>
          <a:xfrm>
            <a:off x="8219784" y="932688"/>
            <a:ext cx="2287343" cy="4992624"/>
          </a:xfrm>
          <a:prstGeom prst="roundRect">
            <a:avLst>
              <a:gd name="adj" fmla="val 7620"/>
            </a:avLst>
          </a:prstGeom>
          <a:solidFill>
            <a:srgbClr val="FFFFFF"/>
          </a:solidFill>
          <a:ln/>
          <a:effectLst>
            <a:outerShdw sx="100000" sy="100000" kx="0" ky="0" algn="bl" rotWithShape="0" blurRad="228600" dist="76200" dir="5400000">
              <a:srgbClr val="000000">
                <a:alpha val="18000"/>
              </a:srgbClr>
            </a:outerShdw>
          </a:effectLst>
        </p:spPr>
      </p:sp>
      <p:pic>
        <p:nvPicPr>
          <p:cNvPr id="11" name="Image 0" descr="C:\Users\Windows11\AppData\Local\Temp\claude\C--Users-Windows11-Desktop-New-folder--2-\a0c8a1d0-32ba-4ae6-9843-b5ebc69d925f\scratchpad\deck2/img/home.png">    </p:cNvPr>
          <p:cNvPicPr>
            <a:picLocks noChangeAspect="1"/>
          </p:cNvPicPr>
          <p:nvPr/>
        </p:nvPicPr>
        <p:blipFill>
          <a:blip r:embed="rId1"/>
          <a:stretch>
            <a:fillRect/>
          </a:stretch>
        </p:blipFill>
        <p:spPr>
          <a:xfrm>
            <a:off x="8201496" y="914400"/>
            <a:ext cx="2323919" cy="5029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1  목차</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오늘 말씀드릴 순서</a:t>
            </a:r>
            <a:endParaRPr lang="ko-KR" altLang="en-US" sz="2800" dirty="0"/>
          </a:p>
        </p:txBody>
      </p:sp>
      <p:sp>
        <p:nvSpPr>
          <p:cNvPr id="4" name="Shape 2"/>
          <p:cNvSpPr/>
          <p:nvPr/>
        </p:nvSpPr>
        <p:spPr>
          <a:xfrm>
            <a:off x="548640" y="1673352"/>
            <a:ext cx="347472" cy="347472"/>
          </a:xfrm>
          <a:prstGeom prst="ellipse">
            <a:avLst/>
          </a:prstGeom>
          <a:solidFill>
            <a:srgbClr val="1C86D9"/>
          </a:solidFill>
          <a:ln/>
        </p:spPr>
      </p:sp>
      <p:sp>
        <p:nvSpPr>
          <p:cNvPr id="5" name="Text 3"/>
          <p:cNvSpPr txBox="1"/>
          <p:nvPr/>
        </p:nvSpPr>
        <p:spPr>
          <a:xfrm>
            <a:off x="548640" y="167335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2</a:t>
            </a:r>
            <a:endParaRPr lang="ko-KR" altLang="en-US" sz="1200" dirty="0"/>
          </a:p>
        </p:txBody>
      </p:sp>
      <p:sp>
        <p:nvSpPr>
          <p:cNvPr id="6" name="Text 4"/>
          <p:cNvSpPr txBox="1"/>
          <p:nvPr/>
        </p:nvSpPr>
        <p:spPr>
          <a:xfrm>
            <a:off x="1097280" y="165506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프로젝트 개요</a:t>
            </a:r>
            <a:endParaRPr lang="ko-KR" altLang="en-US" sz="1700" dirty="0"/>
          </a:p>
        </p:txBody>
      </p:sp>
      <p:sp>
        <p:nvSpPr>
          <p:cNvPr id="7" name="Text 5"/>
          <p:cNvSpPr txBox="1"/>
          <p:nvPr/>
        </p:nvSpPr>
        <p:spPr>
          <a:xfrm>
            <a:off x="3931920" y="165506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어떤 앱인가 · 내 앱이 바뀐 과정 한눈에</a:t>
            </a:r>
            <a:endParaRPr lang="ko-KR" altLang="en-US" sz="1300" dirty="0"/>
          </a:p>
        </p:txBody>
      </p:sp>
      <p:sp>
        <p:nvSpPr>
          <p:cNvPr id="8" name="Shape 6"/>
          <p:cNvSpPr/>
          <p:nvPr/>
        </p:nvSpPr>
        <p:spPr>
          <a:xfrm>
            <a:off x="1097280" y="2121408"/>
            <a:ext cx="6858000" cy="0"/>
          </a:xfrm>
          <a:prstGeom prst="line">
            <a:avLst/>
          </a:prstGeom>
          <a:noFill/>
          <a:ln w="9525">
            <a:solidFill>
              <a:srgbClr val="E3E5E8"/>
            </a:solidFill>
            <a:prstDash val="solid"/>
          </a:ln>
        </p:spPr>
      </p:sp>
      <p:sp>
        <p:nvSpPr>
          <p:cNvPr id="9" name="Shape 7"/>
          <p:cNvSpPr/>
          <p:nvPr/>
        </p:nvSpPr>
        <p:spPr>
          <a:xfrm>
            <a:off x="548640" y="2221992"/>
            <a:ext cx="347472" cy="347472"/>
          </a:xfrm>
          <a:prstGeom prst="ellipse">
            <a:avLst/>
          </a:prstGeom>
          <a:solidFill>
            <a:srgbClr val="1C86D9"/>
          </a:solidFill>
          <a:ln/>
        </p:spPr>
      </p:sp>
      <p:sp>
        <p:nvSpPr>
          <p:cNvPr id="10" name="Text 8"/>
          <p:cNvSpPr txBox="1"/>
          <p:nvPr/>
        </p:nvSpPr>
        <p:spPr>
          <a:xfrm>
            <a:off x="548640" y="222199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3</a:t>
            </a:r>
            <a:endParaRPr lang="ko-KR" altLang="en-US" sz="1200" dirty="0"/>
          </a:p>
        </p:txBody>
      </p:sp>
      <p:sp>
        <p:nvSpPr>
          <p:cNvPr id="11" name="Text 9"/>
          <p:cNvSpPr txBox="1"/>
          <p:nvPr/>
        </p:nvSpPr>
        <p:spPr>
          <a:xfrm>
            <a:off x="1097280" y="220370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문제 정의</a:t>
            </a:r>
            <a:endParaRPr lang="ko-KR" altLang="en-US" sz="1700" dirty="0"/>
          </a:p>
        </p:txBody>
      </p:sp>
      <p:sp>
        <p:nvSpPr>
          <p:cNvPr id="12" name="Text 10"/>
          <p:cNvSpPr txBox="1"/>
          <p:nvPr/>
        </p:nvSpPr>
        <p:spPr>
          <a:xfrm>
            <a:off x="3931920" y="220370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왜 만들었나 · 기존 앱에 없는 기능 · 근본 원인</a:t>
            </a:r>
            <a:endParaRPr lang="ko-KR" altLang="en-US" sz="1300" dirty="0"/>
          </a:p>
        </p:txBody>
      </p:sp>
      <p:sp>
        <p:nvSpPr>
          <p:cNvPr id="13" name="Shape 11"/>
          <p:cNvSpPr/>
          <p:nvPr/>
        </p:nvSpPr>
        <p:spPr>
          <a:xfrm>
            <a:off x="1097280" y="2670048"/>
            <a:ext cx="6858000" cy="0"/>
          </a:xfrm>
          <a:prstGeom prst="line">
            <a:avLst/>
          </a:prstGeom>
          <a:noFill/>
          <a:ln w="9525">
            <a:solidFill>
              <a:srgbClr val="E3E5E8"/>
            </a:solidFill>
            <a:prstDash val="solid"/>
          </a:ln>
        </p:spPr>
      </p:sp>
      <p:sp>
        <p:nvSpPr>
          <p:cNvPr id="14" name="Shape 12"/>
          <p:cNvSpPr/>
          <p:nvPr/>
        </p:nvSpPr>
        <p:spPr>
          <a:xfrm>
            <a:off x="548640" y="2770632"/>
            <a:ext cx="347472" cy="347472"/>
          </a:xfrm>
          <a:prstGeom prst="ellipse">
            <a:avLst/>
          </a:prstGeom>
          <a:solidFill>
            <a:srgbClr val="1C86D9"/>
          </a:solidFill>
          <a:ln/>
        </p:spPr>
      </p:sp>
      <p:sp>
        <p:nvSpPr>
          <p:cNvPr id="15" name="Text 13"/>
          <p:cNvSpPr txBox="1"/>
          <p:nvPr/>
        </p:nvSpPr>
        <p:spPr>
          <a:xfrm>
            <a:off x="548640" y="277063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4</a:t>
            </a:r>
            <a:endParaRPr lang="ko-KR" altLang="en-US" sz="1200" dirty="0"/>
          </a:p>
        </p:txBody>
      </p:sp>
      <p:sp>
        <p:nvSpPr>
          <p:cNvPr id="16" name="Text 14"/>
          <p:cNvSpPr txBox="1"/>
          <p:nvPr/>
        </p:nvSpPr>
        <p:spPr>
          <a:xfrm>
            <a:off x="1097280" y="275234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해결 방법</a:t>
            </a:r>
            <a:endParaRPr lang="ko-KR" altLang="en-US" sz="1700" dirty="0"/>
          </a:p>
        </p:txBody>
      </p:sp>
      <p:sp>
        <p:nvSpPr>
          <p:cNvPr id="17" name="Text 15"/>
          <p:cNvSpPr txBox="1"/>
          <p:nvPr/>
        </p:nvSpPr>
        <p:spPr>
          <a:xfrm>
            <a:off x="3931920" y="275234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화면이 바뀐 과정 — 내 요청 → 바뀐 화면</a:t>
            </a:r>
            <a:endParaRPr lang="ko-KR" altLang="en-US" sz="1300" dirty="0"/>
          </a:p>
        </p:txBody>
      </p:sp>
      <p:sp>
        <p:nvSpPr>
          <p:cNvPr id="18" name="Shape 16"/>
          <p:cNvSpPr/>
          <p:nvPr/>
        </p:nvSpPr>
        <p:spPr>
          <a:xfrm>
            <a:off x="1097280" y="3218688"/>
            <a:ext cx="6858000" cy="0"/>
          </a:xfrm>
          <a:prstGeom prst="line">
            <a:avLst/>
          </a:prstGeom>
          <a:noFill/>
          <a:ln w="9525">
            <a:solidFill>
              <a:srgbClr val="E3E5E8"/>
            </a:solidFill>
            <a:prstDash val="solid"/>
          </a:ln>
        </p:spPr>
      </p:sp>
      <p:sp>
        <p:nvSpPr>
          <p:cNvPr id="19" name="Shape 17"/>
          <p:cNvSpPr/>
          <p:nvPr/>
        </p:nvSpPr>
        <p:spPr>
          <a:xfrm>
            <a:off x="548640" y="3319272"/>
            <a:ext cx="347472" cy="347472"/>
          </a:xfrm>
          <a:prstGeom prst="ellipse">
            <a:avLst/>
          </a:prstGeom>
          <a:solidFill>
            <a:srgbClr val="1C86D9"/>
          </a:solidFill>
          <a:ln/>
        </p:spPr>
      </p:sp>
      <p:sp>
        <p:nvSpPr>
          <p:cNvPr id="20" name="Text 18"/>
          <p:cNvSpPr txBox="1"/>
          <p:nvPr/>
        </p:nvSpPr>
        <p:spPr>
          <a:xfrm>
            <a:off x="548640" y="331927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5</a:t>
            </a:r>
            <a:endParaRPr lang="ko-KR" altLang="en-US" sz="1200" dirty="0"/>
          </a:p>
        </p:txBody>
      </p:sp>
      <p:sp>
        <p:nvSpPr>
          <p:cNvPr id="21" name="Text 19"/>
          <p:cNvSpPr txBox="1"/>
          <p:nvPr/>
        </p:nvSpPr>
        <p:spPr>
          <a:xfrm>
            <a:off x="1097280" y="330098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셀프 논증</a:t>
            </a:r>
            <a:endParaRPr lang="ko-KR" altLang="en-US" sz="1700" dirty="0"/>
          </a:p>
        </p:txBody>
      </p:sp>
      <p:sp>
        <p:nvSpPr>
          <p:cNvPr id="22" name="Text 20"/>
          <p:cNvSpPr txBox="1"/>
          <p:nvPr/>
        </p:nvSpPr>
        <p:spPr>
          <a:xfrm>
            <a:off x="3931920" y="330098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AI에게 반론을 요청해 다진 결정</a:t>
            </a:r>
            <a:endParaRPr lang="ko-KR" altLang="en-US" sz="1300" dirty="0"/>
          </a:p>
        </p:txBody>
      </p:sp>
      <p:sp>
        <p:nvSpPr>
          <p:cNvPr id="23" name="Shape 21"/>
          <p:cNvSpPr/>
          <p:nvPr/>
        </p:nvSpPr>
        <p:spPr>
          <a:xfrm>
            <a:off x="1097280" y="3767328"/>
            <a:ext cx="6858000" cy="0"/>
          </a:xfrm>
          <a:prstGeom prst="line">
            <a:avLst/>
          </a:prstGeom>
          <a:noFill/>
          <a:ln w="9525">
            <a:solidFill>
              <a:srgbClr val="E3E5E8"/>
            </a:solidFill>
            <a:prstDash val="solid"/>
          </a:ln>
        </p:spPr>
      </p:sp>
      <p:sp>
        <p:nvSpPr>
          <p:cNvPr id="24" name="Shape 22"/>
          <p:cNvSpPr/>
          <p:nvPr/>
        </p:nvSpPr>
        <p:spPr>
          <a:xfrm>
            <a:off x="548640" y="3867912"/>
            <a:ext cx="347472" cy="347472"/>
          </a:xfrm>
          <a:prstGeom prst="ellipse">
            <a:avLst/>
          </a:prstGeom>
          <a:solidFill>
            <a:srgbClr val="1C86D9"/>
          </a:solidFill>
          <a:ln/>
        </p:spPr>
      </p:sp>
      <p:sp>
        <p:nvSpPr>
          <p:cNvPr id="25" name="Text 23"/>
          <p:cNvSpPr txBox="1"/>
          <p:nvPr/>
        </p:nvSpPr>
        <p:spPr>
          <a:xfrm>
            <a:off x="548640" y="386791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6</a:t>
            </a:r>
            <a:endParaRPr lang="ko-KR" altLang="en-US" sz="1200" dirty="0"/>
          </a:p>
        </p:txBody>
      </p:sp>
      <p:sp>
        <p:nvSpPr>
          <p:cNvPr id="26" name="Text 24"/>
          <p:cNvSpPr txBox="1"/>
          <p:nvPr/>
        </p:nvSpPr>
        <p:spPr>
          <a:xfrm>
            <a:off x="1097280" y="384962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Flutter 구현</a:t>
            </a:r>
            <a:endParaRPr lang="ko-KR" altLang="en-US" sz="1700" dirty="0"/>
          </a:p>
        </p:txBody>
      </p:sp>
      <p:sp>
        <p:nvSpPr>
          <p:cNvPr id="27" name="Text 25"/>
          <p:cNvSpPr txBox="1"/>
          <p:nvPr/>
        </p:nvSpPr>
        <p:spPr>
          <a:xfrm>
            <a:off x="3931920" y="384962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위젯 트리 · 화면 이동 · 3상태 · 적응형</a:t>
            </a:r>
            <a:endParaRPr lang="ko-KR" altLang="en-US" sz="1300" dirty="0"/>
          </a:p>
        </p:txBody>
      </p:sp>
      <p:sp>
        <p:nvSpPr>
          <p:cNvPr id="28" name="Shape 26"/>
          <p:cNvSpPr/>
          <p:nvPr/>
        </p:nvSpPr>
        <p:spPr>
          <a:xfrm>
            <a:off x="1097280" y="4315968"/>
            <a:ext cx="6858000" cy="0"/>
          </a:xfrm>
          <a:prstGeom prst="line">
            <a:avLst/>
          </a:prstGeom>
          <a:noFill/>
          <a:ln w="9525">
            <a:solidFill>
              <a:srgbClr val="E3E5E8"/>
            </a:solidFill>
            <a:prstDash val="solid"/>
          </a:ln>
        </p:spPr>
      </p:sp>
      <p:sp>
        <p:nvSpPr>
          <p:cNvPr id="29" name="Shape 27"/>
          <p:cNvSpPr/>
          <p:nvPr/>
        </p:nvSpPr>
        <p:spPr>
          <a:xfrm>
            <a:off x="548640" y="4416552"/>
            <a:ext cx="347472" cy="347472"/>
          </a:xfrm>
          <a:prstGeom prst="ellipse">
            <a:avLst/>
          </a:prstGeom>
          <a:solidFill>
            <a:srgbClr val="1C86D9"/>
          </a:solidFill>
          <a:ln/>
        </p:spPr>
      </p:sp>
      <p:sp>
        <p:nvSpPr>
          <p:cNvPr id="30" name="Text 28"/>
          <p:cNvSpPr txBox="1"/>
          <p:nvPr/>
        </p:nvSpPr>
        <p:spPr>
          <a:xfrm>
            <a:off x="548640" y="441655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7</a:t>
            </a:r>
            <a:endParaRPr lang="ko-KR" altLang="en-US" sz="1200" dirty="0"/>
          </a:p>
        </p:txBody>
      </p:sp>
      <p:sp>
        <p:nvSpPr>
          <p:cNvPr id="31" name="Text 29"/>
          <p:cNvSpPr txBox="1"/>
          <p:nvPr/>
        </p:nvSpPr>
        <p:spPr>
          <a:xfrm>
            <a:off x="1097280" y="439826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데모</a:t>
            </a:r>
            <a:endParaRPr lang="ko-KR" altLang="en-US" sz="1700" dirty="0"/>
          </a:p>
        </p:txBody>
      </p:sp>
      <p:sp>
        <p:nvSpPr>
          <p:cNvPr id="32" name="Text 30"/>
          <p:cNvSpPr txBox="1"/>
          <p:nvPr/>
        </p:nvSpPr>
        <p:spPr>
          <a:xfrm>
            <a:off x="3931920" y="439826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라이브 시연</a:t>
            </a:r>
            <a:endParaRPr lang="ko-KR" altLang="en-US" sz="1300" dirty="0"/>
          </a:p>
        </p:txBody>
      </p:sp>
      <p:sp>
        <p:nvSpPr>
          <p:cNvPr id="33" name="Shape 31"/>
          <p:cNvSpPr/>
          <p:nvPr/>
        </p:nvSpPr>
        <p:spPr>
          <a:xfrm>
            <a:off x="1097280" y="4864608"/>
            <a:ext cx="6858000" cy="0"/>
          </a:xfrm>
          <a:prstGeom prst="line">
            <a:avLst/>
          </a:prstGeom>
          <a:noFill/>
          <a:ln w="9525">
            <a:solidFill>
              <a:srgbClr val="E3E5E8"/>
            </a:solidFill>
            <a:prstDash val="solid"/>
          </a:ln>
        </p:spPr>
      </p:sp>
      <p:sp>
        <p:nvSpPr>
          <p:cNvPr id="34" name="Shape 32"/>
          <p:cNvSpPr/>
          <p:nvPr/>
        </p:nvSpPr>
        <p:spPr>
          <a:xfrm>
            <a:off x="548640" y="4965192"/>
            <a:ext cx="347472" cy="347472"/>
          </a:xfrm>
          <a:prstGeom prst="ellipse">
            <a:avLst/>
          </a:prstGeom>
          <a:solidFill>
            <a:srgbClr val="1C86D9"/>
          </a:solidFill>
          <a:ln/>
        </p:spPr>
      </p:sp>
      <p:sp>
        <p:nvSpPr>
          <p:cNvPr id="35" name="Text 33"/>
          <p:cNvSpPr txBox="1"/>
          <p:nvPr/>
        </p:nvSpPr>
        <p:spPr>
          <a:xfrm>
            <a:off x="548640" y="496519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8</a:t>
            </a:r>
            <a:endParaRPr lang="ko-KR" altLang="en-US" sz="1200" dirty="0"/>
          </a:p>
        </p:txBody>
      </p:sp>
      <p:sp>
        <p:nvSpPr>
          <p:cNvPr id="36" name="Text 34"/>
          <p:cNvSpPr txBox="1"/>
          <p:nvPr/>
        </p:nvSpPr>
        <p:spPr>
          <a:xfrm>
            <a:off x="1097280" y="494690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Personal Learnings</a:t>
            </a:r>
            <a:endParaRPr lang="ko-KR" altLang="en-US" sz="1700" dirty="0"/>
          </a:p>
        </p:txBody>
      </p:sp>
      <p:sp>
        <p:nvSpPr>
          <p:cNvPr id="37" name="Text 35"/>
          <p:cNvSpPr txBox="1"/>
          <p:nvPr/>
        </p:nvSpPr>
        <p:spPr>
          <a:xfrm>
            <a:off x="3931920" y="494690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배운 점 · 다음 v3</a:t>
            </a:r>
            <a:endParaRPr lang="ko-KR" altLang="en-US" sz="1300" dirty="0"/>
          </a:p>
        </p:txBody>
      </p:sp>
      <p:sp>
        <p:nvSpPr>
          <p:cNvPr id="38" name="Shape 36"/>
          <p:cNvSpPr/>
          <p:nvPr/>
        </p:nvSpPr>
        <p:spPr>
          <a:xfrm>
            <a:off x="1097280" y="5413248"/>
            <a:ext cx="6858000" cy="0"/>
          </a:xfrm>
          <a:prstGeom prst="line">
            <a:avLst/>
          </a:prstGeom>
          <a:noFill/>
          <a:ln w="9525">
            <a:solidFill>
              <a:srgbClr val="E3E5E8"/>
            </a:solidFill>
            <a:prstDash val="solid"/>
          </a:ln>
        </p:spPr>
      </p:sp>
      <p:sp>
        <p:nvSpPr>
          <p:cNvPr id="39" name="Shape 37"/>
          <p:cNvSpPr/>
          <p:nvPr/>
        </p:nvSpPr>
        <p:spPr>
          <a:xfrm>
            <a:off x="548640" y="5513832"/>
            <a:ext cx="347472" cy="347472"/>
          </a:xfrm>
          <a:prstGeom prst="ellipse">
            <a:avLst/>
          </a:prstGeom>
          <a:solidFill>
            <a:srgbClr val="9AA0A6"/>
          </a:solidFill>
          <a:ln/>
        </p:spPr>
      </p:sp>
      <p:sp>
        <p:nvSpPr>
          <p:cNvPr id="40" name="Text 38"/>
          <p:cNvSpPr txBox="1"/>
          <p:nvPr/>
        </p:nvSpPr>
        <p:spPr>
          <a:xfrm>
            <a:off x="548640" y="551383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9</a:t>
            </a:r>
            <a:endParaRPr lang="ko-KR" altLang="en-US" sz="1200" dirty="0"/>
          </a:p>
        </p:txBody>
      </p:sp>
      <p:sp>
        <p:nvSpPr>
          <p:cNvPr id="41" name="Text 39"/>
          <p:cNvSpPr txBox="1"/>
          <p:nvPr/>
        </p:nvSpPr>
        <p:spPr>
          <a:xfrm>
            <a:off x="1097280" y="549554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Q&amp;A</a:t>
            </a:r>
            <a:endParaRPr lang="ko-KR" altLang="en-US" sz="1700" dirty="0"/>
          </a:p>
        </p:txBody>
      </p:sp>
      <p:sp>
        <p:nvSpPr>
          <p:cNvPr id="42" name="Text 40"/>
          <p:cNvSpPr txBox="1"/>
          <p:nvPr/>
        </p:nvSpPr>
        <p:spPr>
          <a:xfrm>
            <a:off x="3931920" y="549554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부록으로 바로 답하기</a:t>
            </a:r>
            <a:endParaRPr lang="ko-KR" altLang="en-US" sz="1300" dirty="0"/>
          </a:p>
        </p:txBody>
      </p:sp>
      <p:sp>
        <p:nvSpPr>
          <p:cNvPr id="43" name="Shape 41"/>
          <p:cNvSpPr/>
          <p:nvPr/>
        </p:nvSpPr>
        <p:spPr>
          <a:xfrm>
            <a:off x="8321040" y="1600200"/>
            <a:ext cx="3319272" cy="4389120"/>
          </a:xfrm>
          <a:prstGeom prst="roundRect">
            <a:avLst>
              <a:gd name="adj" fmla="val 4408"/>
            </a:avLst>
          </a:prstGeom>
          <a:solidFill>
            <a:srgbClr val="F4F5F7"/>
          </a:solidFill>
          <a:ln/>
        </p:spPr>
      </p:sp>
      <p:sp>
        <p:nvSpPr>
          <p:cNvPr id="44" name="Text 42"/>
          <p:cNvSpPr txBox="1"/>
          <p:nvPr/>
        </p:nvSpPr>
        <p:spPr>
          <a:xfrm>
            <a:off x="8595360" y="1810512"/>
            <a:ext cx="283464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부록 — 질의 때만</a:t>
            </a:r>
            <a:endParaRPr lang="ko-KR" altLang="en-US" sz="1400" dirty="0"/>
          </a:p>
        </p:txBody>
      </p:sp>
      <p:sp>
        <p:nvSpPr>
          <p:cNvPr id="45" name="Text 43"/>
          <p:cNvSpPr txBox="1"/>
          <p:nvPr/>
        </p:nvSpPr>
        <p:spPr>
          <a:xfrm>
            <a:off x="8595360" y="2286000"/>
            <a:ext cx="502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B1</a:t>
            </a:r>
            <a:endParaRPr lang="ko-KR" altLang="en-US" sz="1300" dirty="0"/>
          </a:p>
        </p:txBody>
      </p:sp>
      <p:sp>
        <p:nvSpPr>
          <p:cNvPr id="46" name="Text 44"/>
          <p:cNvSpPr txBox="1"/>
          <p:nvPr/>
        </p:nvSpPr>
        <p:spPr>
          <a:xfrm>
            <a:off x="9098280" y="2286000"/>
            <a:ext cx="23774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데모 및 스크린샷</a:t>
            </a:r>
            <a:endParaRPr lang="ko-KR" altLang="en-US" sz="1300" dirty="0"/>
          </a:p>
        </p:txBody>
      </p:sp>
      <p:sp>
        <p:nvSpPr>
          <p:cNvPr id="47" name="Text 45"/>
          <p:cNvSpPr txBox="1"/>
          <p:nvPr/>
        </p:nvSpPr>
        <p:spPr>
          <a:xfrm>
            <a:off x="9098280" y="2560320"/>
            <a:ext cx="237744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18장</a:t>
            </a:r>
            <a:endParaRPr lang="ko-KR" altLang="en-US" sz="1050" dirty="0"/>
          </a:p>
        </p:txBody>
      </p:sp>
      <p:sp>
        <p:nvSpPr>
          <p:cNvPr id="48" name="Text 46"/>
          <p:cNvSpPr txBox="1"/>
          <p:nvPr/>
        </p:nvSpPr>
        <p:spPr>
          <a:xfrm>
            <a:off x="8595360" y="2999232"/>
            <a:ext cx="502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B2</a:t>
            </a:r>
            <a:endParaRPr lang="ko-KR" altLang="en-US" sz="1300" dirty="0"/>
          </a:p>
        </p:txBody>
      </p:sp>
      <p:sp>
        <p:nvSpPr>
          <p:cNvPr id="49" name="Text 47"/>
          <p:cNvSpPr txBox="1"/>
          <p:nvPr/>
        </p:nvSpPr>
        <p:spPr>
          <a:xfrm>
            <a:off x="9098280" y="2999232"/>
            <a:ext cx="23774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원칙 카드 P01–P10</a:t>
            </a:r>
            <a:endParaRPr lang="ko-KR" altLang="en-US" sz="1300" dirty="0"/>
          </a:p>
        </p:txBody>
      </p:sp>
      <p:sp>
        <p:nvSpPr>
          <p:cNvPr id="50" name="Text 48"/>
          <p:cNvSpPr txBox="1"/>
          <p:nvPr/>
        </p:nvSpPr>
        <p:spPr>
          <a:xfrm>
            <a:off x="9098280" y="3273552"/>
            <a:ext cx="237744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21장</a:t>
            </a:r>
            <a:endParaRPr lang="ko-KR" altLang="en-US" sz="1050" dirty="0"/>
          </a:p>
        </p:txBody>
      </p:sp>
      <p:sp>
        <p:nvSpPr>
          <p:cNvPr id="51" name="Text 49"/>
          <p:cNvSpPr txBox="1"/>
          <p:nvPr/>
        </p:nvSpPr>
        <p:spPr>
          <a:xfrm>
            <a:off x="8595360" y="3712464"/>
            <a:ext cx="502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B3</a:t>
            </a:r>
            <a:endParaRPr lang="ko-KR" altLang="en-US" sz="1300" dirty="0"/>
          </a:p>
        </p:txBody>
      </p:sp>
      <p:sp>
        <p:nvSpPr>
          <p:cNvPr id="52" name="Text 50"/>
          <p:cNvSpPr txBox="1"/>
          <p:nvPr/>
        </p:nvSpPr>
        <p:spPr>
          <a:xfrm>
            <a:off x="9098280" y="3712464"/>
            <a:ext cx="23774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prompt-log</a:t>
            </a:r>
            <a:endParaRPr lang="ko-KR" altLang="en-US" sz="1300" dirty="0"/>
          </a:p>
        </p:txBody>
      </p:sp>
      <p:sp>
        <p:nvSpPr>
          <p:cNvPr id="53" name="Text 51"/>
          <p:cNvSpPr txBox="1"/>
          <p:nvPr/>
        </p:nvSpPr>
        <p:spPr>
          <a:xfrm>
            <a:off x="9098280" y="3986784"/>
            <a:ext cx="237744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31장</a:t>
            </a:r>
            <a:endParaRPr lang="ko-KR" altLang="en-US" sz="1050" dirty="0"/>
          </a:p>
        </p:txBody>
      </p:sp>
      <p:sp>
        <p:nvSpPr>
          <p:cNvPr id="54" name="Text 52"/>
          <p:cNvSpPr txBox="1"/>
          <p:nvPr/>
        </p:nvSpPr>
        <p:spPr>
          <a:xfrm>
            <a:off x="8595360" y="4425696"/>
            <a:ext cx="502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B4</a:t>
            </a:r>
            <a:endParaRPr lang="ko-KR" altLang="en-US" sz="1300" dirty="0"/>
          </a:p>
        </p:txBody>
      </p:sp>
      <p:sp>
        <p:nvSpPr>
          <p:cNvPr id="55" name="Text 53"/>
          <p:cNvSpPr txBox="1"/>
          <p:nvPr/>
        </p:nvSpPr>
        <p:spPr>
          <a:xfrm>
            <a:off x="9098280" y="4425696"/>
            <a:ext cx="23774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자가평가 요약</a:t>
            </a:r>
            <a:endParaRPr lang="ko-KR" altLang="en-US" sz="1300" dirty="0"/>
          </a:p>
        </p:txBody>
      </p:sp>
      <p:sp>
        <p:nvSpPr>
          <p:cNvPr id="56" name="Text 54"/>
          <p:cNvSpPr txBox="1"/>
          <p:nvPr/>
        </p:nvSpPr>
        <p:spPr>
          <a:xfrm>
            <a:off x="9098280" y="4700016"/>
            <a:ext cx="237744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33장</a:t>
            </a:r>
            <a:endParaRPr lang="ko-KR" altLang="en-US" sz="1050" dirty="0"/>
          </a:p>
        </p:txBody>
      </p:sp>
      <p:sp>
        <p:nvSpPr>
          <p:cNvPr id="57" name="Text 55"/>
          <p:cNvSpPr txBox="1"/>
          <p:nvPr/>
        </p:nvSpPr>
        <p:spPr>
          <a:xfrm>
            <a:off x="8595360" y="5138928"/>
            <a:ext cx="502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B5</a:t>
            </a:r>
            <a:endParaRPr lang="ko-KR" altLang="en-US" sz="1300" dirty="0"/>
          </a:p>
        </p:txBody>
      </p:sp>
      <p:sp>
        <p:nvSpPr>
          <p:cNvPr id="58" name="Text 56"/>
          <p:cNvSpPr txBox="1"/>
          <p:nvPr/>
        </p:nvSpPr>
        <p:spPr>
          <a:xfrm>
            <a:off x="9098280" y="5138928"/>
            <a:ext cx="23774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기획 상세</a:t>
            </a:r>
            <a:endParaRPr lang="ko-KR" altLang="en-US" sz="1300" dirty="0"/>
          </a:p>
        </p:txBody>
      </p:sp>
      <p:sp>
        <p:nvSpPr>
          <p:cNvPr id="59" name="Text 57"/>
          <p:cNvSpPr txBox="1"/>
          <p:nvPr/>
        </p:nvSpPr>
        <p:spPr>
          <a:xfrm>
            <a:off x="9098280" y="5413248"/>
            <a:ext cx="237744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34장</a:t>
            </a:r>
            <a:endParaRPr lang="ko-KR" altLang="en-US" sz="10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a:t>
            </a:fld>
            <a:endParaRPr lang="ko-KR"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2  프로젝트 개요 1/2</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Hobby Atlas는 어떤 앱인가요?</a:t>
            </a:r>
            <a:endParaRPr lang="ko-KR" altLang="en-US" sz="2800" dirty="0"/>
          </a:p>
        </p:txBody>
      </p:sp>
      <p:sp>
        <p:nvSpPr>
          <p:cNvPr id="4" name="Text 2"/>
          <p:cNvSpPr txBox="1"/>
          <p:nvPr/>
        </p:nvSpPr>
        <p:spPr>
          <a:xfrm>
            <a:off x="548640" y="1572768"/>
            <a:ext cx="630936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앱 이름 · 부제</a:t>
            </a:r>
            <a:endParaRPr lang="ko-KR" altLang="en-US" sz="1050" dirty="0"/>
          </a:p>
        </p:txBody>
      </p:sp>
      <p:sp>
        <p:nvSpPr>
          <p:cNvPr id="5" name="Text 3"/>
          <p:cNvSpPr txBox="1"/>
          <p:nvPr/>
        </p:nvSpPr>
        <p:spPr>
          <a:xfrm>
            <a:off x="548640" y="1810512"/>
            <a:ext cx="6309360" cy="512064"/>
          </a:xfrm>
          <a:prstGeom prst="rect">
            <a:avLst/>
          </a:prstGeom>
          <a:noFill/>
          <a:ln/>
        </p:spPr>
        <p:txBody>
          <a:bodyPr wrap="square" lIns="0" tIns="0" rIns="0" bIns="0" rtlCol="0" anchor="ctr"/>
          <a:lstStyle/>
          <a:p>
            <a:pPr indent="0" marL="0">
              <a:buNone/>
            </a:pPr>
            <a:r>
              <a:rPr lang="ko-KR" altLang="en-US" sz="3000" b="1" dirty="0">
                <a:solidFill>
                  <a:srgbClr val="111111"/>
                </a:solidFill>
                <a:latin typeface="Malgun Gothic" pitchFamily="34" charset="0"/>
                <a:ea typeface="Malgun Gothic" pitchFamily="34" charset="-122"/>
                <a:cs typeface="Malgun Gothic" pitchFamily="34" charset="-120"/>
              </a:rPr>
              <a:t>Hobby Atlas</a:t>
            </a:r>
            <a:pPr indent="0" marL="0">
              <a:buNone/>
            </a:pPr>
            <a:r>
              <a:rPr lang="ko-KR" altLang="en-US" sz="1200" b="1" dirty="0">
                <a:solidFill>
                  <a:srgbClr val="6B7078"/>
                </a:solidFill>
                <a:latin typeface="Malgun Gothic" pitchFamily="34" charset="0"/>
                <a:ea typeface="Malgun Gothic" pitchFamily="34" charset="-122"/>
                <a:cs typeface="Malgun Gothic" pitchFamily="34" charset="-120"/>
              </a:rPr>
              <a:t>   약칭 HA</a:t>
            </a:r>
            <a:endParaRPr lang="ko-KR" altLang="en-US" sz="3000" dirty="0"/>
          </a:p>
        </p:txBody>
      </p:sp>
      <p:sp>
        <p:nvSpPr>
          <p:cNvPr id="6" name="Text 4"/>
          <p:cNvSpPr txBox="1"/>
          <p:nvPr/>
        </p:nvSpPr>
        <p:spPr>
          <a:xfrm>
            <a:off x="548640" y="2359152"/>
            <a:ext cx="6309360" cy="384048"/>
          </a:xfrm>
          <a:prstGeom prst="rect">
            <a:avLst/>
          </a:prstGeom>
          <a:noFill/>
          <a:ln/>
        </p:spPr>
        <p:txBody>
          <a:bodyPr wrap="square" lIns="0" tIns="0" rIns="0" bIns="0" rtlCol="0" anchor="t"/>
          <a:lstStyle/>
          <a:p>
            <a:pPr indent="0" marL="0">
              <a:buNone/>
            </a:pPr>
            <a:r>
              <a:rPr lang="ko-KR" altLang="en-US" sz="1800" dirty="0">
                <a:solidFill>
                  <a:srgbClr val="3D4148"/>
                </a:solidFill>
                <a:latin typeface="Malgun Gothic" pitchFamily="34" charset="0"/>
                <a:ea typeface="Malgun Gothic" pitchFamily="34" charset="-122"/>
                <a:cs typeface="Malgun Gothic" pitchFamily="34" charset="-120"/>
              </a:rPr>
              <a:t>새 소식부터 내 도감까지, 수집가의 한 앱</a:t>
            </a:r>
            <a:endParaRPr lang="ko-KR" altLang="en-US" sz="1800" dirty="0"/>
          </a:p>
        </p:txBody>
      </p:sp>
      <p:sp>
        <p:nvSpPr>
          <p:cNvPr id="7" name="Shape 5"/>
          <p:cNvSpPr/>
          <p:nvPr/>
        </p:nvSpPr>
        <p:spPr>
          <a:xfrm>
            <a:off x="548640" y="2926080"/>
            <a:ext cx="2514600" cy="329184"/>
          </a:xfrm>
          <a:prstGeom prst="roundRect">
            <a:avLst>
              <a:gd name="adj" fmla="val 50000"/>
            </a:avLst>
          </a:prstGeom>
          <a:solidFill>
            <a:srgbClr val="F4F5F7"/>
          </a:solidFill>
          <a:ln/>
        </p:spPr>
      </p:sp>
      <p:sp>
        <p:nvSpPr>
          <p:cNvPr id="8" name="Text 6"/>
          <p:cNvSpPr txBox="1"/>
          <p:nvPr/>
        </p:nvSpPr>
        <p:spPr>
          <a:xfrm>
            <a:off x="548640" y="2926080"/>
            <a:ext cx="2514600" cy="329184"/>
          </a:xfrm>
          <a:prstGeom prst="rect">
            <a:avLst/>
          </a:prstGeom>
          <a:noFill/>
          <a:ln/>
        </p:spPr>
        <p:txBody>
          <a:bodyPr wrap="square" lIns="0" tIns="0" rIns="0" bIns="0" rtlCol="0" anchor="ctr"/>
          <a:lstStyle/>
          <a:p>
            <a:pPr algn="ctr" indent="0" marL="0">
              <a:buNone/>
            </a:pPr>
            <a:r>
              <a:rPr lang="ko-KR" altLang="en-US" sz="1100" dirty="0">
                <a:solidFill>
                  <a:srgbClr val="6B7078"/>
                </a:solidFill>
                <a:latin typeface="Malgun Gothic" pitchFamily="34" charset="0"/>
                <a:ea typeface="Malgun Gothic" pitchFamily="34" charset="-122"/>
                <a:cs typeface="Malgun Gothic" pitchFamily="34" charset="-120"/>
              </a:rPr>
              <a:t>카테고리   </a:t>
            </a:r>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라이프스타일 · 수집</a:t>
            </a:r>
            <a:endParaRPr lang="ko-KR" altLang="en-US" sz="1100" dirty="0"/>
          </a:p>
        </p:txBody>
      </p:sp>
      <p:sp>
        <p:nvSpPr>
          <p:cNvPr id="9" name="Shape 7"/>
          <p:cNvSpPr/>
          <p:nvPr/>
        </p:nvSpPr>
        <p:spPr>
          <a:xfrm>
            <a:off x="3172968" y="2926080"/>
            <a:ext cx="3291840" cy="329184"/>
          </a:xfrm>
          <a:prstGeom prst="roundRect">
            <a:avLst>
              <a:gd name="adj" fmla="val 50000"/>
            </a:avLst>
          </a:prstGeom>
          <a:solidFill>
            <a:srgbClr val="F4F5F7"/>
          </a:solidFill>
          <a:ln/>
        </p:spPr>
      </p:sp>
      <p:sp>
        <p:nvSpPr>
          <p:cNvPr id="10" name="Text 8"/>
          <p:cNvSpPr txBox="1"/>
          <p:nvPr/>
        </p:nvSpPr>
        <p:spPr>
          <a:xfrm>
            <a:off x="3172968" y="2926080"/>
            <a:ext cx="3291840" cy="329184"/>
          </a:xfrm>
          <a:prstGeom prst="rect">
            <a:avLst/>
          </a:prstGeom>
          <a:noFill/>
          <a:ln/>
        </p:spPr>
        <p:txBody>
          <a:bodyPr wrap="square" lIns="0" tIns="0" rIns="0" bIns="0" rtlCol="0" anchor="ctr"/>
          <a:lstStyle/>
          <a:p>
            <a:pPr algn="ctr" indent="0" marL="0">
              <a:buNone/>
            </a:pPr>
            <a:r>
              <a:rPr lang="ko-KR" altLang="en-US" sz="1100" dirty="0">
                <a:solidFill>
                  <a:srgbClr val="6B7078"/>
                </a:solidFill>
                <a:latin typeface="Malgun Gothic" pitchFamily="34" charset="0"/>
                <a:ea typeface="Malgun Gothic" pitchFamily="34" charset="-122"/>
                <a:cs typeface="Malgun Gothic" pitchFamily="34" charset="-120"/>
              </a:rPr>
              <a:t>대상   </a:t>
            </a:r>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20대 피규어 · 프라모델 수집가</a:t>
            </a:r>
            <a:endParaRPr lang="ko-KR" altLang="en-US" sz="1100" dirty="0"/>
          </a:p>
        </p:txBody>
      </p:sp>
      <p:sp>
        <p:nvSpPr>
          <p:cNvPr id="11" name="Shape 9"/>
          <p:cNvSpPr/>
          <p:nvPr/>
        </p:nvSpPr>
        <p:spPr>
          <a:xfrm>
            <a:off x="548640" y="3346704"/>
            <a:ext cx="5916168" cy="329184"/>
          </a:xfrm>
          <a:prstGeom prst="roundRect">
            <a:avLst>
              <a:gd name="adj" fmla="val 50000"/>
            </a:avLst>
          </a:prstGeom>
          <a:solidFill>
            <a:srgbClr val="F4F5F7"/>
          </a:solidFill>
          <a:ln/>
        </p:spPr>
      </p:sp>
      <p:sp>
        <p:nvSpPr>
          <p:cNvPr id="12" name="Text 10"/>
          <p:cNvSpPr txBox="1"/>
          <p:nvPr/>
        </p:nvSpPr>
        <p:spPr>
          <a:xfrm>
            <a:off x="548640" y="3346704"/>
            <a:ext cx="5916168" cy="329184"/>
          </a:xfrm>
          <a:prstGeom prst="rect">
            <a:avLst/>
          </a:prstGeom>
          <a:noFill/>
          <a:ln/>
        </p:spPr>
        <p:txBody>
          <a:bodyPr wrap="square" lIns="0" tIns="0" rIns="0" bIns="0" rtlCol="0" anchor="ctr"/>
          <a:lstStyle/>
          <a:p>
            <a:pPr algn="ctr" indent="0" marL="0">
              <a:buNone/>
            </a:pPr>
            <a:r>
              <a:rPr lang="ko-KR" altLang="en-US" sz="1100" dirty="0">
                <a:solidFill>
                  <a:srgbClr val="6B7078"/>
                </a:solidFill>
                <a:latin typeface="Malgun Gothic" pitchFamily="34" charset="0"/>
                <a:ea typeface="Malgun Gothic" pitchFamily="34" charset="-122"/>
                <a:cs typeface="Malgun Gothic" pitchFamily="34" charset="-120"/>
              </a:rPr>
              <a:t>사용 상황   </a:t>
            </a:r>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이동 중엔 폰 → 매장에선 카메라 → 집에선 폴드</a:t>
            </a:r>
            <a:endParaRPr lang="ko-KR" altLang="en-US" sz="1100" dirty="0"/>
          </a:p>
        </p:txBody>
      </p:sp>
      <p:sp>
        <p:nvSpPr>
          <p:cNvPr id="13" name="Shape 11"/>
          <p:cNvSpPr/>
          <p:nvPr/>
        </p:nvSpPr>
        <p:spPr>
          <a:xfrm>
            <a:off x="548640" y="4014216"/>
            <a:ext cx="384048" cy="384048"/>
          </a:xfrm>
          <a:prstGeom prst="ellipse">
            <a:avLst/>
          </a:prstGeom>
          <a:solidFill>
            <a:srgbClr val="1C86D9"/>
          </a:solidFill>
          <a:ln/>
        </p:spPr>
      </p:sp>
      <p:sp>
        <p:nvSpPr>
          <p:cNvPr id="14" name="Text 12"/>
          <p:cNvSpPr txBox="1"/>
          <p:nvPr/>
        </p:nvSpPr>
        <p:spPr>
          <a:xfrm>
            <a:off x="548640" y="4014216"/>
            <a:ext cx="384048" cy="384048"/>
          </a:xfrm>
          <a:prstGeom prst="rect">
            <a:avLst/>
          </a:prstGeom>
          <a:noFill/>
          <a:ln/>
        </p:spPr>
        <p:txBody>
          <a:bodyPr wrap="square" lIns="0" tIns="0" rIns="0" bIns="0" rtlCol="0" anchor="ctr"/>
          <a:lstStyle/>
          <a:p>
            <a:pPr algn="ctr" indent="0" marL="0">
              <a:buNone/>
            </a:pPr>
            <a:r>
              <a:rPr lang="ko-KR" altLang="en-US" sz="1400" b="1" dirty="0">
                <a:solidFill>
                  <a:srgbClr val="FFFFFF"/>
                </a:solidFill>
                <a:latin typeface="Malgun Gothic" pitchFamily="34" charset="0"/>
                <a:ea typeface="Malgun Gothic" pitchFamily="34" charset="-122"/>
                <a:cs typeface="Malgun Gothic" pitchFamily="34" charset="-120"/>
              </a:rPr>
              <a:t>1</a:t>
            </a:r>
            <a:endParaRPr lang="ko-KR" altLang="en-US" sz="1400" dirty="0"/>
          </a:p>
        </p:txBody>
      </p:sp>
      <p:sp>
        <p:nvSpPr>
          <p:cNvPr id="15" name="Text 13"/>
          <p:cNvSpPr txBox="1"/>
          <p:nvPr/>
        </p:nvSpPr>
        <p:spPr>
          <a:xfrm>
            <a:off x="1115568" y="3977640"/>
            <a:ext cx="5669280" cy="292608"/>
          </a:xfrm>
          <a:prstGeom prst="rect">
            <a:avLst/>
          </a:prstGeom>
          <a:noFill/>
          <a:ln/>
        </p:spPr>
        <p:txBody>
          <a:bodyPr wrap="square" lIns="0" tIns="0" rIns="0" bIns="0" rtlCol="0" anchor="t"/>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내 채널 새 소식</a:t>
            </a:r>
            <a:endParaRPr lang="ko-KR" altLang="en-US" sz="1600" dirty="0"/>
          </a:p>
        </p:txBody>
      </p:sp>
      <p:sp>
        <p:nvSpPr>
          <p:cNvPr id="16" name="Text 14"/>
          <p:cNvSpPr txBox="1"/>
          <p:nvPr/>
        </p:nvSpPr>
        <p:spPr>
          <a:xfrm>
            <a:off x="1115568" y="4288536"/>
            <a:ext cx="5669280" cy="274320"/>
          </a:xfrm>
          <a:prstGeom prst="rect">
            <a:avLst/>
          </a:prstGeom>
          <a:noFill/>
          <a:ln/>
        </p:spPr>
        <p:txBody>
          <a:bodyPr wrap="square" lIns="0" tIns="0" rIns="0" bIns="0" rtlCol="0" anchor="t"/>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관심 IP만 골라 공식 예고 · 발매일을 먼저</a:t>
            </a:r>
            <a:endParaRPr lang="ko-KR" altLang="en-US" sz="1300" dirty="0"/>
          </a:p>
        </p:txBody>
      </p:sp>
      <p:sp>
        <p:nvSpPr>
          <p:cNvPr id="17" name="Shape 15"/>
          <p:cNvSpPr/>
          <p:nvPr/>
        </p:nvSpPr>
        <p:spPr>
          <a:xfrm>
            <a:off x="548640" y="4727448"/>
            <a:ext cx="384048" cy="384048"/>
          </a:xfrm>
          <a:prstGeom prst="ellipse">
            <a:avLst/>
          </a:prstGeom>
          <a:solidFill>
            <a:srgbClr val="1C86D9"/>
          </a:solidFill>
          <a:ln/>
        </p:spPr>
      </p:sp>
      <p:sp>
        <p:nvSpPr>
          <p:cNvPr id="18" name="Text 16"/>
          <p:cNvSpPr txBox="1"/>
          <p:nvPr/>
        </p:nvSpPr>
        <p:spPr>
          <a:xfrm>
            <a:off x="548640" y="4727448"/>
            <a:ext cx="384048" cy="384048"/>
          </a:xfrm>
          <a:prstGeom prst="rect">
            <a:avLst/>
          </a:prstGeom>
          <a:noFill/>
          <a:ln/>
        </p:spPr>
        <p:txBody>
          <a:bodyPr wrap="square" lIns="0" tIns="0" rIns="0" bIns="0" rtlCol="0" anchor="ctr"/>
          <a:lstStyle/>
          <a:p>
            <a:pPr algn="ctr" indent="0" marL="0">
              <a:buNone/>
            </a:pPr>
            <a:r>
              <a:rPr lang="ko-KR" altLang="en-US" sz="1400" b="1" dirty="0">
                <a:solidFill>
                  <a:srgbClr val="FFFFFF"/>
                </a:solidFill>
                <a:latin typeface="Malgun Gothic" pitchFamily="34" charset="0"/>
                <a:ea typeface="Malgun Gothic" pitchFamily="34" charset="-122"/>
                <a:cs typeface="Malgun Gothic" pitchFamily="34" charset="-120"/>
              </a:rPr>
              <a:t>2</a:t>
            </a:r>
            <a:endParaRPr lang="ko-KR" altLang="en-US" sz="1400" dirty="0"/>
          </a:p>
        </p:txBody>
      </p:sp>
      <p:sp>
        <p:nvSpPr>
          <p:cNvPr id="19" name="Text 17"/>
          <p:cNvSpPr txBox="1"/>
          <p:nvPr/>
        </p:nvSpPr>
        <p:spPr>
          <a:xfrm>
            <a:off x="1115568" y="4690872"/>
            <a:ext cx="5669280" cy="292608"/>
          </a:xfrm>
          <a:prstGeom prst="rect">
            <a:avLst/>
          </a:prstGeom>
          <a:noFill/>
          <a:ln/>
        </p:spPr>
        <p:txBody>
          <a:bodyPr wrap="square" lIns="0" tIns="0" rIns="0" bIns="0" rtlCol="0" anchor="t"/>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한 번에 기록</a:t>
            </a:r>
            <a:endParaRPr lang="ko-KR" altLang="en-US" sz="1600" dirty="0"/>
          </a:p>
        </p:txBody>
      </p:sp>
      <p:sp>
        <p:nvSpPr>
          <p:cNvPr id="20" name="Text 18"/>
          <p:cNvSpPr txBox="1"/>
          <p:nvPr/>
        </p:nvSpPr>
        <p:spPr>
          <a:xfrm>
            <a:off x="1115568" y="5001768"/>
            <a:ext cx="5669280" cy="274320"/>
          </a:xfrm>
          <a:prstGeom prst="rect">
            <a:avLst/>
          </a:prstGeom>
          <a:noFill/>
          <a:ln/>
        </p:spPr>
        <p:txBody>
          <a:bodyPr wrap="square" lIns="0" tIns="0" rIns="0" bIns="0" rtlCol="0" anchor="t"/>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사진 위 ♡ 좋아요 · 리본 구매함</a:t>
            </a:r>
            <a:endParaRPr lang="ko-KR" altLang="en-US" sz="1300" dirty="0"/>
          </a:p>
        </p:txBody>
      </p:sp>
      <p:sp>
        <p:nvSpPr>
          <p:cNvPr id="21" name="Shape 19"/>
          <p:cNvSpPr/>
          <p:nvPr/>
        </p:nvSpPr>
        <p:spPr>
          <a:xfrm>
            <a:off x="548640" y="5440680"/>
            <a:ext cx="384048" cy="384048"/>
          </a:xfrm>
          <a:prstGeom prst="ellipse">
            <a:avLst/>
          </a:prstGeom>
          <a:solidFill>
            <a:srgbClr val="1C86D9"/>
          </a:solidFill>
          <a:ln/>
        </p:spPr>
      </p:sp>
      <p:sp>
        <p:nvSpPr>
          <p:cNvPr id="22" name="Text 20"/>
          <p:cNvSpPr txBox="1"/>
          <p:nvPr/>
        </p:nvSpPr>
        <p:spPr>
          <a:xfrm>
            <a:off x="548640" y="5440680"/>
            <a:ext cx="384048" cy="384048"/>
          </a:xfrm>
          <a:prstGeom prst="rect">
            <a:avLst/>
          </a:prstGeom>
          <a:noFill/>
          <a:ln/>
        </p:spPr>
        <p:txBody>
          <a:bodyPr wrap="square" lIns="0" tIns="0" rIns="0" bIns="0" rtlCol="0" anchor="ctr"/>
          <a:lstStyle/>
          <a:p>
            <a:pPr algn="ctr" indent="0" marL="0">
              <a:buNone/>
            </a:pPr>
            <a:r>
              <a:rPr lang="ko-KR" altLang="en-US" sz="1400" b="1" dirty="0">
                <a:solidFill>
                  <a:srgbClr val="FFFFFF"/>
                </a:solidFill>
                <a:latin typeface="Malgun Gothic" pitchFamily="34" charset="0"/>
                <a:ea typeface="Malgun Gothic" pitchFamily="34" charset="-122"/>
                <a:cs typeface="Malgun Gothic" pitchFamily="34" charset="-120"/>
              </a:rPr>
              <a:t>3</a:t>
            </a:r>
            <a:endParaRPr lang="ko-KR" altLang="en-US" sz="1400" dirty="0"/>
          </a:p>
        </p:txBody>
      </p:sp>
      <p:sp>
        <p:nvSpPr>
          <p:cNvPr id="23" name="Text 21"/>
          <p:cNvSpPr txBox="1"/>
          <p:nvPr/>
        </p:nvSpPr>
        <p:spPr>
          <a:xfrm>
            <a:off x="1115568" y="5404104"/>
            <a:ext cx="5669280" cy="292608"/>
          </a:xfrm>
          <a:prstGeom prst="rect">
            <a:avLst/>
          </a:prstGeom>
          <a:noFill/>
          <a:ln/>
        </p:spPr>
        <p:txBody>
          <a:bodyPr wrap="square" lIns="0" tIns="0" rIns="0" bIns="0" rtlCol="0" anchor="t"/>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모을수록 켜지는 도감</a:t>
            </a:r>
            <a:endParaRPr lang="ko-KR" altLang="en-US" sz="1600" dirty="0"/>
          </a:p>
        </p:txBody>
      </p:sp>
      <p:sp>
        <p:nvSpPr>
          <p:cNvPr id="24" name="Text 22"/>
          <p:cNvSpPr txBox="1"/>
          <p:nvPr/>
        </p:nvSpPr>
        <p:spPr>
          <a:xfrm>
            <a:off x="1115568" y="5715000"/>
            <a:ext cx="5669280" cy="274320"/>
          </a:xfrm>
          <a:prstGeom prst="rect">
            <a:avLst/>
          </a:prstGeom>
          <a:noFill/>
          <a:ln/>
        </p:spPr>
        <p:txBody>
          <a:bodyPr wrap="square" lIns="0" tIns="0" rIns="0" bIns="0" rtlCol="0" anchor="t"/>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칸이 켜지고 레벨이 오른다</a:t>
            </a:r>
            <a:endParaRPr lang="ko-KR" altLang="en-US" sz="1300" dirty="0"/>
          </a:p>
        </p:txBody>
      </p:sp>
      <p:sp>
        <p:nvSpPr>
          <p:cNvPr id="25" name="Shape 23"/>
          <p:cNvSpPr/>
          <p:nvPr/>
        </p:nvSpPr>
        <p:spPr>
          <a:xfrm>
            <a:off x="7315200" y="1572768"/>
            <a:ext cx="4325112" cy="4526280"/>
          </a:xfrm>
          <a:prstGeom prst="roundRect">
            <a:avLst>
              <a:gd name="adj" fmla="val 338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26" name="Text 24"/>
          <p:cNvSpPr txBox="1"/>
          <p:nvPr/>
        </p:nvSpPr>
        <p:spPr>
          <a:xfrm>
            <a:off x="7635240" y="1801368"/>
            <a:ext cx="3749040" cy="256032"/>
          </a:xfrm>
          <a:prstGeom prst="rect">
            <a:avLst/>
          </a:prstGeom>
          <a:noFill/>
          <a:ln/>
        </p:spPr>
        <p:txBody>
          <a:bodyPr wrap="square" lIns="0" tIns="0" rIns="0" bIns="0" rtlCol="0" anchor="t"/>
          <a:lstStyle/>
          <a:p>
            <a:pPr indent="0" marL="0">
              <a:buNone/>
            </a:pPr>
            <a:r>
              <a:rPr lang="ko-KR" altLang="en-US" sz="1200" b="1" dirty="0">
                <a:solidFill>
                  <a:srgbClr val="6B7078"/>
                </a:solidFill>
                <a:latin typeface="Malgun Gothic" pitchFamily="34" charset="0"/>
                <a:ea typeface="Malgun Gothic" pitchFamily="34" charset="-122"/>
                <a:cs typeface="Malgun Gothic" pitchFamily="34" charset="-120"/>
              </a:rPr>
              <a:t>평가 및 리뷰 — 바탕이 된 앱 hobbyDB</a:t>
            </a:r>
            <a:endParaRPr lang="ko-KR" altLang="en-US" sz="1200" dirty="0"/>
          </a:p>
        </p:txBody>
      </p:sp>
      <p:sp>
        <p:nvSpPr>
          <p:cNvPr id="27" name="Text 25"/>
          <p:cNvSpPr txBox="1"/>
          <p:nvPr/>
        </p:nvSpPr>
        <p:spPr>
          <a:xfrm>
            <a:off x="7635240" y="2121408"/>
            <a:ext cx="2011680" cy="731520"/>
          </a:xfrm>
          <a:prstGeom prst="rect">
            <a:avLst/>
          </a:prstGeom>
          <a:noFill/>
          <a:ln/>
        </p:spPr>
        <p:txBody>
          <a:bodyPr wrap="square" lIns="0" tIns="0" rIns="0" bIns="0" rtlCol="0" anchor="ctr"/>
          <a:lstStyle/>
          <a:p>
            <a:pPr indent="0" marL="0">
              <a:buNone/>
            </a:pPr>
            <a:r>
              <a:rPr lang="ko-KR" altLang="en-US" sz="4000" b="1" dirty="0">
                <a:solidFill>
                  <a:srgbClr val="111111"/>
                </a:solidFill>
                <a:latin typeface="Malgun Gothic" pitchFamily="34" charset="0"/>
                <a:ea typeface="Malgun Gothic" pitchFamily="34" charset="-122"/>
                <a:cs typeface="Malgun Gothic" pitchFamily="34" charset="-120"/>
              </a:rPr>
              <a:t>★ 4.8</a:t>
            </a:r>
            <a:endParaRPr lang="ko-KR" altLang="en-US" sz="4000" dirty="0"/>
          </a:p>
        </p:txBody>
      </p:sp>
      <p:sp>
        <p:nvSpPr>
          <p:cNvPr id="28" name="Text 26"/>
          <p:cNvSpPr txBox="1"/>
          <p:nvPr/>
        </p:nvSpPr>
        <p:spPr>
          <a:xfrm>
            <a:off x="9601200" y="2212848"/>
            <a:ext cx="1920240" cy="274320"/>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평가 8,656개</a:t>
            </a:r>
            <a:endParaRPr lang="ko-KR" altLang="en-US" sz="1400" dirty="0"/>
          </a:p>
        </p:txBody>
      </p:sp>
      <p:sp>
        <p:nvSpPr>
          <p:cNvPr id="29" name="Text 27"/>
          <p:cNvSpPr txBox="1"/>
          <p:nvPr/>
        </p:nvSpPr>
        <p:spPr>
          <a:xfrm>
            <a:off x="9601200" y="2505456"/>
            <a:ext cx="1920240" cy="274320"/>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App Store(US) · 2026.10</a:t>
            </a:r>
            <a:endParaRPr lang="ko-KR" altLang="en-US" sz="1000" dirty="0"/>
          </a:p>
        </p:txBody>
      </p:sp>
      <p:sp>
        <p:nvSpPr>
          <p:cNvPr id="30" name="Shape 28"/>
          <p:cNvSpPr/>
          <p:nvPr/>
        </p:nvSpPr>
        <p:spPr>
          <a:xfrm>
            <a:off x="7635240" y="3108960"/>
            <a:ext cx="3685032" cy="1207008"/>
          </a:xfrm>
          <a:prstGeom prst="roundRect">
            <a:avLst>
              <a:gd name="adj" fmla="val 7576"/>
            </a:avLst>
          </a:prstGeom>
          <a:solidFill>
            <a:srgbClr val="F4F5F7"/>
          </a:solidFill>
          <a:ln/>
        </p:spPr>
      </p:sp>
      <p:sp>
        <p:nvSpPr>
          <p:cNvPr id="31" name="Text 29"/>
          <p:cNvSpPr txBox="1"/>
          <p:nvPr/>
        </p:nvSpPr>
        <p:spPr>
          <a:xfrm>
            <a:off x="7818120" y="3236976"/>
            <a:ext cx="3383280" cy="566928"/>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"Would love to be able to organize by line."</a:t>
            </a:r>
            <a:endParaRPr lang="ko-KR" altLang="en-US" sz="1250" dirty="0"/>
          </a:p>
        </p:txBody>
      </p:sp>
      <p:sp>
        <p:nvSpPr>
          <p:cNvPr id="32" name="Text 30"/>
          <p:cNvSpPr txBox="1"/>
          <p:nvPr/>
        </p:nvSpPr>
        <p:spPr>
          <a:xfrm>
            <a:off x="7818120" y="3840480"/>
            <a:ext cx="3383280" cy="237744"/>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IP(라인)별로 정리해 볼 수 없다</a:t>
            </a:r>
            <a:endParaRPr lang="ko-KR" altLang="en-US" sz="1100" dirty="0"/>
          </a:p>
        </p:txBody>
      </p:sp>
      <p:sp>
        <p:nvSpPr>
          <p:cNvPr id="33" name="Text 31"/>
          <p:cNvSpPr txBox="1"/>
          <p:nvPr/>
        </p:nvSpPr>
        <p:spPr>
          <a:xfrm>
            <a:off x="7818120" y="4059936"/>
            <a:ext cx="3383280" cy="219456"/>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★4 · 2022.11.06</a:t>
            </a:r>
            <a:endParaRPr lang="ko-KR" altLang="en-US" sz="950" dirty="0"/>
          </a:p>
        </p:txBody>
      </p:sp>
      <p:sp>
        <p:nvSpPr>
          <p:cNvPr id="34" name="Shape 32"/>
          <p:cNvSpPr/>
          <p:nvPr/>
        </p:nvSpPr>
        <p:spPr>
          <a:xfrm>
            <a:off x="7635240" y="4480560"/>
            <a:ext cx="3685032" cy="1207008"/>
          </a:xfrm>
          <a:prstGeom prst="roundRect">
            <a:avLst>
              <a:gd name="adj" fmla="val 7576"/>
            </a:avLst>
          </a:prstGeom>
          <a:solidFill>
            <a:srgbClr val="F4F5F7"/>
          </a:solidFill>
          <a:ln/>
        </p:spPr>
      </p:sp>
      <p:sp>
        <p:nvSpPr>
          <p:cNvPr id="35" name="Text 33"/>
          <p:cNvSpPr txBox="1"/>
          <p:nvPr/>
        </p:nvSpPr>
        <p:spPr>
          <a:xfrm>
            <a:off x="7818120" y="4608576"/>
            <a:ext cx="3383280" cy="566928"/>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"It takes a little for new pops to be added"</a:t>
            </a:r>
            <a:endParaRPr lang="ko-KR" altLang="en-US" sz="1250" dirty="0"/>
          </a:p>
        </p:txBody>
      </p:sp>
      <p:sp>
        <p:nvSpPr>
          <p:cNvPr id="36" name="Text 34"/>
          <p:cNvSpPr txBox="1"/>
          <p:nvPr/>
        </p:nvSpPr>
        <p:spPr>
          <a:xfrm>
            <a:off x="7818120" y="5212080"/>
            <a:ext cx="3383280" cy="237744"/>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신상품 정보가 늦게 올라온다</a:t>
            </a:r>
            <a:endParaRPr lang="ko-KR" altLang="en-US" sz="1100" dirty="0"/>
          </a:p>
        </p:txBody>
      </p:sp>
      <p:sp>
        <p:nvSpPr>
          <p:cNvPr id="37" name="Text 35"/>
          <p:cNvSpPr txBox="1"/>
          <p:nvPr/>
        </p:nvSpPr>
        <p:spPr>
          <a:xfrm>
            <a:off x="7818120" y="5431536"/>
            <a:ext cx="3383280" cy="219456"/>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★5 · 2025.01.26</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a:t>
            </a:fld>
            <a:endParaRPr lang="ko-KR"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2  프로젝트 개요 2/2</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첫 버전 → 지금: 내 앱은 이렇게 바뀌었다</a:t>
            </a:r>
            <a:endParaRPr lang="ko-KR" altLang="en-US" sz="2800" dirty="0"/>
          </a:p>
        </p:txBody>
      </p:sp>
      <p:sp>
        <p:nvSpPr>
          <p:cNvPr id="4" name="Shape 2"/>
          <p:cNvSpPr/>
          <p:nvPr/>
        </p:nvSpPr>
        <p:spPr>
          <a:xfrm>
            <a:off x="583288" y="1618488"/>
            <a:ext cx="2033825" cy="4443984"/>
          </a:xfrm>
          <a:prstGeom prst="roundRect">
            <a:avLst>
              <a:gd name="adj" fmla="val 7635"/>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evo_99dd2b9_home.png">    </p:cNvPr>
          <p:cNvPicPr>
            <a:picLocks noChangeAspect="1"/>
          </p:cNvPicPr>
          <p:nvPr/>
        </p:nvPicPr>
        <p:blipFill>
          <a:blip r:embed="rId1"/>
          <a:stretch>
            <a:fillRect/>
          </a:stretch>
        </p:blipFill>
        <p:spPr>
          <a:xfrm>
            <a:off x="565000" y="1600200"/>
            <a:ext cx="2070401" cy="4480560"/>
          </a:xfrm>
          <a:prstGeom prst="rect">
            <a:avLst/>
          </a:prstGeom>
        </p:spPr>
      </p:pic>
      <p:sp>
        <p:nvSpPr>
          <p:cNvPr id="6" name="Shape 3"/>
          <p:cNvSpPr/>
          <p:nvPr/>
        </p:nvSpPr>
        <p:spPr>
          <a:xfrm>
            <a:off x="565000" y="1481328"/>
            <a:ext cx="2070401" cy="292608"/>
          </a:xfrm>
          <a:prstGeom prst="roundRect">
            <a:avLst>
              <a:gd name="adj" fmla="val 50000"/>
            </a:avLst>
          </a:prstGeom>
          <a:solidFill>
            <a:srgbClr val="9AA0A6"/>
          </a:solidFill>
          <a:ln/>
        </p:spPr>
      </p:sp>
      <p:sp>
        <p:nvSpPr>
          <p:cNvPr id="7" name="Text 4"/>
          <p:cNvSpPr txBox="1"/>
          <p:nvPr/>
        </p:nvSpPr>
        <p:spPr>
          <a:xfrm>
            <a:off x="565000" y="1481328"/>
            <a:ext cx="2070401" cy="292608"/>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첫 버전 · 10/24</a:t>
            </a:r>
            <a:endParaRPr lang="ko-KR" altLang="en-US" sz="1100" dirty="0"/>
          </a:p>
        </p:txBody>
      </p:sp>
      <p:sp>
        <p:nvSpPr>
          <p:cNvPr id="8" name="Shape 5"/>
          <p:cNvSpPr/>
          <p:nvPr/>
        </p:nvSpPr>
        <p:spPr>
          <a:xfrm>
            <a:off x="9571840" y="1618488"/>
            <a:ext cx="2033825" cy="4443984"/>
          </a:xfrm>
          <a:prstGeom prst="roundRect">
            <a:avLst>
              <a:gd name="adj" fmla="val 7635"/>
            </a:avLst>
          </a:prstGeom>
          <a:solidFill>
            <a:srgbClr val="FFFFFF"/>
          </a:solidFill>
          <a:ln/>
          <a:effectLst>
            <a:outerShdw sx="100000" sy="100000" kx="0" ky="0" algn="bl" rotWithShape="0" blurRad="228600" dist="76200" dir="5400000">
              <a:srgbClr val="000000">
                <a:alpha val="18000"/>
              </a:srgbClr>
            </a:outerShdw>
          </a:effectLst>
        </p:spPr>
      </p:sp>
      <p:pic>
        <p:nvPicPr>
          <p:cNvPr id="9" name="Image 1" descr="C:\Users\Windows11\AppData\Local\Temp\claude\C--Users-Windows11-Desktop-New-folder--2-\a0c8a1d0-32ba-4ae6-9843-b5ebc69d925f\scratchpad\deck2/img/home.png">    </p:cNvPr>
          <p:cNvPicPr>
            <a:picLocks noChangeAspect="1"/>
          </p:cNvPicPr>
          <p:nvPr/>
        </p:nvPicPr>
        <p:blipFill>
          <a:blip r:embed="rId2"/>
          <a:stretch>
            <a:fillRect/>
          </a:stretch>
        </p:blipFill>
        <p:spPr>
          <a:xfrm>
            <a:off x="9553552" y="1600200"/>
            <a:ext cx="2070401" cy="4480560"/>
          </a:xfrm>
          <a:prstGeom prst="rect">
            <a:avLst/>
          </a:prstGeom>
        </p:spPr>
      </p:pic>
      <p:sp>
        <p:nvSpPr>
          <p:cNvPr id="10" name="Shape 6"/>
          <p:cNvSpPr/>
          <p:nvPr/>
        </p:nvSpPr>
        <p:spPr>
          <a:xfrm>
            <a:off x="9553552" y="1481328"/>
            <a:ext cx="2070401" cy="292608"/>
          </a:xfrm>
          <a:prstGeom prst="roundRect">
            <a:avLst>
              <a:gd name="adj" fmla="val 50000"/>
            </a:avLst>
          </a:prstGeom>
          <a:solidFill>
            <a:srgbClr val="1C86D9"/>
          </a:solidFill>
          <a:ln/>
        </p:spPr>
      </p:sp>
      <p:sp>
        <p:nvSpPr>
          <p:cNvPr id="11" name="Text 7"/>
          <p:cNvSpPr txBox="1"/>
          <p:nvPr/>
        </p:nvSpPr>
        <p:spPr>
          <a:xfrm>
            <a:off x="9553552" y="1481328"/>
            <a:ext cx="2070401" cy="292608"/>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지금 · 10/29</a:t>
            </a:r>
            <a:endParaRPr lang="ko-KR" altLang="en-US" sz="1100" dirty="0"/>
          </a:p>
        </p:txBody>
      </p:sp>
      <p:sp>
        <p:nvSpPr>
          <p:cNvPr id="12" name="Text 8"/>
          <p:cNvSpPr txBox="1"/>
          <p:nvPr/>
        </p:nvSpPr>
        <p:spPr>
          <a:xfrm>
            <a:off x="3063240" y="1481328"/>
            <a:ext cx="60350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바뀐 순서</a:t>
            </a:r>
            <a:pPr indent="0" marL="0">
              <a:buNone/>
            </a:pPr>
            <a:r>
              <a:rPr lang="ko-KR" altLang="en-US" sz="1100" dirty="0">
                <a:solidFill>
                  <a:srgbClr val="6B7078"/>
                </a:solidFill>
                <a:latin typeface="Malgun Gothic" pitchFamily="34" charset="0"/>
                <a:ea typeface="Malgun Gothic" pitchFamily="34" charset="-122"/>
                <a:cs typeface="Malgun Gothic" pitchFamily="34" charset="-120"/>
              </a:rPr>
              <a:t>   4일 · 커밋 54번 · 내 요청 39번</a:t>
            </a:r>
            <a:endParaRPr lang="ko-KR" altLang="en-US" sz="1300" dirty="0"/>
          </a:p>
        </p:txBody>
      </p:sp>
      <p:sp>
        <p:nvSpPr>
          <p:cNvPr id="13" name="Shape 9"/>
          <p:cNvSpPr/>
          <p:nvPr/>
        </p:nvSpPr>
        <p:spPr>
          <a:xfrm>
            <a:off x="3246120" y="1965960"/>
            <a:ext cx="0" cy="3695700"/>
          </a:xfrm>
          <a:prstGeom prst="line">
            <a:avLst/>
          </a:prstGeom>
          <a:noFill/>
          <a:ln w="25400">
            <a:solidFill>
              <a:srgbClr val="C9CDD2"/>
            </a:solidFill>
            <a:prstDash val="solid"/>
          </a:ln>
        </p:spPr>
      </p:sp>
      <p:sp>
        <p:nvSpPr>
          <p:cNvPr id="14" name="Shape 10"/>
          <p:cNvSpPr/>
          <p:nvPr/>
        </p:nvSpPr>
        <p:spPr>
          <a:xfrm>
            <a:off x="3154680" y="1874520"/>
            <a:ext cx="182880" cy="182880"/>
          </a:xfrm>
          <a:prstGeom prst="ellipse">
            <a:avLst/>
          </a:prstGeom>
          <a:solidFill>
            <a:srgbClr val="FFFFFF"/>
          </a:solidFill>
          <a:ln w="25400">
            <a:solidFill>
              <a:srgbClr val="1C86D9"/>
            </a:solidFill>
            <a:prstDash val="solid"/>
          </a:ln>
        </p:spPr>
      </p:sp>
      <p:sp>
        <p:nvSpPr>
          <p:cNvPr id="15" name="Text 11"/>
          <p:cNvSpPr txBox="1"/>
          <p:nvPr/>
        </p:nvSpPr>
        <p:spPr>
          <a:xfrm>
            <a:off x="3520440" y="1828800"/>
            <a:ext cx="914400" cy="274320"/>
          </a:xfrm>
          <a:prstGeom prst="rect">
            <a:avLst/>
          </a:prstGeom>
          <a:noFill/>
          <a:ln/>
        </p:spPr>
        <p:txBody>
          <a:bodyPr wrap="square" lIns="0" tIns="0" rIns="0" bIns="0" rtlCol="0" anchor="t"/>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10/24</a:t>
            </a:r>
            <a:endParaRPr lang="ko-KR" altLang="en-US" sz="1100" dirty="0"/>
          </a:p>
        </p:txBody>
      </p:sp>
      <p:sp>
        <p:nvSpPr>
          <p:cNvPr id="16" name="Text 12"/>
          <p:cNvSpPr txBox="1"/>
          <p:nvPr/>
        </p:nvSpPr>
        <p:spPr>
          <a:xfrm>
            <a:off x="4434840" y="1828800"/>
            <a:ext cx="4526280" cy="274320"/>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첫 버전</a:t>
            </a:r>
            <a:endParaRPr lang="ko-KR" altLang="en-US" sz="1250" dirty="0"/>
          </a:p>
        </p:txBody>
      </p:sp>
      <p:sp>
        <p:nvSpPr>
          <p:cNvPr id="17" name="Text 13"/>
          <p:cNvSpPr txBox="1"/>
          <p:nvPr/>
        </p:nvSpPr>
        <p:spPr>
          <a:xfrm>
            <a:off x="4434840" y="2093976"/>
            <a:ext cx="4526280" cy="237744"/>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키트 목록 · 상세 · 도감 — hobbyDB 구조 그대로</a:t>
            </a:r>
            <a:endParaRPr lang="ko-KR" altLang="en-US" sz="1000" dirty="0"/>
          </a:p>
        </p:txBody>
      </p:sp>
      <p:sp>
        <p:nvSpPr>
          <p:cNvPr id="18" name="Shape 14"/>
          <p:cNvSpPr/>
          <p:nvPr/>
        </p:nvSpPr>
        <p:spPr>
          <a:xfrm>
            <a:off x="3154680" y="2613660"/>
            <a:ext cx="182880" cy="182880"/>
          </a:xfrm>
          <a:prstGeom prst="ellipse">
            <a:avLst/>
          </a:prstGeom>
          <a:solidFill>
            <a:srgbClr val="FFFFFF"/>
          </a:solidFill>
          <a:ln w="25400">
            <a:solidFill>
              <a:srgbClr val="1C86D9"/>
            </a:solidFill>
            <a:prstDash val="solid"/>
          </a:ln>
        </p:spPr>
      </p:sp>
      <p:sp>
        <p:nvSpPr>
          <p:cNvPr id="19" name="Text 15"/>
          <p:cNvSpPr txBox="1"/>
          <p:nvPr/>
        </p:nvSpPr>
        <p:spPr>
          <a:xfrm>
            <a:off x="3520440" y="2567940"/>
            <a:ext cx="914400" cy="274320"/>
          </a:xfrm>
          <a:prstGeom prst="rect">
            <a:avLst/>
          </a:prstGeom>
          <a:noFill/>
          <a:ln/>
        </p:spPr>
        <p:txBody>
          <a:bodyPr wrap="square" lIns="0" tIns="0" rIns="0" bIns="0" rtlCol="0" anchor="t"/>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10/25 오후</a:t>
            </a:r>
            <a:endParaRPr lang="ko-KR" altLang="en-US" sz="1100" dirty="0"/>
          </a:p>
        </p:txBody>
      </p:sp>
      <p:sp>
        <p:nvSpPr>
          <p:cNvPr id="20" name="Text 16"/>
          <p:cNvSpPr txBox="1"/>
          <p:nvPr/>
        </p:nvSpPr>
        <p:spPr>
          <a:xfrm>
            <a:off x="4434840" y="2567940"/>
            <a:ext cx="4526280" cy="274320"/>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하단 탭 · 내 채널 바 · 흑백</a:t>
            </a:r>
            <a:endParaRPr lang="ko-KR" altLang="en-US" sz="1250" dirty="0"/>
          </a:p>
        </p:txBody>
      </p:sp>
      <p:sp>
        <p:nvSpPr>
          <p:cNvPr id="21" name="Text 17"/>
          <p:cNvSpPr txBox="1"/>
          <p:nvPr/>
        </p:nvSpPr>
        <p:spPr>
          <a:xfrm>
            <a:off x="4434840" y="2833116"/>
            <a:ext cx="4526280" cy="237744"/>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홈 = 공식 예고 배너 + 가로 줄</a:t>
            </a:r>
            <a:endParaRPr lang="ko-KR" altLang="en-US" sz="1000" dirty="0"/>
          </a:p>
        </p:txBody>
      </p:sp>
      <p:sp>
        <p:nvSpPr>
          <p:cNvPr id="22" name="Shape 18"/>
          <p:cNvSpPr/>
          <p:nvPr/>
        </p:nvSpPr>
        <p:spPr>
          <a:xfrm>
            <a:off x="3154680" y="3352800"/>
            <a:ext cx="182880" cy="182880"/>
          </a:xfrm>
          <a:prstGeom prst="ellipse">
            <a:avLst/>
          </a:prstGeom>
          <a:solidFill>
            <a:srgbClr val="FFFFFF"/>
          </a:solidFill>
          <a:ln w="25400">
            <a:solidFill>
              <a:srgbClr val="1C86D9"/>
            </a:solidFill>
            <a:prstDash val="solid"/>
          </a:ln>
        </p:spPr>
      </p:sp>
      <p:sp>
        <p:nvSpPr>
          <p:cNvPr id="23" name="Text 19"/>
          <p:cNvSpPr txBox="1"/>
          <p:nvPr/>
        </p:nvSpPr>
        <p:spPr>
          <a:xfrm>
            <a:off x="3520440" y="3307080"/>
            <a:ext cx="914400" cy="274320"/>
          </a:xfrm>
          <a:prstGeom prst="rect">
            <a:avLst/>
          </a:prstGeom>
          <a:noFill/>
          <a:ln/>
        </p:spPr>
        <p:txBody>
          <a:bodyPr wrap="square" lIns="0" tIns="0" rIns="0" bIns="0" rtlCol="0" anchor="t"/>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10/25 저녁</a:t>
            </a:r>
            <a:endParaRPr lang="ko-KR" altLang="en-US" sz="1100" dirty="0"/>
          </a:p>
        </p:txBody>
      </p:sp>
      <p:sp>
        <p:nvSpPr>
          <p:cNvPr id="24" name="Text 20"/>
          <p:cNvSpPr txBox="1"/>
          <p:nvPr/>
        </p:nvSpPr>
        <p:spPr>
          <a:xfrm>
            <a:off x="4434840" y="3307080"/>
            <a:ext cx="4526280" cy="274320"/>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상세 · 검색 · 카메라 · 컬렉션 · 캘린더</a:t>
            </a:r>
            <a:endParaRPr lang="ko-KR" altLang="en-US" sz="1250" dirty="0"/>
          </a:p>
        </p:txBody>
      </p:sp>
      <p:sp>
        <p:nvSpPr>
          <p:cNvPr id="25" name="Text 21"/>
          <p:cNvSpPr txBox="1"/>
          <p:nvPr/>
        </p:nvSpPr>
        <p:spPr>
          <a:xfrm>
            <a:off x="4434840" y="3572256"/>
            <a:ext cx="4526280" cy="237744"/>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정가 아래 시세 한 줄 · 아래 고정 버튼</a:t>
            </a:r>
            <a:endParaRPr lang="ko-KR" altLang="en-US" sz="1000" dirty="0"/>
          </a:p>
        </p:txBody>
      </p:sp>
      <p:sp>
        <p:nvSpPr>
          <p:cNvPr id="26" name="Shape 22"/>
          <p:cNvSpPr/>
          <p:nvPr/>
        </p:nvSpPr>
        <p:spPr>
          <a:xfrm>
            <a:off x="3154680" y="4091940"/>
            <a:ext cx="182880" cy="182880"/>
          </a:xfrm>
          <a:prstGeom prst="ellipse">
            <a:avLst/>
          </a:prstGeom>
          <a:solidFill>
            <a:srgbClr val="FFFFFF"/>
          </a:solidFill>
          <a:ln w="25400">
            <a:solidFill>
              <a:srgbClr val="1C86D9"/>
            </a:solidFill>
            <a:prstDash val="solid"/>
          </a:ln>
        </p:spPr>
      </p:sp>
      <p:sp>
        <p:nvSpPr>
          <p:cNvPr id="27" name="Text 23"/>
          <p:cNvSpPr txBox="1"/>
          <p:nvPr/>
        </p:nvSpPr>
        <p:spPr>
          <a:xfrm>
            <a:off x="3520440" y="4046220"/>
            <a:ext cx="914400" cy="274320"/>
          </a:xfrm>
          <a:prstGeom prst="rect">
            <a:avLst/>
          </a:prstGeom>
          <a:noFill/>
          <a:ln/>
        </p:spPr>
        <p:txBody>
          <a:bodyPr wrap="square" lIns="0" tIns="0" rIns="0" bIns="0" rtlCol="0" anchor="t"/>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10/25 밤</a:t>
            </a:r>
            <a:endParaRPr lang="ko-KR" altLang="en-US" sz="1100" dirty="0"/>
          </a:p>
        </p:txBody>
      </p:sp>
      <p:sp>
        <p:nvSpPr>
          <p:cNvPr id="28" name="Text 24"/>
          <p:cNvSpPr txBox="1"/>
          <p:nvPr/>
        </p:nvSpPr>
        <p:spPr>
          <a:xfrm>
            <a:off x="4434840" y="4046220"/>
            <a:ext cx="4526280" cy="274320"/>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좋아요 · 구매함 · 도감 레벨 · 친구 서랍</a:t>
            </a:r>
            <a:endParaRPr lang="ko-KR" altLang="en-US" sz="1250" dirty="0"/>
          </a:p>
        </p:txBody>
      </p:sp>
      <p:sp>
        <p:nvSpPr>
          <p:cNvPr id="29" name="Text 25"/>
          <p:cNvSpPr txBox="1"/>
          <p:nvPr/>
        </p:nvSpPr>
        <p:spPr>
          <a:xfrm>
            <a:off x="4434840" y="4311396"/>
            <a:ext cx="4526280" cy="237744"/>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전체 목록 · 필터 패널 · 반반 화면</a:t>
            </a:r>
            <a:endParaRPr lang="ko-KR" altLang="en-US" sz="1000" dirty="0"/>
          </a:p>
        </p:txBody>
      </p:sp>
      <p:sp>
        <p:nvSpPr>
          <p:cNvPr id="30" name="Shape 26"/>
          <p:cNvSpPr/>
          <p:nvPr/>
        </p:nvSpPr>
        <p:spPr>
          <a:xfrm>
            <a:off x="3154680" y="4831080"/>
            <a:ext cx="182880" cy="182880"/>
          </a:xfrm>
          <a:prstGeom prst="ellipse">
            <a:avLst/>
          </a:prstGeom>
          <a:solidFill>
            <a:srgbClr val="FFFFFF"/>
          </a:solidFill>
          <a:ln w="25400">
            <a:solidFill>
              <a:srgbClr val="1C86D9"/>
            </a:solidFill>
            <a:prstDash val="solid"/>
          </a:ln>
        </p:spPr>
      </p:sp>
      <p:sp>
        <p:nvSpPr>
          <p:cNvPr id="31" name="Text 27"/>
          <p:cNvSpPr txBox="1"/>
          <p:nvPr/>
        </p:nvSpPr>
        <p:spPr>
          <a:xfrm>
            <a:off x="3520440" y="4785360"/>
            <a:ext cx="914400" cy="274320"/>
          </a:xfrm>
          <a:prstGeom prst="rect">
            <a:avLst/>
          </a:prstGeom>
          <a:noFill/>
          <a:ln/>
        </p:spPr>
        <p:txBody>
          <a:bodyPr wrap="square" lIns="0" tIns="0" rIns="0" bIns="0" rtlCol="0" anchor="t"/>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10/26</a:t>
            </a:r>
            <a:endParaRPr lang="ko-KR" altLang="en-US" sz="1100" dirty="0"/>
          </a:p>
        </p:txBody>
      </p:sp>
      <p:sp>
        <p:nvSpPr>
          <p:cNvPr id="32" name="Text 28"/>
          <p:cNvSpPr txBox="1"/>
          <p:nvPr/>
        </p:nvSpPr>
        <p:spPr>
          <a:xfrm>
            <a:off x="4434840" y="4785360"/>
            <a:ext cx="4526280" cy="274320"/>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AI 반론 반영</a:t>
            </a:r>
            <a:endParaRPr lang="ko-KR" altLang="en-US" sz="1250" dirty="0"/>
          </a:p>
        </p:txBody>
      </p:sp>
      <p:sp>
        <p:nvSpPr>
          <p:cNvPr id="33" name="Text 29"/>
          <p:cNvSpPr txBox="1"/>
          <p:nvPr/>
        </p:nvSpPr>
        <p:spPr>
          <a:xfrm>
            <a:off x="4434840" y="5050536"/>
            <a:ext cx="4526280" cy="237744"/>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표시 모양 하나로 · 색 둘 · 앱 전체 한 벌</a:t>
            </a:r>
            <a:endParaRPr lang="ko-KR" altLang="en-US" sz="1000" dirty="0"/>
          </a:p>
        </p:txBody>
      </p:sp>
      <p:sp>
        <p:nvSpPr>
          <p:cNvPr id="34" name="Shape 30"/>
          <p:cNvSpPr/>
          <p:nvPr/>
        </p:nvSpPr>
        <p:spPr>
          <a:xfrm>
            <a:off x="3154680" y="5570220"/>
            <a:ext cx="182880" cy="182880"/>
          </a:xfrm>
          <a:prstGeom prst="ellipse">
            <a:avLst/>
          </a:prstGeom>
          <a:solidFill>
            <a:srgbClr val="1C86D9"/>
          </a:solidFill>
          <a:ln w="25400">
            <a:solidFill>
              <a:srgbClr val="1C86D9"/>
            </a:solidFill>
            <a:prstDash val="solid"/>
          </a:ln>
        </p:spPr>
      </p:sp>
      <p:sp>
        <p:nvSpPr>
          <p:cNvPr id="35" name="Text 31"/>
          <p:cNvSpPr txBox="1"/>
          <p:nvPr/>
        </p:nvSpPr>
        <p:spPr>
          <a:xfrm>
            <a:off x="3520440" y="5524500"/>
            <a:ext cx="914400" cy="274320"/>
          </a:xfrm>
          <a:prstGeom prst="rect">
            <a:avLst/>
          </a:prstGeom>
          <a:noFill/>
          <a:ln/>
        </p:spPr>
        <p:txBody>
          <a:bodyPr wrap="square" lIns="0" tIns="0" rIns="0" bIns="0" rtlCol="0" anchor="t"/>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10/29</a:t>
            </a:r>
            <a:endParaRPr lang="ko-KR" altLang="en-US" sz="1100" dirty="0"/>
          </a:p>
        </p:txBody>
      </p:sp>
      <p:sp>
        <p:nvSpPr>
          <p:cNvPr id="36" name="Text 32"/>
          <p:cNvSpPr txBox="1"/>
          <p:nvPr/>
        </p:nvSpPr>
        <p:spPr>
          <a:xfrm>
            <a:off x="4434840" y="5524500"/>
            <a:ext cx="4526280" cy="274320"/>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이름 Hobby Atlas</a:t>
            </a:r>
            <a:endParaRPr lang="ko-KR" altLang="en-US" sz="1250" dirty="0"/>
          </a:p>
        </p:txBody>
      </p:sp>
      <p:sp>
        <p:nvSpPr>
          <p:cNvPr id="37" name="Text 33"/>
          <p:cNvSpPr txBox="1"/>
          <p:nvPr/>
        </p:nvSpPr>
        <p:spPr>
          <a:xfrm>
            <a:off x="4434840" y="5789676"/>
            <a:ext cx="4526280" cy="237744"/>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브랜드마다 흩어진 정보를 한곳에</a:t>
            </a:r>
            <a:endParaRPr lang="ko-KR" altLang="en-US" sz="1000" dirty="0"/>
          </a:p>
        </p:txBody>
      </p:sp>
      <p:sp>
        <p:nvSpPr>
          <p:cNvPr id="38" name="Shape 34"/>
          <p:cNvSpPr/>
          <p:nvPr/>
        </p:nvSpPr>
        <p:spPr>
          <a:xfrm>
            <a:off x="9098280" y="3840480"/>
            <a:ext cx="411480" cy="0"/>
          </a:xfrm>
          <a:prstGeom prst="line">
            <a:avLst/>
          </a:prstGeom>
          <a:noFill/>
          <a:ln w="19050">
            <a:solidFill>
              <a:srgbClr val="1C86D9"/>
            </a:solidFill>
            <a:prstDash val="solid"/>
            <a:tailEnd type="triangle"/>
          </a:ln>
        </p:spPr>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4</a:t>
            </a:fld>
            <a:endParaRPr lang="ko-KR"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3  문제 정의 1/3 — 왜 만들었나</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좋아하는 것 하나에도, 공식 사이트는 여러 곳</a:t>
            </a:r>
            <a:endParaRPr lang="ko-KR" altLang="en-US" sz="2800" dirty="0"/>
          </a:p>
        </p:txBody>
      </p:sp>
      <p:sp>
        <p:nvSpPr>
          <p:cNvPr id="4" name="Text 2"/>
          <p:cNvSpPr txBox="1"/>
          <p:nvPr/>
        </p:nvSpPr>
        <p:spPr>
          <a:xfrm>
            <a:off x="548640" y="1481328"/>
            <a:ext cx="6949440" cy="256032"/>
          </a:xfrm>
          <a:prstGeom prst="rect">
            <a:avLst/>
          </a:prstGeom>
          <a:noFill/>
          <a:ln/>
        </p:spPr>
        <p:txBody>
          <a:bodyPr wrap="square" lIns="0" tIns="0" rIns="0" bIns="0" rtlCol="0" anchor="t"/>
          <a:lstStyle/>
          <a:p>
            <a:pPr indent="0" marL="0">
              <a:buNone/>
            </a:pPr>
            <a:r>
              <a:rPr lang="ko-KR" altLang="en-US" sz="1250" b="1" dirty="0">
                <a:solidFill>
                  <a:srgbClr val="1C86D9"/>
                </a:solidFill>
                <a:latin typeface="Malgun Gothic" pitchFamily="34" charset="0"/>
                <a:ea typeface="Malgun Gothic" pitchFamily="34" charset="-122"/>
                <a:cs typeface="Malgun Gothic" pitchFamily="34" charset="-120"/>
              </a:rPr>
              <a:t>BANDAI 계열만 해도 5곳</a:t>
            </a:r>
            <a:endParaRPr lang="ko-KR" altLang="en-US" sz="1250" dirty="0"/>
          </a:p>
        </p:txBody>
      </p:sp>
      <p:sp>
        <p:nvSpPr>
          <p:cNvPr id="5" name="Shape 3"/>
          <p:cNvSpPr/>
          <p:nvPr/>
        </p:nvSpPr>
        <p:spPr>
          <a:xfrm>
            <a:off x="548640" y="1810512"/>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6" name="Image 0" descr="C:\Users\Windows11\AppData\Local\Temp\claude\C--Users-Windows11-Desktop-New-folder--2-\a0c8a1d0-32ba-4ae6-9843-b5ebc69d925f\scratchpad\deck2/logos/bandai_spirits/logo_mono.png">    </p:cNvPr>
          <p:cNvPicPr>
            <a:picLocks noChangeAspect="1"/>
          </p:cNvPicPr>
          <p:nvPr/>
        </p:nvPicPr>
        <p:blipFill>
          <a:blip r:embed="rId1"/>
          <a:stretch>
            <a:fillRect/>
          </a:stretch>
        </p:blipFill>
        <p:spPr>
          <a:xfrm>
            <a:off x="685800" y="2136465"/>
            <a:ext cx="1024128" cy="88758"/>
          </a:xfrm>
          <a:prstGeom prst="rect">
            <a:avLst/>
          </a:prstGeom>
        </p:spPr>
      </p:pic>
      <p:sp>
        <p:nvSpPr>
          <p:cNvPr id="7" name="Text 4"/>
          <p:cNvSpPr txBox="1"/>
          <p:nvPr/>
        </p:nvSpPr>
        <p:spPr>
          <a:xfrm>
            <a:off x="594360" y="2542032"/>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호비 사이트 · 건프라</a:t>
            </a:r>
            <a:endParaRPr lang="ko-KR" altLang="en-US" sz="950" dirty="0"/>
          </a:p>
        </p:txBody>
      </p:sp>
      <p:sp>
        <p:nvSpPr>
          <p:cNvPr id="8" name="Shape 5"/>
          <p:cNvSpPr/>
          <p:nvPr/>
        </p:nvSpPr>
        <p:spPr>
          <a:xfrm>
            <a:off x="1947672" y="1810512"/>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9" name="Image 1" descr="C:\Users\Windows11\AppData\Local\Temp\claude\C--Users-Windows11-Desktop-New-folder--2-\a0c8a1d0-32ba-4ae6-9843-b5ebc69d925f\scratchpad\deck2/logos/tamashii_nations/logo_mono.png">    </p:cNvPr>
          <p:cNvPicPr>
            <a:picLocks noChangeAspect="1"/>
          </p:cNvPicPr>
          <p:nvPr/>
        </p:nvPicPr>
        <p:blipFill>
          <a:blip r:embed="rId2"/>
          <a:stretch>
            <a:fillRect/>
          </a:stretch>
        </p:blipFill>
        <p:spPr>
          <a:xfrm>
            <a:off x="2335832" y="1929384"/>
            <a:ext cx="522129" cy="502920"/>
          </a:xfrm>
          <a:prstGeom prst="rect">
            <a:avLst/>
          </a:prstGeom>
        </p:spPr>
      </p:pic>
      <p:sp>
        <p:nvSpPr>
          <p:cNvPr id="10" name="Text 6"/>
          <p:cNvSpPr txBox="1"/>
          <p:nvPr/>
        </p:nvSpPr>
        <p:spPr>
          <a:xfrm>
            <a:off x="1993392" y="2542032"/>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완성품 피규어</a:t>
            </a:r>
            <a:endParaRPr lang="ko-KR" altLang="en-US" sz="950" dirty="0"/>
          </a:p>
        </p:txBody>
      </p:sp>
      <p:sp>
        <p:nvSpPr>
          <p:cNvPr id="11" name="Shape 7"/>
          <p:cNvSpPr/>
          <p:nvPr/>
        </p:nvSpPr>
        <p:spPr>
          <a:xfrm>
            <a:off x="3346704" y="1810512"/>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12" name="Image 2" descr="C:\Users\Windows11\AppData\Local\Temp\claude\C--Users-Windows11-Desktop-New-folder--2-\a0c8a1d0-32ba-4ae6-9843-b5ebc69d925f\scratchpad\deck2/logos/premium_bandai/logo_mono.png">    </p:cNvPr>
          <p:cNvPicPr>
            <a:picLocks noChangeAspect="1"/>
          </p:cNvPicPr>
          <p:nvPr/>
        </p:nvPicPr>
        <p:blipFill>
          <a:blip r:embed="rId3"/>
          <a:stretch>
            <a:fillRect/>
          </a:stretch>
        </p:blipFill>
        <p:spPr>
          <a:xfrm>
            <a:off x="3483864" y="2082698"/>
            <a:ext cx="1024128" cy="196291"/>
          </a:xfrm>
          <a:prstGeom prst="rect">
            <a:avLst/>
          </a:prstGeom>
        </p:spPr>
      </p:pic>
      <p:sp>
        <p:nvSpPr>
          <p:cNvPr id="13" name="Text 8"/>
          <p:cNvSpPr txBox="1"/>
          <p:nvPr/>
        </p:nvSpPr>
        <p:spPr>
          <a:xfrm>
            <a:off x="3392424" y="2542032"/>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한정판</a:t>
            </a:r>
            <a:endParaRPr lang="ko-KR" altLang="en-US" sz="950" dirty="0"/>
          </a:p>
        </p:txBody>
      </p:sp>
      <p:sp>
        <p:nvSpPr>
          <p:cNvPr id="14" name="Shape 9"/>
          <p:cNvSpPr/>
          <p:nvPr/>
        </p:nvSpPr>
        <p:spPr>
          <a:xfrm>
            <a:off x="4745736" y="1810512"/>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15" name="Image 3" descr="C:\Users\Windows11\AppData\Local\Temp\claude\C--Users-Windows11-Desktop-New-folder--2-\a0c8a1d0-32ba-4ae6-9843-b5ebc69d925f\scratchpad\deck2/logos/banpresto/logo_mono.png">    </p:cNvPr>
          <p:cNvPicPr>
            <a:picLocks noChangeAspect="1"/>
          </p:cNvPicPr>
          <p:nvPr/>
        </p:nvPicPr>
        <p:blipFill>
          <a:blip r:embed="rId4"/>
          <a:stretch>
            <a:fillRect/>
          </a:stretch>
        </p:blipFill>
        <p:spPr>
          <a:xfrm>
            <a:off x="4882896" y="1973458"/>
            <a:ext cx="1024128" cy="414772"/>
          </a:xfrm>
          <a:prstGeom prst="rect">
            <a:avLst/>
          </a:prstGeom>
        </p:spPr>
      </p:pic>
      <p:sp>
        <p:nvSpPr>
          <p:cNvPr id="16" name="Text 10"/>
          <p:cNvSpPr txBox="1"/>
          <p:nvPr/>
        </p:nvSpPr>
        <p:spPr>
          <a:xfrm>
            <a:off x="4791456" y="2542032"/>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경품 피규어</a:t>
            </a:r>
            <a:endParaRPr lang="ko-KR" altLang="en-US" sz="950" dirty="0"/>
          </a:p>
        </p:txBody>
      </p:sp>
      <p:sp>
        <p:nvSpPr>
          <p:cNvPr id="17" name="Shape 11"/>
          <p:cNvSpPr/>
          <p:nvPr/>
        </p:nvSpPr>
        <p:spPr>
          <a:xfrm>
            <a:off x="6144768" y="1810512"/>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18" name="Image 4" descr="C:\Users\Windows11\AppData\Local\Temp\claude\C--Users-Windows11-Desktop-New-folder--2-\a0c8a1d0-32ba-4ae6-9843-b5ebc69d925f\scratchpad\deck2/logos/megahouse/logo_mono.png">    </p:cNvPr>
          <p:cNvPicPr>
            <a:picLocks noChangeAspect="1"/>
          </p:cNvPicPr>
          <p:nvPr/>
        </p:nvPicPr>
        <p:blipFill>
          <a:blip r:embed="rId5"/>
          <a:stretch>
            <a:fillRect/>
          </a:stretch>
        </p:blipFill>
        <p:spPr>
          <a:xfrm>
            <a:off x="6574423" y="1929384"/>
            <a:ext cx="439139" cy="502920"/>
          </a:xfrm>
          <a:prstGeom prst="rect">
            <a:avLst/>
          </a:prstGeom>
        </p:spPr>
      </p:pic>
      <p:sp>
        <p:nvSpPr>
          <p:cNvPr id="19" name="Text 12"/>
          <p:cNvSpPr txBox="1"/>
          <p:nvPr/>
        </p:nvSpPr>
        <p:spPr>
          <a:xfrm>
            <a:off x="6190488" y="2542032"/>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G.E.M. · 완성품</a:t>
            </a:r>
            <a:endParaRPr lang="ko-KR" altLang="en-US" sz="950" dirty="0"/>
          </a:p>
        </p:txBody>
      </p:sp>
      <p:sp>
        <p:nvSpPr>
          <p:cNvPr id="20" name="Text 13"/>
          <p:cNvSpPr txBox="1"/>
          <p:nvPr/>
        </p:nvSpPr>
        <p:spPr>
          <a:xfrm>
            <a:off x="548640" y="3054096"/>
            <a:ext cx="6949440" cy="256032"/>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IP마다 또 다른 제조사 · 공식 숍</a:t>
            </a:r>
            <a:endParaRPr lang="ko-KR" altLang="en-US" sz="1250" dirty="0"/>
          </a:p>
        </p:txBody>
      </p:sp>
      <p:sp>
        <p:nvSpPr>
          <p:cNvPr id="21" name="Shape 14"/>
          <p:cNvSpPr/>
          <p:nvPr/>
        </p:nvSpPr>
        <p:spPr>
          <a:xfrm>
            <a:off x="548640" y="3383280"/>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22" name="Image 5" descr="C:\Users\Windows11\AppData\Local\Temp\claude\C--Users-Windows11-Desktop-New-folder--2-\a0c8a1d0-32ba-4ae6-9843-b5ebc69d925f\scratchpad\deck2/logos/kotobukiya/logo_mono.png">    </p:cNvPr>
          <p:cNvPicPr>
            <a:picLocks noChangeAspect="1"/>
          </p:cNvPicPr>
          <p:nvPr/>
        </p:nvPicPr>
        <p:blipFill>
          <a:blip r:embed="rId6"/>
          <a:stretch>
            <a:fillRect/>
          </a:stretch>
        </p:blipFill>
        <p:spPr>
          <a:xfrm>
            <a:off x="685800" y="3599993"/>
            <a:ext cx="1024128" cy="307238"/>
          </a:xfrm>
          <a:prstGeom prst="rect">
            <a:avLst/>
          </a:prstGeom>
        </p:spPr>
      </p:pic>
      <p:sp>
        <p:nvSpPr>
          <p:cNvPr id="23" name="Text 15"/>
          <p:cNvSpPr txBox="1"/>
          <p:nvPr/>
        </p:nvSpPr>
        <p:spPr>
          <a:xfrm>
            <a:off x="594360" y="4114800"/>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아머드 코어 키트</a:t>
            </a:r>
            <a:endParaRPr lang="ko-KR" altLang="en-US" sz="950" dirty="0"/>
          </a:p>
        </p:txBody>
      </p:sp>
      <p:sp>
        <p:nvSpPr>
          <p:cNvPr id="24" name="Shape 16"/>
          <p:cNvSpPr/>
          <p:nvPr/>
        </p:nvSpPr>
        <p:spPr>
          <a:xfrm>
            <a:off x="1947672" y="3383280"/>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25" name="Image 6" descr="C:\Users\Windows11\AppData\Local\Temp\claude\C--Users-Windows11-Desktop-New-folder--2-\a0c8a1d0-32ba-4ae6-9843-b5ebc69d925f\scratchpad\deck2/logos/good_smile/logo_mono.png">    </p:cNvPr>
          <p:cNvPicPr>
            <a:picLocks noChangeAspect="1"/>
          </p:cNvPicPr>
          <p:nvPr/>
        </p:nvPicPr>
        <p:blipFill>
          <a:blip r:embed="rId7"/>
          <a:stretch>
            <a:fillRect/>
          </a:stretch>
        </p:blipFill>
        <p:spPr>
          <a:xfrm>
            <a:off x="2084832" y="3609381"/>
            <a:ext cx="1024128" cy="288463"/>
          </a:xfrm>
          <a:prstGeom prst="rect">
            <a:avLst/>
          </a:prstGeom>
        </p:spPr>
      </p:pic>
      <p:sp>
        <p:nvSpPr>
          <p:cNvPr id="26" name="Text 17"/>
          <p:cNvSpPr txBox="1"/>
          <p:nvPr/>
        </p:nvSpPr>
        <p:spPr>
          <a:xfrm>
            <a:off x="1993392" y="4114800"/>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넨도로이드 · figma</a:t>
            </a:r>
            <a:endParaRPr lang="ko-KR" altLang="en-US" sz="950" dirty="0"/>
          </a:p>
        </p:txBody>
      </p:sp>
      <p:sp>
        <p:nvSpPr>
          <p:cNvPr id="27" name="Shape 18"/>
          <p:cNvSpPr/>
          <p:nvPr/>
        </p:nvSpPr>
        <p:spPr>
          <a:xfrm>
            <a:off x="3346704" y="3383280"/>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28" name="Image 7" descr="C:\Users\Windows11\AppData\Local\Temp\claude\C--Users-Windows11-Desktop-New-folder--2-\a0c8a1d0-32ba-4ae6-9843-b5ebc69d925f\scratchpad\deck2/logos/takara_tomy/logo_mono.png">    </p:cNvPr>
          <p:cNvPicPr>
            <a:picLocks noChangeAspect="1"/>
          </p:cNvPicPr>
          <p:nvPr/>
        </p:nvPicPr>
        <p:blipFill>
          <a:blip r:embed="rId8"/>
          <a:stretch>
            <a:fillRect/>
          </a:stretch>
        </p:blipFill>
        <p:spPr>
          <a:xfrm>
            <a:off x="3537338" y="3502152"/>
            <a:ext cx="917179" cy="502920"/>
          </a:xfrm>
          <a:prstGeom prst="rect">
            <a:avLst/>
          </a:prstGeom>
        </p:spPr>
      </p:pic>
      <p:sp>
        <p:nvSpPr>
          <p:cNvPr id="29" name="Text 19"/>
          <p:cNvSpPr txBox="1"/>
          <p:nvPr/>
        </p:nvSpPr>
        <p:spPr>
          <a:xfrm>
            <a:off x="3392424" y="4114800"/>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베이블레이드 X</a:t>
            </a:r>
            <a:endParaRPr lang="ko-KR" altLang="en-US" sz="950" dirty="0"/>
          </a:p>
        </p:txBody>
      </p:sp>
      <p:sp>
        <p:nvSpPr>
          <p:cNvPr id="30" name="Shape 20"/>
          <p:cNvSpPr/>
          <p:nvPr/>
        </p:nvSpPr>
        <p:spPr>
          <a:xfrm>
            <a:off x="4745736" y="3383280"/>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31" name="Image 8" descr="C:\Users\Windows11\AppData\Local\Temp\claude\C--Users-Windows11-Desktop-New-folder--2-\a0c8a1d0-32ba-4ae6-9843-b5ebc69d925f\scratchpad\deck2/logos/pokemon_center/logo_mono.png">    </p:cNvPr>
          <p:cNvPicPr>
            <a:picLocks noChangeAspect="1"/>
          </p:cNvPicPr>
          <p:nvPr/>
        </p:nvPicPr>
        <p:blipFill>
          <a:blip r:embed="rId9"/>
          <a:stretch>
            <a:fillRect/>
          </a:stretch>
        </p:blipFill>
        <p:spPr>
          <a:xfrm>
            <a:off x="4882896" y="3673389"/>
            <a:ext cx="1024128" cy="160447"/>
          </a:xfrm>
          <a:prstGeom prst="rect">
            <a:avLst/>
          </a:prstGeom>
        </p:spPr>
      </p:pic>
      <p:sp>
        <p:nvSpPr>
          <p:cNvPr id="32" name="Text 21"/>
          <p:cNvSpPr txBox="1"/>
          <p:nvPr/>
        </p:nvSpPr>
        <p:spPr>
          <a:xfrm>
            <a:off x="4791456" y="4114800"/>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포켓몬 공식 굿즈</a:t>
            </a:r>
            <a:endParaRPr lang="ko-KR" altLang="en-US" sz="950" dirty="0"/>
          </a:p>
        </p:txBody>
      </p:sp>
      <p:sp>
        <p:nvSpPr>
          <p:cNvPr id="33" name="Shape 22"/>
          <p:cNvSpPr/>
          <p:nvPr/>
        </p:nvSpPr>
        <p:spPr>
          <a:xfrm>
            <a:off x="6144768" y="3383280"/>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34" name="Image 9" descr="C:\Users\Windows11\AppData\Local\Temp\claude\C--Users-Windows11-Desktop-New-folder--2-\a0c8a1d0-32ba-4ae6-9843-b5ebc69d925f\scratchpad\deck2/logos/aniplex_plus/logo_mono.png">    </p:cNvPr>
          <p:cNvPicPr>
            <a:picLocks noChangeAspect="1"/>
          </p:cNvPicPr>
          <p:nvPr/>
        </p:nvPicPr>
        <p:blipFill>
          <a:blip r:embed="rId10"/>
          <a:stretch>
            <a:fillRect/>
          </a:stretch>
        </p:blipFill>
        <p:spPr>
          <a:xfrm>
            <a:off x="6281928" y="3547080"/>
            <a:ext cx="1024128" cy="413065"/>
          </a:xfrm>
          <a:prstGeom prst="rect">
            <a:avLst/>
          </a:prstGeom>
        </p:spPr>
      </p:pic>
      <p:sp>
        <p:nvSpPr>
          <p:cNvPr id="35" name="Text 23"/>
          <p:cNvSpPr txBox="1"/>
          <p:nvPr/>
        </p:nvSpPr>
        <p:spPr>
          <a:xfrm>
            <a:off x="6190488" y="4114800"/>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Fate 등 애니 굿즈</a:t>
            </a:r>
            <a:endParaRPr lang="ko-KR" altLang="en-US" sz="950" dirty="0"/>
          </a:p>
        </p:txBody>
      </p:sp>
      <p:sp>
        <p:nvSpPr>
          <p:cNvPr id="36" name="Shape 24"/>
          <p:cNvSpPr/>
          <p:nvPr/>
        </p:nvSpPr>
        <p:spPr>
          <a:xfrm>
            <a:off x="548640" y="4754880"/>
            <a:ext cx="6949440" cy="1234440"/>
          </a:xfrm>
          <a:prstGeom prst="roundRect">
            <a:avLst>
              <a:gd name="adj" fmla="val 10370"/>
            </a:avLst>
          </a:prstGeom>
          <a:solidFill>
            <a:srgbClr val="F4F5F7"/>
          </a:solidFill>
          <a:ln/>
        </p:spPr>
      </p:sp>
      <p:sp>
        <p:nvSpPr>
          <p:cNvPr id="37" name="Text 25"/>
          <p:cNvSpPr txBox="1"/>
          <p:nvPr/>
        </p:nvSpPr>
        <p:spPr>
          <a:xfrm>
            <a:off x="777240" y="4864608"/>
            <a:ext cx="64922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건담 하나만 해도</a:t>
            </a:r>
            <a:pPr indent="0" marL="0">
              <a:buNone/>
            </a:pPr>
            <a:r>
              <a:rPr lang="ko-KR" altLang="en-US" sz="1100" dirty="0">
                <a:solidFill>
                  <a:srgbClr val="6B7078"/>
                </a:solidFill>
                <a:latin typeface="Malgun Gothic" pitchFamily="34" charset="0"/>
                <a:ea typeface="Malgun Gothic" pitchFamily="34" charset="-122"/>
                <a:cs typeface="Malgun Gothic" pitchFamily="34" charset="-120"/>
              </a:rPr>
              <a:t>   프라모델 · 완성품 · 한정판 · 경품 · G.E.M. 사는 곳이 다 다르다</a:t>
            </a:r>
            <a:endParaRPr lang="ko-KR" altLang="en-US" sz="1300" dirty="0"/>
          </a:p>
        </p:txBody>
      </p:sp>
      <p:sp>
        <p:nvSpPr>
          <p:cNvPr id="38" name="Text 26"/>
          <p:cNvSpPr txBox="1"/>
          <p:nvPr/>
        </p:nvSpPr>
        <p:spPr>
          <a:xfrm>
            <a:off x="777240" y="5257800"/>
            <a:ext cx="6492240" cy="548640"/>
          </a:xfrm>
          <a:prstGeom prst="rect">
            <a:avLst/>
          </a:prstGeom>
          <a:noFill/>
          <a:ln/>
        </p:spPr>
        <p:txBody>
          <a:bodyPr wrap="square" lIns="0" tIns="0" rIns="0" bIns="0" rtlCol="0" anchor="ctr"/>
          <a:lstStyle/>
          <a:p>
            <a:pPr indent="0" marL="0">
              <a:buNone/>
            </a:pPr>
            <a:r>
              <a:rPr lang="ko-KR" altLang="en-US" sz="1400" b="1" dirty="0">
                <a:solidFill>
                  <a:srgbClr val="3D4148"/>
                </a:solidFill>
                <a:latin typeface="Malgun Gothic" pitchFamily="34" charset="0"/>
                <a:ea typeface="Malgun Gothic" pitchFamily="34" charset="-122"/>
                <a:cs typeface="Malgun Gothic" pitchFamily="34" charset="-120"/>
              </a:rPr>
              <a:t>호비 사이트  ·  TAMASHII  ·  프리미엄 반다이  ·  BANPRESTO  ·  MegaHouse</a:t>
            </a:r>
            <a:endParaRPr lang="ko-KR" altLang="en-US" sz="1400" dirty="0"/>
          </a:p>
        </p:txBody>
      </p:sp>
      <p:sp>
        <p:nvSpPr>
          <p:cNvPr id="39" name="Shape 27"/>
          <p:cNvSpPr/>
          <p:nvPr/>
        </p:nvSpPr>
        <p:spPr>
          <a:xfrm>
            <a:off x="7818120" y="1481328"/>
            <a:ext cx="3822192" cy="3063240"/>
          </a:xfrm>
          <a:prstGeom prst="roundRect">
            <a:avLst>
              <a:gd name="adj" fmla="val 4179"/>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40" name="Text 28"/>
          <p:cNvSpPr txBox="1"/>
          <p:nvPr/>
        </p:nvSpPr>
        <p:spPr>
          <a:xfrm>
            <a:off x="8092440" y="1691640"/>
            <a:ext cx="32918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수집가가 겪는 일</a:t>
            </a:r>
            <a:endParaRPr lang="ko-KR" altLang="en-US" sz="1300" dirty="0"/>
          </a:p>
        </p:txBody>
      </p:sp>
      <p:sp>
        <p:nvSpPr>
          <p:cNvPr id="41" name="Shape 29"/>
          <p:cNvSpPr/>
          <p:nvPr/>
        </p:nvSpPr>
        <p:spPr>
          <a:xfrm>
            <a:off x="8092440" y="2121408"/>
            <a:ext cx="292608" cy="292608"/>
          </a:xfrm>
          <a:prstGeom prst="ellipse">
            <a:avLst/>
          </a:prstGeom>
          <a:solidFill>
            <a:srgbClr val="D93F44"/>
          </a:solidFill>
          <a:ln/>
        </p:spPr>
      </p:sp>
      <p:sp>
        <p:nvSpPr>
          <p:cNvPr id="42" name="Text 30"/>
          <p:cNvSpPr txBox="1"/>
          <p:nvPr/>
        </p:nvSpPr>
        <p:spPr>
          <a:xfrm>
            <a:off x="8092440" y="2121408"/>
            <a:ext cx="292608" cy="292608"/>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1</a:t>
            </a:r>
            <a:endParaRPr lang="ko-KR" altLang="en-US" sz="1100" dirty="0"/>
          </a:p>
        </p:txBody>
      </p:sp>
      <p:sp>
        <p:nvSpPr>
          <p:cNvPr id="43" name="Text 31"/>
          <p:cNvSpPr txBox="1"/>
          <p:nvPr/>
        </p:nvSpPr>
        <p:spPr>
          <a:xfrm>
            <a:off x="8503920" y="2103120"/>
            <a:ext cx="297180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사이트끼리 연결이 없다</a:t>
            </a:r>
            <a:endParaRPr lang="ko-KR" altLang="en-US" sz="1300" dirty="0"/>
          </a:p>
        </p:txBody>
      </p:sp>
      <p:sp>
        <p:nvSpPr>
          <p:cNvPr id="44" name="Text 32"/>
          <p:cNvSpPr txBox="1"/>
          <p:nvPr/>
        </p:nvSpPr>
        <p:spPr>
          <a:xfrm>
            <a:off x="8503920" y="2395728"/>
            <a:ext cx="2971800" cy="411480"/>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같은 IP도 브랜드마다 따로 찾아야 한다</a:t>
            </a:r>
            <a:endParaRPr lang="ko-KR" altLang="en-US" sz="1100" dirty="0"/>
          </a:p>
        </p:txBody>
      </p:sp>
      <p:sp>
        <p:nvSpPr>
          <p:cNvPr id="45" name="Shape 33"/>
          <p:cNvSpPr/>
          <p:nvPr/>
        </p:nvSpPr>
        <p:spPr>
          <a:xfrm>
            <a:off x="8092440" y="2907792"/>
            <a:ext cx="292608" cy="292608"/>
          </a:xfrm>
          <a:prstGeom prst="ellipse">
            <a:avLst/>
          </a:prstGeom>
          <a:solidFill>
            <a:srgbClr val="D93F44"/>
          </a:solidFill>
          <a:ln/>
        </p:spPr>
      </p:sp>
      <p:sp>
        <p:nvSpPr>
          <p:cNvPr id="46" name="Text 34"/>
          <p:cNvSpPr txBox="1"/>
          <p:nvPr/>
        </p:nvSpPr>
        <p:spPr>
          <a:xfrm>
            <a:off x="8092440" y="2907792"/>
            <a:ext cx="292608" cy="292608"/>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2</a:t>
            </a:r>
            <a:endParaRPr lang="ko-KR" altLang="en-US" sz="1100" dirty="0"/>
          </a:p>
        </p:txBody>
      </p:sp>
      <p:sp>
        <p:nvSpPr>
          <p:cNvPr id="47" name="Text 35"/>
          <p:cNvSpPr txBox="1"/>
          <p:nvPr/>
        </p:nvSpPr>
        <p:spPr>
          <a:xfrm>
            <a:off x="8503920" y="2889504"/>
            <a:ext cx="297180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지난 상품은 찾기 어렵다</a:t>
            </a:r>
            <a:endParaRPr lang="ko-KR" altLang="en-US" sz="1300" dirty="0"/>
          </a:p>
        </p:txBody>
      </p:sp>
      <p:sp>
        <p:nvSpPr>
          <p:cNvPr id="48" name="Text 36"/>
          <p:cNvSpPr txBox="1"/>
          <p:nvPr/>
        </p:nvSpPr>
        <p:spPr>
          <a:xfrm>
            <a:off x="8503920" y="3182112"/>
            <a:ext cx="2971800" cy="411480"/>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사이트마다 검색 · 분류가 달라 묻힌다</a:t>
            </a:r>
            <a:endParaRPr lang="ko-KR" altLang="en-US" sz="1100" dirty="0"/>
          </a:p>
        </p:txBody>
      </p:sp>
      <p:sp>
        <p:nvSpPr>
          <p:cNvPr id="49" name="Shape 37"/>
          <p:cNvSpPr/>
          <p:nvPr/>
        </p:nvSpPr>
        <p:spPr>
          <a:xfrm>
            <a:off x="8092440" y="3694176"/>
            <a:ext cx="292608" cy="292608"/>
          </a:xfrm>
          <a:prstGeom prst="ellipse">
            <a:avLst/>
          </a:prstGeom>
          <a:solidFill>
            <a:srgbClr val="D93F44"/>
          </a:solidFill>
          <a:ln/>
        </p:spPr>
      </p:sp>
      <p:sp>
        <p:nvSpPr>
          <p:cNvPr id="50" name="Text 38"/>
          <p:cNvSpPr txBox="1"/>
          <p:nvPr/>
        </p:nvSpPr>
        <p:spPr>
          <a:xfrm>
            <a:off x="8092440" y="3694176"/>
            <a:ext cx="292608" cy="292608"/>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3</a:t>
            </a:r>
            <a:endParaRPr lang="ko-KR" altLang="en-US" sz="1100" dirty="0"/>
          </a:p>
        </p:txBody>
      </p:sp>
      <p:sp>
        <p:nvSpPr>
          <p:cNvPr id="51" name="Text 39"/>
          <p:cNvSpPr txBox="1"/>
          <p:nvPr/>
        </p:nvSpPr>
        <p:spPr>
          <a:xfrm>
            <a:off x="8503920" y="3675888"/>
            <a:ext cx="297180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새 소식도 따로 온다</a:t>
            </a:r>
            <a:endParaRPr lang="ko-KR" altLang="en-US" sz="1300" dirty="0"/>
          </a:p>
        </p:txBody>
      </p:sp>
      <p:sp>
        <p:nvSpPr>
          <p:cNvPr id="52" name="Text 40"/>
          <p:cNvSpPr txBox="1"/>
          <p:nvPr/>
        </p:nvSpPr>
        <p:spPr>
          <a:xfrm>
            <a:off x="8503920" y="3968496"/>
            <a:ext cx="2971800" cy="411480"/>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공식 예고 · 발매일을 여기저기 돌며 확인</a:t>
            </a:r>
            <a:endParaRPr lang="ko-KR" altLang="en-US" sz="1100" dirty="0"/>
          </a:p>
        </p:txBody>
      </p:sp>
      <p:sp>
        <p:nvSpPr>
          <p:cNvPr id="53" name="Shape 41"/>
          <p:cNvSpPr/>
          <p:nvPr/>
        </p:nvSpPr>
        <p:spPr>
          <a:xfrm>
            <a:off x="7818120" y="4681728"/>
            <a:ext cx="3822192" cy="1307592"/>
          </a:xfrm>
          <a:prstGeom prst="roundRect">
            <a:avLst>
              <a:gd name="adj" fmla="val 9790"/>
            </a:avLst>
          </a:prstGeom>
          <a:solidFill>
            <a:srgbClr val="EAF4FC"/>
          </a:solidFill>
          <a:ln/>
        </p:spPr>
      </p:sp>
      <p:sp>
        <p:nvSpPr>
          <p:cNvPr id="54" name="Text 42"/>
          <p:cNvSpPr txBox="1"/>
          <p:nvPr/>
        </p:nvSpPr>
        <p:spPr>
          <a:xfrm>
            <a:off x="8092440" y="4791456"/>
            <a:ext cx="3291840" cy="256032"/>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그래서 Hobby Atlas</a:t>
            </a:r>
            <a:endParaRPr lang="ko-KR" altLang="en-US" sz="1200" dirty="0"/>
          </a:p>
        </p:txBody>
      </p:sp>
      <p:sp>
        <p:nvSpPr>
          <p:cNvPr id="55" name="Text 43"/>
          <p:cNvSpPr txBox="1"/>
          <p:nvPr/>
        </p:nvSpPr>
        <p:spPr>
          <a:xfrm>
            <a:off x="8092440" y="5065776"/>
            <a:ext cx="3337560" cy="822960"/>
          </a:xfrm>
          <a:prstGeom prst="rect">
            <a:avLst/>
          </a:prstGeom>
          <a:noFill/>
          <a:ln/>
        </p:spPr>
        <p:txBody>
          <a:bodyPr wrap="square" lIns="0" tIns="0" rIns="0" bIns="0" rtlCol="0" anchor="t"/>
          <a:lstStyle/>
          <a:p>
            <a:pPr indent="0" marL="0">
              <a:buNone/>
            </a:pPr>
            <a:r>
              <a:rPr lang="ko-KR" altLang="en-US" sz="1350" b="1" dirty="0">
                <a:solidFill>
                  <a:srgbClr val="111111"/>
                </a:solidFill>
                <a:latin typeface="Malgun Gothic" pitchFamily="34" charset="0"/>
                <a:ea typeface="Malgun Gothic" pitchFamily="34" charset="-122"/>
                <a:cs typeface="Malgun Gothic" pitchFamily="34" charset="-120"/>
              </a:rPr>
              <a:t>내 IP 채널 하나로, 여러 브랜드의 새 소식과 지난 상품까지 한곳에서</a:t>
            </a:r>
            <a:endParaRPr lang="ko-KR" altLang="en-US" sz="1350" dirty="0"/>
          </a:p>
        </p:txBody>
      </p:sp>
      <p:sp>
        <p:nvSpPr>
          <p:cNvPr id="56" name="Text 44"/>
          <p:cNvSpPr txBox="1"/>
          <p:nvPr/>
        </p:nvSpPr>
        <p:spPr>
          <a:xfrm>
            <a:off x="548640" y="6108192"/>
            <a:ext cx="11064240" cy="219456"/>
          </a:xfrm>
          <a:prstGeom prst="rect">
            <a:avLst/>
          </a:prstGeom>
          <a:noFill/>
          <a:ln/>
        </p:spPr>
        <p:txBody>
          <a:bodyPr wrap="square" lIns="0" tIns="0" rIns="0" bIns="0" rtlCol="0" anchor="t"/>
          <a:lstStyle/>
          <a:p>
            <a:pPr indent="0" marL="0">
              <a:buNone/>
            </a:pPr>
            <a:r>
              <a:rPr lang="ko-KR" altLang="en-US" sz="900" dirty="0">
                <a:solidFill>
                  <a:srgbClr val="9AA0A6"/>
                </a:solidFill>
                <a:latin typeface="Malgun Gothic" pitchFamily="34" charset="0"/>
                <a:ea typeface="Malgun Gothic" pitchFamily="34" charset="-122"/>
                <a:cs typeface="Malgun Gothic" pitchFamily="34" charset="-120"/>
              </a:rPr>
              <a:t>로고는 각 사의 상표 — 수업 목적 인용 (출처: 각 사 공식 사이트 · Wikimedia Commons, 2026.10 확인)</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5</a:t>
            </a:fld>
            <a:endParaRPr lang="ko-KR"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3  문제 정의 2/3 — 현행 분석 · 리뷰 근거</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기존 앱 hobbyDB에 없는 기능 · 쓰기 불편한 점</a:t>
            </a:r>
            <a:endParaRPr lang="ko-KR" altLang="en-US" sz="2800" dirty="0"/>
          </a:p>
        </p:txBody>
      </p:sp>
      <p:sp>
        <p:nvSpPr>
          <p:cNvPr id="4" name="Shape 2"/>
          <p:cNvSpPr/>
          <p:nvPr/>
        </p:nvSpPr>
        <p:spPr>
          <a:xfrm>
            <a:off x="548640" y="1481328"/>
            <a:ext cx="3017520" cy="4617720"/>
          </a:xfrm>
          <a:prstGeom prst="roundRect">
            <a:avLst>
              <a:gd name="adj" fmla="val 4242"/>
            </a:avLst>
          </a:prstGeom>
          <a:solidFill>
            <a:srgbClr val="F4F5F7"/>
          </a:solidFill>
          <a:ln/>
        </p:spPr>
      </p:sp>
      <p:sp>
        <p:nvSpPr>
          <p:cNvPr id="5" name="Text 3"/>
          <p:cNvSpPr txBox="1"/>
          <p:nvPr/>
        </p:nvSpPr>
        <p:spPr>
          <a:xfrm>
            <a:off x="749808" y="1627632"/>
            <a:ext cx="2651760" cy="256032"/>
          </a:xfrm>
          <a:prstGeom prst="rect">
            <a:avLst/>
          </a:prstGeom>
          <a:noFill/>
          <a:ln/>
        </p:spPr>
        <p:txBody>
          <a:bodyPr wrap="square" lIns="0" tIns="0" rIns="0" bIns="0" rtlCol="0" anchor="t"/>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별점 분포</a:t>
            </a:r>
            <a:pPr indent="0" marL="0">
              <a:buNone/>
            </a:pPr>
            <a:r>
              <a:rPr lang="ko-KR" altLang="en-US" sz="1000" dirty="0">
                <a:solidFill>
                  <a:srgbClr val="6B7078"/>
                </a:solidFill>
                <a:latin typeface="Malgun Gothic" pitchFamily="34" charset="0"/>
                <a:ea typeface="Malgun Gothic" pitchFamily="34" charset="-122"/>
                <a:cs typeface="Malgun Gothic" pitchFamily="34" charset="-120"/>
              </a:rPr>
              <a:t>  8,656개</a:t>
            </a:r>
            <a:endParaRPr lang="ko-KR" altLang="en-US" sz="1200" dirty="0"/>
          </a:p>
        </p:txBody>
      </p:sp>
      <p:sp>
        <p:nvSpPr>
          <p:cNvPr id="6" name="Text 4"/>
          <p:cNvSpPr txBox="1"/>
          <p:nvPr/>
        </p:nvSpPr>
        <p:spPr>
          <a:xfrm>
            <a:off x="749808" y="1965960"/>
            <a:ext cx="365760" cy="219456"/>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★5</a:t>
            </a:r>
            <a:endParaRPr lang="ko-KR" altLang="en-US" sz="1000" dirty="0"/>
          </a:p>
        </p:txBody>
      </p:sp>
      <p:sp>
        <p:nvSpPr>
          <p:cNvPr id="7" name="Shape 5"/>
          <p:cNvSpPr/>
          <p:nvPr/>
        </p:nvSpPr>
        <p:spPr>
          <a:xfrm>
            <a:off x="1143000" y="2011680"/>
            <a:ext cx="1828800" cy="128016"/>
          </a:xfrm>
          <a:prstGeom prst="rect">
            <a:avLst/>
          </a:prstGeom>
          <a:solidFill>
            <a:srgbClr val="C9CDD2"/>
          </a:solidFill>
          <a:ln/>
        </p:spPr>
      </p:sp>
      <p:sp>
        <p:nvSpPr>
          <p:cNvPr id="8" name="Text 6"/>
          <p:cNvSpPr txBox="1"/>
          <p:nvPr/>
        </p:nvSpPr>
        <p:spPr>
          <a:xfrm>
            <a:off x="3017520" y="1965960"/>
            <a:ext cx="548640" cy="219456"/>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7,690</a:t>
            </a:r>
            <a:endParaRPr lang="ko-KR" altLang="en-US" sz="900" dirty="0"/>
          </a:p>
        </p:txBody>
      </p:sp>
      <p:sp>
        <p:nvSpPr>
          <p:cNvPr id="9" name="Text 7"/>
          <p:cNvSpPr txBox="1"/>
          <p:nvPr/>
        </p:nvSpPr>
        <p:spPr>
          <a:xfrm>
            <a:off x="749808" y="2240280"/>
            <a:ext cx="365760" cy="219456"/>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★4</a:t>
            </a:r>
            <a:endParaRPr lang="ko-KR" altLang="en-US" sz="1000" dirty="0"/>
          </a:p>
        </p:txBody>
      </p:sp>
      <p:sp>
        <p:nvSpPr>
          <p:cNvPr id="10" name="Shape 8"/>
          <p:cNvSpPr/>
          <p:nvPr/>
        </p:nvSpPr>
        <p:spPr>
          <a:xfrm>
            <a:off x="1143000" y="2286000"/>
            <a:ext cx="109395" cy="128016"/>
          </a:xfrm>
          <a:prstGeom prst="rect">
            <a:avLst/>
          </a:prstGeom>
          <a:solidFill>
            <a:srgbClr val="C9CDD2"/>
          </a:solidFill>
          <a:ln/>
        </p:spPr>
      </p:sp>
      <p:sp>
        <p:nvSpPr>
          <p:cNvPr id="11" name="Text 9"/>
          <p:cNvSpPr txBox="1"/>
          <p:nvPr/>
        </p:nvSpPr>
        <p:spPr>
          <a:xfrm>
            <a:off x="1298115" y="2240280"/>
            <a:ext cx="548640" cy="219456"/>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460</a:t>
            </a:r>
            <a:endParaRPr lang="ko-KR" altLang="en-US" sz="900" dirty="0"/>
          </a:p>
        </p:txBody>
      </p:sp>
      <p:sp>
        <p:nvSpPr>
          <p:cNvPr id="12" name="Text 10"/>
          <p:cNvSpPr txBox="1"/>
          <p:nvPr/>
        </p:nvSpPr>
        <p:spPr>
          <a:xfrm>
            <a:off x="749808" y="2514600"/>
            <a:ext cx="365760" cy="219456"/>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★3</a:t>
            </a:r>
            <a:endParaRPr lang="ko-KR" altLang="en-US" sz="1000" dirty="0"/>
          </a:p>
        </p:txBody>
      </p:sp>
      <p:sp>
        <p:nvSpPr>
          <p:cNvPr id="13" name="Shape 11"/>
          <p:cNvSpPr/>
          <p:nvPr/>
        </p:nvSpPr>
        <p:spPr>
          <a:xfrm>
            <a:off x="1143000" y="2560320"/>
            <a:ext cx="37813" cy="128016"/>
          </a:xfrm>
          <a:prstGeom prst="rect">
            <a:avLst/>
          </a:prstGeom>
          <a:solidFill>
            <a:srgbClr val="C9CDD2"/>
          </a:solidFill>
          <a:ln/>
        </p:spPr>
      </p:sp>
      <p:sp>
        <p:nvSpPr>
          <p:cNvPr id="14" name="Text 12"/>
          <p:cNvSpPr txBox="1"/>
          <p:nvPr/>
        </p:nvSpPr>
        <p:spPr>
          <a:xfrm>
            <a:off x="1226533" y="2514600"/>
            <a:ext cx="548640" cy="219456"/>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159</a:t>
            </a:r>
            <a:endParaRPr lang="ko-KR" altLang="en-US" sz="900" dirty="0"/>
          </a:p>
        </p:txBody>
      </p:sp>
      <p:sp>
        <p:nvSpPr>
          <p:cNvPr id="15" name="Text 13"/>
          <p:cNvSpPr txBox="1"/>
          <p:nvPr/>
        </p:nvSpPr>
        <p:spPr>
          <a:xfrm>
            <a:off x="749808" y="2788920"/>
            <a:ext cx="365760" cy="219456"/>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★2</a:t>
            </a:r>
            <a:endParaRPr lang="ko-KR" altLang="en-US" sz="1000" dirty="0"/>
          </a:p>
        </p:txBody>
      </p:sp>
      <p:sp>
        <p:nvSpPr>
          <p:cNvPr id="16" name="Shape 14"/>
          <p:cNvSpPr/>
          <p:nvPr/>
        </p:nvSpPr>
        <p:spPr>
          <a:xfrm>
            <a:off x="1143000" y="2834640"/>
            <a:ext cx="36576" cy="128016"/>
          </a:xfrm>
          <a:prstGeom prst="rect">
            <a:avLst/>
          </a:prstGeom>
          <a:solidFill>
            <a:srgbClr val="C9CDD2"/>
          </a:solidFill>
          <a:ln/>
        </p:spPr>
      </p:sp>
      <p:sp>
        <p:nvSpPr>
          <p:cNvPr id="17" name="Text 15"/>
          <p:cNvSpPr txBox="1"/>
          <p:nvPr/>
        </p:nvSpPr>
        <p:spPr>
          <a:xfrm>
            <a:off x="1225296" y="2788920"/>
            <a:ext cx="548640" cy="219456"/>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70</a:t>
            </a:r>
            <a:endParaRPr lang="ko-KR" altLang="en-US" sz="900" dirty="0"/>
          </a:p>
        </p:txBody>
      </p:sp>
      <p:sp>
        <p:nvSpPr>
          <p:cNvPr id="18" name="Text 16"/>
          <p:cNvSpPr txBox="1"/>
          <p:nvPr/>
        </p:nvSpPr>
        <p:spPr>
          <a:xfrm>
            <a:off x="749808" y="3063240"/>
            <a:ext cx="365760" cy="219456"/>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★1</a:t>
            </a:r>
            <a:endParaRPr lang="ko-KR" altLang="en-US" sz="1000" dirty="0"/>
          </a:p>
        </p:txBody>
      </p:sp>
      <p:sp>
        <p:nvSpPr>
          <p:cNvPr id="19" name="Shape 17"/>
          <p:cNvSpPr/>
          <p:nvPr/>
        </p:nvSpPr>
        <p:spPr>
          <a:xfrm>
            <a:off x="1143000" y="3108960"/>
            <a:ext cx="65875" cy="128016"/>
          </a:xfrm>
          <a:prstGeom prst="rect">
            <a:avLst/>
          </a:prstGeom>
          <a:solidFill>
            <a:srgbClr val="D93F44"/>
          </a:solidFill>
          <a:ln/>
        </p:spPr>
      </p:sp>
      <p:sp>
        <p:nvSpPr>
          <p:cNvPr id="20" name="Text 18"/>
          <p:cNvSpPr txBox="1"/>
          <p:nvPr/>
        </p:nvSpPr>
        <p:spPr>
          <a:xfrm>
            <a:off x="1254595" y="3063240"/>
            <a:ext cx="548640" cy="219456"/>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277</a:t>
            </a:r>
            <a:endParaRPr lang="ko-KR" altLang="en-US" sz="900" dirty="0"/>
          </a:p>
        </p:txBody>
      </p:sp>
      <p:sp>
        <p:nvSpPr>
          <p:cNvPr id="21" name="Text 19"/>
          <p:cNvSpPr txBox="1"/>
          <p:nvPr/>
        </p:nvSpPr>
        <p:spPr>
          <a:xfrm>
            <a:off x="749808" y="3401568"/>
            <a:ext cx="2651760" cy="457200"/>
          </a:xfrm>
          <a:prstGeom prst="rect">
            <a:avLst/>
          </a:prstGeom>
          <a:noFill/>
          <a:ln/>
        </p:spPr>
        <p:txBody>
          <a:bodyPr wrap="square" lIns="0" tIns="0" rIns="0" bIns="0" rtlCol="0" anchor="t"/>
          <a:lstStyle/>
          <a:p>
            <a:pPr indent="0" marL="0">
              <a:buNone/>
            </a:pPr>
            <a:r>
              <a:rPr lang="ko-KR" altLang="en-US" sz="1050" b="1" dirty="0">
                <a:solidFill>
                  <a:srgbClr val="D93F44"/>
                </a:solidFill>
                <a:latin typeface="Malgun Gothic" pitchFamily="34" charset="0"/>
                <a:ea typeface="Malgun Gothic" pitchFamily="34" charset="-122"/>
                <a:cs typeface="Malgun Gothic" pitchFamily="34" charset="-120"/>
              </a:rPr>
              <a:t>★1이 ★2 + ★3보다 많다 — 한 번 막히면 떠난다</a:t>
            </a:r>
            <a:endParaRPr lang="ko-KR" altLang="en-US" sz="1050" dirty="0"/>
          </a:p>
        </p:txBody>
      </p:sp>
      <p:sp>
        <p:nvSpPr>
          <p:cNvPr id="22" name="Text 20"/>
          <p:cNvSpPr txBox="1"/>
          <p:nvPr/>
        </p:nvSpPr>
        <p:spPr>
          <a:xfrm>
            <a:off x="749808" y="3931920"/>
            <a:ext cx="2651760" cy="256032"/>
          </a:xfrm>
          <a:prstGeom prst="rect">
            <a:avLst/>
          </a:prstGeom>
          <a:noFill/>
          <a:ln/>
        </p:spPr>
        <p:txBody>
          <a:bodyPr wrap="square" lIns="0" tIns="0" rIns="0" bIns="0" rtlCol="0" anchor="t"/>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리뷰 유형</a:t>
            </a:r>
            <a:endParaRPr lang="ko-KR" altLang="en-US" sz="1200" dirty="0"/>
          </a:p>
        </p:txBody>
      </p:sp>
      <p:sp>
        <p:nvSpPr>
          <p:cNvPr id="23" name="Text 21"/>
          <p:cNvSpPr txBox="1"/>
          <p:nvPr/>
        </p:nvSpPr>
        <p:spPr>
          <a:xfrm>
            <a:off x="749808" y="4224528"/>
            <a:ext cx="2103120" cy="237744"/>
          </a:xfrm>
          <a:prstGeom prst="rect">
            <a:avLst/>
          </a:prstGeom>
          <a:noFill/>
          <a:ln/>
        </p:spPr>
        <p:txBody>
          <a:bodyPr wrap="square" lIns="0" tIns="0" rIns="0" bIns="0" rtlCol="0" anchor="ct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없는 기능</a:t>
            </a:r>
            <a:endParaRPr lang="ko-KR" altLang="en-US" sz="1050" dirty="0"/>
          </a:p>
        </p:txBody>
      </p:sp>
      <p:sp>
        <p:nvSpPr>
          <p:cNvPr id="24" name="Text 22"/>
          <p:cNvSpPr txBox="1"/>
          <p:nvPr/>
        </p:nvSpPr>
        <p:spPr>
          <a:xfrm>
            <a:off x="2834640" y="4224528"/>
            <a:ext cx="548640" cy="237744"/>
          </a:xfrm>
          <a:prstGeom prst="rect">
            <a:avLst/>
          </a:prstGeom>
          <a:noFill/>
          <a:ln/>
        </p:spPr>
        <p:txBody>
          <a:bodyPr wrap="square" lIns="0" tIns="0" rIns="0" bIns="0" rtlCol="0" anchor="ctr"/>
          <a:lstStyle/>
          <a:p>
            <a:pPr algn="r" indent="0" marL="0">
              <a:buNone/>
            </a:pPr>
            <a:r>
              <a:rPr lang="ko-KR" altLang="en-US" sz="1050" b="1" dirty="0">
                <a:solidFill>
                  <a:srgbClr val="1C86D9"/>
                </a:solidFill>
                <a:latin typeface="Malgun Gothic" pitchFamily="34" charset="0"/>
                <a:ea typeface="Malgun Gothic" pitchFamily="34" charset="-122"/>
                <a:cs typeface="Malgun Gothic" pitchFamily="34" charset="-120"/>
              </a:rPr>
              <a:t>6</a:t>
            </a:r>
            <a:endParaRPr lang="ko-KR" altLang="en-US" sz="1050" dirty="0"/>
          </a:p>
        </p:txBody>
      </p:sp>
      <p:sp>
        <p:nvSpPr>
          <p:cNvPr id="25" name="Text 23"/>
          <p:cNvSpPr txBox="1"/>
          <p:nvPr/>
        </p:nvSpPr>
        <p:spPr>
          <a:xfrm>
            <a:off x="749808" y="4498848"/>
            <a:ext cx="2103120" cy="237744"/>
          </a:xfrm>
          <a:prstGeom prst="rect">
            <a:avLst/>
          </a:prstGeom>
          <a:noFill/>
          <a:ln/>
        </p:spPr>
        <p:txBody>
          <a:bodyPr wrap="square" lIns="0" tIns="0" rIns="0" bIns="0" rtlCol="0" anchor="ct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쓰기 불편 (유료 잠금 포함)</a:t>
            </a:r>
            <a:endParaRPr lang="ko-KR" altLang="en-US" sz="1050" dirty="0"/>
          </a:p>
        </p:txBody>
      </p:sp>
      <p:sp>
        <p:nvSpPr>
          <p:cNvPr id="26" name="Text 24"/>
          <p:cNvSpPr txBox="1"/>
          <p:nvPr/>
        </p:nvSpPr>
        <p:spPr>
          <a:xfrm>
            <a:off x="2834640" y="4498848"/>
            <a:ext cx="548640" cy="237744"/>
          </a:xfrm>
          <a:prstGeom prst="rect">
            <a:avLst/>
          </a:prstGeom>
          <a:noFill/>
          <a:ln/>
        </p:spPr>
        <p:txBody>
          <a:bodyPr wrap="square" lIns="0" tIns="0" rIns="0" bIns="0" rtlCol="0" anchor="ctr"/>
          <a:lstStyle/>
          <a:p>
            <a:pPr algn="r" indent="0" marL="0">
              <a:buNone/>
            </a:pPr>
            <a:r>
              <a:rPr lang="ko-KR" altLang="en-US" sz="1050" b="1" dirty="0">
                <a:solidFill>
                  <a:srgbClr val="1C86D9"/>
                </a:solidFill>
                <a:latin typeface="Malgun Gothic" pitchFamily="34" charset="0"/>
                <a:ea typeface="Malgun Gothic" pitchFamily="34" charset="-122"/>
                <a:cs typeface="Malgun Gothic" pitchFamily="34" charset="-120"/>
              </a:rPr>
              <a:t>6</a:t>
            </a:r>
            <a:endParaRPr lang="ko-KR" altLang="en-US" sz="1050" dirty="0"/>
          </a:p>
        </p:txBody>
      </p:sp>
      <p:sp>
        <p:nvSpPr>
          <p:cNvPr id="27" name="Text 25"/>
          <p:cNvSpPr txBox="1"/>
          <p:nvPr/>
        </p:nvSpPr>
        <p:spPr>
          <a:xfrm>
            <a:off x="749808" y="4773168"/>
            <a:ext cx="2103120" cy="237744"/>
          </a:xfrm>
          <a:prstGeom prst="rect">
            <a:avLst/>
          </a:prstGeom>
          <a:noFill/>
          <a:ln/>
        </p:spPr>
        <p:txBody>
          <a:bodyPr wrap="square" lIns="0" tIns="0" rIns="0" bIns="0" rtlCol="0" anchor="ctr"/>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버그 · 광고 · 속도 — 이번엔 제외</a:t>
            </a:r>
            <a:endParaRPr lang="ko-KR" altLang="en-US" sz="1050" dirty="0"/>
          </a:p>
        </p:txBody>
      </p:sp>
      <p:sp>
        <p:nvSpPr>
          <p:cNvPr id="28" name="Text 26"/>
          <p:cNvSpPr txBox="1"/>
          <p:nvPr/>
        </p:nvSpPr>
        <p:spPr>
          <a:xfrm>
            <a:off x="2834640" y="4773168"/>
            <a:ext cx="548640" cy="237744"/>
          </a:xfrm>
          <a:prstGeom prst="rect">
            <a:avLst/>
          </a:prstGeom>
          <a:noFill/>
          <a:ln/>
        </p:spPr>
        <p:txBody>
          <a:bodyPr wrap="square" lIns="0" tIns="0" rIns="0" bIns="0" rtlCol="0" anchor="ctr"/>
          <a:lstStyle/>
          <a:p>
            <a:pPr algn="r" indent="0" marL="0">
              <a:buNone/>
            </a:pPr>
            <a:r>
              <a:rPr lang="ko-KR" altLang="en-US" sz="1050" b="1" dirty="0">
                <a:solidFill>
                  <a:srgbClr val="6B7078"/>
                </a:solidFill>
                <a:latin typeface="Malgun Gothic" pitchFamily="34" charset="0"/>
                <a:ea typeface="Malgun Gothic" pitchFamily="34" charset="-122"/>
                <a:cs typeface="Malgun Gothic" pitchFamily="34" charset="-120"/>
              </a:rPr>
              <a:t>—</a:t>
            </a:r>
            <a:endParaRPr lang="ko-KR" altLang="en-US" sz="1050" dirty="0"/>
          </a:p>
        </p:txBody>
      </p:sp>
      <p:sp>
        <p:nvSpPr>
          <p:cNvPr id="29" name="Text 27"/>
          <p:cNvSpPr txBox="1"/>
          <p:nvPr/>
        </p:nvSpPr>
        <p:spPr>
          <a:xfrm>
            <a:off x="749808" y="5440680"/>
            <a:ext cx="2651760" cy="548640"/>
          </a:xfrm>
          <a:prstGeom prst="rect">
            <a:avLst/>
          </a:prstGeom>
          <a:noFill/>
          <a:ln/>
        </p:spPr>
        <p:txBody>
          <a:bodyPr wrap="square" lIns="0" tIns="0" rIns="0" bIns="0" rtlCol="0" anchor="t"/>
          <a:lstStyle/>
          <a:p>
            <a:pPr indent="0" marL="0">
              <a:buNone/>
            </a:pPr>
            <a:r>
              <a:rPr lang="ko-KR" altLang="en-US" sz="1000" b="1" dirty="0">
                <a:solidFill>
                  <a:srgbClr val="12A07F"/>
                </a:solidFill>
                <a:latin typeface="Malgun Gothic" pitchFamily="34" charset="0"/>
                <a:ea typeface="Malgun Gothic" pitchFamily="34" charset="-122"/>
                <a:cs typeface="Malgun Gothic" pitchFamily="34" charset="-120"/>
              </a:rPr>
              <a:t>잘된 점  </a:t>
            </a:r>
            <a:pPr indent="0" marL="0">
              <a:buNone/>
            </a:pPr>
            <a:r>
              <a:rPr lang="ko-KR" altLang="en-US" sz="1000" dirty="0">
                <a:solidFill>
                  <a:srgbClr val="3D4148"/>
                </a:solidFill>
                <a:latin typeface="Malgun Gothic" pitchFamily="34" charset="0"/>
                <a:ea typeface="Malgun Gothic" pitchFamily="34" charset="-122"/>
                <a:cs typeface="Malgun Gothic" pitchFamily="34" charset="-120"/>
              </a:rPr>
              <a:t>P02 상자 사진 · 품번, P07 바코드 — v2도 지킨다</a:t>
            </a:r>
            <a:endParaRPr lang="ko-KR" altLang="en-US" sz="1000" dirty="0"/>
          </a:p>
        </p:txBody>
      </p:sp>
      <p:sp>
        <p:nvSpPr>
          <p:cNvPr id="30" name="Text 28"/>
          <p:cNvSpPr txBox="1"/>
          <p:nvPr/>
        </p:nvSpPr>
        <p:spPr>
          <a:xfrm>
            <a:off x="3794760" y="1481328"/>
            <a:ext cx="7772400" cy="256032"/>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리뷰가 말하는 것</a:t>
            </a:r>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   →   Hobby Atlas가 답하는 기능</a:t>
            </a:r>
            <a:endParaRPr lang="ko-KR" altLang="en-US" sz="1300" dirty="0"/>
          </a:p>
        </p:txBody>
      </p:sp>
      <p:sp>
        <p:nvSpPr>
          <p:cNvPr id="31" name="Shape 29"/>
          <p:cNvSpPr/>
          <p:nvPr/>
        </p:nvSpPr>
        <p:spPr>
          <a:xfrm>
            <a:off x="3794760" y="1828800"/>
            <a:ext cx="4892040" cy="969264"/>
          </a:xfrm>
          <a:prstGeom prst="roundRect">
            <a:avLst>
              <a:gd name="adj" fmla="val 943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32" name="Shape 30"/>
          <p:cNvSpPr/>
          <p:nvPr/>
        </p:nvSpPr>
        <p:spPr>
          <a:xfrm>
            <a:off x="3950208" y="1938528"/>
            <a:ext cx="1005840" cy="219456"/>
          </a:xfrm>
          <a:prstGeom prst="roundRect">
            <a:avLst>
              <a:gd name="adj" fmla="val 50000"/>
            </a:avLst>
          </a:prstGeom>
          <a:solidFill>
            <a:srgbClr val="D93F44"/>
          </a:solidFill>
          <a:ln/>
        </p:spPr>
      </p:sp>
      <p:sp>
        <p:nvSpPr>
          <p:cNvPr id="33" name="Text 31"/>
          <p:cNvSpPr txBox="1"/>
          <p:nvPr/>
        </p:nvSpPr>
        <p:spPr>
          <a:xfrm>
            <a:off x="3950208" y="1938528"/>
            <a:ext cx="1005840" cy="219456"/>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없는 기능</a:t>
            </a:r>
            <a:endParaRPr lang="ko-KR" altLang="en-US" sz="950" dirty="0"/>
          </a:p>
        </p:txBody>
      </p:sp>
      <p:sp>
        <p:nvSpPr>
          <p:cNvPr id="34" name="Text 32"/>
          <p:cNvSpPr txBox="1"/>
          <p:nvPr/>
        </p:nvSpPr>
        <p:spPr>
          <a:xfrm>
            <a:off x="5047488" y="1929384"/>
            <a:ext cx="3520440" cy="237744"/>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★4 · 2022.11.06 · Google Play</a:t>
            </a:r>
            <a:endParaRPr lang="ko-KR" altLang="en-US" sz="900" dirty="0"/>
          </a:p>
        </p:txBody>
      </p:sp>
      <p:sp>
        <p:nvSpPr>
          <p:cNvPr id="35" name="Text 33"/>
          <p:cNvSpPr txBox="1"/>
          <p:nvPr/>
        </p:nvSpPr>
        <p:spPr>
          <a:xfrm>
            <a:off x="3950208" y="2212848"/>
            <a:ext cx="4617720" cy="274320"/>
          </a:xfrm>
          <a:prstGeom prst="rect">
            <a:avLst/>
          </a:prstGeom>
          <a:noFill/>
          <a:ln/>
        </p:spPr>
        <p:txBody>
          <a:bodyPr wrap="square" lIns="0" tIns="0" rIns="0" bIns="0" rtlCol="0" anchor="ctr"/>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"Would love to be able to organize by line."</a:t>
            </a:r>
            <a:endParaRPr lang="ko-KR" altLang="en-US" sz="1150" dirty="0"/>
          </a:p>
        </p:txBody>
      </p:sp>
      <p:sp>
        <p:nvSpPr>
          <p:cNvPr id="36" name="Text 34"/>
          <p:cNvSpPr txBox="1"/>
          <p:nvPr/>
        </p:nvSpPr>
        <p:spPr>
          <a:xfrm>
            <a:off x="3950208" y="2487168"/>
            <a:ext cx="4617720" cy="256032"/>
          </a:xfrm>
          <a:prstGeom prst="rect">
            <a:avLst/>
          </a:prstGeom>
          <a:noFill/>
          <a:ln/>
        </p:spPr>
        <p:txBody>
          <a:bodyPr wrap="square" lIns="0" tIns="0" rIns="0" bIns="0" rtlCol="0" anchor="ct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IP(라인)별로 정리해 볼 수 없다</a:t>
            </a:r>
            <a:endParaRPr lang="ko-KR" altLang="en-US" sz="1050" dirty="0"/>
          </a:p>
        </p:txBody>
      </p:sp>
      <p:sp>
        <p:nvSpPr>
          <p:cNvPr id="37" name="Shape 35"/>
          <p:cNvSpPr/>
          <p:nvPr/>
        </p:nvSpPr>
        <p:spPr>
          <a:xfrm>
            <a:off x="8759952" y="2313432"/>
            <a:ext cx="292608" cy="0"/>
          </a:xfrm>
          <a:prstGeom prst="line">
            <a:avLst/>
          </a:prstGeom>
          <a:noFill/>
          <a:ln w="19050">
            <a:solidFill>
              <a:srgbClr val="1C86D9"/>
            </a:solidFill>
            <a:prstDash val="solid"/>
            <a:tailEnd type="triangle"/>
          </a:ln>
        </p:spPr>
      </p:sp>
      <p:sp>
        <p:nvSpPr>
          <p:cNvPr id="38" name="Shape 36"/>
          <p:cNvSpPr/>
          <p:nvPr/>
        </p:nvSpPr>
        <p:spPr>
          <a:xfrm>
            <a:off x="9144000" y="1901952"/>
            <a:ext cx="2496312" cy="822960"/>
          </a:xfrm>
          <a:prstGeom prst="roundRect">
            <a:avLst>
              <a:gd name="adj" fmla="val 11111"/>
            </a:avLst>
          </a:prstGeom>
          <a:solidFill>
            <a:srgbClr val="EAF4FC"/>
          </a:solidFill>
          <a:ln/>
        </p:spPr>
      </p:sp>
      <p:sp>
        <p:nvSpPr>
          <p:cNvPr id="39" name="Text 37"/>
          <p:cNvSpPr txBox="1"/>
          <p:nvPr/>
        </p:nvSpPr>
        <p:spPr>
          <a:xfrm>
            <a:off x="9281160" y="1901952"/>
            <a:ext cx="2267712" cy="822960"/>
          </a:xfrm>
          <a:prstGeom prst="rect">
            <a:avLst/>
          </a:prstGeom>
          <a:noFill/>
          <a:ln/>
        </p:spPr>
        <p:txBody>
          <a:bodyPr wrap="square" lIns="0" tIns="0" rIns="0" bIns="0" rtlCol="0" anchor="ctr"/>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내 IP 채널 바 · 작품별 필터</a:t>
            </a:r>
            <a:endParaRPr lang="ko-KR" altLang="en-US" sz="1200" dirty="0"/>
          </a:p>
        </p:txBody>
      </p:sp>
      <p:sp>
        <p:nvSpPr>
          <p:cNvPr id="40" name="Shape 38"/>
          <p:cNvSpPr/>
          <p:nvPr/>
        </p:nvSpPr>
        <p:spPr>
          <a:xfrm>
            <a:off x="3794760" y="2907792"/>
            <a:ext cx="4892040" cy="969264"/>
          </a:xfrm>
          <a:prstGeom prst="roundRect">
            <a:avLst>
              <a:gd name="adj" fmla="val 943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41" name="Shape 39"/>
          <p:cNvSpPr/>
          <p:nvPr/>
        </p:nvSpPr>
        <p:spPr>
          <a:xfrm>
            <a:off x="3950208" y="3017520"/>
            <a:ext cx="1005840" cy="219456"/>
          </a:xfrm>
          <a:prstGeom prst="roundRect">
            <a:avLst>
              <a:gd name="adj" fmla="val 50000"/>
            </a:avLst>
          </a:prstGeom>
          <a:solidFill>
            <a:srgbClr val="B86E00"/>
          </a:solidFill>
          <a:ln/>
        </p:spPr>
      </p:sp>
      <p:sp>
        <p:nvSpPr>
          <p:cNvPr id="42" name="Text 40"/>
          <p:cNvSpPr txBox="1"/>
          <p:nvPr/>
        </p:nvSpPr>
        <p:spPr>
          <a:xfrm>
            <a:off x="3950208" y="3017520"/>
            <a:ext cx="1005840" cy="219456"/>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쓰기 불편</a:t>
            </a:r>
            <a:endParaRPr lang="ko-KR" altLang="en-US" sz="950" dirty="0"/>
          </a:p>
        </p:txBody>
      </p:sp>
      <p:sp>
        <p:nvSpPr>
          <p:cNvPr id="43" name="Text 41"/>
          <p:cNvSpPr txBox="1"/>
          <p:nvPr/>
        </p:nvSpPr>
        <p:spPr>
          <a:xfrm>
            <a:off x="5047488" y="3008376"/>
            <a:ext cx="3520440" cy="237744"/>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★5 · 2025.01.26 · Google Play</a:t>
            </a:r>
            <a:endParaRPr lang="ko-KR" altLang="en-US" sz="900" dirty="0"/>
          </a:p>
        </p:txBody>
      </p:sp>
      <p:sp>
        <p:nvSpPr>
          <p:cNvPr id="44" name="Text 42"/>
          <p:cNvSpPr txBox="1"/>
          <p:nvPr/>
        </p:nvSpPr>
        <p:spPr>
          <a:xfrm>
            <a:off x="3950208" y="3291840"/>
            <a:ext cx="4617720" cy="274320"/>
          </a:xfrm>
          <a:prstGeom prst="rect">
            <a:avLst/>
          </a:prstGeom>
          <a:noFill/>
          <a:ln/>
        </p:spPr>
        <p:txBody>
          <a:bodyPr wrap="square" lIns="0" tIns="0" rIns="0" bIns="0" rtlCol="0" anchor="ctr"/>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"It takes a little for new pops to be added"</a:t>
            </a:r>
            <a:endParaRPr lang="ko-KR" altLang="en-US" sz="1150" dirty="0"/>
          </a:p>
        </p:txBody>
      </p:sp>
      <p:sp>
        <p:nvSpPr>
          <p:cNvPr id="45" name="Text 43"/>
          <p:cNvSpPr txBox="1"/>
          <p:nvPr/>
        </p:nvSpPr>
        <p:spPr>
          <a:xfrm>
            <a:off x="3950208" y="3566160"/>
            <a:ext cx="4617720" cy="256032"/>
          </a:xfrm>
          <a:prstGeom prst="rect">
            <a:avLst/>
          </a:prstGeom>
          <a:noFill/>
          <a:ln/>
        </p:spPr>
        <p:txBody>
          <a:bodyPr wrap="square" lIns="0" tIns="0" rIns="0" bIns="0" rtlCol="0" anchor="ct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신상품 정보가 늦게 올라온다</a:t>
            </a:r>
            <a:endParaRPr lang="ko-KR" altLang="en-US" sz="1050" dirty="0"/>
          </a:p>
        </p:txBody>
      </p:sp>
      <p:sp>
        <p:nvSpPr>
          <p:cNvPr id="46" name="Shape 44"/>
          <p:cNvSpPr/>
          <p:nvPr/>
        </p:nvSpPr>
        <p:spPr>
          <a:xfrm>
            <a:off x="8759952" y="3392424"/>
            <a:ext cx="292608" cy="0"/>
          </a:xfrm>
          <a:prstGeom prst="line">
            <a:avLst/>
          </a:prstGeom>
          <a:noFill/>
          <a:ln w="19050">
            <a:solidFill>
              <a:srgbClr val="1C86D9"/>
            </a:solidFill>
            <a:prstDash val="solid"/>
            <a:tailEnd type="triangle"/>
          </a:ln>
        </p:spPr>
      </p:sp>
      <p:sp>
        <p:nvSpPr>
          <p:cNvPr id="47" name="Shape 45"/>
          <p:cNvSpPr/>
          <p:nvPr/>
        </p:nvSpPr>
        <p:spPr>
          <a:xfrm>
            <a:off x="9144000" y="2980944"/>
            <a:ext cx="2496312" cy="822960"/>
          </a:xfrm>
          <a:prstGeom prst="roundRect">
            <a:avLst>
              <a:gd name="adj" fmla="val 11111"/>
            </a:avLst>
          </a:prstGeom>
          <a:solidFill>
            <a:srgbClr val="EAF4FC"/>
          </a:solidFill>
          <a:ln/>
        </p:spPr>
      </p:sp>
      <p:sp>
        <p:nvSpPr>
          <p:cNvPr id="48" name="Text 46"/>
          <p:cNvSpPr txBox="1"/>
          <p:nvPr/>
        </p:nvSpPr>
        <p:spPr>
          <a:xfrm>
            <a:off x="9281160" y="2980944"/>
            <a:ext cx="2267712" cy="822960"/>
          </a:xfrm>
          <a:prstGeom prst="rect">
            <a:avLst/>
          </a:prstGeom>
          <a:noFill/>
          <a:ln/>
        </p:spPr>
        <p:txBody>
          <a:bodyPr wrap="square" lIns="0" tIns="0" rIns="0" bIns="0" rtlCol="0" anchor="ctr"/>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공식 예고 배너 · 발매 캘린더</a:t>
            </a:r>
            <a:endParaRPr lang="ko-KR" altLang="en-US" sz="1200" dirty="0"/>
          </a:p>
        </p:txBody>
      </p:sp>
      <p:sp>
        <p:nvSpPr>
          <p:cNvPr id="49" name="Shape 47"/>
          <p:cNvSpPr/>
          <p:nvPr/>
        </p:nvSpPr>
        <p:spPr>
          <a:xfrm>
            <a:off x="3794760" y="3986784"/>
            <a:ext cx="4892040" cy="969264"/>
          </a:xfrm>
          <a:prstGeom prst="roundRect">
            <a:avLst>
              <a:gd name="adj" fmla="val 943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0" name="Shape 48"/>
          <p:cNvSpPr/>
          <p:nvPr/>
        </p:nvSpPr>
        <p:spPr>
          <a:xfrm>
            <a:off x="3950208" y="4096512"/>
            <a:ext cx="1005840" cy="219456"/>
          </a:xfrm>
          <a:prstGeom prst="roundRect">
            <a:avLst>
              <a:gd name="adj" fmla="val 50000"/>
            </a:avLst>
          </a:prstGeom>
          <a:solidFill>
            <a:srgbClr val="B86E00"/>
          </a:solidFill>
          <a:ln/>
        </p:spPr>
      </p:sp>
      <p:sp>
        <p:nvSpPr>
          <p:cNvPr id="51" name="Text 49"/>
          <p:cNvSpPr txBox="1"/>
          <p:nvPr/>
        </p:nvSpPr>
        <p:spPr>
          <a:xfrm>
            <a:off x="3950208" y="4096512"/>
            <a:ext cx="1005840" cy="219456"/>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쓰기 불편</a:t>
            </a:r>
            <a:endParaRPr lang="ko-KR" altLang="en-US" sz="950" dirty="0"/>
          </a:p>
        </p:txBody>
      </p:sp>
      <p:sp>
        <p:nvSpPr>
          <p:cNvPr id="52" name="Text 50"/>
          <p:cNvSpPr txBox="1"/>
          <p:nvPr/>
        </p:nvSpPr>
        <p:spPr>
          <a:xfrm>
            <a:off x="5047488" y="4087368"/>
            <a:ext cx="3520440" cy="237744"/>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★3 · 2021.09.17 · App Store US</a:t>
            </a:r>
            <a:endParaRPr lang="ko-KR" altLang="en-US" sz="900" dirty="0"/>
          </a:p>
        </p:txBody>
      </p:sp>
      <p:sp>
        <p:nvSpPr>
          <p:cNvPr id="53" name="Text 51"/>
          <p:cNvSpPr txBox="1"/>
          <p:nvPr/>
        </p:nvSpPr>
        <p:spPr>
          <a:xfrm>
            <a:off x="3950208" y="4370832"/>
            <a:ext cx="4617720" cy="274320"/>
          </a:xfrm>
          <a:prstGeom prst="rect">
            <a:avLst/>
          </a:prstGeom>
          <a:noFill/>
          <a:ln/>
        </p:spPr>
        <p:txBody>
          <a:bodyPr wrap="square" lIns="0" tIns="0" rIns="0" bIns="0" rtlCol="0" anchor="ctr"/>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"could be made much easier to add and remove items from your collection"</a:t>
            </a:r>
            <a:endParaRPr lang="ko-KR" altLang="en-US" sz="1150" dirty="0"/>
          </a:p>
        </p:txBody>
      </p:sp>
      <p:sp>
        <p:nvSpPr>
          <p:cNvPr id="54" name="Text 52"/>
          <p:cNvSpPr txBox="1"/>
          <p:nvPr/>
        </p:nvSpPr>
        <p:spPr>
          <a:xfrm>
            <a:off x="3950208" y="4645152"/>
            <a:ext cx="4617720" cy="256032"/>
          </a:xfrm>
          <a:prstGeom prst="rect">
            <a:avLst/>
          </a:prstGeom>
          <a:noFill/>
          <a:ln/>
        </p:spPr>
        <p:txBody>
          <a:bodyPr wrap="square" lIns="0" tIns="0" rIns="0" bIns="0" rtlCol="0" anchor="ct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컬렉션에 넣고 빼기가 번거롭다</a:t>
            </a:r>
            <a:endParaRPr lang="ko-KR" altLang="en-US" sz="1050" dirty="0"/>
          </a:p>
        </p:txBody>
      </p:sp>
      <p:sp>
        <p:nvSpPr>
          <p:cNvPr id="55" name="Shape 53"/>
          <p:cNvSpPr/>
          <p:nvPr/>
        </p:nvSpPr>
        <p:spPr>
          <a:xfrm>
            <a:off x="8759952" y="4471416"/>
            <a:ext cx="292608" cy="0"/>
          </a:xfrm>
          <a:prstGeom prst="line">
            <a:avLst/>
          </a:prstGeom>
          <a:noFill/>
          <a:ln w="19050">
            <a:solidFill>
              <a:srgbClr val="1C86D9"/>
            </a:solidFill>
            <a:prstDash val="solid"/>
            <a:tailEnd type="triangle"/>
          </a:ln>
        </p:spPr>
      </p:sp>
      <p:sp>
        <p:nvSpPr>
          <p:cNvPr id="56" name="Shape 54"/>
          <p:cNvSpPr/>
          <p:nvPr/>
        </p:nvSpPr>
        <p:spPr>
          <a:xfrm>
            <a:off x="9144000" y="4059936"/>
            <a:ext cx="2496312" cy="822960"/>
          </a:xfrm>
          <a:prstGeom prst="roundRect">
            <a:avLst>
              <a:gd name="adj" fmla="val 11111"/>
            </a:avLst>
          </a:prstGeom>
          <a:solidFill>
            <a:srgbClr val="EAF4FC"/>
          </a:solidFill>
          <a:ln/>
        </p:spPr>
      </p:sp>
      <p:sp>
        <p:nvSpPr>
          <p:cNvPr id="57" name="Text 55"/>
          <p:cNvSpPr txBox="1"/>
          <p:nvPr/>
        </p:nvSpPr>
        <p:spPr>
          <a:xfrm>
            <a:off x="9281160" y="4059936"/>
            <a:ext cx="2267712" cy="822960"/>
          </a:xfrm>
          <a:prstGeom prst="rect">
            <a:avLst/>
          </a:prstGeom>
          <a:noFill/>
          <a:ln/>
        </p:spPr>
        <p:txBody>
          <a:bodyPr wrap="square" lIns="0" tIns="0" rIns="0" bIns="0" rtlCol="0" anchor="ctr"/>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사진 위 ♡ · 리본 한 번 · 휴지통</a:t>
            </a:r>
            <a:endParaRPr lang="ko-KR" altLang="en-US" sz="1200" dirty="0"/>
          </a:p>
        </p:txBody>
      </p:sp>
      <p:sp>
        <p:nvSpPr>
          <p:cNvPr id="58" name="Shape 56"/>
          <p:cNvSpPr/>
          <p:nvPr/>
        </p:nvSpPr>
        <p:spPr>
          <a:xfrm>
            <a:off x="3794760" y="5065776"/>
            <a:ext cx="4892040" cy="969264"/>
          </a:xfrm>
          <a:prstGeom prst="roundRect">
            <a:avLst>
              <a:gd name="adj" fmla="val 943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9" name="Shape 57"/>
          <p:cNvSpPr/>
          <p:nvPr/>
        </p:nvSpPr>
        <p:spPr>
          <a:xfrm>
            <a:off x="3950208" y="5175504"/>
            <a:ext cx="1005840" cy="219456"/>
          </a:xfrm>
          <a:prstGeom prst="roundRect">
            <a:avLst>
              <a:gd name="adj" fmla="val 50000"/>
            </a:avLst>
          </a:prstGeom>
          <a:solidFill>
            <a:srgbClr val="D93F44"/>
          </a:solidFill>
          <a:ln/>
        </p:spPr>
      </p:sp>
      <p:sp>
        <p:nvSpPr>
          <p:cNvPr id="60" name="Text 58"/>
          <p:cNvSpPr txBox="1"/>
          <p:nvPr/>
        </p:nvSpPr>
        <p:spPr>
          <a:xfrm>
            <a:off x="3950208" y="5175504"/>
            <a:ext cx="1005840" cy="219456"/>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없는 기능</a:t>
            </a:r>
            <a:endParaRPr lang="ko-KR" altLang="en-US" sz="950" dirty="0"/>
          </a:p>
        </p:txBody>
      </p:sp>
      <p:sp>
        <p:nvSpPr>
          <p:cNvPr id="61" name="Text 59"/>
          <p:cNvSpPr txBox="1"/>
          <p:nvPr/>
        </p:nvSpPr>
        <p:spPr>
          <a:xfrm>
            <a:off x="5047488" y="5166360"/>
            <a:ext cx="3520440" cy="237744"/>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★4 · 2021.04.29 · App Store CA</a:t>
            </a:r>
            <a:endParaRPr lang="ko-KR" altLang="en-US" sz="900" dirty="0"/>
          </a:p>
        </p:txBody>
      </p:sp>
      <p:sp>
        <p:nvSpPr>
          <p:cNvPr id="62" name="Text 60"/>
          <p:cNvSpPr txBox="1"/>
          <p:nvPr/>
        </p:nvSpPr>
        <p:spPr>
          <a:xfrm>
            <a:off x="3950208" y="5449824"/>
            <a:ext cx="4617720" cy="274320"/>
          </a:xfrm>
          <a:prstGeom prst="rect">
            <a:avLst/>
          </a:prstGeom>
          <a:noFill/>
          <a:ln/>
        </p:spPr>
        <p:txBody>
          <a:bodyPr wrap="square" lIns="0" tIns="0" rIns="0" bIns="0" rtlCol="0" anchor="ctr"/>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"I wish there was a Canadian Version showing PPG in CDN$ dollars"</a:t>
            </a:r>
            <a:endParaRPr lang="ko-KR" altLang="en-US" sz="1150" dirty="0"/>
          </a:p>
        </p:txBody>
      </p:sp>
      <p:sp>
        <p:nvSpPr>
          <p:cNvPr id="63" name="Text 61"/>
          <p:cNvSpPr txBox="1"/>
          <p:nvPr/>
        </p:nvSpPr>
        <p:spPr>
          <a:xfrm>
            <a:off x="3950208" y="5724144"/>
            <a:ext cx="4617720" cy="256032"/>
          </a:xfrm>
          <a:prstGeom prst="rect">
            <a:avLst/>
          </a:prstGeom>
          <a:noFill/>
          <a:ln/>
        </p:spPr>
        <p:txBody>
          <a:bodyPr wrap="square" lIns="0" tIns="0" rIns="0" bIns="0" rtlCol="0" anchor="ct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자기 나라 통화 시세가 없다</a:t>
            </a:r>
            <a:endParaRPr lang="ko-KR" altLang="en-US" sz="1050" dirty="0"/>
          </a:p>
        </p:txBody>
      </p:sp>
      <p:sp>
        <p:nvSpPr>
          <p:cNvPr id="64" name="Shape 62"/>
          <p:cNvSpPr/>
          <p:nvPr/>
        </p:nvSpPr>
        <p:spPr>
          <a:xfrm>
            <a:off x="8759952" y="5550408"/>
            <a:ext cx="292608" cy="0"/>
          </a:xfrm>
          <a:prstGeom prst="line">
            <a:avLst/>
          </a:prstGeom>
          <a:noFill/>
          <a:ln w="19050">
            <a:solidFill>
              <a:srgbClr val="1C86D9"/>
            </a:solidFill>
            <a:prstDash val="solid"/>
            <a:tailEnd type="triangle"/>
          </a:ln>
        </p:spPr>
      </p:sp>
      <p:sp>
        <p:nvSpPr>
          <p:cNvPr id="65" name="Shape 63"/>
          <p:cNvSpPr/>
          <p:nvPr/>
        </p:nvSpPr>
        <p:spPr>
          <a:xfrm>
            <a:off x="9144000" y="5138928"/>
            <a:ext cx="2496312" cy="822960"/>
          </a:xfrm>
          <a:prstGeom prst="roundRect">
            <a:avLst>
              <a:gd name="adj" fmla="val 11111"/>
            </a:avLst>
          </a:prstGeom>
          <a:solidFill>
            <a:srgbClr val="EAF4FC"/>
          </a:solidFill>
          <a:ln/>
        </p:spPr>
      </p:sp>
      <p:sp>
        <p:nvSpPr>
          <p:cNvPr id="66" name="Text 64"/>
          <p:cNvSpPr txBox="1"/>
          <p:nvPr/>
        </p:nvSpPr>
        <p:spPr>
          <a:xfrm>
            <a:off x="9281160" y="5138928"/>
            <a:ext cx="2267712" cy="822960"/>
          </a:xfrm>
          <a:prstGeom prst="rect">
            <a:avLst/>
          </a:prstGeom>
          <a:noFill/>
          <a:ln/>
        </p:spPr>
        <p:txBody>
          <a:bodyPr wrap="square" lIns="0" tIns="0" rIns="0" bIns="0" rtlCol="0" anchor="ctr"/>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일본 정가 + 국내 시세(원)</a:t>
            </a:r>
            <a:endParaRPr lang="ko-KR" altLang="en-US" sz="1200" dirty="0"/>
          </a:p>
        </p:txBody>
      </p:sp>
      <p:sp>
        <p:nvSpPr>
          <p:cNvPr id="67" name="Text 65"/>
          <p:cNvSpPr txBox="1"/>
          <p:nvPr/>
        </p:nvSpPr>
        <p:spPr>
          <a:xfrm>
            <a:off x="3794760" y="6172200"/>
            <a:ext cx="7772400" cy="201168"/>
          </a:xfrm>
          <a:prstGeom prst="rect">
            <a:avLst/>
          </a:prstGeom>
          <a:noFill/>
          <a:ln/>
        </p:spPr>
        <p:txBody>
          <a:bodyPr wrap="square" lIns="0" tIns="0" rIns="0" bIns="0" rtlCol="0" anchor="t"/>
          <a:lstStyle/>
          <a:p>
            <a:pPr indent="0" marL="0">
              <a:buNone/>
            </a:pPr>
            <a:r>
              <a:rPr lang="ko-KR" altLang="en-US" sz="900" dirty="0">
                <a:solidFill>
                  <a:srgbClr val="9AA0A6"/>
                </a:solidFill>
                <a:latin typeface="Malgun Gothic" pitchFamily="34" charset="0"/>
                <a:ea typeface="Malgun Gothic" pitchFamily="34" charset="-122"/>
                <a:cs typeface="Malgun Gothic" pitchFamily="34" charset="-120"/>
              </a:rPr>
              <a:t>리뷰는 원문 구절 · 작성자 이름 지움 · 수업 목적 인용 · 버그 · 광고 리뷰는 이번 분석에서 뺐다</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6</a:t>
            </a:fld>
            <a:endParaRPr lang="ko-KR"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3  문제 정의 3/3 — 저니 감정 최저점 · 근본 원인</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500" b="1" dirty="0">
                <a:solidFill>
                  <a:srgbClr val="111111"/>
                </a:solidFill>
                <a:latin typeface="Malgun Gothic" pitchFamily="34" charset="0"/>
                <a:ea typeface="Malgun Gothic" pitchFamily="34" charset="-122"/>
                <a:cs typeface="Malgun Gothic" pitchFamily="34" charset="-120"/>
              </a:rPr>
              <a:t>근본 원인: 화면이 ‘내가 하는 일의 순서’로 짜여 있지 않다</a:t>
            </a:r>
            <a:endParaRPr lang="ko-KR" altLang="en-US" sz="2500" dirty="0"/>
          </a:p>
        </p:txBody>
      </p:sp>
      <p:sp>
        <p:nvSpPr>
          <p:cNvPr id="4" name="Shape 2"/>
          <p:cNvSpPr/>
          <p:nvPr/>
        </p:nvSpPr>
        <p:spPr>
          <a:xfrm>
            <a:off x="548640" y="1481328"/>
            <a:ext cx="11091672" cy="2103120"/>
          </a:xfrm>
          <a:prstGeom prst="roundRect">
            <a:avLst>
              <a:gd name="adj" fmla="val 6087"/>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 name="Text 3"/>
          <p:cNvSpPr txBox="1"/>
          <p:nvPr/>
        </p:nvSpPr>
        <p:spPr>
          <a:xfrm>
            <a:off x="777240" y="1645920"/>
            <a:ext cx="7680960" cy="256032"/>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사용자 저니</a:t>
            </a:r>
            <a:pPr indent="0" marL="0">
              <a:buNone/>
            </a:pPr>
            <a:r>
              <a:rPr lang="ko-KR" altLang="en-US" sz="1100" dirty="0">
                <a:solidFill>
                  <a:srgbClr val="6B7078"/>
                </a:solidFill>
                <a:latin typeface="Malgun Gothic" pitchFamily="34" charset="0"/>
                <a:ea typeface="Malgun Gothic" pitchFamily="34" charset="-122"/>
                <a:cs typeface="Malgun Gothic" pitchFamily="34" charset="-120"/>
              </a:rPr>
              <a:t>   민준(23) · 수집 4년차 — 재판 소식을 보고 → 사서 → 도감에 기록하기까지</a:t>
            </a:r>
            <a:endParaRPr lang="ko-KR" altLang="en-US" sz="1300" dirty="0"/>
          </a:p>
        </p:txBody>
      </p:sp>
      <p:graphicFrame>
        <p:nvGraphicFramePr>
          <p:cNvPr id="6" name="Chart 0" descr=""/>
          <p:cNvGraphicFramePr/>
          <p:nvPr/>
        </p:nvGraphicFramePr>
        <p:xfrm>
          <a:off x="640080" y="1847088"/>
          <a:ext cx="7863840" cy="1664208"/>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732520" y="1645920"/>
            <a:ext cx="2697480" cy="1783080"/>
          </a:xfrm>
          <a:prstGeom prst="roundRect">
            <a:avLst>
              <a:gd name="adj" fmla="val 6154"/>
            </a:avLst>
          </a:prstGeom>
          <a:solidFill>
            <a:srgbClr val="FCEDED"/>
          </a:solidFill>
          <a:ln/>
        </p:spPr>
      </p:sp>
      <p:sp>
        <p:nvSpPr>
          <p:cNvPr id="8" name="Text 5"/>
          <p:cNvSpPr txBox="1"/>
          <p:nvPr/>
        </p:nvSpPr>
        <p:spPr>
          <a:xfrm>
            <a:off x="8915400" y="1737360"/>
            <a:ext cx="2377440" cy="292608"/>
          </a:xfrm>
          <a:prstGeom prst="rect">
            <a:avLst/>
          </a:prstGeom>
          <a:noFill/>
          <a:ln/>
        </p:spPr>
        <p:txBody>
          <a:bodyPr wrap="square" lIns="0" tIns="0" rIns="0" bIns="0" rtlCol="0" anchor="t"/>
          <a:lstStyle/>
          <a:p>
            <a:pPr indent="0" marL="0">
              <a:buNone/>
            </a:pPr>
            <a:r>
              <a:rPr lang="ko-KR" altLang="en-US" sz="1100" b="1" dirty="0">
                <a:solidFill>
                  <a:srgbClr val="D93F44"/>
                </a:solidFill>
                <a:latin typeface="Malgun Gothic" pitchFamily="34" charset="0"/>
                <a:ea typeface="Malgun Gothic" pitchFamily="34" charset="-122"/>
                <a:cs typeface="Malgun Gothic" pitchFamily="34" charset="-120"/>
              </a:rPr>
              <a:t>감정 최저점</a:t>
            </a:r>
            <a:endParaRPr lang="ko-KR" altLang="en-US" sz="1100" dirty="0"/>
          </a:p>
        </p:txBody>
      </p:sp>
      <p:sp>
        <p:nvSpPr>
          <p:cNvPr id="9" name="Text 6"/>
          <p:cNvSpPr txBox="1"/>
          <p:nvPr/>
        </p:nvSpPr>
        <p:spPr>
          <a:xfrm>
            <a:off x="8915400" y="2011680"/>
            <a:ext cx="2377440" cy="365760"/>
          </a:xfrm>
          <a:prstGeom prst="rect">
            <a:avLst/>
          </a:prstGeom>
          <a:noFill/>
          <a:ln/>
        </p:spPr>
        <p:txBody>
          <a:bodyPr wrap="square" lIns="0" tIns="0" rIns="0" bIns="0" rtlCol="0" anchor="t"/>
          <a:lstStyle/>
          <a:p>
            <a:pPr indent="0" marL="0">
              <a:buNone/>
            </a:pPr>
            <a:r>
              <a:rPr lang="ko-KR" altLang="en-US" sz="1600" b="1" dirty="0">
                <a:solidFill>
                  <a:srgbClr val="D93F44"/>
                </a:solidFill>
                <a:latin typeface="Malgun Gothic" pitchFamily="34" charset="0"/>
                <a:ea typeface="Malgun Gothic" pitchFamily="34" charset="-122"/>
                <a:cs typeface="Malgun Gothic" pitchFamily="34" charset="-120"/>
              </a:rPr>
              <a:t>③ 살지 판단 (−2)</a:t>
            </a:r>
            <a:endParaRPr lang="ko-KR" altLang="en-US" sz="1600" dirty="0"/>
          </a:p>
        </p:txBody>
      </p:sp>
      <p:sp>
        <p:nvSpPr>
          <p:cNvPr id="10" name="Text 7"/>
          <p:cNvSpPr txBox="1"/>
          <p:nvPr/>
        </p:nvSpPr>
        <p:spPr>
          <a:xfrm>
            <a:off x="8915400" y="2395728"/>
            <a:ext cx="2377440" cy="640080"/>
          </a:xfrm>
          <a:prstGeom prst="rect">
            <a:avLst/>
          </a:prstGeom>
          <a:noFill/>
          <a:ln/>
        </p:spPr>
        <p:txBody>
          <a:bodyPr wrap="square" lIns="0" tIns="0" rIns="0" bIns="0" rtlCol="0" anchor="t"/>
          <a:lstStyle/>
          <a:p>
            <a:pPr indent="0" marL="0">
              <a:buNone/>
            </a:pPr>
            <a:r>
              <a:rPr lang="ko-KR" altLang="en-US" sz="1150" dirty="0">
                <a:solidFill>
                  <a:srgbClr val="3D4148"/>
                </a:solidFill>
                <a:latin typeface="Malgun Gothic" pitchFamily="34" charset="0"/>
                <a:ea typeface="Malgun Gothic" pitchFamily="34" charset="-122"/>
                <a:cs typeface="Malgun Gothic" pitchFamily="34" charset="-120"/>
              </a:rPr>
              <a:t>정가 · 시세 · 이미 가졌는지를 한곳에서 못 본다</a:t>
            </a:r>
            <a:endParaRPr lang="ko-KR" altLang="en-US" sz="1150" dirty="0"/>
          </a:p>
        </p:txBody>
      </p:sp>
      <p:sp>
        <p:nvSpPr>
          <p:cNvPr id="11" name="Text 8"/>
          <p:cNvSpPr txBox="1"/>
          <p:nvPr/>
        </p:nvSpPr>
        <p:spPr>
          <a:xfrm>
            <a:off x="8915400" y="3072384"/>
            <a:ext cx="2377440" cy="274320"/>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어긴 원칙 P07 · P08 · P10</a:t>
            </a:r>
            <a:endParaRPr lang="ko-KR" altLang="en-US" sz="1050" dirty="0"/>
          </a:p>
        </p:txBody>
      </p:sp>
      <p:sp>
        <p:nvSpPr>
          <p:cNvPr id="12" name="Text 9"/>
          <p:cNvSpPr txBox="1"/>
          <p:nvPr/>
        </p:nvSpPr>
        <p:spPr>
          <a:xfrm>
            <a:off x="548640" y="3721608"/>
            <a:ext cx="1371600" cy="329184"/>
          </a:xfrm>
          <a:prstGeom prst="rect">
            <a:avLst/>
          </a:prstGeom>
          <a:noFill/>
          <a:ln/>
        </p:spPr>
        <p:txBody>
          <a:bodyPr wrap="square" lIns="0" tIns="0" rIns="0" bIns="0" rtlCol="0" anchor="ctr"/>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피쉬본 6시각</a:t>
            </a:r>
            <a:endParaRPr lang="ko-KR" altLang="en-US" sz="1200" dirty="0"/>
          </a:p>
        </p:txBody>
      </p:sp>
      <p:sp>
        <p:nvSpPr>
          <p:cNvPr id="13" name="Shape 10"/>
          <p:cNvSpPr/>
          <p:nvPr/>
        </p:nvSpPr>
        <p:spPr>
          <a:xfrm>
            <a:off x="1920240" y="3721608"/>
            <a:ext cx="1371600" cy="329184"/>
          </a:xfrm>
          <a:prstGeom prst="roundRect">
            <a:avLst>
              <a:gd name="adj" fmla="val 50000"/>
            </a:avLst>
          </a:prstGeom>
          <a:solidFill>
            <a:srgbClr val="F4F5F7"/>
          </a:solidFill>
          <a:ln/>
        </p:spPr>
      </p:sp>
      <p:sp>
        <p:nvSpPr>
          <p:cNvPr id="14" name="Text 11"/>
          <p:cNvSpPr txBox="1"/>
          <p:nvPr/>
        </p:nvSpPr>
        <p:spPr>
          <a:xfrm>
            <a:off x="1920240" y="3721608"/>
            <a:ext cx="1371600" cy="329184"/>
          </a:xfrm>
          <a:prstGeom prst="rect">
            <a:avLst/>
          </a:prstGeom>
          <a:noFill/>
          <a:ln/>
        </p:spPr>
        <p:txBody>
          <a:bodyPr wrap="square" lIns="0" tIns="0" rIns="0" bIns="0" rtlCol="0" anchor="ctr"/>
          <a:lstStyle/>
          <a:p>
            <a:pPr algn="ctr" indent="0" marL="0">
              <a:buNone/>
            </a:pPr>
            <a:r>
              <a:rPr lang="ko-KR" altLang="en-US" sz="1100" b="1" dirty="0">
                <a:solidFill>
                  <a:srgbClr val="3D4148"/>
                </a:solidFill>
                <a:latin typeface="Malgun Gothic" pitchFamily="34" charset="0"/>
                <a:ea typeface="Malgun Gothic" pitchFamily="34" charset="-122"/>
                <a:cs typeface="Malgun Gothic" pitchFamily="34" charset="-120"/>
              </a:rPr>
              <a:t>모바일 UX</a:t>
            </a:r>
            <a:endParaRPr lang="ko-KR" altLang="en-US" sz="1100" dirty="0"/>
          </a:p>
        </p:txBody>
      </p:sp>
      <p:sp>
        <p:nvSpPr>
          <p:cNvPr id="15" name="Shape 12"/>
          <p:cNvSpPr/>
          <p:nvPr/>
        </p:nvSpPr>
        <p:spPr>
          <a:xfrm>
            <a:off x="3383280" y="3721608"/>
            <a:ext cx="1965960" cy="329184"/>
          </a:xfrm>
          <a:prstGeom prst="roundRect">
            <a:avLst>
              <a:gd name="adj" fmla="val 50000"/>
            </a:avLst>
          </a:prstGeom>
          <a:solidFill>
            <a:srgbClr val="1C86D9"/>
          </a:solidFill>
          <a:ln/>
        </p:spPr>
      </p:sp>
      <p:sp>
        <p:nvSpPr>
          <p:cNvPr id="16" name="Text 13"/>
          <p:cNvSpPr txBox="1"/>
          <p:nvPr/>
        </p:nvSpPr>
        <p:spPr>
          <a:xfrm>
            <a:off x="3383280" y="3721608"/>
            <a:ext cx="1965960" cy="329184"/>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사용성 ← 우선순위</a:t>
            </a:r>
            <a:endParaRPr lang="ko-KR" altLang="en-US" sz="1100" dirty="0"/>
          </a:p>
        </p:txBody>
      </p:sp>
      <p:sp>
        <p:nvSpPr>
          <p:cNvPr id="17" name="Shape 14"/>
          <p:cNvSpPr/>
          <p:nvPr/>
        </p:nvSpPr>
        <p:spPr>
          <a:xfrm>
            <a:off x="5440680" y="3721608"/>
            <a:ext cx="1371600" cy="329184"/>
          </a:xfrm>
          <a:prstGeom prst="roundRect">
            <a:avLst>
              <a:gd name="adj" fmla="val 50000"/>
            </a:avLst>
          </a:prstGeom>
          <a:solidFill>
            <a:srgbClr val="F4F5F7"/>
          </a:solidFill>
          <a:ln/>
        </p:spPr>
      </p:sp>
      <p:sp>
        <p:nvSpPr>
          <p:cNvPr id="18" name="Text 15"/>
          <p:cNvSpPr txBox="1"/>
          <p:nvPr/>
        </p:nvSpPr>
        <p:spPr>
          <a:xfrm>
            <a:off x="5440680" y="3721608"/>
            <a:ext cx="1371600" cy="329184"/>
          </a:xfrm>
          <a:prstGeom prst="rect">
            <a:avLst/>
          </a:prstGeom>
          <a:noFill/>
          <a:ln/>
        </p:spPr>
        <p:txBody>
          <a:bodyPr wrap="square" lIns="0" tIns="0" rIns="0" bIns="0" rtlCol="0" anchor="ctr"/>
          <a:lstStyle/>
          <a:p>
            <a:pPr algn="ctr" indent="0" marL="0">
              <a:buNone/>
            </a:pPr>
            <a:r>
              <a:rPr lang="ko-KR" altLang="en-US" sz="1100" b="1" dirty="0">
                <a:solidFill>
                  <a:srgbClr val="3D4148"/>
                </a:solidFill>
                <a:latin typeface="Malgun Gothic" pitchFamily="34" charset="0"/>
                <a:ea typeface="Malgun Gothic" pitchFamily="34" charset="-122"/>
                <a:cs typeface="Malgun Gothic" pitchFamily="34" charset="-120"/>
              </a:rPr>
              <a:t>데이터</a:t>
            </a:r>
            <a:endParaRPr lang="ko-KR" altLang="en-US" sz="1100" dirty="0"/>
          </a:p>
        </p:txBody>
      </p:sp>
      <p:sp>
        <p:nvSpPr>
          <p:cNvPr id="19" name="Shape 16"/>
          <p:cNvSpPr/>
          <p:nvPr/>
        </p:nvSpPr>
        <p:spPr>
          <a:xfrm>
            <a:off x="6903720" y="3721608"/>
            <a:ext cx="1371600" cy="329184"/>
          </a:xfrm>
          <a:prstGeom prst="roundRect">
            <a:avLst>
              <a:gd name="adj" fmla="val 50000"/>
            </a:avLst>
          </a:prstGeom>
          <a:solidFill>
            <a:srgbClr val="F4F5F7"/>
          </a:solidFill>
          <a:ln/>
        </p:spPr>
      </p:sp>
      <p:sp>
        <p:nvSpPr>
          <p:cNvPr id="20" name="Text 17"/>
          <p:cNvSpPr txBox="1"/>
          <p:nvPr/>
        </p:nvSpPr>
        <p:spPr>
          <a:xfrm>
            <a:off x="6903720" y="3721608"/>
            <a:ext cx="1371600" cy="329184"/>
          </a:xfrm>
          <a:prstGeom prst="rect">
            <a:avLst/>
          </a:prstGeom>
          <a:noFill/>
          <a:ln/>
        </p:spPr>
        <p:txBody>
          <a:bodyPr wrap="square" lIns="0" tIns="0" rIns="0" bIns="0" rtlCol="0" anchor="ctr"/>
          <a:lstStyle/>
          <a:p>
            <a:pPr algn="ctr" indent="0" marL="0">
              <a:buNone/>
            </a:pPr>
            <a:r>
              <a:rPr lang="ko-KR" altLang="en-US" sz="1100" b="1" dirty="0">
                <a:solidFill>
                  <a:srgbClr val="3D4148"/>
                </a:solidFill>
                <a:latin typeface="Malgun Gothic" pitchFamily="34" charset="0"/>
                <a:ea typeface="Malgun Gothic" pitchFamily="34" charset="-122"/>
                <a:cs typeface="Malgun Gothic" pitchFamily="34" charset="-120"/>
              </a:rPr>
              <a:t>API</a:t>
            </a:r>
            <a:endParaRPr lang="ko-KR" altLang="en-US" sz="1100" dirty="0"/>
          </a:p>
        </p:txBody>
      </p:sp>
      <p:sp>
        <p:nvSpPr>
          <p:cNvPr id="21" name="Shape 18"/>
          <p:cNvSpPr/>
          <p:nvPr/>
        </p:nvSpPr>
        <p:spPr>
          <a:xfrm>
            <a:off x="8366760" y="3721608"/>
            <a:ext cx="1371600" cy="329184"/>
          </a:xfrm>
          <a:prstGeom prst="roundRect">
            <a:avLst>
              <a:gd name="adj" fmla="val 50000"/>
            </a:avLst>
          </a:prstGeom>
          <a:solidFill>
            <a:srgbClr val="F4F5F7"/>
          </a:solidFill>
          <a:ln/>
        </p:spPr>
      </p:sp>
      <p:sp>
        <p:nvSpPr>
          <p:cNvPr id="22" name="Text 19"/>
          <p:cNvSpPr txBox="1"/>
          <p:nvPr/>
        </p:nvSpPr>
        <p:spPr>
          <a:xfrm>
            <a:off x="8366760" y="3721608"/>
            <a:ext cx="1371600" cy="329184"/>
          </a:xfrm>
          <a:prstGeom prst="rect">
            <a:avLst/>
          </a:prstGeom>
          <a:noFill/>
          <a:ln/>
        </p:spPr>
        <p:txBody>
          <a:bodyPr wrap="square" lIns="0" tIns="0" rIns="0" bIns="0" rtlCol="0" anchor="ctr"/>
          <a:lstStyle/>
          <a:p>
            <a:pPr algn="ctr" indent="0" marL="0">
              <a:buNone/>
            </a:pPr>
            <a:r>
              <a:rPr lang="ko-KR" altLang="en-US" sz="1100" b="1" dirty="0">
                <a:solidFill>
                  <a:srgbClr val="3D4148"/>
                </a:solidFill>
                <a:latin typeface="Malgun Gothic" pitchFamily="34" charset="0"/>
                <a:ea typeface="Malgun Gothic" pitchFamily="34" charset="-122"/>
                <a:cs typeface="Malgun Gothic" pitchFamily="34" charset="-120"/>
              </a:rPr>
              <a:t>네트워크</a:t>
            </a:r>
            <a:endParaRPr lang="ko-KR" altLang="en-US" sz="1100" dirty="0"/>
          </a:p>
        </p:txBody>
      </p:sp>
      <p:sp>
        <p:nvSpPr>
          <p:cNvPr id="23" name="Shape 20"/>
          <p:cNvSpPr/>
          <p:nvPr/>
        </p:nvSpPr>
        <p:spPr>
          <a:xfrm>
            <a:off x="9829800" y="3721608"/>
            <a:ext cx="1371600" cy="329184"/>
          </a:xfrm>
          <a:prstGeom prst="roundRect">
            <a:avLst>
              <a:gd name="adj" fmla="val 50000"/>
            </a:avLst>
          </a:prstGeom>
          <a:solidFill>
            <a:srgbClr val="F4F5F7"/>
          </a:solidFill>
          <a:ln/>
        </p:spPr>
      </p:sp>
      <p:sp>
        <p:nvSpPr>
          <p:cNvPr id="24" name="Text 21"/>
          <p:cNvSpPr txBox="1"/>
          <p:nvPr/>
        </p:nvSpPr>
        <p:spPr>
          <a:xfrm>
            <a:off x="9829800" y="3721608"/>
            <a:ext cx="1371600" cy="329184"/>
          </a:xfrm>
          <a:prstGeom prst="rect">
            <a:avLst/>
          </a:prstGeom>
          <a:noFill/>
          <a:ln/>
        </p:spPr>
        <p:txBody>
          <a:bodyPr wrap="square" lIns="0" tIns="0" rIns="0" bIns="0" rtlCol="0" anchor="ctr"/>
          <a:lstStyle/>
          <a:p>
            <a:pPr algn="ctr" indent="0" marL="0">
              <a:buNone/>
            </a:pPr>
            <a:r>
              <a:rPr lang="ko-KR" altLang="en-US" sz="1100" b="1" dirty="0">
                <a:solidFill>
                  <a:srgbClr val="3D4148"/>
                </a:solidFill>
                <a:latin typeface="Malgun Gothic" pitchFamily="34" charset="0"/>
                <a:ea typeface="Malgun Gothic" pitchFamily="34" charset="-122"/>
                <a:cs typeface="Malgun Gothic" pitchFamily="34" charset="-120"/>
              </a:rPr>
              <a:t>프로세스</a:t>
            </a:r>
            <a:endParaRPr lang="ko-KR" altLang="en-US" sz="1100" dirty="0"/>
          </a:p>
        </p:txBody>
      </p:sp>
      <p:sp>
        <p:nvSpPr>
          <p:cNvPr id="25" name="Text 22"/>
          <p:cNvSpPr txBox="1"/>
          <p:nvPr/>
        </p:nvSpPr>
        <p:spPr>
          <a:xfrm>
            <a:off x="548640" y="4160520"/>
            <a:ext cx="10972800" cy="256032"/>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5 Why</a:t>
            </a:r>
            <a:pPr indent="0" marL="0">
              <a:buNone/>
            </a:pPr>
            <a:r>
              <a:rPr lang="ko-KR" altLang="en-US" sz="1100" dirty="0">
                <a:solidFill>
                  <a:srgbClr val="6B7078"/>
                </a:solidFill>
                <a:latin typeface="Malgun Gothic" pitchFamily="34" charset="0"/>
                <a:ea typeface="Malgun Gothic" pitchFamily="34" charset="-122"/>
                <a:cs typeface="Malgun Gothic" pitchFamily="34" charset="-120"/>
              </a:rPr>
              <a:t>   우선순위 “쓰기 불편하다”에서 출발</a:t>
            </a:r>
            <a:endParaRPr lang="ko-KR" altLang="en-US" sz="1300" dirty="0"/>
          </a:p>
        </p:txBody>
      </p:sp>
      <p:sp>
        <p:nvSpPr>
          <p:cNvPr id="26" name="Shape 23"/>
          <p:cNvSpPr/>
          <p:nvPr/>
        </p:nvSpPr>
        <p:spPr>
          <a:xfrm>
            <a:off x="548640" y="4462272"/>
            <a:ext cx="2578608" cy="868680"/>
          </a:xfrm>
          <a:prstGeom prst="roundRect">
            <a:avLst>
              <a:gd name="adj" fmla="val 10526"/>
            </a:avLst>
          </a:prstGeom>
          <a:solidFill>
            <a:srgbClr val="F4F5F7"/>
          </a:solidFill>
          <a:ln/>
        </p:spPr>
      </p:sp>
      <p:sp>
        <p:nvSpPr>
          <p:cNvPr id="27" name="Text 24"/>
          <p:cNvSpPr txBox="1"/>
          <p:nvPr/>
        </p:nvSpPr>
        <p:spPr>
          <a:xfrm>
            <a:off x="713232" y="4535424"/>
            <a:ext cx="2286000" cy="237744"/>
          </a:xfrm>
          <a:prstGeom prst="rect">
            <a:avLst/>
          </a:prstGeom>
          <a:noFill/>
          <a:ln/>
        </p:spPr>
        <p:txBody>
          <a:bodyPr wrap="square" lIns="0" tIns="0" rIns="0" bIns="0" rtlCol="0" anchor="t"/>
          <a:lstStyle/>
          <a:p>
            <a:pPr indent="0" marL="0">
              <a:buNone/>
            </a:pPr>
            <a:r>
              <a:rPr lang="ko-KR" altLang="en-US" sz="1050" b="1" dirty="0">
                <a:solidFill>
                  <a:srgbClr val="1C86D9"/>
                </a:solidFill>
                <a:latin typeface="Malgun Gothic" pitchFamily="34" charset="0"/>
                <a:ea typeface="Malgun Gothic" pitchFamily="34" charset="-122"/>
                <a:cs typeface="Malgun Gothic" pitchFamily="34" charset="-120"/>
              </a:rPr>
              <a:t>Why 1</a:t>
            </a:r>
            <a:endParaRPr lang="ko-KR" altLang="en-US" sz="1050" dirty="0"/>
          </a:p>
        </p:txBody>
      </p:sp>
      <p:sp>
        <p:nvSpPr>
          <p:cNvPr id="28" name="Text 25"/>
          <p:cNvSpPr txBox="1"/>
          <p:nvPr/>
        </p:nvSpPr>
        <p:spPr>
          <a:xfrm>
            <a:off x="713232" y="4773168"/>
            <a:ext cx="2286000" cy="502920"/>
          </a:xfrm>
          <a:prstGeom prst="rect">
            <a:avLst/>
          </a:prstGeom>
          <a:noFill/>
          <a:ln/>
        </p:spPr>
        <p:txBody>
          <a:bodyPr wrap="square" lIns="0" tIns="0" rIns="0" bIns="0" rtlCol="0" anchor="t"/>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메뉴가 많고, 누를 때마다 다른 창이 열린다</a:t>
            </a:r>
            <a:endParaRPr lang="ko-KR" altLang="en-US" sz="1200" dirty="0"/>
          </a:p>
        </p:txBody>
      </p:sp>
      <p:sp>
        <p:nvSpPr>
          <p:cNvPr id="29" name="Shape 26"/>
          <p:cNvSpPr/>
          <p:nvPr/>
        </p:nvSpPr>
        <p:spPr>
          <a:xfrm>
            <a:off x="3163824" y="4892040"/>
            <a:ext cx="164592" cy="0"/>
          </a:xfrm>
          <a:prstGeom prst="line">
            <a:avLst/>
          </a:prstGeom>
          <a:noFill/>
          <a:ln w="19050">
            <a:solidFill>
              <a:srgbClr val="9AA0A6"/>
            </a:solidFill>
            <a:prstDash val="solid"/>
            <a:tailEnd type="triangle"/>
          </a:ln>
        </p:spPr>
      </p:sp>
      <p:sp>
        <p:nvSpPr>
          <p:cNvPr id="30" name="Shape 27"/>
          <p:cNvSpPr/>
          <p:nvPr/>
        </p:nvSpPr>
        <p:spPr>
          <a:xfrm>
            <a:off x="3364992" y="4462272"/>
            <a:ext cx="2578608" cy="868680"/>
          </a:xfrm>
          <a:prstGeom prst="roundRect">
            <a:avLst>
              <a:gd name="adj" fmla="val 10526"/>
            </a:avLst>
          </a:prstGeom>
          <a:solidFill>
            <a:srgbClr val="F4F5F7"/>
          </a:solidFill>
          <a:ln/>
        </p:spPr>
      </p:sp>
      <p:sp>
        <p:nvSpPr>
          <p:cNvPr id="31" name="Text 28"/>
          <p:cNvSpPr txBox="1"/>
          <p:nvPr/>
        </p:nvSpPr>
        <p:spPr>
          <a:xfrm>
            <a:off x="3529584" y="4535424"/>
            <a:ext cx="2286000" cy="237744"/>
          </a:xfrm>
          <a:prstGeom prst="rect">
            <a:avLst/>
          </a:prstGeom>
          <a:noFill/>
          <a:ln/>
        </p:spPr>
        <p:txBody>
          <a:bodyPr wrap="square" lIns="0" tIns="0" rIns="0" bIns="0" rtlCol="0" anchor="t"/>
          <a:lstStyle/>
          <a:p>
            <a:pPr indent="0" marL="0">
              <a:buNone/>
            </a:pPr>
            <a:r>
              <a:rPr lang="ko-KR" altLang="en-US" sz="1050" b="1" dirty="0">
                <a:solidFill>
                  <a:srgbClr val="1C86D9"/>
                </a:solidFill>
                <a:latin typeface="Malgun Gothic" pitchFamily="34" charset="0"/>
                <a:ea typeface="Malgun Gothic" pitchFamily="34" charset="-122"/>
                <a:cs typeface="Malgun Gothic" pitchFamily="34" charset="-120"/>
              </a:rPr>
              <a:t>Why 2</a:t>
            </a:r>
            <a:endParaRPr lang="ko-KR" altLang="en-US" sz="1050" dirty="0"/>
          </a:p>
        </p:txBody>
      </p:sp>
      <p:sp>
        <p:nvSpPr>
          <p:cNvPr id="32" name="Text 29"/>
          <p:cNvSpPr txBox="1"/>
          <p:nvPr/>
        </p:nvSpPr>
        <p:spPr>
          <a:xfrm>
            <a:off x="3529584" y="4773168"/>
            <a:ext cx="2286000" cy="502920"/>
          </a:xfrm>
          <a:prstGeom prst="rect">
            <a:avLst/>
          </a:prstGeom>
          <a:noFill/>
          <a:ln/>
        </p:spPr>
        <p:txBody>
          <a:bodyPr wrap="square" lIns="0" tIns="0" rIns="0" bIns="0" rtlCol="0" anchor="t"/>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웹사이트 정보 구조를 앱에 그대로 넣었다</a:t>
            </a:r>
            <a:endParaRPr lang="ko-KR" altLang="en-US" sz="1200" dirty="0"/>
          </a:p>
        </p:txBody>
      </p:sp>
      <p:sp>
        <p:nvSpPr>
          <p:cNvPr id="33" name="Shape 30"/>
          <p:cNvSpPr/>
          <p:nvPr/>
        </p:nvSpPr>
        <p:spPr>
          <a:xfrm>
            <a:off x="5980176" y="4892040"/>
            <a:ext cx="164592" cy="0"/>
          </a:xfrm>
          <a:prstGeom prst="line">
            <a:avLst/>
          </a:prstGeom>
          <a:noFill/>
          <a:ln w="19050">
            <a:solidFill>
              <a:srgbClr val="9AA0A6"/>
            </a:solidFill>
            <a:prstDash val="solid"/>
            <a:tailEnd type="triangle"/>
          </a:ln>
        </p:spPr>
      </p:sp>
      <p:sp>
        <p:nvSpPr>
          <p:cNvPr id="34" name="Shape 31"/>
          <p:cNvSpPr/>
          <p:nvPr/>
        </p:nvSpPr>
        <p:spPr>
          <a:xfrm>
            <a:off x="6181344" y="4462272"/>
            <a:ext cx="2578608" cy="868680"/>
          </a:xfrm>
          <a:prstGeom prst="roundRect">
            <a:avLst>
              <a:gd name="adj" fmla="val 10526"/>
            </a:avLst>
          </a:prstGeom>
          <a:solidFill>
            <a:srgbClr val="F4F5F7"/>
          </a:solidFill>
          <a:ln/>
        </p:spPr>
      </p:sp>
      <p:sp>
        <p:nvSpPr>
          <p:cNvPr id="35" name="Text 32"/>
          <p:cNvSpPr txBox="1"/>
          <p:nvPr/>
        </p:nvSpPr>
        <p:spPr>
          <a:xfrm>
            <a:off x="6345936" y="4535424"/>
            <a:ext cx="2286000" cy="237744"/>
          </a:xfrm>
          <a:prstGeom prst="rect">
            <a:avLst/>
          </a:prstGeom>
          <a:noFill/>
          <a:ln/>
        </p:spPr>
        <p:txBody>
          <a:bodyPr wrap="square" lIns="0" tIns="0" rIns="0" bIns="0" rtlCol="0" anchor="t"/>
          <a:lstStyle/>
          <a:p>
            <a:pPr indent="0" marL="0">
              <a:buNone/>
            </a:pPr>
            <a:r>
              <a:rPr lang="ko-KR" altLang="en-US" sz="1050" b="1" dirty="0">
                <a:solidFill>
                  <a:srgbClr val="1C86D9"/>
                </a:solidFill>
                <a:latin typeface="Malgun Gothic" pitchFamily="34" charset="0"/>
                <a:ea typeface="Malgun Gothic" pitchFamily="34" charset="-122"/>
                <a:cs typeface="Malgun Gothic" pitchFamily="34" charset="-120"/>
              </a:rPr>
              <a:t>Why 3</a:t>
            </a:r>
            <a:endParaRPr lang="ko-KR" altLang="en-US" sz="1050" dirty="0"/>
          </a:p>
        </p:txBody>
      </p:sp>
      <p:sp>
        <p:nvSpPr>
          <p:cNvPr id="36" name="Text 33"/>
          <p:cNvSpPr txBox="1"/>
          <p:nvPr/>
        </p:nvSpPr>
        <p:spPr>
          <a:xfrm>
            <a:off x="6345936" y="4773168"/>
            <a:ext cx="2286000" cy="502920"/>
          </a:xfrm>
          <a:prstGeom prst="rect">
            <a:avLst/>
          </a:prstGeom>
          <a:noFill/>
          <a:ln/>
        </p:spPr>
        <p:txBody>
          <a:bodyPr wrap="square" lIns="0" tIns="0" rIns="0" bIns="0" rtlCol="0" anchor="t"/>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하는 일이 아니라 데이터 종류로 화면을 나눴다</a:t>
            </a:r>
            <a:endParaRPr lang="ko-KR" altLang="en-US" sz="1200" dirty="0"/>
          </a:p>
        </p:txBody>
      </p:sp>
      <p:sp>
        <p:nvSpPr>
          <p:cNvPr id="37" name="Shape 34"/>
          <p:cNvSpPr/>
          <p:nvPr/>
        </p:nvSpPr>
        <p:spPr>
          <a:xfrm>
            <a:off x="8796528" y="4892040"/>
            <a:ext cx="164592" cy="0"/>
          </a:xfrm>
          <a:prstGeom prst="line">
            <a:avLst/>
          </a:prstGeom>
          <a:noFill/>
          <a:ln w="19050">
            <a:solidFill>
              <a:srgbClr val="9AA0A6"/>
            </a:solidFill>
            <a:prstDash val="solid"/>
            <a:tailEnd type="triangle"/>
          </a:ln>
        </p:spPr>
      </p:sp>
      <p:sp>
        <p:nvSpPr>
          <p:cNvPr id="38" name="Shape 35"/>
          <p:cNvSpPr/>
          <p:nvPr/>
        </p:nvSpPr>
        <p:spPr>
          <a:xfrm>
            <a:off x="8997696" y="4462272"/>
            <a:ext cx="2578608" cy="868680"/>
          </a:xfrm>
          <a:prstGeom prst="roundRect">
            <a:avLst>
              <a:gd name="adj" fmla="val 10526"/>
            </a:avLst>
          </a:prstGeom>
          <a:solidFill>
            <a:srgbClr val="F4F5F7"/>
          </a:solidFill>
          <a:ln/>
        </p:spPr>
      </p:sp>
      <p:sp>
        <p:nvSpPr>
          <p:cNvPr id="39" name="Text 36"/>
          <p:cNvSpPr txBox="1"/>
          <p:nvPr/>
        </p:nvSpPr>
        <p:spPr>
          <a:xfrm>
            <a:off x="9162288" y="4535424"/>
            <a:ext cx="2286000" cy="237744"/>
          </a:xfrm>
          <a:prstGeom prst="rect">
            <a:avLst/>
          </a:prstGeom>
          <a:noFill/>
          <a:ln/>
        </p:spPr>
        <p:txBody>
          <a:bodyPr wrap="square" lIns="0" tIns="0" rIns="0" bIns="0" rtlCol="0" anchor="t"/>
          <a:lstStyle/>
          <a:p>
            <a:pPr indent="0" marL="0">
              <a:buNone/>
            </a:pPr>
            <a:r>
              <a:rPr lang="ko-KR" altLang="en-US" sz="1050" b="1" dirty="0">
                <a:solidFill>
                  <a:srgbClr val="1C86D9"/>
                </a:solidFill>
                <a:latin typeface="Malgun Gothic" pitchFamily="34" charset="0"/>
                <a:ea typeface="Malgun Gothic" pitchFamily="34" charset="-122"/>
                <a:cs typeface="Malgun Gothic" pitchFamily="34" charset="-120"/>
              </a:rPr>
              <a:t>Why 4</a:t>
            </a:r>
            <a:endParaRPr lang="ko-KR" altLang="en-US" sz="1050" dirty="0"/>
          </a:p>
        </p:txBody>
      </p:sp>
      <p:sp>
        <p:nvSpPr>
          <p:cNvPr id="40" name="Text 37"/>
          <p:cNvSpPr txBox="1"/>
          <p:nvPr/>
        </p:nvSpPr>
        <p:spPr>
          <a:xfrm>
            <a:off x="9162288" y="4773168"/>
            <a:ext cx="2286000" cy="502920"/>
          </a:xfrm>
          <a:prstGeom prst="rect">
            <a:avLst/>
          </a:prstGeom>
          <a:noFill/>
          <a:ln/>
        </p:spPr>
        <p:txBody>
          <a:bodyPr wrap="square" lIns="0" tIns="0" rIns="0" bIns="0" rtlCol="0" anchor="t"/>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모든 분야를 한 메뉴로 — 내 관심 분야가 없다</a:t>
            </a:r>
            <a:endParaRPr lang="ko-KR" altLang="en-US" sz="1200" dirty="0"/>
          </a:p>
        </p:txBody>
      </p:sp>
      <p:sp>
        <p:nvSpPr>
          <p:cNvPr id="41" name="Shape 38"/>
          <p:cNvSpPr/>
          <p:nvPr/>
        </p:nvSpPr>
        <p:spPr>
          <a:xfrm>
            <a:off x="548640" y="5440680"/>
            <a:ext cx="11091672" cy="841248"/>
          </a:xfrm>
          <a:prstGeom prst="roundRect">
            <a:avLst>
              <a:gd name="adj" fmla="val 13043"/>
            </a:avLst>
          </a:prstGeom>
          <a:solidFill>
            <a:srgbClr val="EAF4FC"/>
          </a:solidFill>
          <a:ln/>
        </p:spPr>
      </p:sp>
      <p:sp>
        <p:nvSpPr>
          <p:cNvPr id="42" name="Text 39"/>
          <p:cNvSpPr txBox="1"/>
          <p:nvPr/>
        </p:nvSpPr>
        <p:spPr>
          <a:xfrm>
            <a:off x="777240" y="5522976"/>
            <a:ext cx="6766560" cy="237744"/>
          </a:xfrm>
          <a:prstGeom prst="rect">
            <a:avLst/>
          </a:prstGeom>
          <a:noFill/>
          <a:ln/>
        </p:spPr>
        <p:txBody>
          <a:bodyPr wrap="square" lIns="0" tIns="0" rIns="0" bIns="0" rtlCol="0" anchor="t"/>
          <a:lstStyle/>
          <a:p>
            <a:pPr indent="0" marL="0">
              <a:buNone/>
            </a:pPr>
            <a:r>
              <a:rPr lang="ko-KR" altLang="en-US" sz="1050" b="1" dirty="0">
                <a:solidFill>
                  <a:srgbClr val="1C86D9"/>
                </a:solidFill>
                <a:latin typeface="Malgun Gothic" pitchFamily="34" charset="0"/>
                <a:ea typeface="Malgun Gothic" pitchFamily="34" charset="-122"/>
                <a:cs typeface="Malgun Gothic" pitchFamily="34" charset="-120"/>
              </a:rPr>
              <a:t>근본 원인 (Why 5)</a:t>
            </a:r>
            <a:endParaRPr lang="ko-KR" altLang="en-US" sz="1050" dirty="0"/>
          </a:p>
        </p:txBody>
      </p:sp>
      <p:sp>
        <p:nvSpPr>
          <p:cNvPr id="43" name="Text 40"/>
          <p:cNvSpPr txBox="1"/>
          <p:nvPr/>
        </p:nvSpPr>
        <p:spPr>
          <a:xfrm>
            <a:off x="777240" y="5760720"/>
            <a:ext cx="6766560" cy="438912"/>
          </a:xfrm>
          <a:prstGeom prst="rect">
            <a:avLst/>
          </a:prstGeom>
          <a:noFill/>
          <a:ln/>
        </p:spPr>
        <p:txBody>
          <a:bodyPr wrap="square" lIns="0" tIns="0" rIns="0" bIns="0" rtlCol="0" anchor="ctr"/>
          <a:lstStyle/>
          <a:p>
            <a:pPr indent="0" marL="0">
              <a:buNone/>
            </a:pPr>
            <a:r>
              <a:rPr lang="ko-KR" altLang="en-US" sz="1450" b="1" dirty="0">
                <a:solidFill>
                  <a:srgbClr val="111111"/>
                </a:solidFill>
                <a:latin typeface="Malgun Gothic" pitchFamily="34" charset="0"/>
                <a:ea typeface="Malgun Gothic" pitchFamily="34" charset="-122"/>
                <a:cs typeface="Malgun Gothic" pitchFamily="34" charset="-120"/>
              </a:rPr>
              <a:t>내 관심 분야(채널)와 내가 하는 일의 순서가 화면 구조의 기준이 아니다</a:t>
            </a:r>
            <a:endParaRPr lang="ko-KR" altLang="en-US" sz="1450" dirty="0"/>
          </a:p>
        </p:txBody>
      </p:sp>
      <p:sp>
        <p:nvSpPr>
          <p:cNvPr id="44" name="Text 41"/>
          <p:cNvSpPr txBox="1"/>
          <p:nvPr/>
        </p:nvSpPr>
        <p:spPr>
          <a:xfrm>
            <a:off x="7863840" y="5522976"/>
            <a:ext cx="3611880" cy="685800"/>
          </a:xfrm>
          <a:prstGeom prst="rect">
            <a:avLst/>
          </a:prstGeom>
          <a:noFill/>
          <a:ln/>
        </p:spPr>
        <p:txBody>
          <a:bodyPr wrap="square" lIns="0" tIns="0" rIns="0" bIns="0" rtlCol="0" anchor="ctr"/>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 v2  </a:t>
            </a:r>
            <a:pPr indent="0" marL="0">
              <a:buNone/>
            </a:pPr>
            <a:r>
              <a:rPr lang="ko-KR" altLang="en-US" sz="1200" dirty="0">
                <a:solidFill>
                  <a:srgbClr val="111111"/>
                </a:solidFill>
                <a:latin typeface="Malgun Gothic" pitchFamily="34" charset="0"/>
                <a:ea typeface="Malgun Gothic" pitchFamily="34" charset="-122"/>
                <a:cs typeface="Malgun Gothic" pitchFamily="34" charset="-120"/>
              </a:rPr>
              <a:t>위 = 내 채널 바 하나</a:t>
            </a:r>
            <a:endParaRPr lang="ko-KR" altLang="en-US" sz="1200" dirty="0"/>
          </a:p>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아래 탭 = 소식 · 찾기 · 발매 · 기록 순서</a:t>
            </a:r>
            <a:endParaRPr lang="ko-KR" altLang="en-US" sz="12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7</a:t>
            </a:fld>
            <a:endParaRPr lang="ko-KR"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4  해결 방법 — 화면이 바뀐 과정 1/4 · 홈 · 전체 목록</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홈: AI가 만든 목록 → 내가 다시 설계한 ‘내 채널 새 소식’</a:t>
            </a:r>
            <a:endParaRPr lang="ko-KR" altLang="en-US" sz="2800" dirty="0"/>
          </a:p>
        </p:txBody>
      </p:sp>
      <p:sp>
        <p:nvSpPr>
          <p:cNvPr id="4" name="Shape 2"/>
          <p:cNvSpPr/>
          <p:nvPr/>
        </p:nvSpPr>
        <p:spPr>
          <a:xfrm>
            <a:off x="548640" y="1463040"/>
            <a:ext cx="2057400" cy="932688"/>
          </a:xfrm>
          <a:prstGeom prst="roundRect">
            <a:avLst>
              <a:gd name="adj" fmla="val 9804"/>
            </a:avLst>
          </a:prstGeom>
          <a:solidFill>
            <a:srgbClr val="F4F5F7"/>
          </a:solidFill>
          <a:ln/>
        </p:spPr>
      </p:sp>
      <p:sp>
        <p:nvSpPr>
          <p:cNvPr id="5" name="Text 3"/>
          <p:cNvSpPr txBox="1"/>
          <p:nvPr/>
        </p:nvSpPr>
        <p:spPr>
          <a:xfrm>
            <a:off x="676656" y="1517904"/>
            <a:ext cx="1801368" cy="219456"/>
          </a:xfrm>
          <a:prstGeom prst="rect">
            <a:avLst/>
          </a:prstGeom>
          <a:noFill/>
          <a:ln/>
        </p:spPr>
        <p:txBody>
          <a:bodyPr wrap="square" lIns="0" tIns="0" rIns="0" bIns="0" rtlCol="0" anchor="t"/>
          <a:lstStyle/>
          <a:p>
            <a:pPr indent="0" marL="0">
              <a:buNone/>
            </a:pPr>
            <a:r>
              <a:rPr lang="ko-KR" altLang="en-US" sz="950" b="1" dirty="0">
                <a:solidFill>
                  <a:srgbClr val="6B7078"/>
                </a:solidFill>
                <a:latin typeface="Malgun Gothic" pitchFamily="34" charset="0"/>
                <a:ea typeface="Malgun Gothic" pitchFamily="34" charset="-122"/>
                <a:cs typeface="Malgun Gothic" pitchFamily="34" charset="-120"/>
              </a:rPr>
              <a:t>시작 · 10/24 · AI 첫 버전</a:t>
            </a:r>
            <a:endParaRPr lang="ko-KR" altLang="en-US" sz="950" dirty="0"/>
          </a:p>
        </p:txBody>
      </p:sp>
      <p:sp>
        <p:nvSpPr>
          <p:cNvPr id="6" name="Text 4"/>
          <p:cNvSpPr txBox="1"/>
          <p:nvPr/>
        </p:nvSpPr>
        <p:spPr>
          <a:xfrm>
            <a:off x="676656" y="1737360"/>
            <a:ext cx="1801368" cy="621792"/>
          </a:xfrm>
          <a:prstGeom prst="rect">
            <a:avLst/>
          </a:prstGeom>
          <a:noFill/>
          <a:ln/>
        </p:spPr>
        <p:txBody>
          <a:bodyPr wrap="square" lIns="0" tIns="0" rIns="0" bIns="0" rtlCol="0" anchor="t"/>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hobbyDB를 따라 만든 키트 목록 → "내가 다시 설계할게"</a:t>
            </a:r>
            <a:endParaRPr lang="ko-KR" altLang="en-US" sz="1100" dirty="0"/>
          </a:p>
        </p:txBody>
      </p:sp>
      <p:sp>
        <p:nvSpPr>
          <p:cNvPr id="7" name="Shape 5"/>
          <p:cNvSpPr/>
          <p:nvPr/>
        </p:nvSpPr>
        <p:spPr>
          <a:xfrm>
            <a:off x="835073" y="2560320"/>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8" name="Image 0" descr="C:\Users\Windows11\AppData\Local\Temp\claude\C--Users-Windows11-Desktop-New-folder--2-\a0c8a1d0-32ba-4ae6-9843-b5ebc69d925f\scratchpad\deck2/img/evo_99dd2b9_home.png">    </p:cNvPr>
          <p:cNvPicPr>
            <a:picLocks noChangeAspect="1"/>
          </p:cNvPicPr>
          <p:nvPr/>
        </p:nvPicPr>
        <p:blipFill>
          <a:blip r:embed="rId1"/>
          <a:stretch>
            <a:fillRect/>
          </a:stretch>
        </p:blipFill>
        <p:spPr>
          <a:xfrm>
            <a:off x="816785" y="2542032"/>
            <a:ext cx="1521111" cy="3291840"/>
          </a:xfrm>
          <a:prstGeom prst="rect">
            <a:avLst/>
          </a:prstGeom>
        </p:spPr>
      </p:pic>
      <p:sp>
        <p:nvSpPr>
          <p:cNvPr id="9" name="Text 6"/>
          <p:cNvSpPr txBox="1"/>
          <p:nvPr/>
        </p:nvSpPr>
        <p:spPr>
          <a:xfrm>
            <a:off x="548640"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상품 목록뿐</a:t>
            </a:r>
            <a:endParaRPr lang="ko-KR" altLang="en-US" sz="1200" dirty="0"/>
          </a:p>
        </p:txBody>
      </p:sp>
      <p:sp>
        <p:nvSpPr>
          <p:cNvPr id="10" name="Text 7"/>
          <p:cNvSpPr txBox="1"/>
          <p:nvPr/>
        </p:nvSpPr>
        <p:spPr>
          <a:xfrm>
            <a:off x="548640"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99dd2b9</a:t>
            </a:r>
            <a:endParaRPr lang="ko-KR" altLang="en-US" sz="900" dirty="0"/>
          </a:p>
        </p:txBody>
      </p:sp>
      <p:sp>
        <p:nvSpPr>
          <p:cNvPr id="11" name="Shape 8"/>
          <p:cNvSpPr/>
          <p:nvPr/>
        </p:nvSpPr>
        <p:spPr>
          <a:xfrm>
            <a:off x="2615184" y="4160520"/>
            <a:ext cx="182880" cy="0"/>
          </a:xfrm>
          <a:prstGeom prst="line">
            <a:avLst/>
          </a:prstGeom>
          <a:noFill/>
          <a:ln w="19050">
            <a:solidFill>
              <a:srgbClr val="1C86D9"/>
            </a:solidFill>
            <a:prstDash val="solid"/>
            <a:tailEnd type="triangle"/>
          </a:ln>
        </p:spPr>
      </p:sp>
      <p:sp>
        <p:nvSpPr>
          <p:cNvPr id="12" name="Shape 9"/>
          <p:cNvSpPr/>
          <p:nvPr/>
        </p:nvSpPr>
        <p:spPr>
          <a:xfrm>
            <a:off x="2807208" y="1463040"/>
            <a:ext cx="2057400" cy="932688"/>
          </a:xfrm>
          <a:prstGeom prst="roundRect">
            <a:avLst>
              <a:gd name="adj" fmla="val 9804"/>
            </a:avLst>
          </a:prstGeom>
          <a:solidFill>
            <a:srgbClr val="FFF4E2"/>
          </a:solidFill>
          <a:ln/>
        </p:spPr>
      </p:sp>
      <p:sp>
        <p:nvSpPr>
          <p:cNvPr id="13" name="Text 10"/>
          <p:cNvSpPr txBox="1"/>
          <p:nvPr/>
        </p:nvSpPr>
        <p:spPr>
          <a:xfrm>
            <a:off x="2935224"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14" name="Text 11"/>
          <p:cNvSpPr txBox="1"/>
          <p:nvPr/>
        </p:nvSpPr>
        <p:spPr>
          <a:xfrm>
            <a:off x="2935224"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“위아래로 나열하지 말고, 처음 시안 A 매거진이 좋아”</a:t>
            </a:r>
            <a:endParaRPr lang="ko-KR" altLang="en-US" sz="1100" dirty="0"/>
          </a:p>
        </p:txBody>
      </p:sp>
      <p:sp>
        <p:nvSpPr>
          <p:cNvPr id="15" name="Shape 12"/>
          <p:cNvSpPr/>
          <p:nvPr/>
        </p:nvSpPr>
        <p:spPr>
          <a:xfrm>
            <a:off x="3093641" y="2560320"/>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16" name="Image 1" descr="C:\Users\Windows11\AppData\Local\Temp\claude\C--Users-Windows11-Desktop-New-folder--2-\a0c8a1d0-32ba-4ae6-9843-b5ebc69d925f\scratchpad\deck2/img/evo_5adf83d_home.png">    </p:cNvPr>
          <p:cNvPicPr>
            <a:picLocks noChangeAspect="1"/>
          </p:cNvPicPr>
          <p:nvPr/>
        </p:nvPicPr>
        <p:blipFill>
          <a:blip r:embed="rId2"/>
          <a:stretch>
            <a:fillRect/>
          </a:stretch>
        </p:blipFill>
        <p:spPr>
          <a:xfrm>
            <a:off x="3075353" y="2542032"/>
            <a:ext cx="1521111" cy="3291840"/>
          </a:xfrm>
          <a:prstGeom prst="rect">
            <a:avLst/>
          </a:prstGeom>
        </p:spPr>
      </p:pic>
      <p:sp>
        <p:nvSpPr>
          <p:cNvPr id="17" name="Text 13"/>
          <p:cNvSpPr txBox="1"/>
          <p:nvPr/>
        </p:nvSpPr>
        <p:spPr>
          <a:xfrm>
            <a:off x="2807208"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매거진형 — 큰 사진 + 태그</a:t>
            </a:r>
            <a:endParaRPr lang="ko-KR" altLang="en-US" sz="1200" dirty="0"/>
          </a:p>
        </p:txBody>
      </p:sp>
      <p:sp>
        <p:nvSpPr>
          <p:cNvPr id="18" name="Text 14"/>
          <p:cNvSpPr txBox="1"/>
          <p:nvPr/>
        </p:nvSpPr>
        <p:spPr>
          <a:xfrm>
            <a:off x="2807208"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5adf83d</a:t>
            </a:r>
            <a:endParaRPr lang="ko-KR" altLang="en-US" sz="900" dirty="0"/>
          </a:p>
        </p:txBody>
      </p:sp>
      <p:sp>
        <p:nvSpPr>
          <p:cNvPr id="19" name="Shape 15"/>
          <p:cNvSpPr/>
          <p:nvPr/>
        </p:nvSpPr>
        <p:spPr>
          <a:xfrm>
            <a:off x="4873752" y="4160520"/>
            <a:ext cx="182880" cy="0"/>
          </a:xfrm>
          <a:prstGeom prst="line">
            <a:avLst/>
          </a:prstGeom>
          <a:noFill/>
          <a:ln w="19050">
            <a:solidFill>
              <a:srgbClr val="1C86D9"/>
            </a:solidFill>
            <a:prstDash val="solid"/>
            <a:tailEnd type="triangle"/>
          </a:ln>
        </p:spPr>
      </p:sp>
      <p:sp>
        <p:nvSpPr>
          <p:cNvPr id="20" name="Shape 16"/>
          <p:cNvSpPr/>
          <p:nvPr/>
        </p:nvSpPr>
        <p:spPr>
          <a:xfrm>
            <a:off x="5065776" y="1463040"/>
            <a:ext cx="2057400" cy="932688"/>
          </a:xfrm>
          <a:prstGeom prst="roundRect">
            <a:avLst>
              <a:gd name="adj" fmla="val 9804"/>
            </a:avLst>
          </a:prstGeom>
          <a:solidFill>
            <a:srgbClr val="FFF4E2"/>
          </a:solidFill>
          <a:ln/>
        </p:spPr>
      </p:sp>
      <p:sp>
        <p:nvSpPr>
          <p:cNvPr id="21" name="Text 17"/>
          <p:cNvSpPr txBox="1"/>
          <p:nvPr/>
        </p:nvSpPr>
        <p:spPr>
          <a:xfrm>
            <a:off x="5193792"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22" name="Text 18"/>
          <p:cNvSpPr txBox="1"/>
          <p:nvPr/>
        </p:nvSpPr>
        <p:spPr>
          <a:xfrm>
            <a:off x="5193792"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“옆으로 넘기는 사진 줄, 날짜 · 가격은 빼고 위엔 예고 그림”</a:t>
            </a:r>
            <a:endParaRPr lang="ko-KR" altLang="en-US" sz="1100" dirty="0"/>
          </a:p>
        </p:txBody>
      </p:sp>
      <p:sp>
        <p:nvSpPr>
          <p:cNvPr id="23" name="Shape 19"/>
          <p:cNvSpPr/>
          <p:nvPr/>
        </p:nvSpPr>
        <p:spPr>
          <a:xfrm>
            <a:off x="5352209" y="2560320"/>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24" name="Image 2" descr="C:\Users\Windows11\AppData\Local\Temp\claude\C--Users-Windows11-Desktop-New-folder--2-\a0c8a1d0-32ba-4ae6-9843-b5ebc69d925f\scratchpad\deck2/img/evo_b20d76f_home.png">    </p:cNvPr>
          <p:cNvPicPr>
            <a:picLocks noChangeAspect="1"/>
          </p:cNvPicPr>
          <p:nvPr/>
        </p:nvPicPr>
        <p:blipFill>
          <a:blip r:embed="rId3"/>
          <a:stretch>
            <a:fillRect/>
          </a:stretch>
        </p:blipFill>
        <p:spPr>
          <a:xfrm>
            <a:off x="5333921" y="2542032"/>
            <a:ext cx="1521111" cy="3291840"/>
          </a:xfrm>
          <a:prstGeom prst="rect">
            <a:avLst/>
          </a:prstGeom>
        </p:spPr>
      </p:pic>
      <p:sp>
        <p:nvSpPr>
          <p:cNvPr id="25" name="Text 20"/>
          <p:cNvSpPr txBox="1"/>
          <p:nvPr/>
        </p:nvSpPr>
        <p:spPr>
          <a:xfrm>
            <a:off x="5065776"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공식 예고 배너 + 가로 줄</a:t>
            </a:r>
            <a:endParaRPr lang="ko-KR" altLang="en-US" sz="1200" dirty="0"/>
          </a:p>
        </p:txBody>
      </p:sp>
      <p:sp>
        <p:nvSpPr>
          <p:cNvPr id="26" name="Text 21"/>
          <p:cNvSpPr txBox="1"/>
          <p:nvPr/>
        </p:nvSpPr>
        <p:spPr>
          <a:xfrm>
            <a:off x="5065776"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b20d76f</a:t>
            </a:r>
            <a:endParaRPr lang="ko-KR" altLang="en-US" sz="900" dirty="0"/>
          </a:p>
        </p:txBody>
      </p:sp>
      <p:sp>
        <p:nvSpPr>
          <p:cNvPr id="27" name="Shape 22"/>
          <p:cNvSpPr/>
          <p:nvPr/>
        </p:nvSpPr>
        <p:spPr>
          <a:xfrm>
            <a:off x="7132320" y="4160520"/>
            <a:ext cx="182880" cy="0"/>
          </a:xfrm>
          <a:prstGeom prst="line">
            <a:avLst/>
          </a:prstGeom>
          <a:noFill/>
          <a:ln w="19050">
            <a:solidFill>
              <a:srgbClr val="1C86D9"/>
            </a:solidFill>
            <a:prstDash val="solid"/>
            <a:tailEnd type="triangle"/>
          </a:ln>
        </p:spPr>
      </p:sp>
      <p:sp>
        <p:nvSpPr>
          <p:cNvPr id="28" name="Shape 23"/>
          <p:cNvSpPr/>
          <p:nvPr/>
        </p:nvSpPr>
        <p:spPr>
          <a:xfrm>
            <a:off x="7324344" y="1463040"/>
            <a:ext cx="2057400" cy="932688"/>
          </a:xfrm>
          <a:prstGeom prst="roundRect">
            <a:avLst>
              <a:gd name="adj" fmla="val 9804"/>
            </a:avLst>
          </a:prstGeom>
          <a:solidFill>
            <a:srgbClr val="FFF4E2"/>
          </a:solidFill>
          <a:ln/>
        </p:spPr>
      </p:sp>
      <p:sp>
        <p:nvSpPr>
          <p:cNvPr id="29" name="Text 24"/>
          <p:cNvSpPr txBox="1"/>
          <p:nvPr/>
        </p:nvSpPr>
        <p:spPr>
          <a:xfrm>
            <a:off x="7452360"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30" name="Text 25"/>
          <p:cNvSpPr txBox="1"/>
          <p:nvPr/>
        </p:nvSpPr>
        <p:spPr>
          <a:xfrm>
            <a:off x="7452360"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“목록은 이 화면 아래에, 작품별로 · 알약은 너무 못생겼어”</a:t>
            </a:r>
            <a:endParaRPr lang="ko-KR" altLang="en-US" sz="1100" dirty="0"/>
          </a:p>
        </p:txBody>
      </p:sp>
      <p:sp>
        <p:nvSpPr>
          <p:cNvPr id="31" name="Shape 26"/>
          <p:cNvSpPr/>
          <p:nvPr/>
        </p:nvSpPr>
        <p:spPr>
          <a:xfrm>
            <a:off x="7610777" y="2560320"/>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32" name="Image 3" descr="C:\Users\Windows11\AppData\Local\Temp\claude\C--Users-Windows11-Desktop-New-folder--2-\a0c8a1d0-32ba-4ae6-9843-b5ebc69d925f\scratchpad\deck2/img/evo_a44d4b5_seeall.png">    </p:cNvPr>
          <p:cNvPicPr>
            <a:picLocks noChangeAspect="1"/>
          </p:cNvPicPr>
          <p:nvPr/>
        </p:nvPicPr>
        <p:blipFill>
          <a:blip r:embed="rId4"/>
          <a:stretch>
            <a:fillRect/>
          </a:stretch>
        </p:blipFill>
        <p:spPr>
          <a:xfrm>
            <a:off x="7592489" y="2542032"/>
            <a:ext cx="1521111" cy="3291840"/>
          </a:xfrm>
          <a:prstGeom prst="rect">
            <a:avLst/>
          </a:prstGeom>
        </p:spPr>
      </p:pic>
      <p:sp>
        <p:nvSpPr>
          <p:cNvPr id="33" name="Text 27"/>
          <p:cNvSpPr txBox="1"/>
          <p:nvPr/>
        </p:nvSpPr>
        <p:spPr>
          <a:xfrm>
            <a:off x="7324344"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홈 안 전체 목록 + 필터 패널</a:t>
            </a:r>
            <a:endParaRPr lang="ko-KR" altLang="en-US" sz="1200" dirty="0"/>
          </a:p>
        </p:txBody>
      </p:sp>
      <p:sp>
        <p:nvSpPr>
          <p:cNvPr id="34" name="Text 28"/>
          <p:cNvSpPr txBox="1"/>
          <p:nvPr/>
        </p:nvSpPr>
        <p:spPr>
          <a:xfrm>
            <a:off x="7324344"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d8dd566 · a44d4b5</a:t>
            </a:r>
            <a:endParaRPr lang="ko-KR" altLang="en-US" sz="900" dirty="0"/>
          </a:p>
        </p:txBody>
      </p:sp>
      <p:sp>
        <p:nvSpPr>
          <p:cNvPr id="35" name="Shape 29"/>
          <p:cNvSpPr/>
          <p:nvPr/>
        </p:nvSpPr>
        <p:spPr>
          <a:xfrm>
            <a:off x="9390888" y="4160520"/>
            <a:ext cx="182880" cy="0"/>
          </a:xfrm>
          <a:prstGeom prst="line">
            <a:avLst/>
          </a:prstGeom>
          <a:noFill/>
          <a:ln w="19050">
            <a:solidFill>
              <a:srgbClr val="1C86D9"/>
            </a:solidFill>
            <a:prstDash val="solid"/>
            <a:tailEnd type="triangle"/>
          </a:ln>
        </p:spPr>
      </p:sp>
      <p:sp>
        <p:nvSpPr>
          <p:cNvPr id="36" name="Shape 30"/>
          <p:cNvSpPr/>
          <p:nvPr/>
        </p:nvSpPr>
        <p:spPr>
          <a:xfrm>
            <a:off x="9582912" y="1463040"/>
            <a:ext cx="2057400" cy="932688"/>
          </a:xfrm>
          <a:prstGeom prst="roundRect">
            <a:avLst>
              <a:gd name="adj" fmla="val 9804"/>
            </a:avLst>
          </a:prstGeom>
          <a:solidFill>
            <a:srgbClr val="FFF4E2"/>
          </a:solidFill>
          <a:ln/>
        </p:spPr>
      </p:sp>
      <p:sp>
        <p:nvSpPr>
          <p:cNvPr id="37" name="Text 31"/>
          <p:cNvSpPr txBox="1"/>
          <p:nvPr/>
        </p:nvSpPr>
        <p:spPr>
          <a:xfrm>
            <a:off x="9710928"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38" name="Text 32"/>
          <p:cNvSpPr txBox="1"/>
          <p:nvPr/>
        </p:nvSpPr>
        <p:spPr>
          <a:xfrm>
            <a:off x="9710928"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“공식 발표는 몇 초마다 자동으로 다음 장으로”</a:t>
            </a:r>
            <a:endParaRPr lang="ko-KR" altLang="en-US" sz="1100" dirty="0"/>
          </a:p>
        </p:txBody>
      </p:sp>
      <p:sp>
        <p:nvSpPr>
          <p:cNvPr id="39" name="Shape 33"/>
          <p:cNvSpPr/>
          <p:nvPr/>
        </p:nvSpPr>
        <p:spPr>
          <a:xfrm>
            <a:off x="9869345" y="2560320"/>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40" name="Image 4" descr="C:\Users\Windows11\AppData\Local\Temp\claude\C--Users-Windows11-Desktop-New-folder--2-\a0c8a1d0-32ba-4ae6-9843-b5ebc69d925f\scratchpad\deck2/img/home.png">    </p:cNvPr>
          <p:cNvPicPr>
            <a:picLocks noChangeAspect="1"/>
          </p:cNvPicPr>
          <p:nvPr/>
        </p:nvPicPr>
        <p:blipFill>
          <a:blip r:embed="rId5"/>
          <a:stretch>
            <a:fillRect/>
          </a:stretch>
        </p:blipFill>
        <p:spPr>
          <a:xfrm>
            <a:off x="9851057" y="2542032"/>
            <a:ext cx="1521111" cy="3291840"/>
          </a:xfrm>
          <a:prstGeom prst="rect">
            <a:avLst/>
          </a:prstGeom>
        </p:spPr>
      </p:pic>
      <p:sp>
        <p:nvSpPr>
          <p:cNvPr id="41" name="Text 34"/>
          <p:cNvSpPr txBox="1"/>
          <p:nvPr/>
        </p:nvSpPr>
        <p:spPr>
          <a:xfrm>
            <a:off x="9582912"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배너 자동 넘김 · 지금</a:t>
            </a:r>
            <a:endParaRPr lang="ko-KR" altLang="en-US" sz="1200" dirty="0"/>
          </a:p>
        </p:txBody>
      </p:sp>
      <p:sp>
        <p:nvSpPr>
          <p:cNvPr id="42" name="Text 35"/>
          <p:cNvSpPr txBox="1"/>
          <p:nvPr/>
        </p:nvSpPr>
        <p:spPr>
          <a:xfrm>
            <a:off x="9582912"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a44d4b5 → 최종</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8</a:t>
            </a:fld>
            <a:endParaRPr lang="ko-KR"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4  해결 방법 — 화면이 바뀐 과정 2/4 · 상품 상세</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상품 상세: 크고 검은 버튼 → 정가 · 시세 한눈에</a:t>
            </a:r>
            <a:endParaRPr lang="ko-KR" altLang="en-US" sz="2800" dirty="0"/>
          </a:p>
        </p:txBody>
      </p:sp>
      <p:sp>
        <p:nvSpPr>
          <p:cNvPr id="4" name="Shape 2"/>
          <p:cNvSpPr/>
          <p:nvPr/>
        </p:nvSpPr>
        <p:spPr>
          <a:xfrm>
            <a:off x="548640" y="1463040"/>
            <a:ext cx="2057400" cy="932688"/>
          </a:xfrm>
          <a:prstGeom prst="roundRect">
            <a:avLst>
              <a:gd name="adj" fmla="val 9804"/>
            </a:avLst>
          </a:prstGeom>
          <a:solidFill>
            <a:srgbClr val="F4F5F7"/>
          </a:solidFill>
          <a:ln/>
        </p:spPr>
      </p:sp>
      <p:sp>
        <p:nvSpPr>
          <p:cNvPr id="5" name="Text 3"/>
          <p:cNvSpPr txBox="1"/>
          <p:nvPr/>
        </p:nvSpPr>
        <p:spPr>
          <a:xfrm>
            <a:off x="676656" y="1517904"/>
            <a:ext cx="1801368" cy="219456"/>
          </a:xfrm>
          <a:prstGeom prst="rect">
            <a:avLst/>
          </a:prstGeom>
          <a:noFill/>
          <a:ln/>
        </p:spPr>
        <p:txBody>
          <a:bodyPr wrap="square" lIns="0" tIns="0" rIns="0" bIns="0" rtlCol="0" anchor="t"/>
          <a:lstStyle/>
          <a:p>
            <a:pPr indent="0" marL="0">
              <a:buNone/>
            </a:pPr>
            <a:r>
              <a:rPr lang="ko-KR" altLang="en-US" sz="950" b="1" dirty="0">
                <a:solidFill>
                  <a:srgbClr val="6B7078"/>
                </a:solidFill>
                <a:latin typeface="Malgun Gothic" pitchFamily="34" charset="0"/>
                <a:ea typeface="Malgun Gothic" pitchFamily="34" charset="-122"/>
                <a:cs typeface="Malgun Gothic" pitchFamily="34" charset="-120"/>
              </a:rPr>
              <a:t>시작 · 10/24 · AI 첫 버전</a:t>
            </a:r>
            <a:endParaRPr lang="ko-KR" altLang="en-US" sz="950" dirty="0"/>
          </a:p>
        </p:txBody>
      </p:sp>
      <p:sp>
        <p:nvSpPr>
          <p:cNvPr id="6" name="Text 4"/>
          <p:cNvSpPr txBox="1"/>
          <p:nvPr/>
        </p:nvSpPr>
        <p:spPr>
          <a:xfrm>
            <a:off x="676656" y="1737360"/>
            <a:ext cx="1801368" cy="621792"/>
          </a:xfrm>
          <a:prstGeom prst="rect">
            <a:avLst/>
          </a:prstGeom>
          <a:noFill/>
          <a:ln/>
        </p:spPr>
        <p:txBody>
          <a:bodyPr wrap="square" lIns="0" tIns="0" rIns="0" bIns="0" rtlCol="0" anchor="t"/>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정보 · 시세 기록 탭</a:t>
            </a:r>
            <a:endParaRPr lang="ko-KR" altLang="en-US" sz="1100" dirty="0"/>
          </a:p>
        </p:txBody>
      </p:sp>
      <p:sp>
        <p:nvSpPr>
          <p:cNvPr id="7" name="Shape 5"/>
          <p:cNvSpPr/>
          <p:nvPr/>
        </p:nvSpPr>
        <p:spPr>
          <a:xfrm>
            <a:off x="835073" y="2560320"/>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8" name="Image 0" descr="C:\Users\Windows11\AppData\Local\Temp\claude\C--Users-Windows11-Desktop-New-folder--2-\a0c8a1d0-32ba-4ae6-9843-b5ebc69d925f\scratchpad\deck2/img/evo_99dd2b9_detail.png">    </p:cNvPr>
          <p:cNvPicPr>
            <a:picLocks noChangeAspect="1"/>
          </p:cNvPicPr>
          <p:nvPr/>
        </p:nvPicPr>
        <p:blipFill>
          <a:blip r:embed="rId1"/>
          <a:stretch>
            <a:fillRect/>
          </a:stretch>
        </p:blipFill>
        <p:spPr>
          <a:xfrm>
            <a:off x="816785" y="2542032"/>
            <a:ext cx="1521111" cy="3291840"/>
          </a:xfrm>
          <a:prstGeom prst="rect">
            <a:avLst/>
          </a:prstGeom>
        </p:spPr>
      </p:pic>
      <p:sp>
        <p:nvSpPr>
          <p:cNvPr id="9" name="Text 6"/>
          <p:cNvSpPr txBox="1"/>
          <p:nvPr/>
        </p:nvSpPr>
        <p:spPr>
          <a:xfrm>
            <a:off x="548640"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탭으로 나뉜 정보</a:t>
            </a:r>
            <a:endParaRPr lang="ko-KR" altLang="en-US" sz="1200" dirty="0"/>
          </a:p>
        </p:txBody>
      </p:sp>
      <p:sp>
        <p:nvSpPr>
          <p:cNvPr id="10" name="Text 7"/>
          <p:cNvSpPr txBox="1"/>
          <p:nvPr/>
        </p:nvSpPr>
        <p:spPr>
          <a:xfrm>
            <a:off x="548640"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99dd2b9</a:t>
            </a:r>
            <a:endParaRPr lang="ko-KR" altLang="en-US" sz="900" dirty="0"/>
          </a:p>
        </p:txBody>
      </p:sp>
      <p:sp>
        <p:nvSpPr>
          <p:cNvPr id="11" name="Shape 8"/>
          <p:cNvSpPr/>
          <p:nvPr/>
        </p:nvSpPr>
        <p:spPr>
          <a:xfrm>
            <a:off x="2615184" y="4160520"/>
            <a:ext cx="182880" cy="0"/>
          </a:xfrm>
          <a:prstGeom prst="line">
            <a:avLst/>
          </a:prstGeom>
          <a:noFill/>
          <a:ln w="19050">
            <a:solidFill>
              <a:srgbClr val="1C86D9"/>
            </a:solidFill>
            <a:prstDash val="solid"/>
            <a:tailEnd type="triangle"/>
          </a:ln>
        </p:spPr>
      </p:sp>
      <p:sp>
        <p:nvSpPr>
          <p:cNvPr id="12" name="Shape 9"/>
          <p:cNvSpPr/>
          <p:nvPr/>
        </p:nvSpPr>
        <p:spPr>
          <a:xfrm>
            <a:off x="2807208" y="1463040"/>
            <a:ext cx="2057400" cy="932688"/>
          </a:xfrm>
          <a:prstGeom prst="roundRect">
            <a:avLst>
              <a:gd name="adj" fmla="val 9804"/>
            </a:avLst>
          </a:prstGeom>
          <a:solidFill>
            <a:srgbClr val="FFF4E2"/>
          </a:solidFill>
          <a:ln/>
        </p:spPr>
      </p:sp>
      <p:sp>
        <p:nvSpPr>
          <p:cNvPr id="13" name="Text 10"/>
          <p:cNvSpPr txBox="1"/>
          <p:nvPr/>
        </p:nvSpPr>
        <p:spPr>
          <a:xfrm>
            <a:off x="2935224"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14" name="Text 11"/>
          <p:cNvSpPr txBox="1"/>
          <p:nvPr/>
        </p:nvSpPr>
        <p:spPr>
          <a:xfrm>
            <a:off x="2935224"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“상품 상세 화면을 만들자”</a:t>
            </a:r>
            <a:endParaRPr lang="ko-KR" altLang="en-US" sz="1100" dirty="0"/>
          </a:p>
        </p:txBody>
      </p:sp>
      <p:sp>
        <p:nvSpPr>
          <p:cNvPr id="15" name="Shape 12"/>
          <p:cNvSpPr/>
          <p:nvPr/>
        </p:nvSpPr>
        <p:spPr>
          <a:xfrm>
            <a:off x="3093641" y="2560320"/>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16" name="Image 1" descr="C:\Users\Windows11\AppData\Local\Temp\claude\C--Users-Windows11-Desktop-New-folder--2-\a0c8a1d0-32ba-4ae6-9843-b5ebc69d925f\scratchpad\deck2/img/evo_78d6c50_detail.png">    </p:cNvPr>
          <p:cNvPicPr>
            <a:picLocks noChangeAspect="1"/>
          </p:cNvPicPr>
          <p:nvPr/>
        </p:nvPicPr>
        <p:blipFill>
          <a:blip r:embed="rId2"/>
          <a:stretch>
            <a:fillRect/>
          </a:stretch>
        </p:blipFill>
        <p:spPr>
          <a:xfrm>
            <a:off x="3075353" y="2542032"/>
            <a:ext cx="1521111" cy="3291840"/>
          </a:xfrm>
          <a:prstGeom prst="rect">
            <a:avLst/>
          </a:prstGeom>
        </p:spPr>
      </p:pic>
      <p:sp>
        <p:nvSpPr>
          <p:cNvPr id="17" name="Text 13"/>
          <p:cNvSpPr txBox="1"/>
          <p:nvPr/>
        </p:nvSpPr>
        <p:spPr>
          <a:xfrm>
            <a:off x="2807208"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공식 사진 · 정가 · 검정 버튼</a:t>
            </a:r>
            <a:endParaRPr lang="ko-KR" altLang="en-US" sz="1200" dirty="0"/>
          </a:p>
        </p:txBody>
      </p:sp>
      <p:sp>
        <p:nvSpPr>
          <p:cNvPr id="18" name="Text 14"/>
          <p:cNvSpPr txBox="1"/>
          <p:nvPr/>
        </p:nvSpPr>
        <p:spPr>
          <a:xfrm>
            <a:off x="2807208"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78d6c50</a:t>
            </a:r>
            <a:endParaRPr lang="ko-KR" altLang="en-US" sz="900" dirty="0"/>
          </a:p>
        </p:txBody>
      </p:sp>
      <p:sp>
        <p:nvSpPr>
          <p:cNvPr id="19" name="Shape 15"/>
          <p:cNvSpPr/>
          <p:nvPr/>
        </p:nvSpPr>
        <p:spPr>
          <a:xfrm>
            <a:off x="4873752" y="4160520"/>
            <a:ext cx="182880" cy="0"/>
          </a:xfrm>
          <a:prstGeom prst="line">
            <a:avLst/>
          </a:prstGeom>
          <a:noFill/>
          <a:ln w="19050">
            <a:solidFill>
              <a:srgbClr val="1C86D9"/>
            </a:solidFill>
            <a:prstDash val="solid"/>
            <a:tailEnd type="triangle"/>
          </a:ln>
        </p:spPr>
      </p:sp>
      <p:sp>
        <p:nvSpPr>
          <p:cNvPr id="20" name="Shape 16"/>
          <p:cNvSpPr/>
          <p:nvPr/>
        </p:nvSpPr>
        <p:spPr>
          <a:xfrm>
            <a:off x="5065776" y="1463040"/>
            <a:ext cx="2057400" cy="932688"/>
          </a:xfrm>
          <a:prstGeom prst="roundRect">
            <a:avLst>
              <a:gd name="adj" fmla="val 9804"/>
            </a:avLst>
          </a:prstGeom>
          <a:solidFill>
            <a:srgbClr val="FFF4E2"/>
          </a:solidFill>
          <a:ln/>
        </p:spPr>
      </p:sp>
      <p:sp>
        <p:nvSpPr>
          <p:cNvPr id="21" name="Text 17"/>
          <p:cNvSpPr txBox="1"/>
          <p:nvPr/>
        </p:nvSpPr>
        <p:spPr>
          <a:xfrm>
            <a:off x="5193792"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22" name="Text 18"/>
          <p:cNvSpPr txBox="1"/>
          <p:nvPr/>
        </p:nvSpPr>
        <p:spPr>
          <a:xfrm>
            <a:off x="5193792"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“검정 바탕 흰 글자는 안 어울려 · 시장가는 너무 나열, 버튼은 너무 커”</a:t>
            </a:r>
            <a:endParaRPr lang="ko-KR" altLang="en-US" sz="1100" dirty="0"/>
          </a:p>
        </p:txBody>
      </p:sp>
      <p:sp>
        <p:nvSpPr>
          <p:cNvPr id="23" name="Shape 19"/>
          <p:cNvSpPr/>
          <p:nvPr/>
        </p:nvSpPr>
        <p:spPr>
          <a:xfrm>
            <a:off x="5352209" y="2560320"/>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24" name="Image 2" descr="C:\Users\Windows11\AppData\Local\Temp\claude\C--Users-Windows11-Desktop-New-folder--2-\a0c8a1d0-32ba-4ae6-9843-b5ebc69d925f\scratchpad\deck2/img/evo_d4d2774_detail.png">    </p:cNvPr>
          <p:cNvPicPr>
            <a:picLocks noChangeAspect="1"/>
          </p:cNvPicPr>
          <p:nvPr/>
        </p:nvPicPr>
        <p:blipFill>
          <a:blip r:embed="rId3"/>
          <a:stretch>
            <a:fillRect/>
          </a:stretch>
        </p:blipFill>
        <p:spPr>
          <a:xfrm>
            <a:off x="5333921" y="2542032"/>
            <a:ext cx="1521111" cy="3291840"/>
          </a:xfrm>
          <a:prstGeom prst="rect">
            <a:avLst/>
          </a:prstGeom>
        </p:spPr>
      </p:pic>
      <p:sp>
        <p:nvSpPr>
          <p:cNvPr id="25" name="Text 20"/>
          <p:cNvSpPr txBox="1"/>
          <p:nvPr/>
        </p:nvSpPr>
        <p:spPr>
          <a:xfrm>
            <a:off x="5065776"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작은 알약 · 시세 카드 한 장</a:t>
            </a:r>
            <a:endParaRPr lang="ko-KR" altLang="en-US" sz="1200" dirty="0"/>
          </a:p>
        </p:txBody>
      </p:sp>
      <p:sp>
        <p:nvSpPr>
          <p:cNvPr id="26" name="Text 21"/>
          <p:cNvSpPr txBox="1"/>
          <p:nvPr/>
        </p:nvSpPr>
        <p:spPr>
          <a:xfrm>
            <a:off x="5065776"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0b65ac4 · d4d2774</a:t>
            </a:r>
            <a:endParaRPr lang="ko-KR" altLang="en-US" sz="900" dirty="0"/>
          </a:p>
        </p:txBody>
      </p:sp>
      <p:sp>
        <p:nvSpPr>
          <p:cNvPr id="27" name="Shape 22"/>
          <p:cNvSpPr/>
          <p:nvPr/>
        </p:nvSpPr>
        <p:spPr>
          <a:xfrm>
            <a:off x="7132320" y="4160520"/>
            <a:ext cx="182880" cy="0"/>
          </a:xfrm>
          <a:prstGeom prst="line">
            <a:avLst/>
          </a:prstGeom>
          <a:noFill/>
          <a:ln w="19050">
            <a:solidFill>
              <a:srgbClr val="1C86D9"/>
            </a:solidFill>
            <a:prstDash val="solid"/>
            <a:tailEnd type="triangle"/>
          </a:ln>
        </p:spPr>
      </p:sp>
      <p:sp>
        <p:nvSpPr>
          <p:cNvPr id="28" name="Shape 23"/>
          <p:cNvSpPr/>
          <p:nvPr/>
        </p:nvSpPr>
        <p:spPr>
          <a:xfrm>
            <a:off x="7324344" y="1463040"/>
            <a:ext cx="2057400" cy="932688"/>
          </a:xfrm>
          <a:prstGeom prst="roundRect">
            <a:avLst>
              <a:gd name="adj" fmla="val 9804"/>
            </a:avLst>
          </a:prstGeom>
          <a:solidFill>
            <a:srgbClr val="FFF4E2"/>
          </a:solidFill>
          <a:ln/>
        </p:spPr>
      </p:sp>
      <p:sp>
        <p:nvSpPr>
          <p:cNvPr id="29" name="Text 24"/>
          <p:cNvSpPr txBox="1"/>
          <p:nvPr/>
        </p:nvSpPr>
        <p:spPr>
          <a:xfrm>
            <a:off x="7452360"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30" name="Text 25"/>
          <p:cNvSpPr txBox="1"/>
          <p:nvPr/>
        </p:nvSpPr>
        <p:spPr>
          <a:xfrm>
            <a:off x="7452360"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“이 화면 더 좋게 할 제안 있어? → 1 · 2 · 3번만 고쳐”</a:t>
            </a:r>
            <a:endParaRPr lang="ko-KR" altLang="en-US" sz="1100" dirty="0"/>
          </a:p>
        </p:txBody>
      </p:sp>
      <p:sp>
        <p:nvSpPr>
          <p:cNvPr id="31" name="Shape 26"/>
          <p:cNvSpPr/>
          <p:nvPr/>
        </p:nvSpPr>
        <p:spPr>
          <a:xfrm>
            <a:off x="7610777" y="2560320"/>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32" name="Image 3" descr="C:\Users\Windows11\AppData\Local\Temp\claude\C--Users-Windows11-Desktop-New-folder--2-\a0c8a1d0-32ba-4ae6-9843-b5ebc69d925f\scratchpad\deck2/img/evo_80b665e_detail.png">    </p:cNvPr>
          <p:cNvPicPr>
            <a:picLocks noChangeAspect="1"/>
          </p:cNvPicPr>
          <p:nvPr/>
        </p:nvPicPr>
        <p:blipFill>
          <a:blip r:embed="rId4"/>
          <a:stretch>
            <a:fillRect/>
          </a:stretch>
        </p:blipFill>
        <p:spPr>
          <a:xfrm>
            <a:off x="7592489" y="2542032"/>
            <a:ext cx="1521111" cy="3291840"/>
          </a:xfrm>
          <a:prstGeom prst="rect">
            <a:avLst/>
          </a:prstGeom>
        </p:spPr>
      </p:pic>
      <p:sp>
        <p:nvSpPr>
          <p:cNvPr id="33" name="Text 27"/>
          <p:cNvSpPr txBox="1"/>
          <p:nvPr/>
        </p:nvSpPr>
        <p:spPr>
          <a:xfrm>
            <a:off x="7324344"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아래 고정 버튼 · 시세 한 줄</a:t>
            </a:r>
            <a:endParaRPr lang="ko-KR" altLang="en-US" sz="1200" dirty="0"/>
          </a:p>
        </p:txBody>
      </p:sp>
      <p:sp>
        <p:nvSpPr>
          <p:cNvPr id="34" name="Text 28"/>
          <p:cNvSpPr txBox="1"/>
          <p:nvPr/>
        </p:nvSpPr>
        <p:spPr>
          <a:xfrm>
            <a:off x="7324344"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80b665e</a:t>
            </a:r>
            <a:endParaRPr lang="ko-KR" altLang="en-US" sz="900" dirty="0"/>
          </a:p>
        </p:txBody>
      </p:sp>
      <p:sp>
        <p:nvSpPr>
          <p:cNvPr id="35" name="Shape 29"/>
          <p:cNvSpPr/>
          <p:nvPr/>
        </p:nvSpPr>
        <p:spPr>
          <a:xfrm>
            <a:off x="9390888" y="4160520"/>
            <a:ext cx="182880" cy="0"/>
          </a:xfrm>
          <a:prstGeom prst="line">
            <a:avLst/>
          </a:prstGeom>
          <a:noFill/>
          <a:ln w="19050">
            <a:solidFill>
              <a:srgbClr val="1C86D9"/>
            </a:solidFill>
            <a:prstDash val="solid"/>
            <a:tailEnd type="triangle"/>
          </a:ln>
        </p:spPr>
      </p:sp>
      <p:sp>
        <p:nvSpPr>
          <p:cNvPr id="36" name="Shape 30"/>
          <p:cNvSpPr/>
          <p:nvPr/>
        </p:nvSpPr>
        <p:spPr>
          <a:xfrm>
            <a:off x="9582912" y="1463040"/>
            <a:ext cx="2057400" cy="932688"/>
          </a:xfrm>
          <a:prstGeom prst="roundRect">
            <a:avLst>
              <a:gd name="adj" fmla="val 9804"/>
            </a:avLst>
          </a:prstGeom>
          <a:solidFill>
            <a:srgbClr val="FFF4E2"/>
          </a:solidFill>
          <a:ln/>
        </p:spPr>
      </p:sp>
      <p:sp>
        <p:nvSpPr>
          <p:cNvPr id="37" name="Text 31"/>
          <p:cNvSpPr txBox="1"/>
          <p:nvPr/>
        </p:nvSpPr>
        <p:spPr>
          <a:xfrm>
            <a:off x="9710928"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38" name="Text 32"/>
          <p:cNvSpPr txBox="1"/>
          <p:nvPr/>
        </p:nvSpPr>
        <p:spPr>
          <a:xfrm>
            <a:off x="9710928"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“시장가 · 국내 시세가 아직 겹쳐 · 구매함엔 내가 쓴 돈도”</a:t>
            </a:r>
            <a:endParaRPr lang="ko-KR" altLang="en-US" sz="1100" dirty="0"/>
          </a:p>
        </p:txBody>
      </p:sp>
      <p:sp>
        <p:nvSpPr>
          <p:cNvPr id="39" name="Shape 33"/>
          <p:cNvSpPr/>
          <p:nvPr/>
        </p:nvSpPr>
        <p:spPr>
          <a:xfrm>
            <a:off x="9869345" y="2560320"/>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40" name="Image 4" descr="C:\Users\Windows11\AppData\Local\Temp\claude\C--Users-Windows11-Desktop-New-folder--2-\a0c8a1d0-32ba-4ae6-9843-b5ebc69d925f\scratchpad\deck2/img/detail.png">    </p:cNvPr>
          <p:cNvPicPr>
            <a:picLocks noChangeAspect="1"/>
          </p:cNvPicPr>
          <p:nvPr/>
        </p:nvPicPr>
        <p:blipFill>
          <a:blip r:embed="rId5"/>
          <a:stretch>
            <a:fillRect/>
          </a:stretch>
        </p:blipFill>
        <p:spPr>
          <a:xfrm>
            <a:off x="9851057" y="2542032"/>
            <a:ext cx="1521111" cy="3291840"/>
          </a:xfrm>
          <a:prstGeom prst="rect">
            <a:avLst/>
          </a:prstGeom>
        </p:spPr>
      </p:pic>
      <p:sp>
        <p:nvSpPr>
          <p:cNvPr id="41" name="Text 34"/>
          <p:cNvSpPr txBox="1"/>
          <p:nvPr/>
        </p:nvSpPr>
        <p:spPr>
          <a:xfrm>
            <a:off x="9582912"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내 구매가 · 지금</a:t>
            </a:r>
            <a:endParaRPr lang="ko-KR" altLang="en-US" sz="1200" dirty="0"/>
          </a:p>
        </p:txBody>
      </p:sp>
      <p:sp>
        <p:nvSpPr>
          <p:cNvPr id="42" name="Text 35"/>
          <p:cNvSpPr txBox="1"/>
          <p:nvPr/>
        </p:nvSpPr>
        <p:spPr>
          <a:xfrm>
            <a:off x="9582912"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18b0f10 → 최종</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9</a:t>
            </a:fld>
            <a:endParaRPr lang="ko-KR"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4  해결 방법 — 화면이 바뀐 과정 3/4 · 좋아요 · 구매함 · 도감</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좋아요 · 구매함 · 도감: 사진 위에서 바로, 모을수록 레벨업</a:t>
            </a:r>
            <a:endParaRPr lang="ko-KR" altLang="en-US" sz="2800" dirty="0"/>
          </a:p>
        </p:txBody>
      </p:sp>
      <p:sp>
        <p:nvSpPr>
          <p:cNvPr id="4" name="Shape 2"/>
          <p:cNvSpPr/>
          <p:nvPr/>
        </p:nvSpPr>
        <p:spPr>
          <a:xfrm>
            <a:off x="548640" y="1463040"/>
            <a:ext cx="2057400" cy="932688"/>
          </a:xfrm>
          <a:prstGeom prst="roundRect">
            <a:avLst>
              <a:gd name="adj" fmla="val 9804"/>
            </a:avLst>
          </a:prstGeom>
          <a:solidFill>
            <a:srgbClr val="F4F5F7"/>
          </a:solidFill>
          <a:ln/>
        </p:spPr>
      </p:sp>
      <p:sp>
        <p:nvSpPr>
          <p:cNvPr id="5" name="Text 3"/>
          <p:cNvSpPr txBox="1"/>
          <p:nvPr/>
        </p:nvSpPr>
        <p:spPr>
          <a:xfrm>
            <a:off x="676656" y="1517904"/>
            <a:ext cx="1801368" cy="219456"/>
          </a:xfrm>
          <a:prstGeom prst="rect">
            <a:avLst/>
          </a:prstGeom>
          <a:noFill/>
          <a:ln/>
        </p:spPr>
        <p:txBody>
          <a:bodyPr wrap="square" lIns="0" tIns="0" rIns="0" bIns="0" rtlCol="0" anchor="t"/>
          <a:lstStyle/>
          <a:p>
            <a:pPr indent="0" marL="0">
              <a:buNone/>
            </a:pPr>
            <a:r>
              <a:rPr lang="ko-KR" altLang="en-US" sz="950" b="1" dirty="0">
                <a:solidFill>
                  <a:srgbClr val="6B7078"/>
                </a:solidFill>
                <a:latin typeface="Malgun Gothic" pitchFamily="34" charset="0"/>
                <a:ea typeface="Malgun Gothic" pitchFamily="34" charset="-122"/>
                <a:cs typeface="Malgun Gothic" pitchFamily="34" charset="-120"/>
              </a:rPr>
              <a:t>시작 · 10/24 · AI 첫 버전</a:t>
            </a:r>
            <a:endParaRPr lang="ko-KR" altLang="en-US" sz="950" dirty="0"/>
          </a:p>
        </p:txBody>
      </p:sp>
      <p:sp>
        <p:nvSpPr>
          <p:cNvPr id="6" name="Text 4"/>
          <p:cNvSpPr txBox="1"/>
          <p:nvPr/>
        </p:nvSpPr>
        <p:spPr>
          <a:xfrm>
            <a:off x="676656" y="1737360"/>
            <a:ext cx="1801368" cy="621792"/>
          </a:xfrm>
          <a:prstGeom prst="rect">
            <a:avLst/>
          </a:prstGeom>
          <a:noFill/>
          <a:ln/>
        </p:spPr>
        <p:txBody>
          <a:bodyPr wrap="square" lIns="0" tIns="0" rIns="0" bIns="0" rtlCol="0" anchor="t"/>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소장 · 위시 배지로 상태 표시</a:t>
            </a:r>
            <a:endParaRPr lang="ko-KR" altLang="en-US" sz="1100" dirty="0"/>
          </a:p>
        </p:txBody>
      </p:sp>
      <p:sp>
        <p:nvSpPr>
          <p:cNvPr id="7" name="Shape 5"/>
          <p:cNvSpPr/>
          <p:nvPr/>
        </p:nvSpPr>
        <p:spPr>
          <a:xfrm>
            <a:off x="835073" y="2560320"/>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8" name="Image 0" descr="C:\Users\Windows11\AppData\Local\Temp\claude\C--Users-Windows11-Desktop-New-folder--2-\a0c8a1d0-32ba-4ae6-9843-b5ebc69d925f\scratchpad\deck2/img/evo_99dd2b9_guide.png">    </p:cNvPr>
          <p:cNvPicPr>
            <a:picLocks noChangeAspect="1"/>
          </p:cNvPicPr>
          <p:nvPr/>
        </p:nvPicPr>
        <p:blipFill>
          <a:blip r:embed="rId1"/>
          <a:stretch>
            <a:fillRect/>
          </a:stretch>
        </p:blipFill>
        <p:spPr>
          <a:xfrm>
            <a:off x="816785" y="2542032"/>
            <a:ext cx="1521111" cy="3291840"/>
          </a:xfrm>
          <a:prstGeom prst="rect">
            <a:avLst/>
          </a:prstGeom>
        </p:spPr>
      </p:pic>
      <p:sp>
        <p:nvSpPr>
          <p:cNvPr id="9" name="Text 6"/>
          <p:cNvSpPr txBox="1"/>
          <p:nvPr/>
        </p:nvSpPr>
        <p:spPr>
          <a:xfrm>
            <a:off x="548640"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배지로 상태 표시</a:t>
            </a:r>
            <a:endParaRPr lang="ko-KR" altLang="en-US" sz="1200" dirty="0"/>
          </a:p>
        </p:txBody>
      </p:sp>
      <p:sp>
        <p:nvSpPr>
          <p:cNvPr id="10" name="Text 7"/>
          <p:cNvSpPr txBox="1"/>
          <p:nvPr/>
        </p:nvSpPr>
        <p:spPr>
          <a:xfrm>
            <a:off x="548640"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99dd2b9</a:t>
            </a:r>
            <a:endParaRPr lang="ko-KR" altLang="en-US" sz="900" dirty="0"/>
          </a:p>
        </p:txBody>
      </p:sp>
      <p:sp>
        <p:nvSpPr>
          <p:cNvPr id="11" name="Shape 8"/>
          <p:cNvSpPr/>
          <p:nvPr/>
        </p:nvSpPr>
        <p:spPr>
          <a:xfrm>
            <a:off x="2615184" y="4160520"/>
            <a:ext cx="182880" cy="0"/>
          </a:xfrm>
          <a:prstGeom prst="line">
            <a:avLst/>
          </a:prstGeom>
          <a:noFill/>
          <a:ln w="19050">
            <a:solidFill>
              <a:srgbClr val="1C86D9"/>
            </a:solidFill>
            <a:prstDash val="solid"/>
            <a:tailEnd type="triangle"/>
          </a:ln>
        </p:spPr>
      </p:sp>
      <p:sp>
        <p:nvSpPr>
          <p:cNvPr id="12" name="Shape 9"/>
          <p:cNvSpPr/>
          <p:nvPr/>
        </p:nvSpPr>
        <p:spPr>
          <a:xfrm>
            <a:off x="2807208" y="1463040"/>
            <a:ext cx="2057400" cy="932688"/>
          </a:xfrm>
          <a:prstGeom prst="roundRect">
            <a:avLst>
              <a:gd name="adj" fmla="val 9804"/>
            </a:avLst>
          </a:prstGeom>
          <a:solidFill>
            <a:srgbClr val="FFF4E2"/>
          </a:solidFill>
          <a:ln/>
        </p:spPr>
      </p:sp>
      <p:sp>
        <p:nvSpPr>
          <p:cNvPr id="13" name="Text 10"/>
          <p:cNvSpPr txBox="1"/>
          <p:nvPr/>
        </p:nvSpPr>
        <p:spPr>
          <a:xfrm>
            <a:off x="2935224"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14" name="Text 11"/>
          <p:cNvSpPr txBox="1"/>
          <p:nvPr/>
        </p:nvSpPr>
        <p:spPr>
          <a:xfrm>
            <a:off x="2935224"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“아래 사진에서 바로 하트와 + 를 눌러 좋아요 · 구매함에”</a:t>
            </a:r>
            <a:endParaRPr lang="ko-KR" altLang="en-US" sz="1100" dirty="0"/>
          </a:p>
        </p:txBody>
      </p:sp>
      <p:sp>
        <p:nvSpPr>
          <p:cNvPr id="15" name="Shape 12"/>
          <p:cNvSpPr/>
          <p:nvPr/>
        </p:nvSpPr>
        <p:spPr>
          <a:xfrm>
            <a:off x="3093641" y="2560320"/>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16" name="Image 1" descr="C:\Users\Windows11\AppData\Local\Temp\claude\C--Users-Windows11-Desktop-New-folder--2-\a0c8a1d0-32ba-4ae6-9843-b5ebc69d925f\scratchpad\deck2/img/evo_8040d86_home.png">    </p:cNvPr>
          <p:cNvPicPr>
            <a:picLocks noChangeAspect="1"/>
          </p:cNvPicPr>
          <p:nvPr/>
        </p:nvPicPr>
        <p:blipFill>
          <a:blip r:embed="rId2"/>
          <a:stretch>
            <a:fillRect/>
          </a:stretch>
        </p:blipFill>
        <p:spPr>
          <a:xfrm>
            <a:off x="3075353" y="2542032"/>
            <a:ext cx="1521111" cy="3291840"/>
          </a:xfrm>
          <a:prstGeom prst="rect">
            <a:avLst/>
          </a:prstGeom>
        </p:spPr>
      </p:pic>
      <p:sp>
        <p:nvSpPr>
          <p:cNvPr id="17" name="Text 13"/>
          <p:cNvSpPr txBox="1"/>
          <p:nvPr/>
        </p:nvSpPr>
        <p:spPr>
          <a:xfrm>
            <a:off x="2807208"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사진 위 ♡ · + 바로 담기</a:t>
            </a:r>
            <a:endParaRPr lang="ko-KR" altLang="en-US" sz="1200" dirty="0"/>
          </a:p>
        </p:txBody>
      </p:sp>
      <p:sp>
        <p:nvSpPr>
          <p:cNvPr id="18" name="Text 14"/>
          <p:cNvSpPr txBox="1"/>
          <p:nvPr/>
        </p:nvSpPr>
        <p:spPr>
          <a:xfrm>
            <a:off x="2807208"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065f9b2 · 8040d86</a:t>
            </a:r>
            <a:endParaRPr lang="ko-KR" altLang="en-US" sz="900" dirty="0"/>
          </a:p>
        </p:txBody>
      </p:sp>
      <p:sp>
        <p:nvSpPr>
          <p:cNvPr id="19" name="Shape 15"/>
          <p:cNvSpPr/>
          <p:nvPr/>
        </p:nvSpPr>
        <p:spPr>
          <a:xfrm>
            <a:off x="4873752" y="4160520"/>
            <a:ext cx="182880" cy="0"/>
          </a:xfrm>
          <a:prstGeom prst="line">
            <a:avLst/>
          </a:prstGeom>
          <a:noFill/>
          <a:ln w="19050">
            <a:solidFill>
              <a:srgbClr val="1C86D9"/>
            </a:solidFill>
            <a:prstDash val="solid"/>
            <a:tailEnd type="triangle"/>
          </a:ln>
        </p:spPr>
      </p:sp>
      <p:sp>
        <p:nvSpPr>
          <p:cNvPr id="20" name="Shape 16"/>
          <p:cNvSpPr/>
          <p:nvPr/>
        </p:nvSpPr>
        <p:spPr>
          <a:xfrm>
            <a:off x="5065776" y="1463040"/>
            <a:ext cx="2057400" cy="932688"/>
          </a:xfrm>
          <a:prstGeom prst="roundRect">
            <a:avLst>
              <a:gd name="adj" fmla="val 9804"/>
            </a:avLst>
          </a:prstGeom>
          <a:solidFill>
            <a:srgbClr val="FFF4E2"/>
          </a:solidFill>
          <a:ln/>
        </p:spPr>
      </p:sp>
      <p:sp>
        <p:nvSpPr>
          <p:cNvPr id="21" name="Text 17"/>
          <p:cNvSpPr txBox="1"/>
          <p:nvPr/>
        </p:nvSpPr>
        <p:spPr>
          <a:xfrm>
            <a:off x="5193792"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22" name="Text 18"/>
          <p:cNvSpPr txBox="1"/>
          <p:nvPr/>
        </p:nvSpPr>
        <p:spPr>
          <a:xfrm>
            <a:off x="5193792"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“구매함은 색 + 테두리, 좋아요는 색만 · 모을수록 레벨업”</a:t>
            </a:r>
            <a:endParaRPr lang="ko-KR" altLang="en-US" sz="1100" dirty="0"/>
          </a:p>
        </p:txBody>
      </p:sp>
      <p:sp>
        <p:nvSpPr>
          <p:cNvPr id="23" name="Shape 19"/>
          <p:cNvSpPr/>
          <p:nvPr/>
        </p:nvSpPr>
        <p:spPr>
          <a:xfrm>
            <a:off x="5352209" y="2560320"/>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24" name="Image 2" descr="C:\Users\Windows11\AppData\Local\Temp\claude\C--Users-Windows11-Desktop-New-folder--2-\a0c8a1d0-32ba-4ae6-9843-b5ebc69d925f\scratchpad\deck2/img/evo_46a4b56_guide.png">    </p:cNvPr>
          <p:cNvPicPr>
            <a:picLocks noChangeAspect="1"/>
          </p:cNvPicPr>
          <p:nvPr/>
        </p:nvPicPr>
        <p:blipFill>
          <a:blip r:embed="rId3"/>
          <a:stretch>
            <a:fillRect/>
          </a:stretch>
        </p:blipFill>
        <p:spPr>
          <a:xfrm>
            <a:off x="5333921" y="2542032"/>
            <a:ext cx="1521111" cy="3291840"/>
          </a:xfrm>
          <a:prstGeom prst="rect">
            <a:avLst/>
          </a:prstGeom>
        </p:spPr>
      </p:pic>
      <p:sp>
        <p:nvSpPr>
          <p:cNvPr id="25" name="Text 20"/>
          <p:cNvSpPr txBox="1"/>
          <p:nvPr/>
        </p:nvSpPr>
        <p:spPr>
          <a:xfrm>
            <a:off x="5065776"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도감 4단계 + Lv · ? 읽는 법</a:t>
            </a:r>
            <a:endParaRPr lang="ko-KR" altLang="en-US" sz="1200" dirty="0"/>
          </a:p>
        </p:txBody>
      </p:sp>
      <p:sp>
        <p:nvSpPr>
          <p:cNvPr id="26" name="Text 21"/>
          <p:cNvSpPr txBox="1"/>
          <p:nvPr/>
        </p:nvSpPr>
        <p:spPr>
          <a:xfrm>
            <a:off x="5065776"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46a4b56</a:t>
            </a:r>
            <a:endParaRPr lang="ko-KR" altLang="en-US" sz="900" dirty="0"/>
          </a:p>
        </p:txBody>
      </p:sp>
      <p:sp>
        <p:nvSpPr>
          <p:cNvPr id="27" name="Shape 22"/>
          <p:cNvSpPr/>
          <p:nvPr/>
        </p:nvSpPr>
        <p:spPr>
          <a:xfrm>
            <a:off x="7132320" y="4160520"/>
            <a:ext cx="182880" cy="0"/>
          </a:xfrm>
          <a:prstGeom prst="line">
            <a:avLst/>
          </a:prstGeom>
          <a:noFill/>
          <a:ln w="19050">
            <a:solidFill>
              <a:srgbClr val="1C86D9"/>
            </a:solidFill>
            <a:prstDash val="solid"/>
            <a:tailEnd type="triangle"/>
          </a:ln>
        </p:spPr>
      </p:sp>
      <p:sp>
        <p:nvSpPr>
          <p:cNvPr id="28" name="Shape 23"/>
          <p:cNvSpPr/>
          <p:nvPr/>
        </p:nvSpPr>
        <p:spPr>
          <a:xfrm>
            <a:off x="7324344" y="1463040"/>
            <a:ext cx="2057400" cy="932688"/>
          </a:xfrm>
          <a:prstGeom prst="roundRect">
            <a:avLst>
              <a:gd name="adj" fmla="val 9804"/>
            </a:avLst>
          </a:prstGeom>
          <a:solidFill>
            <a:srgbClr val="FFF4E2"/>
          </a:solidFill>
          <a:ln/>
        </p:spPr>
      </p:sp>
      <p:sp>
        <p:nvSpPr>
          <p:cNvPr id="29" name="Text 24"/>
          <p:cNvSpPr txBox="1"/>
          <p:nvPr/>
        </p:nvSpPr>
        <p:spPr>
          <a:xfrm>
            <a:off x="7452360"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30" name="Text 25"/>
          <p:cNvSpPr txBox="1"/>
          <p:nvPr/>
        </p:nvSpPr>
        <p:spPr>
          <a:xfrm>
            <a:off x="7452360"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“홈 사진의 하트 · 담기를 IMDb 캡처처럼 · 3점은 배지로”</a:t>
            </a:r>
            <a:endParaRPr lang="ko-KR" altLang="en-US" sz="1100" dirty="0"/>
          </a:p>
        </p:txBody>
      </p:sp>
      <p:sp>
        <p:nvSpPr>
          <p:cNvPr id="31" name="Shape 26"/>
          <p:cNvSpPr/>
          <p:nvPr/>
        </p:nvSpPr>
        <p:spPr>
          <a:xfrm>
            <a:off x="7610777" y="2560320"/>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32" name="Image 3" descr="C:\Users\Windows11\AppData\Local\Temp\claude\C--Users-Windows11-Desktop-New-folder--2-\a0c8a1d0-32ba-4ae6-9843-b5ebc69d925f\scratchpad\deck2/img/evo_f85eb66_home.png">    </p:cNvPr>
          <p:cNvPicPr>
            <a:picLocks noChangeAspect="1"/>
          </p:cNvPicPr>
          <p:nvPr/>
        </p:nvPicPr>
        <p:blipFill>
          <a:blip r:embed="rId4"/>
          <a:stretch>
            <a:fillRect/>
          </a:stretch>
        </p:blipFill>
        <p:spPr>
          <a:xfrm>
            <a:off x="7592489" y="2542032"/>
            <a:ext cx="1521111" cy="3291840"/>
          </a:xfrm>
          <a:prstGeom prst="rect">
            <a:avLst/>
          </a:prstGeom>
        </p:spPr>
      </p:pic>
      <p:sp>
        <p:nvSpPr>
          <p:cNvPr id="33" name="Text 27"/>
          <p:cNvSpPr txBox="1"/>
          <p:nvPr/>
        </p:nvSpPr>
        <p:spPr>
          <a:xfrm>
            <a:off x="7324344"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IMDb 식 리본 + · ♡</a:t>
            </a:r>
            <a:endParaRPr lang="ko-KR" altLang="en-US" sz="1200" dirty="0"/>
          </a:p>
        </p:txBody>
      </p:sp>
      <p:sp>
        <p:nvSpPr>
          <p:cNvPr id="34" name="Text 28"/>
          <p:cNvSpPr txBox="1"/>
          <p:nvPr/>
        </p:nvSpPr>
        <p:spPr>
          <a:xfrm>
            <a:off x="7324344"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f85eb66</a:t>
            </a:r>
            <a:endParaRPr lang="ko-KR" altLang="en-US" sz="900" dirty="0"/>
          </a:p>
        </p:txBody>
      </p:sp>
      <p:sp>
        <p:nvSpPr>
          <p:cNvPr id="35" name="Shape 29"/>
          <p:cNvSpPr/>
          <p:nvPr/>
        </p:nvSpPr>
        <p:spPr>
          <a:xfrm>
            <a:off x="9390888" y="4160520"/>
            <a:ext cx="182880" cy="0"/>
          </a:xfrm>
          <a:prstGeom prst="line">
            <a:avLst/>
          </a:prstGeom>
          <a:noFill/>
          <a:ln w="19050">
            <a:solidFill>
              <a:srgbClr val="1C86D9"/>
            </a:solidFill>
            <a:prstDash val="solid"/>
            <a:tailEnd type="triangle"/>
          </a:ln>
        </p:spPr>
      </p:sp>
      <p:sp>
        <p:nvSpPr>
          <p:cNvPr id="36" name="Shape 30"/>
          <p:cNvSpPr/>
          <p:nvPr/>
        </p:nvSpPr>
        <p:spPr>
          <a:xfrm>
            <a:off x="9582912" y="1463040"/>
            <a:ext cx="2057400" cy="932688"/>
          </a:xfrm>
          <a:prstGeom prst="roundRect">
            <a:avLst>
              <a:gd name="adj" fmla="val 9804"/>
            </a:avLst>
          </a:prstGeom>
          <a:solidFill>
            <a:srgbClr val="FFF4E2"/>
          </a:solidFill>
          <a:ln/>
        </p:spPr>
      </p:sp>
      <p:sp>
        <p:nvSpPr>
          <p:cNvPr id="37" name="Text 31"/>
          <p:cNvSpPr txBox="1"/>
          <p:nvPr/>
        </p:nvSpPr>
        <p:spPr>
          <a:xfrm>
            <a:off x="9710928"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38" name="Text 32"/>
          <p:cNvSpPr txBox="1"/>
          <p:nvPr/>
        </p:nvSpPr>
        <p:spPr>
          <a:xfrm>
            <a:off x="9710928"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“로고 빼고 AI 지적대로 다 고쳐 — AI: 구매함 모양이 3–4가지”</a:t>
            </a:r>
            <a:endParaRPr lang="ko-KR" altLang="en-US" sz="1100" dirty="0"/>
          </a:p>
        </p:txBody>
      </p:sp>
      <p:sp>
        <p:nvSpPr>
          <p:cNvPr id="39" name="Shape 33"/>
          <p:cNvSpPr/>
          <p:nvPr/>
        </p:nvSpPr>
        <p:spPr>
          <a:xfrm>
            <a:off x="9869345" y="2560320"/>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40" name="Image 4" descr="C:\Users\Windows11\AppData\Local\Temp\claude\C--Users-Windows11-Desktop-New-folder--2-\a0c8a1d0-32ba-4ae6-9843-b5ebc69d925f\scratchpad\deck2/img/guide.png">    </p:cNvPr>
          <p:cNvPicPr>
            <a:picLocks noChangeAspect="1"/>
          </p:cNvPicPr>
          <p:nvPr/>
        </p:nvPicPr>
        <p:blipFill>
          <a:blip r:embed="rId5"/>
          <a:stretch>
            <a:fillRect/>
          </a:stretch>
        </p:blipFill>
        <p:spPr>
          <a:xfrm>
            <a:off x="9851057" y="2542032"/>
            <a:ext cx="1521111" cy="3291840"/>
          </a:xfrm>
          <a:prstGeom prst="rect">
            <a:avLst/>
          </a:prstGeom>
        </p:spPr>
      </p:pic>
      <p:sp>
        <p:nvSpPr>
          <p:cNvPr id="41" name="Text 34"/>
          <p:cNvSpPr txBox="1"/>
          <p:nvPr/>
        </p:nvSpPr>
        <p:spPr>
          <a:xfrm>
            <a:off x="9582912"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 좋아요 · 리본 구매함 통일</a:t>
            </a:r>
            <a:endParaRPr lang="ko-KR" altLang="en-US" sz="1200" dirty="0"/>
          </a:p>
        </p:txBody>
      </p:sp>
      <p:sp>
        <p:nvSpPr>
          <p:cNvPr id="42" name="Text 35"/>
          <p:cNvSpPr txBox="1"/>
          <p:nvPr/>
        </p:nvSpPr>
        <p:spPr>
          <a:xfrm>
            <a:off x="9582912"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AI 반론 수용 · b29785b</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10</a:t>
            </a:fld>
            <a:endParaRPr lang="ko-KR"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4  해결 방법 — 화면이 바뀐 과정 4/4 · 친구 · 내 정보 · 넓은 화면</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친구 · 내 정보 · 넓은 창: QQ처럼 옆 서랍과 반반 화면</a:t>
            </a:r>
            <a:endParaRPr lang="ko-KR" altLang="en-US" sz="2800" dirty="0"/>
          </a:p>
        </p:txBody>
      </p:sp>
      <p:sp>
        <p:nvSpPr>
          <p:cNvPr id="4" name="Shape 2"/>
          <p:cNvSpPr/>
          <p:nvPr/>
        </p:nvSpPr>
        <p:spPr>
          <a:xfrm>
            <a:off x="548640" y="1463040"/>
            <a:ext cx="2057400" cy="932688"/>
          </a:xfrm>
          <a:prstGeom prst="roundRect">
            <a:avLst>
              <a:gd name="adj" fmla="val 9804"/>
            </a:avLst>
          </a:prstGeom>
          <a:solidFill>
            <a:srgbClr val="FFF4E2"/>
          </a:solidFill>
          <a:ln/>
        </p:spPr>
      </p:sp>
      <p:sp>
        <p:nvSpPr>
          <p:cNvPr id="5" name="Text 3"/>
          <p:cNvSpPr txBox="1"/>
          <p:nvPr/>
        </p:nvSpPr>
        <p:spPr>
          <a:xfrm>
            <a:off x="676656"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6" name="Text 4"/>
          <p:cNvSpPr txBox="1"/>
          <p:nvPr/>
        </p:nvSpPr>
        <p:spPr>
          <a:xfrm>
            <a:off x="676656"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“개인 · 예고를 눌렀을 때 화면이 아직 없어”</a:t>
            </a:r>
            <a:endParaRPr lang="ko-KR" altLang="en-US" sz="1100" dirty="0"/>
          </a:p>
        </p:txBody>
      </p:sp>
      <p:sp>
        <p:nvSpPr>
          <p:cNvPr id="7" name="Shape 5"/>
          <p:cNvSpPr/>
          <p:nvPr/>
        </p:nvSpPr>
        <p:spPr>
          <a:xfrm>
            <a:off x="835073" y="2560320"/>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8" name="Image 0" descr="C:\Users\Windows11\AppData\Local\Temp\claude\C--Users-Windows11-Desktop-New-folder--2-\a0c8a1d0-32ba-4ae6-9843-b5ebc69d925f\scratchpad\deck2/img/evo_fcd86a8_profile.png">    </p:cNvPr>
          <p:cNvPicPr>
            <a:picLocks noChangeAspect="1"/>
          </p:cNvPicPr>
          <p:nvPr/>
        </p:nvPicPr>
        <p:blipFill>
          <a:blip r:embed="rId1"/>
          <a:stretch>
            <a:fillRect/>
          </a:stretch>
        </p:blipFill>
        <p:spPr>
          <a:xfrm>
            <a:off x="816785" y="2542032"/>
            <a:ext cx="1521111" cy="3291840"/>
          </a:xfrm>
          <a:prstGeom prst="rect">
            <a:avLst/>
          </a:prstGeom>
        </p:spPr>
      </p:pic>
      <p:sp>
        <p:nvSpPr>
          <p:cNvPr id="9" name="Text 6"/>
          <p:cNvSpPr txBox="1"/>
          <p:nvPr/>
        </p:nvSpPr>
        <p:spPr>
          <a:xfrm>
            <a:off x="548640"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첫 내 정보</a:t>
            </a:r>
            <a:endParaRPr lang="ko-KR" altLang="en-US" sz="1200" dirty="0"/>
          </a:p>
        </p:txBody>
      </p:sp>
      <p:sp>
        <p:nvSpPr>
          <p:cNvPr id="10" name="Text 7"/>
          <p:cNvSpPr txBox="1"/>
          <p:nvPr/>
        </p:nvSpPr>
        <p:spPr>
          <a:xfrm>
            <a:off x="548640"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fcd86a8</a:t>
            </a:r>
            <a:endParaRPr lang="ko-KR" altLang="en-US" sz="900" dirty="0"/>
          </a:p>
        </p:txBody>
      </p:sp>
      <p:sp>
        <p:nvSpPr>
          <p:cNvPr id="11" name="Shape 8"/>
          <p:cNvSpPr/>
          <p:nvPr/>
        </p:nvSpPr>
        <p:spPr>
          <a:xfrm>
            <a:off x="2615184" y="4160520"/>
            <a:ext cx="182880" cy="0"/>
          </a:xfrm>
          <a:prstGeom prst="line">
            <a:avLst/>
          </a:prstGeom>
          <a:noFill/>
          <a:ln w="19050">
            <a:solidFill>
              <a:srgbClr val="1C86D9"/>
            </a:solidFill>
            <a:prstDash val="solid"/>
            <a:tailEnd type="triangle"/>
          </a:ln>
        </p:spPr>
      </p:sp>
      <p:sp>
        <p:nvSpPr>
          <p:cNvPr id="12" name="Shape 9"/>
          <p:cNvSpPr/>
          <p:nvPr/>
        </p:nvSpPr>
        <p:spPr>
          <a:xfrm>
            <a:off x="2807208" y="1463040"/>
            <a:ext cx="2057400" cy="932688"/>
          </a:xfrm>
          <a:prstGeom prst="roundRect">
            <a:avLst>
              <a:gd name="adj" fmla="val 9804"/>
            </a:avLst>
          </a:prstGeom>
          <a:solidFill>
            <a:srgbClr val="FFF4E2"/>
          </a:solidFill>
          <a:ln/>
        </p:spPr>
      </p:sp>
      <p:sp>
        <p:nvSpPr>
          <p:cNvPr id="13" name="Text 10"/>
          <p:cNvSpPr txBox="1"/>
          <p:nvPr/>
        </p:nvSpPr>
        <p:spPr>
          <a:xfrm>
            <a:off x="2935224"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14" name="Text 11"/>
          <p:cNvSpPr txBox="1"/>
          <p:nvPr/>
        </p:nvSpPr>
        <p:spPr>
          <a:xfrm>
            <a:off x="2935224"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“좋아요 · 도감 · 구매함 수, 누르면 이동 · 사진 벽 · 워터마크”</a:t>
            </a:r>
            <a:endParaRPr lang="ko-KR" altLang="en-US" sz="1100" dirty="0"/>
          </a:p>
        </p:txBody>
      </p:sp>
      <p:sp>
        <p:nvSpPr>
          <p:cNvPr id="15" name="Shape 12"/>
          <p:cNvSpPr/>
          <p:nvPr/>
        </p:nvSpPr>
        <p:spPr>
          <a:xfrm>
            <a:off x="3093641" y="2560320"/>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16" name="Image 1" descr="C:\Users\Windows11\AppData\Local\Temp\claude\C--Users-Windows11-Desktop-New-folder--2-\a0c8a1d0-32ba-4ae6-9843-b5ebc69d925f\scratchpad\deck2/img/evo_ba7a5de_profile.png">    </p:cNvPr>
          <p:cNvPicPr>
            <a:picLocks noChangeAspect="1"/>
          </p:cNvPicPr>
          <p:nvPr/>
        </p:nvPicPr>
        <p:blipFill>
          <a:blip r:embed="rId2"/>
          <a:stretch>
            <a:fillRect/>
          </a:stretch>
        </p:blipFill>
        <p:spPr>
          <a:xfrm>
            <a:off x="3075353" y="2542032"/>
            <a:ext cx="1521111" cy="3291840"/>
          </a:xfrm>
          <a:prstGeom prst="rect">
            <a:avLst/>
          </a:prstGeom>
        </p:spPr>
      </p:pic>
      <p:sp>
        <p:nvSpPr>
          <p:cNvPr id="17" name="Text 13"/>
          <p:cNvSpPr txBox="1"/>
          <p:nvPr/>
        </p:nvSpPr>
        <p:spPr>
          <a:xfrm>
            <a:off x="2807208"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숫자 → 이동 · 사진 벽</a:t>
            </a:r>
            <a:endParaRPr lang="ko-KR" altLang="en-US" sz="1200" dirty="0"/>
          </a:p>
        </p:txBody>
      </p:sp>
      <p:sp>
        <p:nvSpPr>
          <p:cNvPr id="18" name="Text 14"/>
          <p:cNvSpPr txBox="1"/>
          <p:nvPr/>
        </p:nvSpPr>
        <p:spPr>
          <a:xfrm>
            <a:off x="2807208"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ba7a5de</a:t>
            </a:r>
            <a:endParaRPr lang="ko-KR" altLang="en-US" sz="900" dirty="0"/>
          </a:p>
        </p:txBody>
      </p:sp>
      <p:sp>
        <p:nvSpPr>
          <p:cNvPr id="19" name="Shape 15"/>
          <p:cNvSpPr/>
          <p:nvPr/>
        </p:nvSpPr>
        <p:spPr>
          <a:xfrm>
            <a:off x="4873752" y="4160520"/>
            <a:ext cx="182880" cy="0"/>
          </a:xfrm>
          <a:prstGeom prst="line">
            <a:avLst/>
          </a:prstGeom>
          <a:noFill/>
          <a:ln w="19050">
            <a:solidFill>
              <a:srgbClr val="1C86D9"/>
            </a:solidFill>
            <a:prstDash val="solid"/>
            <a:tailEnd type="triangle"/>
          </a:ln>
        </p:spPr>
      </p:sp>
      <p:sp>
        <p:nvSpPr>
          <p:cNvPr id="20" name="Shape 16"/>
          <p:cNvSpPr/>
          <p:nvPr/>
        </p:nvSpPr>
        <p:spPr>
          <a:xfrm>
            <a:off x="5065776" y="1463040"/>
            <a:ext cx="2057400" cy="932688"/>
          </a:xfrm>
          <a:prstGeom prst="roundRect">
            <a:avLst>
              <a:gd name="adj" fmla="val 9804"/>
            </a:avLst>
          </a:prstGeom>
          <a:solidFill>
            <a:srgbClr val="FFF4E2"/>
          </a:solidFill>
          <a:ln/>
        </p:spPr>
      </p:sp>
      <p:sp>
        <p:nvSpPr>
          <p:cNvPr id="21" name="Text 17"/>
          <p:cNvSpPr txBox="1"/>
          <p:nvPr/>
        </p:nvSpPr>
        <p:spPr>
          <a:xfrm>
            <a:off x="5193792"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22" name="Text 18"/>
          <p:cNvSpPr txBox="1"/>
          <p:nvPr/>
        </p:nvSpPr>
        <p:spPr>
          <a:xfrm>
            <a:off x="5193792"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“홈에서 왼쪽으로 밀면 친구 화면, 아바타를 또 누르면 내 정보”</a:t>
            </a:r>
            <a:endParaRPr lang="ko-KR" altLang="en-US" sz="1100" dirty="0"/>
          </a:p>
        </p:txBody>
      </p:sp>
      <p:sp>
        <p:nvSpPr>
          <p:cNvPr id="23" name="Shape 19"/>
          <p:cNvSpPr/>
          <p:nvPr/>
        </p:nvSpPr>
        <p:spPr>
          <a:xfrm>
            <a:off x="5352209" y="2560320"/>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24" name="Image 2" descr="C:\Users\Windows11\AppData\Local\Temp\claude\C--Users-Windows11-Desktop-New-folder--2-\a0c8a1d0-32ba-4ae6-9843-b5ebc69d925f\scratchpad\deck2/img/evo_ad41d69_drawer.png">    </p:cNvPr>
          <p:cNvPicPr>
            <a:picLocks noChangeAspect="1"/>
          </p:cNvPicPr>
          <p:nvPr/>
        </p:nvPicPr>
        <p:blipFill>
          <a:blip r:embed="rId3"/>
          <a:stretch>
            <a:fillRect/>
          </a:stretch>
        </p:blipFill>
        <p:spPr>
          <a:xfrm>
            <a:off x="5333921" y="2542032"/>
            <a:ext cx="1521111" cy="3291840"/>
          </a:xfrm>
          <a:prstGeom prst="rect">
            <a:avLst/>
          </a:prstGeom>
        </p:spPr>
      </p:pic>
      <p:sp>
        <p:nvSpPr>
          <p:cNvPr id="25" name="Text 20"/>
          <p:cNvSpPr txBox="1"/>
          <p:nvPr/>
        </p:nvSpPr>
        <p:spPr>
          <a:xfrm>
            <a:off x="5065776"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QQ 식 친구 서랍</a:t>
            </a:r>
            <a:endParaRPr lang="ko-KR" altLang="en-US" sz="1200" dirty="0"/>
          </a:p>
        </p:txBody>
      </p:sp>
      <p:sp>
        <p:nvSpPr>
          <p:cNvPr id="26" name="Text 21"/>
          <p:cNvSpPr txBox="1"/>
          <p:nvPr/>
        </p:nvSpPr>
        <p:spPr>
          <a:xfrm>
            <a:off x="5065776"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fbfbb2c · ad41d69</a:t>
            </a:r>
            <a:endParaRPr lang="ko-KR" altLang="en-US" sz="900" dirty="0"/>
          </a:p>
        </p:txBody>
      </p:sp>
      <p:sp>
        <p:nvSpPr>
          <p:cNvPr id="27" name="Shape 22"/>
          <p:cNvSpPr/>
          <p:nvPr/>
        </p:nvSpPr>
        <p:spPr>
          <a:xfrm>
            <a:off x="7132320" y="4160520"/>
            <a:ext cx="182880" cy="0"/>
          </a:xfrm>
          <a:prstGeom prst="line">
            <a:avLst/>
          </a:prstGeom>
          <a:noFill/>
          <a:ln w="19050">
            <a:solidFill>
              <a:srgbClr val="1C86D9"/>
            </a:solidFill>
            <a:prstDash val="solid"/>
            <a:tailEnd type="triangle"/>
          </a:ln>
        </p:spPr>
      </p:sp>
      <p:sp>
        <p:nvSpPr>
          <p:cNvPr id="28" name="Shape 23"/>
          <p:cNvSpPr/>
          <p:nvPr/>
        </p:nvSpPr>
        <p:spPr>
          <a:xfrm>
            <a:off x="7324344" y="1463040"/>
            <a:ext cx="2057400" cy="932688"/>
          </a:xfrm>
          <a:prstGeom prst="roundRect">
            <a:avLst>
              <a:gd name="adj" fmla="val 9804"/>
            </a:avLst>
          </a:prstGeom>
          <a:solidFill>
            <a:srgbClr val="FFF4E2"/>
          </a:solidFill>
          <a:ln/>
        </p:spPr>
      </p:sp>
      <p:sp>
        <p:nvSpPr>
          <p:cNvPr id="29" name="Text 24"/>
          <p:cNvSpPr txBox="1"/>
          <p:nvPr/>
        </p:nvSpPr>
        <p:spPr>
          <a:xfrm>
            <a:off x="7452360"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30" name="Text 25"/>
          <p:cNvSpPr txBox="1"/>
          <p:nvPr/>
        </p:nvSpPr>
        <p:spPr>
          <a:xfrm>
            <a:off x="7452360"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“화면 비율마다 표시가 깨져”</a:t>
            </a:r>
            <a:endParaRPr lang="ko-KR" altLang="en-US" sz="1100" dirty="0"/>
          </a:p>
        </p:txBody>
      </p:sp>
      <p:sp>
        <p:nvSpPr>
          <p:cNvPr id="31" name="Shape 26"/>
          <p:cNvSpPr/>
          <p:nvPr/>
        </p:nvSpPr>
        <p:spPr>
          <a:xfrm>
            <a:off x="7388352" y="3591878"/>
            <a:ext cx="1929384" cy="1192149"/>
          </a:xfrm>
          <a:prstGeom prst="roundRect">
            <a:avLst>
              <a:gd name="adj" fmla="val 3607"/>
            </a:avLst>
          </a:prstGeom>
          <a:solidFill>
            <a:srgbClr val="FFFFFF"/>
          </a:solidFill>
          <a:ln/>
          <a:effectLst>
            <a:outerShdw sx="100000" sy="100000" kx="0" ky="0" algn="bl" rotWithShape="0" blurRad="228600" dist="76200" dir="5400000">
              <a:srgbClr val="000000">
                <a:alpha val="18000"/>
              </a:srgbClr>
            </a:outerShdw>
          </a:effectLst>
        </p:spPr>
      </p:sp>
      <p:pic>
        <p:nvPicPr>
          <p:cNvPr id="32" name="Image 3" descr="C:\Users\Windows11\AppData\Local\Temp\claude\C--Users-Windows11-Desktop-New-folder--2-\a0c8a1d0-32ba-4ae6-9843-b5ebc69d925f\scratchpad\deck2/img/evo_f08fffb_wide.png">    </p:cNvPr>
          <p:cNvPicPr>
            <a:picLocks noChangeAspect="1"/>
          </p:cNvPicPr>
          <p:nvPr/>
        </p:nvPicPr>
        <p:blipFill>
          <a:blip r:embed="rId4"/>
          <a:stretch>
            <a:fillRect/>
          </a:stretch>
        </p:blipFill>
        <p:spPr>
          <a:xfrm>
            <a:off x="7370064" y="3573590"/>
            <a:ext cx="1965960" cy="1228725"/>
          </a:xfrm>
          <a:prstGeom prst="rect">
            <a:avLst/>
          </a:prstGeom>
        </p:spPr>
      </p:pic>
      <p:sp>
        <p:nvSpPr>
          <p:cNvPr id="33" name="Text 27"/>
          <p:cNvSpPr txBox="1"/>
          <p:nvPr/>
        </p:nvSpPr>
        <p:spPr>
          <a:xfrm>
            <a:off x="7324344"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넓은 창: 늘린 폰 화면</a:t>
            </a:r>
            <a:endParaRPr lang="ko-KR" altLang="en-US" sz="1200" dirty="0"/>
          </a:p>
        </p:txBody>
      </p:sp>
      <p:sp>
        <p:nvSpPr>
          <p:cNvPr id="34" name="Text 28"/>
          <p:cNvSpPr txBox="1"/>
          <p:nvPr/>
        </p:nvSpPr>
        <p:spPr>
          <a:xfrm>
            <a:off x="7324344"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f08fffb</a:t>
            </a:r>
            <a:endParaRPr lang="ko-KR" altLang="en-US" sz="900" dirty="0"/>
          </a:p>
        </p:txBody>
      </p:sp>
      <p:sp>
        <p:nvSpPr>
          <p:cNvPr id="35" name="Shape 29"/>
          <p:cNvSpPr/>
          <p:nvPr/>
        </p:nvSpPr>
        <p:spPr>
          <a:xfrm>
            <a:off x="9390888" y="4160520"/>
            <a:ext cx="182880" cy="0"/>
          </a:xfrm>
          <a:prstGeom prst="line">
            <a:avLst/>
          </a:prstGeom>
          <a:noFill/>
          <a:ln w="19050">
            <a:solidFill>
              <a:srgbClr val="1C86D9"/>
            </a:solidFill>
            <a:prstDash val="solid"/>
            <a:tailEnd type="triangle"/>
          </a:ln>
        </p:spPr>
      </p:sp>
      <p:sp>
        <p:nvSpPr>
          <p:cNvPr id="36" name="Shape 30"/>
          <p:cNvSpPr/>
          <p:nvPr/>
        </p:nvSpPr>
        <p:spPr>
          <a:xfrm>
            <a:off x="9582912" y="1463040"/>
            <a:ext cx="2057400" cy="932688"/>
          </a:xfrm>
          <a:prstGeom prst="roundRect">
            <a:avLst>
              <a:gd name="adj" fmla="val 9804"/>
            </a:avLst>
          </a:prstGeom>
          <a:solidFill>
            <a:srgbClr val="FFF4E2"/>
          </a:solidFill>
          <a:ln/>
        </p:spPr>
      </p:sp>
      <p:sp>
        <p:nvSpPr>
          <p:cNvPr id="37" name="Text 31"/>
          <p:cNvSpPr txBox="1"/>
          <p:nvPr/>
        </p:nvSpPr>
        <p:spPr>
          <a:xfrm>
            <a:off x="9710928"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38" name="Text 32"/>
          <p:cNvSpPr txBox="1"/>
          <p:nvPr/>
        </p:nvSpPr>
        <p:spPr>
          <a:xfrm>
            <a:off x="9710928"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“삼성 폴드처럼 반반 — QQ처럼, 분할부터 해 줘”</a:t>
            </a:r>
            <a:endParaRPr lang="ko-KR" altLang="en-US" sz="1100" dirty="0"/>
          </a:p>
        </p:txBody>
      </p:sp>
      <p:sp>
        <p:nvSpPr>
          <p:cNvPr id="39" name="Shape 33"/>
          <p:cNvSpPr/>
          <p:nvPr/>
        </p:nvSpPr>
        <p:spPr>
          <a:xfrm>
            <a:off x="9646920" y="3389064"/>
            <a:ext cx="1929384" cy="1597776"/>
          </a:xfrm>
          <a:prstGeom prst="roundRect">
            <a:avLst>
              <a:gd name="adj" fmla="val 3580"/>
            </a:avLst>
          </a:prstGeom>
          <a:solidFill>
            <a:srgbClr val="FFFFFF"/>
          </a:solidFill>
          <a:ln/>
          <a:effectLst>
            <a:outerShdw sx="100000" sy="100000" kx="0" ky="0" algn="bl" rotWithShape="0" blurRad="228600" dist="76200" dir="5400000">
              <a:srgbClr val="000000">
                <a:alpha val="18000"/>
              </a:srgbClr>
            </a:outerShdw>
          </a:effectLst>
        </p:spPr>
      </p:sp>
      <p:pic>
        <p:nvPicPr>
          <p:cNvPr id="40" name="Image 4" descr="C:\Users\Windows11\AppData\Local\Temp\claude\C--Users-Windows11-Desktop-New-folder--2-\a0c8a1d0-32ba-4ae6-9843-b5ebc69d925f\scratchpad\deck2/img/fold.png">    </p:cNvPr>
          <p:cNvPicPr>
            <a:picLocks noChangeAspect="1"/>
          </p:cNvPicPr>
          <p:nvPr/>
        </p:nvPicPr>
        <p:blipFill>
          <a:blip r:embed="rId5"/>
          <a:stretch>
            <a:fillRect/>
          </a:stretch>
        </p:blipFill>
        <p:spPr>
          <a:xfrm>
            <a:off x="9628632" y="3370776"/>
            <a:ext cx="1965960" cy="1634352"/>
          </a:xfrm>
          <a:prstGeom prst="rect">
            <a:avLst/>
          </a:prstGeom>
        </p:spPr>
      </p:pic>
      <p:sp>
        <p:nvSpPr>
          <p:cNvPr id="41" name="Text 34"/>
          <p:cNvSpPr txBox="1"/>
          <p:nvPr/>
        </p:nvSpPr>
        <p:spPr>
          <a:xfrm>
            <a:off x="9582912"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반반 화면 · 지금</a:t>
            </a:r>
            <a:endParaRPr lang="ko-KR" altLang="en-US" sz="1200" dirty="0"/>
          </a:p>
        </p:txBody>
      </p:sp>
      <p:sp>
        <p:nvSpPr>
          <p:cNvPr id="42" name="Text 35"/>
          <p:cNvSpPr txBox="1"/>
          <p:nvPr/>
        </p:nvSpPr>
        <p:spPr>
          <a:xfrm>
            <a:off x="9582912"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f7ed455 → 최종</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11</a:t>
            </a:fld>
            <a:endParaRPr lang="ko-KR"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5  셀프 논증 — AI 반론으로 다진 UX/UI 결정</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AI에게 반론을 요청하고, 받아들이거나 버렸다</a:t>
            </a:r>
            <a:endParaRPr lang="ko-KR" altLang="en-US" sz="2800" dirty="0"/>
          </a:p>
        </p:txBody>
      </p:sp>
      <p:sp>
        <p:nvSpPr>
          <p:cNvPr id="4" name="Shape 2"/>
          <p:cNvSpPr/>
          <p:nvPr/>
        </p:nvSpPr>
        <p:spPr>
          <a:xfrm>
            <a:off x="548640" y="1481328"/>
            <a:ext cx="5440680" cy="4617720"/>
          </a:xfrm>
          <a:prstGeom prst="roundRect">
            <a:avLst>
              <a:gd name="adj" fmla="val 3168"/>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 name="Shape 3"/>
          <p:cNvSpPr/>
          <p:nvPr/>
        </p:nvSpPr>
        <p:spPr>
          <a:xfrm>
            <a:off x="777240" y="1664208"/>
            <a:ext cx="2377440" cy="292608"/>
          </a:xfrm>
          <a:prstGeom prst="roundRect">
            <a:avLst>
              <a:gd name="adj" fmla="val 50000"/>
            </a:avLst>
          </a:prstGeom>
          <a:solidFill>
            <a:srgbClr val="12A07F"/>
          </a:solidFill>
          <a:ln/>
        </p:spPr>
      </p:sp>
      <p:sp>
        <p:nvSpPr>
          <p:cNvPr id="6" name="Text 4"/>
          <p:cNvSpPr txBox="1"/>
          <p:nvPr/>
        </p:nvSpPr>
        <p:spPr>
          <a:xfrm>
            <a:off x="777240" y="1664208"/>
            <a:ext cx="2377440"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쟁점 1 · 결론: 수정</a:t>
            </a:r>
            <a:endParaRPr lang="ko-KR" altLang="en-US" sz="1050" dirty="0"/>
          </a:p>
        </p:txBody>
      </p:sp>
      <p:sp>
        <p:nvSpPr>
          <p:cNvPr id="7" name="Text 5"/>
          <p:cNvSpPr txBox="1"/>
          <p:nvPr/>
        </p:nvSpPr>
        <p:spPr>
          <a:xfrm>
            <a:off x="3291840" y="1664208"/>
            <a:ext cx="2560320" cy="292608"/>
          </a:xfrm>
          <a:prstGeom prst="rect">
            <a:avLst/>
          </a:prstGeom>
          <a:noFill/>
          <a:ln/>
        </p:spPr>
        <p:txBody>
          <a:bodyPr wrap="square" lIns="0" tIns="0" rIns="0" bIns="0" rtlCol="0" anchor="ctr"/>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좋아요 · 구매함을 어떤 모양으로?</a:t>
            </a:r>
            <a:endParaRPr lang="ko-KR" altLang="en-US" sz="1100" dirty="0"/>
          </a:p>
        </p:txBody>
      </p:sp>
      <p:sp>
        <p:nvSpPr>
          <p:cNvPr id="8" name="Shape 6"/>
          <p:cNvSpPr/>
          <p:nvPr/>
        </p:nvSpPr>
        <p:spPr>
          <a:xfrm>
            <a:off x="1783080" y="2148840"/>
            <a:ext cx="3977640" cy="868680"/>
          </a:xfrm>
          <a:prstGeom prst="roundRect">
            <a:avLst>
              <a:gd name="adj" fmla="val 14737"/>
            </a:avLst>
          </a:prstGeom>
          <a:solidFill>
            <a:srgbClr val="1C86D9"/>
          </a:solidFill>
          <a:ln/>
        </p:spPr>
      </p:sp>
      <p:sp>
        <p:nvSpPr>
          <p:cNvPr id="9" name="Text 7"/>
          <p:cNvSpPr txBox="1"/>
          <p:nvPr/>
        </p:nvSpPr>
        <p:spPr>
          <a:xfrm>
            <a:off x="1947672" y="2212848"/>
            <a:ext cx="3648456" cy="201168"/>
          </a:xfrm>
          <a:prstGeom prst="rect">
            <a:avLst/>
          </a:prstGeom>
          <a:noFill/>
          <a:ln/>
        </p:spPr>
        <p:txBody>
          <a:bodyPr wrap="square" lIns="0" tIns="0" rIns="0" bIns="0" rtlCol="0" anchor="t"/>
          <a:lstStyle/>
          <a:p>
            <a:pPr indent="0" marL="0">
              <a:buNone/>
            </a:pPr>
            <a:r>
              <a:rPr lang="ko-KR" altLang="en-US" sz="950" b="1" dirty="0">
                <a:solidFill>
                  <a:srgbClr val="CFE5F7"/>
                </a:solidFill>
                <a:latin typeface="Malgun Gothic" pitchFamily="34" charset="0"/>
                <a:ea typeface="Malgun Gothic" pitchFamily="34" charset="-122"/>
                <a:cs typeface="Malgun Gothic" pitchFamily="34" charset="-120"/>
              </a:rPr>
              <a:t>나 — 처음 주장</a:t>
            </a:r>
            <a:endParaRPr lang="ko-KR" altLang="en-US" sz="950" dirty="0"/>
          </a:p>
        </p:txBody>
      </p:sp>
      <p:sp>
        <p:nvSpPr>
          <p:cNvPr id="10" name="Text 8"/>
          <p:cNvSpPr txBox="1"/>
          <p:nvPr/>
        </p:nvSpPr>
        <p:spPr>
          <a:xfrm>
            <a:off x="1947672" y="2414016"/>
            <a:ext cx="3648456" cy="557784"/>
          </a:xfrm>
          <a:prstGeom prst="rect">
            <a:avLst/>
          </a:prstGeom>
          <a:noFill/>
          <a:ln/>
        </p:spPr>
        <p:txBody>
          <a:bodyPr wrap="square" lIns="0" tIns="0" rIns="0" bIns="0" rtlCol="0" anchor="t"/>
          <a:lstStyle/>
          <a:p>
            <a:pPr indent="0" marL="0">
              <a:buNone/>
            </a:pPr>
            <a:r>
              <a:rPr lang="ko-KR" altLang="en-US" sz="1200" b="1" dirty="0">
                <a:solidFill>
                  <a:srgbClr val="FFFFFF"/>
                </a:solidFill>
                <a:latin typeface="Malgun Gothic" pitchFamily="34" charset="0"/>
                <a:ea typeface="Malgun Gothic" pitchFamily="34" charset="-122"/>
                <a:cs typeface="Malgun Gothic" pitchFamily="34" charset="-120"/>
              </a:rPr>
              <a:t>자리마다 맞는 모양 — 사진 위엔 리본, 도감엔 동그라미, 상세엔 큰 버튼</a:t>
            </a:r>
            <a:endParaRPr lang="ko-KR" altLang="en-US" sz="1200" dirty="0"/>
          </a:p>
        </p:txBody>
      </p:sp>
      <p:sp>
        <p:nvSpPr>
          <p:cNvPr id="11" name="Shape 9"/>
          <p:cNvSpPr/>
          <p:nvPr/>
        </p:nvSpPr>
        <p:spPr>
          <a:xfrm>
            <a:off x="777240" y="3154680"/>
            <a:ext cx="3977640" cy="868680"/>
          </a:xfrm>
          <a:prstGeom prst="roundRect">
            <a:avLst>
              <a:gd name="adj" fmla="val 14737"/>
            </a:avLst>
          </a:prstGeom>
          <a:solidFill>
            <a:srgbClr val="F4F5F7"/>
          </a:solidFill>
          <a:ln/>
        </p:spPr>
      </p:sp>
      <p:sp>
        <p:nvSpPr>
          <p:cNvPr id="12" name="Text 10"/>
          <p:cNvSpPr txBox="1"/>
          <p:nvPr/>
        </p:nvSpPr>
        <p:spPr>
          <a:xfrm>
            <a:off x="941832" y="3218688"/>
            <a:ext cx="3648456" cy="201168"/>
          </a:xfrm>
          <a:prstGeom prst="rect">
            <a:avLst/>
          </a:prstGeom>
          <a:noFill/>
          <a:ln/>
        </p:spPr>
        <p:txBody>
          <a:bodyPr wrap="square" lIns="0" tIns="0" rIns="0" bIns="0" rtlCol="0" anchor="t"/>
          <a:lstStyle/>
          <a:p>
            <a:pPr indent="0" marL="0">
              <a:buNone/>
            </a:pPr>
            <a:r>
              <a:rPr lang="ko-KR" altLang="en-US" sz="950" b="1" dirty="0">
                <a:solidFill>
                  <a:srgbClr val="6B7078"/>
                </a:solidFill>
                <a:latin typeface="Malgun Gothic" pitchFamily="34" charset="0"/>
                <a:ea typeface="Malgun Gothic" pitchFamily="34" charset="-122"/>
                <a:cs typeface="Malgun Gothic" pitchFamily="34" charset="-120"/>
              </a:rPr>
              <a:t>AI — 내 질문 "UI 설계에 아직 어떤 문제가 있다고 생각해?"</a:t>
            </a:r>
            <a:endParaRPr lang="ko-KR" altLang="en-US" sz="950" dirty="0"/>
          </a:p>
        </p:txBody>
      </p:sp>
      <p:sp>
        <p:nvSpPr>
          <p:cNvPr id="13" name="Text 11"/>
          <p:cNvSpPr txBox="1"/>
          <p:nvPr/>
        </p:nvSpPr>
        <p:spPr>
          <a:xfrm>
            <a:off x="941832" y="3419856"/>
            <a:ext cx="3648456" cy="557784"/>
          </a:xfrm>
          <a:prstGeom prst="rect">
            <a:avLst/>
          </a:prstGeom>
          <a:noFill/>
          <a:ln/>
        </p:spPr>
        <p:txBody>
          <a:bodyPr wrap="square" lIns="0" tIns="0" rIns="0" bIns="0" rtlCol="0" anchor="t"/>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같은 "구매함"이 3–4가지 모양 → 일관성(P04) 위반</a:t>
            </a:r>
            <a:endParaRPr lang="ko-KR" altLang="en-US" sz="1200" dirty="0"/>
          </a:p>
        </p:txBody>
      </p:sp>
      <p:sp>
        <p:nvSpPr>
          <p:cNvPr id="14" name="Shape 12"/>
          <p:cNvSpPr/>
          <p:nvPr/>
        </p:nvSpPr>
        <p:spPr>
          <a:xfrm>
            <a:off x="1783080" y="4160520"/>
            <a:ext cx="3977640" cy="868680"/>
          </a:xfrm>
          <a:prstGeom prst="roundRect">
            <a:avLst>
              <a:gd name="adj" fmla="val 14737"/>
            </a:avLst>
          </a:prstGeom>
          <a:solidFill>
            <a:srgbClr val="1C86D9"/>
          </a:solidFill>
          <a:ln/>
        </p:spPr>
      </p:sp>
      <p:sp>
        <p:nvSpPr>
          <p:cNvPr id="15" name="Text 13"/>
          <p:cNvSpPr txBox="1"/>
          <p:nvPr/>
        </p:nvSpPr>
        <p:spPr>
          <a:xfrm>
            <a:off x="1947672" y="4224528"/>
            <a:ext cx="3648456" cy="201168"/>
          </a:xfrm>
          <a:prstGeom prst="rect">
            <a:avLst/>
          </a:prstGeom>
          <a:noFill/>
          <a:ln/>
        </p:spPr>
        <p:txBody>
          <a:bodyPr wrap="square" lIns="0" tIns="0" rIns="0" bIns="0" rtlCol="0" anchor="t"/>
          <a:lstStyle/>
          <a:p>
            <a:pPr indent="0" marL="0">
              <a:buNone/>
            </a:pPr>
            <a:r>
              <a:rPr lang="ko-KR" altLang="en-US" sz="950" b="1" dirty="0">
                <a:solidFill>
                  <a:srgbClr val="CFE5F7"/>
                </a:solidFill>
                <a:latin typeface="Malgun Gothic" pitchFamily="34" charset="0"/>
                <a:ea typeface="Malgun Gothic" pitchFamily="34" charset="-122"/>
                <a:cs typeface="Malgun Gothic" pitchFamily="34" charset="-120"/>
              </a:rPr>
              <a:t>나 — 결정</a:t>
            </a:r>
            <a:endParaRPr lang="ko-KR" altLang="en-US" sz="950" dirty="0"/>
          </a:p>
        </p:txBody>
      </p:sp>
      <p:sp>
        <p:nvSpPr>
          <p:cNvPr id="16" name="Text 14"/>
          <p:cNvSpPr txBox="1"/>
          <p:nvPr/>
        </p:nvSpPr>
        <p:spPr>
          <a:xfrm>
            <a:off x="1947672" y="4425696"/>
            <a:ext cx="3648456" cy="557784"/>
          </a:xfrm>
          <a:prstGeom prst="rect">
            <a:avLst/>
          </a:prstGeom>
          <a:noFill/>
          <a:ln/>
        </p:spPr>
        <p:txBody>
          <a:bodyPr wrap="square" lIns="0" tIns="0" rIns="0" bIns="0" rtlCol="0" anchor="t"/>
          <a:lstStyle/>
          <a:p>
            <a:pPr indent="0" marL="0">
              <a:buNone/>
            </a:pPr>
            <a:r>
              <a:rPr lang="ko-KR" altLang="en-US" sz="1200" b="1" dirty="0">
                <a:solidFill>
                  <a:srgbClr val="FFFFFF"/>
                </a:solidFill>
                <a:latin typeface="Malgun Gothic" pitchFamily="34" charset="0"/>
                <a:ea typeface="Malgun Gothic" pitchFamily="34" charset="-122"/>
                <a:cs typeface="Malgun Gothic" pitchFamily="34" charset="-120"/>
              </a:rPr>
              <a:t>"로고만 빼고 나머지는 네 말대로" → ♡ = 좋아요, 리본 = 구매함 하나로</a:t>
            </a:r>
            <a:endParaRPr lang="ko-KR" altLang="en-US" sz="1200" dirty="0"/>
          </a:p>
        </p:txBody>
      </p:sp>
      <p:sp>
        <p:nvSpPr>
          <p:cNvPr id="17" name="Text 15"/>
          <p:cNvSpPr txBox="1"/>
          <p:nvPr/>
        </p:nvSpPr>
        <p:spPr>
          <a:xfrm>
            <a:off x="777240" y="5166360"/>
            <a:ext cx="5029200" cy="822960"/>
          </a:xfrm>
          <a:prstGeom prst="rect">
            <a:avLst/>
          </a:prstGeom>
          <a:noFill/>
          <a:ln/>
        </p:spPr>
        <p:txBody>
          <a:bodyPr wrap="square" lIns="0" tIns="0" rIns="0" bIns="0" rtlCol="0" anchor="t"/>
          <a:lstStyle/>
          <a:p>
            <a:pPr indent="0" marL="0">
              <a:buNone/>
            </a:pPr>
            <a:r>
              <a:rPr lang="ko-KR" altLang="en-US" sz="1100" b="1" dirty="0">
                <a:solidFill>
                  <a:srgbClr val="12A07F"/>
                </a:solidFill>
                <a:latin typeface="Malgun Gothic" pitchFamily="34" charset="0"/>
                <a:ea typeface="Malgun Gothic" pitchFamily="34" charset="-122"/>
                <a:cs typeface="Malgun Gothic" pitchFamily="34" charset="-120"/>
              </a:rPr>
              <a:t>근거  </a:t>
            </a:r>
            <a:pPr indent="0" marL="0">
              <a:buNone/>
            </a:pPr>
            <a:r>
              <a:rPr lang="ko-KR" altLang="en-US" sz="1100" dirty="0">
                <a:solidFill>
                  <a:srgbClr val="3D4148"/>
                </a:solidFill>
                <a:latin typeface="Malgun Gothic" pitchFamily="34" charset="0"/>
                <a:ea typeface="Malgun Gothic" pitchFamily="34" charset="-122"/>
                <a:cs typeface="Malgun Gothic" pitchFamily="34" charset="-120"/>
              </a:rPr>
              <a:t>P04 일관성 · 리뷰 "쇼케이스와 컬렉션 차이를 모르겠다"</a:t>
            </a:r>
            <a:endParaRPr lang="ko-KR" altLang="en-US" sz="1100" dirty="0"/>
          </a:p>
          <a:p>
            <a:pPr indent="0" marL="0">
              <a:buNone/>
            </a:pPr>
            <a:r>
              <a:rPr lang="ko-KR" altLang="en-US" sz="1100" dirty="0">
                <a:solidFill>
                  <a:srgbClr val="1C86D9"/>
                </a:solidFill>
                <a:latin typeface="Malgun Gothic" pitchFamily="34" charset="0"/>
                <a:ea typeface="Malgun Gothic" pitchFamily="34" charset="-122"/>
                <a:cs typeface="Malgun Gothic" pitchFamily="34" charset="-120"/>
              </a:rPr>
              <a:t>화면 변화 → 10장</a:t>
            </a:r>
            <a:endParaRPr lang="ko-KR" altLang="en-US" sz="1100" dirty="0"/>
          </a:p>
        </p:txBody>
      </p:sp>
      <p:sp>
        <p:nvSpPr>
          <p:cNvPr id="18" name="Shape 16"/>
          <p:cNvSpPr/>
          <p:nvPr/>
        </p:nvSpPr>
        <p:spPr>
          <a:xfrm>
            <a:off x="6199632" y="1481328"/>
            <a:ext cx="5440680" cy="4617720"/>
          </a:xfrm>
          <a:prstGeom prst="roundRect">
            <a:avLst>
              <a:gd name="adj" fmla="val 3168"/>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9" name="Shape 17"/>
          <p:cNvSpPr/>
          <p:nvPr/>
        </p:nvSpPr>
        <p:spPr>
          <a:xfrm>
            <a:off x="6428232" y="1664208"/>
            <a:ext cx="2377440" cy="292608"/>
          </a:xfrm>
          <a:prstGeom prst="roundRect">
            <a:avLst>
              <a:gd name="adj" fmla="val 50000"/>
            </a:avLst>
          </a:prstGeom>
          <a:solidFill>
            <a:srgbClr val="D93F44"/>
          </a:solidFill>
          <a:ln/>
        </p:spPr>
      </p:sp>
      <p:sp>
        <p:nvSpPr>
          <p:cNvPr id="20" name="Text 18"/>
          <p:cNvSpPr txBox="1"/>
          <p:nvPr/>
        </p:nvSpPr>
        <p:spPr>
          <a:xfrm>
            <a:off x="6428232" y="1664208"/>
            <a:ext cx="2377440"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쟁점 6 · AI 제안을 폐기</a:t>
            </a:r>
            <a:endParaRPr lang="ko-KR" altLang="en-US" sz="1050" dirty="0"/>
          </a:p>
        </p:txBody>
      </p:sp>
      <p:sp>
        <p:nvSpPr>
          <p:cNvPr id="21" name="Shape 19"/>
          <p:cNvSpPr/>
          <p:nvPr/>
        </p:nvSpPr>
        <p:spPr>
          <a:xfrm>
            <a:off x="6428232" y="2148840"/>
            <a:ext cx="3977640" cy="731520"/>
          </a:xfrm>
          <a:prstGeom prst="roundRect">
            <a:avLst>
              <a:gd name="adj" fmla="val 17500"/>
            </a:avLst>
          </a:prstGeom>
          <a:solidFill>
            <a:srgbClr val="F4F5F7"/>
          </a:solidFill>
          <a:ln/>
        </p:spPr>
      </p:sp>
      <p:sp>
        <p:nvSpPr>
          <p:cNvPr id="22" name="Text 20"/>
          <p:cNvSpPr txBox="1"/>
          <p:nvPr/>
        </p:nvSpPr>
        <p:spPr>
          <a:xfrm>
            <a:off x="6592824" y="2212848"/>
            <a:ext cx="3648456" cy="201168"/>
          </a:xfrm>
          <a:prstGeom prst="rect">
            <a:avLst/>
          </a:prstGeom>
          <a:noFill/>
          <a:ln/>
        </p:spPr>
        <p:txBody>
          <a:bodyPr wrap="square" lIns="0" tIns="0" rIns="0" bIns="0" rtlCol="0" anchor="t"/>
          <a:lstStyle/>
          <a:p>
            <a:pPr indent="0" marL="0">
              <a:buNone/>
            </a:pPr>
            <a:r>
              <a:rPr lang="ko-KR" altLang="en-US" sz="950" b="1" dirty="0">
                <a:solidFill>
                  <a:srgbClr val="6B7078"/>
                </a:solidFill>
                <a:latin typeface="Malgun Gothic" pitchFamily="34" charset="0"/>
                <a:ea typeface="Malgun Gothic" pitchFamily="34" charset="-122"/>
                <a:cs typeface="Malgun Gothic" pitchFamily="34" charset="-120"/>
              </a:rPr>
              <a:t>AI — 제안</a:t>
            </a:r>
            <a:endParaRPr lang="ko-KR" altLang="en-US" sz="950" dirty="0"/>
          </a:p>
        </p:txBody>
      </p:sp>
      <p:sp>
        <p:nvSpPr>
          <p:cNvPr id="23" name="Text 21"/>
          <p:cNvSpPr txBox="1"/>
          <p:nvPr/>
        </p:nvSpPr>
        <p:spPr>
          <a:xfrm>
            <a:off x="6592824" y="2414016"/>
            <a:ext cx="3648456" cy="420624"/>
          </a:xfrm>
          <a:prstGeom prst="rect">
            <a:avLst/>
          </a:prstGeom>
          <a:noFill/>
          <a:ln/>
        </p:spPr>
        <p:txBody>
          <a:bodyPr wrap="square" lIns="0" tIns="0" rIns="0" bIns="0" rtlCol="0" anchor="t"/>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전체 목록은 새 화면으로, 좋아요 · 구매함 상태로 거르자</a:t>
            </a:r>
            <a:endParaRPr lang="ko-KR" altLang="en-US" sz="1200" dirty="0"/>
          </a:p>
        </p:txBody>
      </p:sp>
      <p:sp>
        <p:nvSpPr>
          <p:cNvPr id="24" name="Shape 22"/>
          <p:cNvSpPr/>
          <p:nvPr/>
        </p:nvSpPr>
        <p:spPr>
          <a:xfrm>
            <a:off x="7434072" y="3017520"/>
            <a:ext cx="3977640" cy="868680"/>
          </a:xfrm>
          <a:prstGeom prst="roundRect">
            <a:avLst>
              <a:gd name="adj" fmla="val 14737"/>
            </a:avLst>
          </a:prstGeom>
          <a:solidFill>
            <a:srgbClr val="1C86D9"/>
          </a:solidFill>
          <a:ln/>
        </p:spPr>
      </p:sp>
      <p:sp>
        <p:nvSpPr>
          <p:cNvPr id="25" name="Text 23"/>
          <p:cNvSpPr txBox="1"/>
          <p:nvPr/>
        </p:nvSpPr>
        <p:spPr>
          <a:xfrm>
            <a:off x="7598664" y="3081528"/>
            <a:ext cx="3648456" cy="201168"/>
          </a:xfrm>
          <a:prstGeom prst="rect">
            <a:avLst/>
          </a:prstGeom>
          <a:noFill/>
          <a:ln/>
        </p:spPr>
        <p:txBody>
          <a:bodyPr wrap="square" lIns="0" tIns="0" rIns="0" bIns="0" rtlCol="0" anchor="t"/>
          <a:lstStyle/>
          <a:p>
            <a:pPr indent="0" marL="0">
              <a:buNone/>
            </a:pPr>
            <a:r>
              <a:rPr lang="ko-KR" altLang="en-US" sz="950" b="1" dirty="0">
                <a:solidFill>
                  <a:srgbClr val="CFE5F7"/>
                </a:solidFill>
                <a:latin typeface="Malgun Gothic" pitchFamily="34" charset="0"/>
                <a:ea typeface="Malgun Gothic" pitchFamily="34" charset="-122"/>
                <a:cs typeface="Malgun Gothic" pitchFamily="34" charset="-120"/>
              </a:rPr>
              <a:t>나 — 반론</a:t>
            </a:r>
            <a:endParaRPr lang="ko-KR" altLang="en-US" sz="950" dirty="0"/>
          </a:p>
        </p:txBody>
      </p:sp>
      <p:sp>
        <p:nvSpPr>
          <p:cNvPr id="26" name="Text 24"/>
          <p:cNvSpPr txBox="1"/>
          <p:nvPr/>
        </p:nvSpPr>
        <p:spPr>
          <a:xfrm>
            <a:off x="7598664" y="3282696"/>
            <a:ext cx="3648456" cy="557784"/>
          </a:xfrm>
          <a:prstGeom prst="rect">
            <a:avLst/>
          </a:prstGeom>
          <a:noFill/>
          <a:ln/>
        </p:spPr>
        <p:txBody>
          <a:bodyPr wrap="square" lIns="0" tIns="0" rIns="0" bIns="0" rtlCol="0" anchor="t"/>
          <a:lstStyle/>
          <a:p>
            <a:pPr indent="0" marL="0">
              <a:buNone/>
            </a:pPr>
            <a:r>
              <a:rPr lang="ko-KR" altLang="en-US" sz="1200" b="1" dirty="0">
                <a:solidFill>
                  <a:srgbClr val="FFFFFF"/>
                </a:solidFill>
                <a:latin typeface="Malgun Gothic" pitchFamily="34" charset="0"/>
                <a:ea typeface="Malgun Gothic" pitchFamily="34" charset="-122"/>
                <a:cs typeface="Malgun Gothic" pitchFamily="34" charset="-120"/>
              </a:rPr>
              <a:t>"아니, 이 화면 아래에. 분류는 좋아요 · 원함이 아니라 작품별로" · "알약은 너무 못생겼어"</a:t>
            </a:r>
            <a:endParaRPr lang="ko-KR" altLang="en-US" sz="1200" dirty="0"/>
          </a:p>
        </p:txBody>
      </p:sp>
      <p:sp>
        <p:nvSpPr>
          <p:cNvPr id="27" name="Shape 25"/>
          <p:cNvSpPr/>
          <p:nvPr/>
        </p:nvSpPr>
        <p:spPr>
          <a:xfrm>
            <a:off x="6428232" y="4023360"/>
            <a:ext cx="3977640" cy="731520"/>
          </a:xfrm>
          <a:prstGeom prst="roundRect">
            <a:avLst>
              <a:gd name="adj" fmla="val 17500"/>
            </a:avLst>
          </a:prstGeom>
          <a:solidFill>
            <a:srgbClr val="F4F5F7"/>
          </a:solidFill>
          <a:ln/>
        </p:spPr>
      </p:sp>
      <p:sp>
        <p:nvSpPr>
          <p:cNvPr id="28" name="Text 26"/>
          <p:cNvSpPr txBox="1"/>
          <p:nvPr/>
        </p:nvSpPr>
        <p:spPr>
          <a:xfrm>
            <a:off x="6592824" y="4087368"/>
            <a:ext cx="3648456" cy="201168"/>
          </a:xfrm>
          <a:prstGeom prst="rect">
            <a:avLst/>
          </a:prstGeom>
          <a:noFill/>
          <a:ln/>
        </p:spPr>
        <p:txBody>
          <a:bodyPr wrap="square" lIns="0" tIns="0" rIns="0" bIns="0" rtlCol="0" anchor="t"/>
          <a:lstStyle/>
          <a:p>
            <a:pPr indent="0" marL="0">
              <a:buNone/>
            </a:pPr>
            <a:r>
              <a:rPr lang="ko-KR" altLang="en-US" sz="950" b="1" dirty="0">
                <a:solidFill>
                  <a:srgbClr val="6B7078"/>
                </a:solidFill>
                <a:latin typeface="Malgun Gothic" pitchFamily="34" charset="0"/>
                <a:ea typeface="Malgun Gothic" pitchFamily="34" charset="-122"/>
                <a:cs typeface="Malgun Gothic" pitchFamily="34" charset="-120"/>
              </a:rPr>
              <a:t>결과</a:t>
            </a:r>
            <a:endParaRPr lang="ko-KR" altLang="en-US" sz="950" dirty="0"/>
          </a:p>
        </p:txBody>
      </p:sp>
      <p:sp>
        <p:nvSpPr>
          <p:cNvPr id="29" name="Text 27"/>
          <p:cNvSpPr txBox="1"/>
          <p:nvPr/>
        </p:nvSpPr>
        <p:spPr>
          <a:xfrm>
            <a:off x="6592824" y="4288536"/>
            <a:ext cx="3648456" cy="420624"/>
          </a:xfrm>
          <a:prstGeom prst="rect">
            <a:avLst/>
          </a:prstGeom>
          <a:noFill/>
          <a:ln/>
        </p:spPr>
        <p:txBody>
          <a:bodyPr wrap="square" lIns="0" tIns="0" rIns="0" bIns="0" rtlCol="0" anchor="t"/>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오른쪽 필터 패널 — 작품 · 종류 · 라인, 고르는 동안 개수 표시</a:t>
            </a:r>
            <a:endParaRPr lang="ko-KR" altLang="en-US" sz="1200" dirty="0"/>
          </a:p>
        </p:txBody>
      </p:sp>
      <p:sp>
        <p:nvSpPr>
          <p:cNvPr id="30" name="Text 28"/>
          <p:cNvSpPr txBox="1"/>
          <p:nvPr/>
        </p:nvSpPr>
        <p:spPr>
          <a:xfrm>
            <a:off x="6428232" y="4937760"/>
            <a:ext cx="5029200" cy="1051560"/>
          </a:xfrm>
          <a:prstGeom prst="rect">
            <a:avLst/>
          </a:prstGeom>
          <a:noFill/>
          <a:ln/>
        </p:spPr>
        <p:txBody>
          <a:bodyPr wrap="square" lIns="0" tIns="0" rIns="0" bIns="0" rtlCol="0" anchor="t"/>
          <a:lstStyle/>
          <a:p>
            <a:pPr indent="0" marL="0">
              <a:buNone/>
            </a:pPr>
            <a:r>
              <a:rPr lang="ko-KR" altLang="en-US" sz="1100" b="1" dirty="0">
                <a:solidFill>
                  <a:srgbClr val="D93F44"/>
                </a:solidFill>
                <a:latin typeface="Malgun Gothic" pitchFamily="34" charset="0"/>
                <a:ea typeface="Malgun Gothic" pitchFamily="34" charset="-122"/>
                <a:cs typeface="Malgun Gothic" pitchFamily="34" charset="-120"/>
              </a:rPr>
              <a:t>그 밖에  </a:t>
            </a:r>
            <a:pPr indent="0" marL="0">
              <a:buNone/>
            </a:pPr>
            <a:r>
              <a:rPr lang="ko-KR" altLang="en-US" sz="1100" dirty="0">
                <a:solidFill>
                  <a:srgbClr val="3D4148"/>
                </a:solidFill>
                <a:latin typeface="Malgun Gothic" pitchFamily="34" charset="0"/>
                <a:ea typeface="Malgun Gothic" pitchFamily="34" charset="-122"/>
                <a:cs typeface="Malgun Gothic" pitchFamily="34" charset="-120"/>
              </a:rPr>
              <a:t>AI가 처음 만든 화면 → "내가 다시 설계할게" · 로고 시안 → "다 별로"</a:t>
            </a:r>
            <a:endParaRPr lang="ko-KR" altLang="en-US" sz="1100" dirty="0"/>
          </a:p>
          <a:p>
            <a:pPr indent="0" marL="0">
              <a:buNone/>
            </a:pPr>
            <a:r>
              <a:rPr lang="ko-KR" altLang="en-US" sz="1100" b="1" dirty="0">
                <a:solidFill>
                  <a:srgbClr val="6B7078"/>
                </a:solidFill>
                <a:latin typeface="Malgun Gothic" pitchFamily="34" charset="0"/>
                <a:ea typeface="Malgun Gothic" pitchFamily="34" charset="-122"/>
                <a:cs typeface="Malgun Gothic" pitchFamily="34" charset="-120"/>
              </a:rPr>
              <a:t>기록  </a:t>
            </a:r>
            <a:pPr indent="0" marL="0">
              <a:buNone/>
            </a:pPr>
            <a:r>
              <a:rPr lang="ko-KR" altLang="en-US" sz="1100" dirty="0">
                <a:solidFill>
                  <a:srgbClr val="3D4148"/>
                </a:solidFill>
                <a:latin typeface="Malgun Gothic" pitchFamily="34" charset="0"/>
                <a:ea typeface="Malgun Gothic" pitchFamily="34" charset="-122"/>
                <a:cs typeface="Malgun Gothic" pitchFamily="34" charset="-120"/>
              </a:rPr>
              <a:t>prompt-log ★ 줄 (부록 B3) · docs/셀프논증.md 쟁점 7개</a:t>
            </a:r>
            <a:endParaRPr lang="ko-KR" altLang="en-US" sz="11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12</a:t>
            </a:fld>
            <a:endParaRPr lang="ko-KR"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6  Flutter 기술을 활용한 기능 설명</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Flutter 구현: 위젯 트리 하나로 폰부터 폴드까지</a:t>
            </a:r>
            <a:endParaRPr lang="ko-KR" altLang="en-US" sz="2800" dirty="0"/>
          </a:p>
        </p:txBody>
      </p:sp>
      <p:sp>
        <p:nvSpPr>
          <p:cNvPr id="4" name="Shape 2"/>
          <p:cNvSpPr/>
          <p:nvPr/>
        </p:nvSpPr>
        <p:spPr>
          <a:xfrm>
            <a:off x="548640" y="1481328"/>
            <a:ext cx="3840480" cy="4617720"/>
          </a:xfrm>
          <a:prstGeom prst="roundRect">
            <a:avLst>
              <a:gd name="adj" fmla="val 3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 name="Text 3"/>
          <p:cNvSpPr txBox="1"/>
          <p:nvPr/>
        </p:nvSpPr>
        <p:spPr>
          <a:xfrm>
            <a:off x="777240" y="1645920"/>
            <a:ext cx="347472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위젯 트리</a:t>
            </a:r>
            <a:pPr indent="0" marL="0">
              <a:buNone/>
            </a:pPr>
            <a:r>
              <a:rPr lang="ko-KR" altLang="en-US" sz="1000" dirty="0">
                <a:solidFill>
                  <a:srgbClr val="6B7078"/>
                </a:solidFill>
                <a:latin typeface="Malgun Gothic" pitchFamily="34" charset="0"/>
                <a:ea typeface="Malgun Gothic" pitchFamily="34" charset="-122"/>
                <a:cs typeface="Malgun Gothic" pitchFamily="34" charset="-120"/>
              </a:rPr>
              <a:t>   lib/main.dart</a:t>
            </a:r>
            <a:endParaRPr lang="ko-KR" altLang="en-US" sz="1300" dirty="0"/>
          </a:p>
        </p:txBody>
      </p:sp>
      <p:sp>
        <p:nvSpPr>
          <p:cNvPr id="6" name="Shape 4"/>
          <p:cNvSpPr/>
          <p:nvPr/>
        </p:nvSpPr>
        <p:spPr>
          <a:xfrm>
            <a:off x="777240" y="2057400"/>
            <a:ext cx="3383280" cy="457200"/>
          </a:xfrm>
          <a:prstGeom prst="roundRect">
            <a:avLst>
              <a:gd name="adj" fmla="val 20000"/>
            </a:avLst>
          </a:prstGeom>
          <a:solidFill>
            <a:srgbClr val="FFFFFF"/>
          </a:solidFill>
          <a:ln w="9525">
            <a:solidFill>
              <a:srgbClr val="E3E5E8"/>
            </a:solidFill>
            <a:prstDash val="solid"/>
          </a:ln>
        </p:spPr>
      </p:sp>
      <p:sp>
        <p:nvSpPr>
          <p:cNvPr id="7" name="Text 5"/>
          <p:cNvSpPr txBox="1"/>
          <p:nvPr/>
        </p:nvSpPr>
        <p:spPr>
          <a:xfrm>
            <a:off x="886968" y="2093976"/>
            <a:ext cx="3200400" cy="201168"/>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MaterialApp</a:t>
            </a:r>
            <a:endParaRPr lang="ko-KR" altLang="en-US" sz="1100" dirty="0"/>
          </a:p>
        </p:txBody>
      </p:sp>
      <p:sp>
        <p:nvSpPr>
          <p:cNvPr id="8" name="Text 6"/>
          <p:cNvSpPr txBox="1"/>
          <p:nvPr/>
        </p:nvSpPr>
        <p:spPr>
          <a:xfrm>
            <a:off x="886968" y="2295144"/>
            <a:ext cx="3200400"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쌓기: CupertinoPageRoute</a:t>
            </a:r>
            <a:endParaRPr lang="ko-KR" altLang="en-US" sz="950" dirty="0"/>
          </a:p>
        </p:txBody>
      </p:sp>
      <p:sp>
        <p:nvSpPr>
          <p:cNvPr id="9" name="Shape 7"/>
          <p:cNvSpPr/>
          <p:nvPr/>
        </p:nvSpPr>
        <p:spPr>
          <a:xfrm>
            <a:off x="877824" y="2514600"/>
            <a:ext cx="0" cy="320040"/>
          </a:xfrm>
          <a:prstGeom prst="line">
            <a:avLst/>
          </a:prstGeom>
          <a:noFill/>
          <a:ln w="12700">
            <a:solidFill>
              <a:srgbClr val="C9CDD2"/>
            </a:solidFill>
            <a:prstDash val="solid"/>
          </a:ln>
        </p:spPr>
      </p:sp>
      <p:sp>
        <p:nvSpPr>
          <p:cNvPr id="10" name="Shape 8"/>
          <p:cNvSpPr/>
          <p:nvPr/>
        </p:nvSpPr>
        <p:spPr>
          <a:xfrm>
            <a:off x="877824" y="2834640"/>
            <a:ext cx="118872" cy="0"/>
          </a:xfrm>
          <a:prstGeom prst="line">
            <a:avLst/>
          </a:prstGeom>
          <a:noFill/>
          <a:ln w="12700">
            <a:solidFill>
              <a:srgbClr val="C9CDD2"/>
            </a:solidFill>
            <a:prstDash val="solid"/>
          </a:ln>
        </p:spPr>
      </p:sp>
      <p:sp>
        <p:nvSpPr>
          <p:cNvPr id="11" name="Shape 9"/>
          <p:cNvSpPr/>
          <p:nvPr/>
        </p:nvSpPr>
        <p:spPr>
          <a:xfrm>
            <a:off x="996696" y="2606040"/>
            <a:ext cx="3163824" cy="457200"/>
          </a:xfrm>
          <a:prstGeom prst="roundRect">
            <a:avLst>
              <a:gd name="adj" fmla="val 20000"/>
            </a:avLst>
          </a:prstGeom>
          <a:solidFill>
            <a:srgbClr val="E8F6F1"/>
          </a:solidFill>
          <a:ln/>
        </p:spPr>
      </p:sp>
      <p:sp>
        <p:nvSpPr>
          <p:cNvPr id="12" name="Text 10"/>
          <p:cNvSpPr txBox="1"/>
          <p:nvPr/>
        </p:nvSpPr>
        <p:spPr>
          <a:xfrm>
            <a:off x="1106424" y="2642616"/>
            <a:ext cx="2980944" cy="201168"/>
          </a:xfrm>
          <a:prstGeom prst="rect">
            <a:avLst/>
          </a:prstGeom>
          <a:noFill/>
          <a:ln/>
        </p:spPr>
        <p:txBody>
          <a:bodyPr wrap="square" lIns="0" tIns="0" rIns="0" bIns="0" rtlCol="0" anchor="t"/>
          <a:lstStyle/>
          <a:p>
            <a:pPr indent="0" marL="0">
              <a:buNone/>
            </a:pPr>
            <a:r>
              <a:rPr lang="ko-KR" altLang="en-US" sz="1100" b="1" dirty="0">
                <a:solidFill>
                  <a:srgbClr val="12A07F"/>
                </a:solidFill>
                <a:latin typeface="Malgun Gothic" pitchFamily="34" charset="0"/>
                <a:ea typeface="Malgun Gothic" pitchFamily="34" charset="-122"/>
                <a:cs typeface="Malgun Gothic" pitchFamily="34" charset="-120"/>
              </a:rPr>
              <a:t>MarksHost · PaneHost</a:t>
            </a:r>
            <a:endParaRPr lang="ko-KR" altLang="en-US" sz="1100" dirty="0"/>
          </a:p>
        </p:txBody>
      </p:sp>
      <p:sp>
        <p:nvSpPr>
          <p:cNvPr id="13" name="Text 11"/>
          <p:cNvSpPr txBox="1"/>
          <p:nvPr/>
        </p:nvSpPr>
        <p:spPr>
          <a:xfrm>
            <a:off x="1106424" y="2843784"/>
            <a:ext cx="2980944"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setState + InheritedWidget</a:t>
            </a:r>
            <a:endParaRPr lang="ko-KR" altLang="en-US" sz="950" dirty="0"/>
          </a:p>
        </p:txBody>
      </p:sp>
      <p:sp>
        <p:nvSpPr>
          <p:cNvPr id="14" name="Shape 12"/>
          <p:cNvSpPr/>
          <p:nvPr/>
        </p:nvSpPr>
        <p:spPr>
          <a:xfrm>
            <a:off x="1097280" y="3063240"/>
            <a:ext cx="0" cy="320040"/>
          </a:xfrm>
          <a:prstGeom prst="line">
            <a:avLst/>
          </a:prstGeom>
          <a:noFill/>
          <a:ln w="12700">
            <a:solidFill>
              <a:srgbClr val="C9CDD2"/>
            </a:solidFill>
            <a:prstDash val="solid"/>
          </a:ln>
        </p:spPr>
      </p:sp>
      <p:sp>
        <p:nvSpPr>
          <p:cNvPr id="15" name="Shape 13"/>
          <p:cNvSpPr/>
          <p:nvPr/>
        </p:nvSpPr>
        <p:spPr>
          <a:xfrm>
            <a:off x="1097280" y="3383280"/>
            <a:ext cx="118872" cy="0"/>
          </a:xfrm>
          <a:prstGeom prst="line">
            <a:avLst/>
          </a:prstGeom>
          <a:noFill/>
          <a:ln w="12700">
            <a:solidFill>
              <a:srgbClr val="C9CDD2"/>
            </a:solidFill>
            <a:prstDash val="solid"/>
          </a:ln>
        </p:spPr>
      </p:sp>
      <p:sp>
        <p:nvSpPr>
          <p:cNvPr id="16" name="Shape 14"/>
          <p:cNvSpPr/>
          <p:nvPr/>
        </p:nvSpPr>
        <p:spPr>
          <a:xfrm>
            <a:off x="1216152" y="3154680"/>
            <a:ext cx="2944368" cy="457200"/>
          </a:xfrm>
          <a:prstGeom prst="roundRect">
            <a:avLst>
              <a:gd name="adj" fmla="val 20000"/>
            </a:avLst>
          </a:prstGeom>
          <a:solidFill>
            <a:srgbClr val="EAF4FC"/>
          </a:solidFill>
          <a:ln/>
        </p:spPr>
      </p:sp>
      <p:sp>
        <p:nvSpPr>
          <p:cNvPr id="17" name="Text 15"/>
          <p:cNvSpPr txBox="1"/>
          <p:nvPr/>
        </p:nvSpPr>
        <p:spPr>
          <a:xfrm>
            <a:off x="1325880" y="3191256"/>
            <a:ext cx="2761488" cy="201168"/>
          </a:xfrm>
          <a:prstGeom prst="rect">
            <a:avLst/>
          </a:prstGeom>
          <a:noFill/>
          <a:ln/>
        </p:spPr>
        <p:txBody>
          <a:bodyPr wrap="square" lIns="0" tIns="0" rIns="0" bIns="0" rtlCol="0" anchor="t"/>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AppShell (LayoutBuilder)</a:t>
            </a:r>
            <a:endParaRPr lang="ko-KR" altLang="en-US" sz="1100" dirty="0"/>
          </a:p>
        </p:txBody>
      </p:sp>
      <p:sp>
        <p:nvSpPr>
          <p:cNvPr id="18" name="Text 16"/>
          <p:cNvSpPr txBox="1"/>
          <p:nvPr/>
        </p:nvSpPr>
        <p:spPr>
          <a:xfrm>
            <a:off x="1325880" y="3392424"/>
            <a:ext cx="2761488"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폰 · 가로 폰 · 반반 화면</a:t>
            </a:r>
            <a:endParaRPr lang="ko-KR" altLang="en-US" sz="950" dirty="0"/>
          </a:p>
        </p:txBody>
      </p:sp>
      <p:sp>
        <p:nvSpPr>
          <p:cNvPr id="19" name="Shape 17"/>
          <p:cNvSpPr/>
          <p:nvPr/>
        </p:nvSpPr>
        <p:spPr>
          <a:xfrm>
            <a:off x="1316736" y="3611880"/>
            <a:ext cx="0" cy="320040"/>
          </a:xfrm>
          <a:prstGeom prst="line">
            <a:avLst/>
          </a:prstGeom>
          <a:noFill/>
          <a:ln w="12700">
            <a:solidFill>
              <a:srgbClr val="C9CDD2"/>
            </a:solidFill>
            <a:prstDash val="solid"/>
          </a:ln>
        </p:spPr>
      </p:sp>
      <p:sp>
        <p:nvSpPr>
          <p:cNvPr id="20" name="Shape 18"/>
          <p:cNvSpPr/>
          <p:nvPr/>
        </p:nvSpPr>
        <p:spPr>
          <a:xfrm>
            <a:off x="1316736" y="3931920"/>
            <a:ext cx="118872" cy="0"/>
          </a:xfrm>
          <a:prstGeom prst="line">
            <a:avLst/>
          </a:prstGeom>
          <a:noFill/>
          <a:ln w="12700">
            <a:solidFill>
              <a:srgbClr val="C9CDD2"/>
            </a:solidFill>
            <a:prstDash val="solid"/>
          </a:ln>
        </p:spPr>
      </p:sp>
      <p:sp>
        <p:nvSpPr>
          <p:cNvPr id="21" name="Shape 19"/>
          <p:cNvSpPr/>
          <p:nvPr/>
        </p:nvSpPr>
        <p:spPr>
          <a:xfrm>
            <a:off x="1435608" y="3703320"/>
            <a:ext cx="2724912" cy="457200"/>
          </a:xfrm>
          <a:prstGeom prst="roundRect">
            <a:avLst>
              <a:gd name="adj" fmla="val 20000"/>
            </a:avLst>
          </a:prstGeom>
          <a:solidFill>
            <a:srgbClr val="FFFFFF"/>
          </a:solidFill>
          <a:ln w="9525">
            <a:solidFill>
              <a:srgbClr val="E3E5E8"/>
            </a:solidFill>
            <a:prstDash val="solid"/>
          </a:ln>
        </p:spPr>
      </p:sp>
      <p:sp>
        <p:nvSpPr>
          <p:cNvPr id="22" name="Text 20"/>
          <p:cNvSpPr txBox="1"/>
          <p:nvPr/>
        </p:nvSpPr>
        <p:spPr>
          <a:xfrm>
            <a:off x="1545336" y="3739896"/>
            <a:ext cx="2542032" cy="201168"/>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IndexedStack</a:t>
            </a:r>
            <a:endParaRPr lang="ko-KR" altLang="en-US" sz="1100" dirty="0"/>
          </a:p>
        </p:txBody>
      </p:sp>
      <p:sp>
        <p:nvSpPr>
          <p:cNvPr id="23" name="Text 21"/>
          <p:cNvSpPr txBox="1"/>
          <p:nvPr/>
        </p:nvSpPr>
        <p:spPr>
          <a:xfrm>
            <a:off x="1545336" y="3941064"/>
            <a:ext cx="2542032"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탭 4개 — 옆으로</a:t>
            </a:r>
            <a:endParaRPr lang="ko-KR" altLang="en-US" sz="950" dirty="0"/>
          </a:p>
        </p:txBody>
      </p:sp>
      <p:sp>
        <p:nvSpPr>
          <p:cNvPr id="24" name="Shape 22"/>
          <p:cNvSpPr/>
          <p:nvPr/>
        </p:nvSpPr>
        <p:spPr>
          <a:xfrm>
            <a:off x="1536192" y="4160520"/>
            <a:ext cx="0" cy="320040"/>
          </a:xfrm>
          <a:prstGeom prst="line">
            <a:avLst/>
          </a:prstGeom>
          <a:noFill/>
          <a:ln w="12700">
            <a:solidFill>
              <a:srgbClr val="C9CDD2"/>
            </a:solidFill>
            <a:prstDash val="solid"/>
          </a:ln>
        </p:spPr>
      </p:sp>
      <p:sp>
        <p:nvSpPr>
          <p:cNvPr id="25" name="Shape 23"/>
          <p:cNvSpPr/>
          <p:nvPr/>
        </p:nvSpPr>
        <p:spPr>
          <a:xfrm>
            <a:off x="1536192" y="4480560"/>
            <a:ext cx="118872" cy="0"/>
          </a:xfrm>
          <a:prstGeom prst="line">
            <a:avLst/>
          </a:prstGeom>
          <a:noFill/>
          <a:ln w="12700">
            <a:solidFill>
              <a:srgbClr val="C9CDD2"/>
            </a:solidFill>
            <a:prstDash val="solid"/>
          </a:ln>
        </p:spPr>
      </p:sp>
      <p:sp>
        <p:nvSpPr>
          <p:cNvPr id="26" name="Shape 24"/>
          <p:cNvSpPr/>
          <p:nvPr/>
        </p:nvSpPr>
        <p:spPr>
          <a:xfrm>
            <a:off x="1655064" y="4251960"/>
            <a:ext cx="2505456" cy="457200"/>
          </a:xfrm>
          <a:prstGeom prst="roundRect">
            <a:avLst>
              <a:gd name="adj" fmla="val 20000"/>
            </a:avLst>
          </a:prstGeom>
          <a:solidFill>
            <a:srgbClr val="FFFFFF"/>
          </a:solidFill>
          <a:ln w="9525">
            <a:solidFill>
              <a:srgbClr val="E3E5E8"/>
            </a:solidFill>
            <a:prstDash val="solid"/>
          </a:ln>
        </p:spPr>
      </p:sp>
      <p:sp>
        <p:nvSpPr>
          <p:cNvPr id="27" name="Text 25"/>
          <p:cNvSpPr txBox="1"/>
          <p:nvPr/>
        </p:nvSpPr>
        <p:spPr>
          <a:xfrm>
            <a:off x="1764792" y="4288536"/>
            <a:ext cx="2322576" cy="201168"/>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FutureBuilder</a:t>
            </a:r>
            <a:endParaRPr lang="ko-KR" altLang="en-US" sz="1100" dirty="0"/>
          </a:p>
        </p:txBody>
      </p:sp>
      <p:sp>
        <p:nvSpPr>
          <p:cNvPr id="28" name="Text 26"/>
          <p:cNvSpPr txBox="1"/>
          <p:nvPr/>
        </p:nvSpPr>
        <p:spPr>
          <a:xfrm>
            <a:off x="1764792" y="4489704"/>
            <a:ext cx="2322576"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GET → 로딩 · 오류 · 빈</a:t>
            </a:r>
            <a:endParaRPr lang="ko-KR" altLang="en-US" sz="950" dirty="0"/>
          </a:p>
        </p:txBody>
      </p:sp>
      <p:sp>
        <p:nvSpPr>
          <p:cNvPr id="29" name="Shape 27"/>
          <p:cNvSpPr/>
          <p:nvPr/>
        </p:nvSpPr>
        <p:spPr>
          <a:xfrm>
            <a:off x="1316736" y="3611880"/>
            <a:ext cx="0" cy="1417320"/>
          </a:xfrm>
          <a:prstGeom prst="line">
            <a:avLst/>
          </a:prstGeom>
          <a:noFill/>
          <a:ln w="12700">
            <a:solidFill>
              <a:srgbClr val="C9CDD2"/>
            </a:solidFill>
            <a:prstDash val="solid"/>
          </a:ln>
        </p:spPr>
      </p:sp>
      <p:sp>
        <p:nvSpPr>
          <p:cNvPr id="30" name="Shape 28"/>
          <p:cNvSpPr/>
          <p:nvPr/>
        </p:nvSpPr>
        <p:spPr>
          <a:xfrm>
            <a:off x="1316736" y="5029200"/>
            <a:ext cx="118872" cy="0"/>
          </a:xfrm>
          <a:prstGeom prst="line">
            <a:avLst/>
          </a:prstGeom>
          <a:noFill/>
          <a:ln w="12700">
            <a:solidFill>
              <a:srgbClr val="C9CDD2"/>
            </a:solidFill>
            <a:prstDash val="solid"/>
          </a:ln>
        </p:spPr>
      </p:sp>
      <p:sp>
        <p:nvSpPr>
          <p:cNvPr id="31" name="Shape 29"/>
          <p:cNvSpPr/>
          <p:nvPr/>
        </p:nvSpPr>
        <p:spPr>
          <a:xfrm>
            <a:off x="1435608" y="4800600"/>
            <a:ext cx="2724912" cy="457200"/>
          </a:xfrm>
          <a:prstGeom prst="roundRect">
            <a:avLst>
              <a:gd name="adj" fmla="val 20000"/>
            </a:avLst>
          </a:prstGeom>
          <a:solidFill>
            <a:srgbClr val="FFFFFF"/>
          </a:solidFill>
          <a:ln w="9525">
            <a:solidFill>
              <a:srgbClr val="E3E5E8"/>
            </a:solidFill>
            <a:prstDash val="solid"/>
          </a:ln>
        </p:spPr>
      </p:sp>
      <p:sp>
        <p:nvSpPr>
          <p:cNvPr id="32" name="Text 30"/>
          <p:cNvSpPr txBox="1"/>
          <p:nvPr/>
        </p:nvSpPr>
        <p:spPr>
          <a:xfrm>
            <a:off x="1545336" y="4837176"/>
            <a:ext cx="2542032" cy="201168"/>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Navigator (오른쪽 칸)</a:t>
            </a:r>
            <a:endParaRPr lang="ko-KR" altLang="en-US" sz="1100" dirty="0"/>
          </a:p>
        </p:txBody>
      </p:sp>
      <p:sp>
        <p:nvSpPr>
          <p:cNvPr id="33" name="Text 31"/>
          <p:cNvSpPr txBox="1"/>
          <p:nvPr/>
        </p:nvSpPr>
        <p:spPr>
          <a:xfrm>
            <a:off x="1545336" y="5038344"/>
            <a:ext cx="2542032"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반반 화면에서 쌓기</a:t>
            </a:r>
            <a:endParaRPr lang="ko-KR" altLang="en-US" sz="950" dirty="0"/>
          </a:p>
        </p:txBody>
      </p:sp>
      <p:sp>
        <p:nvSpPr>
          <p:cNvPr id="34" name="Shape 32"/>
          <p:cNvSpPr/>
          <p:nvPr/>
        </p:nvSpPr>
        <p:spPr>
          <a:xfrm>
            <a:off x="1316736" y="3611880"/>
            <a:ext cx="0" cy="1965960"/>
          </a:xfrm>
          <a:prstGeom prst="line">
            <a:avLst/>
          </a:prstGeom>
          <a:noFill/>
          <a:ln w="12700">
            <a:solidFill>
              <a:srgbClr val="C9CDD2"/>
            </a:solidFill>
            <a:prstDash val="solid"/>
          </a:ln>
        </p:spPr>
      </p:sp>
      <p:sp>
        <p:nvSpPr>
          <p:cNvPr id="35" name="Shape 33"/>
          <p:cNvSpPr/>
          <p:nvPr/>
        </p:nvSpPr>
        <p:spPr>
          <a:xfrm>
            <a:off x="1316736" y="5577840"/>
            <a:ext cx="118872" cy="0"/>
          </a:xfrm>
          <a:prstGeom prst="line">
            <a:avLst/>
          </a:prstGeom>
          <a:noFill/>
          <a:ln w="12700">
            <a:solidFill>
              <a:srgbClr val="C9CDD2"/>
            </a:solidFill>
            <a:prstDash val="solid"/>
          </a:ln>
        </p:spPr>
      </p:sp>
      <p:sp>
        <p:nvSpPr>
          <p:cNvPr id="36" name="Shape 34"/>
          <p:cNvSpPr/>
          <p:nvPr/>
        </p:nvSpPr>
        <p:spPr>
          <a:xfrm>
            <a:off x="1435608" y="5349240"/>
            <a:ext cx="2724912" cy="457200"/>
          </a:xfrm>
          <a:prstGeom prst="roundRect">
            <a:avLst>
              <a:gd name="adj" fmla="val 20000"/>
            </a:avLst>
          </a:prstGeom>
          <a:solidFill>
            <a:srgbClr val="FFFFFF"/>
          </a:solidFill>
          <a:ln w="9525">
            <a:solidFill>
              <a:srgbClr val="E3E5E8"/>
            </a:solidFill>
            <a:prstDash val="solid"/>
          </a:ln>
        </p:spPr>
      </p:sp>
      <p:sp>
        <p:nvSpPr>
          <p:cNvPr id="37" name="Text 35"/>
          <p:cNvSpPr txBox="1"/>
          <p:nvPr/>
        </p:nvSpPr>
        <p:spPr>
          <a:xfrm>
            <a:off x="1545336" y="5385816"/>
            <a:ext cx="2542032" cy="201168"/>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Sheet · Dialog · Drawer</a:t>
            </a:r>
            <a:endParaRPr lang="ko-KR" altLang="en-US" sz="1100" dirty="0"/>
          </a:p>
        </p:txBody>
      </p:sp>
      <p:sp>
        <p:nvSpPr>
          <p:cNvPr id="38" name="Text 36"/>
          <p:cNvSpPr txBox="1"/>
          <p:nvPr/>
        </p:nvSpPr>
        <p:spPr>
          <a:xfrm>
            <a:off x="1545336" y="5586984"/>
            <a:ext cx="2542032"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덮기</a:t>
            </a:r>
            <a:endParaRPr lang="ko-KR" altLang="en-US" sz="950" dirty="0"/>
          </a:p>
        </p:txBody>
      </p:sp>
      <p:sp>
        <p:nvSpPr>
          <p:cNvPr id="39" name="Shape 37"/>
          <p:cNvSpPr/>
          <p:nvPr/>
        </p:nvSpPr>
        <p:spPr>
          <a:xfrm>
            <a:off x="4617720" y="1481328"/>
            <a:ext cx="3374136" cy="1755648"/>
          </a:xfrm>
          <a:prstGeom prst="roundRect">
            <a:avLst>
              <a:gd name="adj" fmla="val 729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40" name="Shape 38"/>
          <p:cNvSpPr/>
          <p:nvPr/>
        </p:nvSpPr>
        <p:spPr>
          <a:xfrm>
            <a:off x="4818888" y="1682496"/>
            <a:ext cx="329184" cy="329184"/>
          </a:xfrm>
          <a:prstGeom prst="ellipse">
            <a:avLst/>
          </a:prstGeom>
          <a:solidFill>
            <a:srgbClr val="1C86D9"/>
          </a:solidFill>
          <a:ln/>
        </p:spPr>
      </p:sp>
      <p:sp>
        <p:nvSpPr>
          <p:cNvPr id="41" name="Text 39"/>
          <p:cNvSpPr txBox="1"/>
          <p:nvPr/>
        </p:nvSpPr>
        <p:spPr>
          <a:xfrm>
            <a:off x="4818888" y="1682496"/>
            <a:ext cx="329184" cy="329184"/>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1</a:t>
            </a:r>
            <a:endParaRPr lang="ko-KR" altLang="en-US" sz="1200" dirty="0"/>
          </a:p>
        </p:txBody>
      </p:sp>
      <p:sp>
        <p:nvSpPr>
          <p:cNvPr id="42" name="Text 40"/>
          <p:cNvSpPr txBox="1"/>
          <p:nvPr/>
        </p:nvSpPr>
        <p:spPr>
          <a:xfrm>
            <a:off x="5257800" y="1664208"/>
            <a:ext cx="2606040" cy="292608"/>
          </a:xfrm>
          <a:prstGeom prst="rect">
            <a:avLst/>
          </a:prstGeom>
          <a:noFill/>
          <a:ln/>
        </p:spPr>
        <p:txBody>
          <a:bodyPr wrap="square" lIns="0" tIns="0" rIns="0" bIns="0" rtlCol="0" anchor="t"/>
          <a:lstStyle/>
          <a:p>
            <a:pPr indent="0" marL="0">
              <a:buNone/>
            </a:pPr>
            <a:r>
              <a:rPr lang="ko-KR" altLang="en-US" sz="1450" b="1" dirty="0">
                <a:solidFill>
                  <a:srgbClr val="111111"/>
                </a:solidFill>
                <a:latin typeface="Malgun Gothic" pitchFamily="34" charset="0"/>
                <a:ea typeface="Malgun Gothic" pitchFamily="34" charset="-122"/>
                <a:cs typeface="Malgun Gothic" pitchFamily="34" charset="-120"/>
              </a:rPr>
              <a:t>화면 이동 3방식</a:t>
            </a:r>
            <a:endParaRPr lang="ko-KR" altLang="en-US" sz="1450" dirty="0"/>
          </a:p>
        </p:txBody>
      </p:sp>
      <p:sp>
        <p:nvSpPr>
          <p:cNvPr id="43" name="Text 41"/>
          <p:cNvSpPr txBox="1"/>
          <p:nvPr/>
        </p:nvSpPr>
        <p:spPr>
          <a:xfrm>
            <a:off x="4846320" y="2167128"/>
            <a:ext cx="2971800" cy="365760"/>
          </a:xfrm>
          <a:prstGeom prst="rect">
            <a:avLst/>
          </a:prstGeom>
          <a:noFill/>
          <a:ln/>
        </p:spPr>
        <p:txBody>
          <a:bodyPr wrap="square" lIns="0" tIns="0" rIns="0" bIns="0" rtlCol="0" anchor="t"/>
          <a:lstStyle/>
          <a:p>
            <a:pPr indent="0" marL="0">
              <a:buNone/>
            </a:pPr>
            <a:r>
              <a:rPr lang="ko-KR" altLang="en-US" sz="1500" b="1" dirty="0">
                <a:solidFill>
                  <a:srgbClr val="1C86D9"/>
                </a:solidFill>
                <a:latin typeface="Malgun Gothic" pitchFamily="34" charset="0"/>
                <a:ea typeface="Malgun Gothic" pitchFamily="34" charset="-122"/>
                <a:cs typeface="Malgun Gothic" pitchFamily="34" charset="-120"/>
              </a:rPr>
              <a:t>쌓기 · 옆으로 · 덮기</a:t>
            </a:r>
            <a:endParaRPr lang="ko-KR" altLang="en-US" sz="1500" dirty="0"/>
          </a:p>
        </p:txBody>
      </p:sp>
      <p:sp>
        <p:nvSpPr>
          <p:cNvPr id="44" name="Text 42"/>
          <p:cNvSpPr txBox="1"/>
          <p:nvPr/>
        </p:nvSpPr>
        <p:spPr>
          <a:xfrm>
            <a:off x="4846320" y="2578608"/>
            <a:ext cx="2971800" cy="548640"/>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CupertinoPageRoute · IndexedStack · Sheet / Dialog / Drawer</a:t>
            </a:r>
            <a:endParaRPr lang="ko-KR" altLang="en-US" sz="1000" dirty="0"/>
          </a:p>
        </p:txBody>
      </p:sp>
      <p:sp>
        <p:nvSpPr>
          <p:cNvPr id="45" name="Shape 43"/>
          <p:cNvSpPr/>
          <p:nvPr/>
        </p:nvSpPr>
        <p:spPr>
          <a:xfrm>
            <a:off x="8174736" y="1481328"/>
            <a:ext cx="3374136" cy="1755648"/>
          </a:xfrm>
          <a:prstGeom prst="roundRect">
            <a:avLst>
              <a:gd name="adj" fmla="val 729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46" name="Shape 44"/>
          <p:cNvSpPr/>
          <p:nvPr/>
        </p:nvSpPr>
        <p:spPr>
          <a:xfrm>
            <a:off x="8375904" y="1682496"/>
            <a:ext cx="329184" cy="329184"/>
          </a:xfrm>
          <a:prstGeom prst="ellipse">
            <a:avLst/>
          </a:prstGeom>
          <a:solidFill>
            <a:srgbClr val="1C86D9"/>
          </a:solidFill>
          <a:ln/>
        </p:spPr>
      </p:sp>
      <p:sp>
        <p:nvSpPr>
          <p:cNvPr id="47" name="Text 45"/>
          <p:cNvSpPr txBox="1"/>
          <p:nvPr/>
        </p:nvSpPr>
        <p:spPr>
          <a:xfrm>
            <a:off x="8375904" y="1682496"/>
            <a:ext cx="329184" cy="329184"/>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2</a:t>
            </a:r>
            <a:endParaRPr lang="ko-KR" altLang="en-US" sz="1200" dirty="0"/>
          </a:p>
        </p:txBody>
      </p:sp>
      <p:sp>
        <p:nvSpPr>
          <p:cNvPr id="48" name="Text 46"/>
          <p:cNvSpPr txBox="1"/>
          <p:nvPr/>
        </p:nvSpPr>
        <p:spPr>
          <a:xfrm>
            <a:off x="8814816" y="1664208"/>
            <a:ext cx="2606040" cy="292608"/>
          </a:xfrm>
          <a:prstGeom prst="rect">
            <a:avLst/>
          </a:prstGeom>
          <a:noFill/>
          <a:ln/>
        </p:spPr>
        <p:txBody>
          <a:bodyPr wrap="square" lIns="0" tIns="0" rIns="0" bIns="0" rtlCol="0" anchor="t"/>
          <a:lstStyle/>
          <a:p>
            <a:pPr indent="0" marL="0">
              <a:buNone/>
            </a:pPr>
            <a:r>
              <a:rPr lang="ko-KR" altLang="en-US" sz="1450" b="1" dirty="0">
                <a:solidFill>
                  <a:srgbClr val="111111"/>
                </a:solidFill>
                <a:latin typeface="Malgun Gothic" pitchFamily="34" charset="0"/>
                <a:ea typeface="Malgun Gothic" pitchFamily="34" charset="-122"/>
                <a:cs typeface="Malgun Gothic" pitchFamily="34" charset="-120"/>
              </a:rPr>
              <a:t>FutureBuilder 3상태</a:t>
            </a:r>
            <a:endParaRPr lang="ko-KR" altLang="en-US" sz="1450" dirty="0"/>
          </a:p>
        </p:txBody>
      </p:sp>
      <p:sp>
        <p:nvSpPr>
          <p:cNvPr id="49" name="Text 47"/>
          <p:cNvSpPr txBox="1"/>
          <p:nvPr/>
        </p:nvSpPr>
        <p:spPr>
          <a:xfrm>
            <a:off x="8403336" y="2167128"/>
            <a:ext cx="2971800" cy="365760"/>
          </a:xfrm>
          <a:prstGeom prst="rect">
            <a:avLst/>
          </a:prstGeom>
          <a:noFill/>
          <a:ln/>
        </p:spPr>
        <p:txBody>
          <a:bodyPr wrap="square" lIns="0" tIns="0" rIns="0" bIns="0" rtlCol="0" anchor="t"/>
          <a:lstStyle/>
          <a:p>
            <a:pPr indent="0" marL="0">
              <a:buNone/>
            </a:pPr>
            <a:r>
              <a:rPr lang="ko-KR" altLang="en-US" sz="1500" b="1" dirty="0">
                <a:solidFill>
                  <a:srgbClr val="1C86D9"/>
                </a:solidFill>
                <a:latin typeface="Malgun Gothic" pitchFamily="34" charset="0"/>
                <a:ea typeface="Malgun Gothic" pitchFamily="34" charset="-122"/>
                <a:cs typeface="Malgun Gothic" pitchFamily="34" charset="-120"/>
              </a:rPr>
              <a:t>로딩 · 오류(다시 시도) · 빈 상태</a:t>
            </a:r>
            <a:endParaRPr lang="ko-KR" altLang="en-US" sz="1500" dirty="0"/>
          </a:p>
        </p:txBody>
      </p:sp>
      <p:sp>
        <p:nvSpPr>
          <p:cNvPr id="50" name="Text 48"/>
          <p:cNvSpPr txBox="1"/>
          <p:nvPr/>
        </p:nvSpPr>
        <p:spPr>
          <a:xfrm>
            <a:off x="8403336" y="2578608"/>
            <a:ext cx="2971800" cy="548640"/>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GET 하는 화면 전부</a:t>
            </a:r>
            <a:endParaRPr lang="ko-KR" altLang="en-US" sz="1000" dirty="0"/>
          </a:p>
        </p:txBody>
      </p:sp>
      <p:sp>
        <p:nvSpPr>
          <p:cNvPr id="51" name="Shape 49"/>
          <p:cNvSpPr/>
          <p:nvPr/>
        </p:nvSpPr>
        <p:spPr>
          <a:xfrm>
            <a:off x="4617720" y="3383280"/>
            <a:ext cx="3374136" cy="1755648"/>
          </a:xfrm>
          <a:prstGeom prst="roundRect">
            <a:avLst>
              <a:gd name="adj" fmla="val 729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2" name="Shape 50"/>
          <p:cNvSpPr/>
          <p:nvPr/>
        </p:nvSpPr>
        <p:spPr>
          <a:xfrm>
            <a:off x="4818888" y="3584448"/>
            <a:ext cx="329184" cy="329184"/>
          </a:xfrm>
          <a:prstGeom prst="ellipse">
            <a:avLst/>
          </a:prstGeom>
          <a:solidFill>
            <a:srgbClr val="1C86D9"/>
          </a:solidFill>
          <a:ln/>
        </p:spPr>
      </p:sp>
      <p:sp>
        <p:nvSpPr>
          <p:cNvPr id="53" name="Text 51"/>
          <p:cNvSpPr txBox="1"/>
          <p:nvPr/>
        </p:nvSpPr>
        <p:spPr>
          <a:xfrm>
            <a:off x="4818888" y="3584448"/>
            <a:ext cx="329184" cy="329184"/>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3</a:t>
            </a:r>
            <a:endParaRPr lang="ko-KR" altLang="en-US" sz="1200" dirty="0"/>
          </a:p>
        </p:txBody>
      </p:sp>
      <p:sp>
        <p:nvSpPr>
          <p:cNvPr id="54" name="Text 52"/>
          <p:cNvSpPr txBox="1"/>
          <p:nvPr/>
        </p:nvSpPr>
        <p:spPr>
          <a:xfrm>
            <a:off x="5257800" y="3566160"/>
            <a:ext cx="2606040" cy="292608"/>
          </a:xfrm>
          <a:prstGeom prst="rect">
            <a:avLst/>
          </a:prstGeom>
          <a:noFill/>
          <a:ln/>
        </p:spPr>
        <p:txBody>
          <a:bodyPr wrap="square" lIns="0" tIns="0" rIns="0" bIns="0" rtlCol="0" anchor="t"/>
          <a:lstStyle/>
          <a:p>
            <a:pPr indent="0" marL="0">
              <a:buNone/>
            </a:pPr>
            <a:r>
              <a:rPr lang="ko-KR" altLang="en-US" sz="1450" b="1" dirty="0">
                <a:solidFill>
                  <a:srgbClr val="111111"/>
                </a:solidFill>
                <a:latin typeface="Malgun Gothic" pitchFamily="34" charset="0"/>
                <a:ea typeface="Malgun Gothic" pitchFamily="34" charset="-122"/>
                <a:cs typeface="Malgun Gothic" pitchFamily="34" charset="-120"/>
              </a:rPr>
              <a:t>json-server GET만</a:t>
            </a:r>
            <a:endParaRPr lang="ko-KR" altLang="en-US" sz="1450" dirty="0"/>
          </a:p>
        </p:txBody>
      </p:sp>
      <p:sp>
        <p:nvSpPr>
          <p:cNvPr id="55" name="Text 53"/>
          <p:cNvSpPr txBox="1"/>
          <p:nvPr/>
        </p:nvSpPr>
        <p:spPr>
          <a:xfrm>
            <a:off x="4846320" y="4069080"/>
            <a:ext cx="2971800" cy="365760"/>
          </a:xfrm>
          <a:prstGeom prst="rect">
            <a:avLst/>
          </a:prstGeom>
          <a:noFill/>
          <a:ln/>
        </p:spPr>
        <p:txBody>
          <a:bodyPr wrap="square" lIns="0" tIns="0" rIns="0" bIns="0" rtlCol="0" anchor="t"/>
          <a:lstStyle/>
          <a:p>
            <a:pPr indent="0" marL="0">
              <a:buNone/>
            </a:pPr>
            <a:r>
              <a:rPr lang="ko-KR" altLang="en-US" sz="1500" b="1" dirty="0">
                <a:solidFill>
                  <a:srgbClr val="1C86D9"/>
                </a:solidFill>
                <a:latin typeface="Malgun Gothic" pitchFamily="34" charset="0"/>
                <a:ea typeface="Malgun Gothic" pitchFamily="34" charset="-122"/>
                <a:cs typeface="Malgun Gothic" pitchFamily="34" charset="-120"/>
              </a:rPr>
              <a:t>저장 · 전송 없음</a:t>
            </a:r>
            <a:endParaRPr lang="ko-KR" altLang="en-US" sz="1500" dirty="0"/>
          </a:p>
        </p:txBody>
      </p:sp>
      <p:sp>
        <p:nvSpPr>
          <p:cNvPr id="56" name="Text 54"/>
          <p:cNvSpPr txBox="1"/>
          <p:nvPr/>
        </p:nvSpPr>
        <p:spPr>
          <a:xfrm>
            <a:off x="4846320" y="4480560"/>
            <a:ext cx="2971800" cy="548640"/>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http.get 하나 — lib/api.dart</a:t>
            </a:r>
            <a:endParaRPr lang="ko-KR" altLang="en-US" sz="1000" dirty="0"/>
          </a:p>
        </p:txBody>
      </p:sp>
      <p:sp>
        <p:nvSpPr>
          <p:cNvPr id="57" name="Shape 55"/>
          <p:cNvSpPr/>
          <p:nvPr/>
        </p:nvSpPr>
        <p:spPr>
          <a:xfrm>
            <a:off x="8174736" y="3383280"/>
            <a:ext cx="3374136" cy="1755648"/>
          </a:xfrm>
          <a:prstGeom prst="roundRect">
            <a:avLst>
              <a:gd name="adj" fmla="val 729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8" name="Shape 56"/>
          <p:cNvSpPr/>
          <p:nvPr/>
        </p:nvSpPr>
        <p:spPr>
          <a:xfrm>
            <a:off x="8375904" y="3584448"/>
            <a:ext cx="329184" cy="329184"/>
          </a:xfrm>
          <a:prstGeom prst="ellipse">
            <a:avLst/>
          </a:prstGeom>
          <a:solidFill>
            <a:srgbClr val="1C86D9"/>
          </a:solidFill>
          <a:ln/>
        </p:spPr>
      </p:sp>
      <p:sp>
        <p:nvSpPr>
          <p:cNvPr id="59" name="Text 57"/>
          <p:cNvSpPr txBox="1"/>
          <p:nvPr/>
        </p:nvSpPr>
        <p:spPr>
          <a:xfrm>
            <a:off x="8375904" y="3584448"/>
            <a:ext cx="329184" cy="329184"/>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4</a:t>
            </a:r>
            <a:endParaRPr lang="ko-KR" altLang="en-US" sz="1200" dirty="0"/>
          </a:p>
        </p:txBody>
      </p:sp>
      <p:sp>
        <p:nvSpPr>
          <p:cNvPr id="60" name="Text 58"/>
          <p:cNvSpPr txBox="1"/>
          <p:nvPr/>
        </p:nvSpPr>
        <p:spPr>
          <a:xfrm>
            <a:off x="8814816" y="3566160"/>
            <a:ext cx="2606040" cy="292608"/>
          </a:xfrm>
          <a:prstGeom prst="rect">
            <a:avLst/>
          </a:prstGeom>
          <a:noFill/>
          <a:ln/>
        </p:spPr>
        <p:txBody>
          <a:bodyPr wrap="square" lIns="0" tIns="0" rIns="0" bIns="0" rtlCol="0" anchor="t"/>
          <a:lstStyle/>
          <a:p>
            <a:pPr indent="0" marL="0">
              <a:buNone/>
            </a:pPr>
            <a:r>
              <a:rPr lang="ko-KR" altLang="en-US" sz="1450" b="1" dirty="0">
                <a:solidFill>
                  <a:srgbClr val="111111"/>
                </a:solidFill>
                <a:latin typeface="Malgun Gothic" pitchFamily="34" charset="0"/>
                <a:ea typeface="Malgun Gothic" pitchFamily="34" charset="-122"/>
                <a:cs typeface="Malgun Gothic" pitchFamily="34" charset="-120"/>
              </a:rPr>
              <a:t>적응형</a:t>
            </a:r>
            <a:endParaRPr lang="ko-KR" altLang="en-US" sz="1450" dirty="0"/>
          </a:p>
        </p:txBody>
      </p:sp>
      <p:sp>
        <p:nvSpPr>
          <p:cNvPr id="61" name="Text 59"/>
          <p:cNvSpPr txBox="1"/>
          <p:nvPr/>
        </p:nvSpPr>
        <p:spPr>
          <a:xfrm>
            <a:off x="8403336" y="4069080"/>
            <a:ext cx="2971800" cy="365760"/>
          </a:xfrm>
          <a:prstGeom prst="rect">
            <a:avLst/>
          </a:prstGeom>
          <a:noFill/>
          <a:ln/>
        </p:spPr>
        <p:txBody>
          <a:bodyPr wrap="square" lIns="0" tIns="0" rIns="0" bIns="0" rtlCol="0" anchor="t"/>
          <a:lstStyle/>
          <a:p>
            <a:pPr indent="0" marL="0">
              <a:buNone/>
            </a:pPr>
            <a:r>
              <a:rPr lang="ko-KR" altLang="en-US" sz="1500" b="1" dirty="0">
                <a:solidFill>
                  <a:srgbClr val="1C86D9"/>
                </a:solidFill>
                <a:latin typeface="Malgun Gothic" pitchFamily="34" charset="0"/>
                <a:ea typeface="Malgun Gothic" pitchFamily="34" charset="-122"/>
                <a:cs typeface="Malgun Gothic" pitchFamily="34" charset="-120"/>
              </a:rPr>
              <a:t>창 너비로 폰 · 가로 폰 · 반반</a:t>
            </a:r>
            <a:endParaRPr lang="ko-KR" altLang="en-US" sz="1500" dirty="0"/>
          </a:p>
        </p:txBody>
      </p:sp>
      <p:sp>
        <p:nvSpPr>
          <p:cNvPr id="62" name="Text 60"/>
          <p:cNvSpPr txBox="1"/>
          <p:nvPr/>
        </p:nvSpPr>
        <p:spPr>
          <a:xfrm>
            <a:off x="8403336" y="4480560"/>
            <a:ext cx="2971800" cy="548640"/>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LayoutBuilder · MediaQuery · 폴드 접힘선 · 테스트 53개</a:t>
            </a:r>
            <a:endParaRPr lang="ko-KR" altLang="en-US" sz="1000" dirty="0"/>
          </a:p>
        </p:txBody>
      </p:sp>
      <p:sp>
        <p:nvSpPr>
          <p:cNvPr id="63" name="Shape 61"/>
          <p:cNvSpPr/>
          <p:nvPr/>
        </p:nvSpPr>
        <p:spPr>
          <a:xfrm>
            <a:off x="4617720" y="5349240"/>
            <a:ext cx="7022592" cy="749808"/>
          </a:xfrm>
          <a:prstGeom prst="roundRect">
            <a:avLst>
              <a:gd name="adj" fmla="val 14634"/>
            </a:avLst>
          </a:prstGeom>
          <a:solidFill>
            <a:srgbClr val="E8F6F1"/>
          </a:solidFill>
          <a:ln/>
        </p:spPr>
      </p:sp>
      <p:sp>
        <p:nvSpPr>
          <p:cNvPr id="64" name="Text 62"/>
          <p:cNvSpPr txBox="1"/>
          <p:nvPr/>
        </p:nvSpPr>
        <p:spPr>
          <a:xfrm>
            <a:off x="4846320" y="5349240"/>
            <a:ext cx="6675120" cy="749808"/>
          </a:xfrm>
          <a:prstGeom prst="rect">
            <a:avLst/>
          </a:prstGeom>
          <a:noFill/>
          <a:ln/>
        </p:spPr>
        <p:txBody>
          <a:bodyPr wrap="square" lIns="0" tIns="0" rIns="0" bIns="0" rtlCol="0" anchor="ctr"/>
          <a:lstStyle/>
          <a:p>
            <a:pPr indent="0" marL="0">
              <a:buNone/>
            </a:pPr>
            <a:r>
              <a:rPr lang="ko-KR" altLang="en-US" sz="1150" b="1" dirty="0">
                <a:solidFill>
                  <a:srgbClr val="12A07F"/>
                </a:solidFill>
                <a:latin typeface="Malgun Gothic" pitchFamily="34" charset="0"/>
                <a:ea typeface="Malgun Gothic" pitchFamily="34" charset="-122"/>
                <a:cs typeface="Malgun Gothic" pitchFamily="34" charset="-120"/>
              </a:rPr>
              <a:t>상태관리 패키지 0</a:t>
            </a:r>
            <a:endParaRPr lang="ko-KR" altLang="en-US" sz="1150" dirty="0"/>
          </a:p>
          <a:p>
            <a:pPr indent="0" marL="0">
              <a:buNone/>
            </a:pPr>
            <a:r>
              <a:rPr lang="ko-KR" altLang="en-US" sz="1150" dirty="0">
                <a:solidFill>
                  <a:srgbClr val="111111"/>
                </a:solidFill>
                <a:latin typeface="Malgun Gothic" pitchFamily="34" charset="0"/>
                <a:ea typeface="Malgun Gothic" pitchFamily="34" charset="-122"/>
                <a:cs typeface="Malgun Gothic" pitchFamily="34" charset="-120"/>
              </a:rPr>
              <a:t>좋아요 · 구매함은 맨 위 setState + InheritedWidget — 홈에서 누르면 컬렉션 · 내 정보 숫자가 같이 바뀐다</a:t>
            </a:r>
            <a:endParaRPr lang="ko-KR" altLang="en-US" sz="11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13</a:t>
            </a:fld>
            <a:endParaRPr lang="ko-KR"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7  데모 — 라이브 시연</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데모: 리본 한 번이 앱 전체에 반영된다</a:t>
            </a:r>
            <a:endParaRPr lang="ko-KR" altLang="en-US" sz="2800" dirty="0"/>
          </a:p>
        </p:txBody>
      </p:sp>
      <p:sp>
        <p:nvSpPr>
          <p:cNvPr id="4" name="Text 2"/>
          <p:cNvSpPr txBox="1"/>
          <p:nvPr/>
        </p:nvSpPr>
        <p:spPr>
          <a:xfrm>
            <a:off x="548640" y="1371600"/>
            <a:ext cx="10972800" cy="256032"/>
          </a:xfrm>
          <a:prstGeom prst="rect">
            <a:avLst/>
          </a:prstGeom>
          <a:noFill/>
          <a:ln/>
        </p:spPr>
        <p:txBody>
          <a:bodyPr wrap="square" lIns="0" tIns="0" rIns="0" bIns="0" rtlCol="0" anchor="t"/>
          <a:lstStyle/>
          <a:p>
            <a:pPr indent="0" marL="0">
              <a:buNone/>
            </a:pPr>
            <a:r>
              <a:rPr lang="ko-KR" altLang="en-US" sz="1150" dirty="0">
                <a:solidFill>
                  <a:srgbClr val="6B7078"/>
                </a:solidFill>
                <a:latin typeface="Malgun Gothic" pitchFamily="34" charset="0"/>
                <a:ea typeface="Malgun Gothic" pitchFamily="34" charset="-122"/>
                <a:cs typeface="Malgun Gothic" pitchFamily="34" charset="-120"/>
              </a:rPr>
              <a:t>터미널 1: json-server (:3000)   ·   터미널 2: flutter run -d chrome</a:t>
            </a:r>
            <a:endParaRPr lang="ko-KR" altLang="en-US" sz="1150" dirty="0"/>
          </a:p>
        </p:txBody>
      </p:sp>
      <p:sp>
        <p:nvSpPr>
          <p:cNvPr id="5" name="Shape 3"/>
          <p:cNvSpPr/>
          <p:nvPr/>
        </p:nvSpPr>
        <p:spPr>
          <a:xfrm>
            <a:off x="548640" y="1828800"/>
            <a:ext cx="3547872" cy="1965960"/>
          </a:xfrm>
          <a:prstGeom prst="roundRect">
            <a:avLst>
              <a:gd name="adj" fmla="val 744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6" name="Text 4"/>
          <p:cNvSpPr txBox="1"/>
          <p:nvPr/>
        </p:nvSpPr>
        <p:spPr>
          <a:xfrm>
            <a:off x="804672" y="2029968"/>
            <a:ext cx="822960" cy="640080"/>
          </a:xfrm>
          <a:prstGeom prst="rect">
            <a:avLst/>
          </a:prstGeom>
          <a:noFill/>
          <a:ln/>
        </p:spPr>
        <p:txBody>
          <a:bodyPr wrap="square" lIns="0" tIns="0" rIns="0" bIns="0" rtlCol="0" anchor="t"/>
          <a:lstStyle/>
          <a:p>
            <a:pPr indent="0" marL="0">
              <a:buNone/>
            </a:pPr>
            <a:r>
              <a:rPr lang="ko-KR" altLang="en-US" sz="3400" b="1" dirty="0">
                <a:solidFill>
                  <a:srgbClr val="1C86D9"/>
                </a:solidFill>
                <a:latin typeface="Malgun Gothic" pitchFamily="34" charset="0"/>
                <a:ea typeface="Malgun Gothic" pitchFamily="34" charset="-122"/>
                <a:cs typeface="Malgun Gothic" pitchFamily="34" charset="-120"/>
              </a:rPr>
              <a:t>1</a:t>
            </a:r>
            <a:endParaRPr lang="ko-KR" altLang="en-US" sz="3400" dirty="0"/>
          </a:p>
        </p:txBody>
      </p:sp>
      <p:sp>
        <p:nvSpPr>
          <p:cNvPr id="7" name="Text 5"/>
          <p:cNvSpPr txBox="1"/>
          <p:nvPr/>
        </p:nvSpPr>
        <p:spPr>
          <a:xfrm>
            <a:off x="1554480" y="2121408"/>
            <a:ext cx="2377440" cy="365760"/>
          </a:xfrm>
          <a:prstGeom prst="rect">
            <a:avLst/>
          </a:prstGeom>
          <a:noFill/>
          <a:ln/>
        </p:spPr>
        <p:txBody>
          <a:bodyPr wrap="square" lIns="0" tIns="0" rIns="0" bIns="0" rtlCol="0" anchor="ctr"/>
          <a:lstStyle/>
          <a:p>
            <a:pPr indent="0" marL="0">
              <a:buNone/>
            </a:pPr>
            <a:r>
              <a:rPr lang="ko-KR" altLang="en-US" sz="1800" b="1" dirty="0">
                <a:solidFill>
                  <a:srgbClr val="111111"/>
                </a:solidFill>
                <a:latin typeface="Malgun Gothic" pitchFamily="34" charset="0"/>
                <a:ea typeface="Malgun Gothic" pitchFamily="34" charset="-122"/>
                <a:cs typeface="Malgun Gothic" pitchFamily="34" charset="-120"/>
              </a:rPr>
              <a:t>홈</a:t>
            </a:r>
            <a:endParaRPr lang="ko-KR" altLang="en-US" sz="1800" dirty="0"/>
          </a:p>
        </p:txBody>
      </p:sp>
      <p:sp>
        <p:nvSpPr>
          <p:cNvPr id="8" name="Text 6"/>
          <p:cNvSpPr txBox="1"/>
          <p:nvPr/>
        </p:nvSpPr>
        <p:spPr>
          <a:xfrm>
            <a:off x="804672" y="2743200"/>
            <a:ext cx="3063240" cy="548640"/>
          </a:xfrm>
          <a:prstGeom prst="rect">
            <a:avLst/>
          </a:prstGeom>
          <a:noFill/>
          <a:ln/>
        </p:spPr>
        <p:txBody>
          <a:bodyPr wrap="square" lIns="0" tIns="0" rIns="0" bIns="0" rtlCol="0" anchor="t"/>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배너가 넘어간다 · 카드 리본 한 번 → ✓</a:t>
            </a:r>
            <a:endParaRPr lang="ko-KR" altLang="en-US" sz="1300" dirty="0"/>
          </a:p>
        </p:txBody>
      </p:sp>
      <p:sp>
        <p:nvSpPr>
          <p:cNvPr id="9" name="Shape 7"/>
          <p:cNvSpPr/>
          <p:nvPr/>
        </p:nvSpPr>
        <p:spPr>
          <a:xfrm>
            <a:off x="804672" y="3346704"/>
            <a:ext cx="1600200" cy="274320"/>
          </a:xfrm>
          <a:prstGeom prst="roundRect">
            <a:avLst>
              <a:gd name="adj" fmla="val 50000"/>
            </a:avLst>
          </a:prstGeom>
          <a:solidFill>
            <a:srgbClr val="EAF4FC"/>
          </a:solidFill>
          <a:ln/>
        </p:spPr>
      </p:sp>
      <p:sp>
        <p:nvSpPr>
          <p:cNvPr id="10" name="Text 8"/>
          <p:cNvSpPr txBox="1"/>
          <p:nvPr/>
        </p:nvSpPr>
        <p:spPr>
          <a:xfrm>
            <a:off x="804672" y="3346704"/>
            <a:ext cx="1600200" cy="274320"/>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화면 전환</a:t>
            </a:r>
            <a:endParaRPr lang="ko-KR" altLang="en-US" sz="1050" dirty="0"/>
          </a:p>
        </p:txBody>
      </p:sp>
      <p:sp>
        <p:nvSpPr>
          <p:cNvPr id="11" name="Shape 9"/>
          <p:cNvSpPr/>
          <p:nvPr/>
        </p:nvSpPr>
        <p:spPr>
          <a:xfrm>
            <a:off x="4297680" y="1828800"/>
            <a:ext cx="3547872" cy="1965960"/>
          </a:xfrm>
          <a:prstGeom prst="roundRect">
            <a:avLst>
              <a:gd name="adj" fmla="val 744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2" name="Text 10"/>
          <p:cNvSpPr txBox="1"/>
          <p:nvPr/>
        </p:nvSpPr>
        <p:spPr>
          <a:xfrm>
            <a:off x="4553712" y="2029968"/>
            <a:ext cx="822960" cy="640080"/>
          </a:xfrm>
          <a:prstGeom prst="rect">
            <a:avLst/>
          </a:prstGeom>
          <a:noFill/>
          <a:ln/>
        </p:spPr>
        <p:txBody>
          <a:bodyPr wrap="square" lIns="0" tIns="0" rIns="0" bIns="0" rtlCol="0" anchor="t"/>
          <a:lstStyle/>
          <a:p>
            <a:pPr indent="0" marL="0">
              <a:buNone/>
            </a:pPr>
            <a:r>
              <a:rPr lang="ko-KR" altLang="en-US" sz="3400" b="1" dirty="0">
                <a:solidFill>
                  <a:srgbClr val="1C86D9"/>
                </a:solidFill>
                <a:latin typeface="Malgun Gothic" pitchFamily="34" charset="0"/>
                <a:ea typeface="Malgun Gothic" pitchFamily="34" charset="-122"/>
                <a:cs typeface="Malgun Gothic" pitchFamily="34" charset="-120"/>
              </a:rPr>
              <a:t>2</a:t>
            </a:r>
            <a:endParaRPr lang="ko-KR" altLang="en-US" sz="3400" dirty="0"/>
          </a:p>
        </p:txBody>
      </p:sp>
      <p:sp>
        <p:nvSpPr>
          <p:cNvPr id="13" name="Text 11"/>
          <p:cNvSpPr txBox="1"/>
          <p:nvPr/>
        </p:nvSpPr>
        <p:spPr>
          <a:xfrm>
            <a:off x="5303520" y="2121408"/>
            <a:ext cx="2377440" cy="365760"/>
          </a:xfrm>
          <a:prstGeom prst="rect">
            <a:avLst/>
          </a:prstGeom>
          <a:noFill/>
          <a:ln/>
        </p:spPr>
        <p:txBody>
          <a:bodyPr wrap="square" lIns="0" tIns="0" rIns="0" bIns="0" rtlCol="0" anchor="ctr"/>
          <a:lstStyle/>
          <a:p>
            <a:pPr indent="0" marL="0">
              <a:buNone/>
            </a:pPr>
            <a:r>
              <a:rPr lang="ko-KR" altLang="en-US" sz="1800" b="1" dirty="0">
                <a:solidFill>
                  <a:srgbClr val="111111"/>
                </a:solidFill>
                <a:latin typeface="Malgun Gothic" pitchFamily="34" charset="0"/>
                <a:ea typeface="Malgun Gothic" pitchFamily="34" charset="-122"/>
                <a:cs typeface="Malgun Gothic" pitchFamily="34" charset="-120"/>
              </a:rPr>
              <a:t>찍어서 찾기</a:t>
            </a:r>
            <a:endParaRPr lang="ko-KR" altLang="en-US" sz="1800" dirty="0"/>
          </a:p>
        </p:txBody>
      </p:sp>
      <p:sp>
        <p:nvSpPr>
          <p:cNvPr id="14" name="Text 12"/>
          <p:cNvSpPr txBox="1"/>
          <p:nvPr/>
        </p:nvSpPr>
        <p:spPr>
          <a:xfrm>
            <a:off x="4553712" y="2743200"/>
            <a:ext cx="3063240" cy="548640"/>
          </a:xfrm>
          <a:prstGeom prst="rect">
            <a:avLst/>
          </a:prstGeom>
          <a:noFill/>
          <a:ln/>
        </p:spPr>
        <p:txBody>
          <a:bodyPr wrap="square" lIns="0" tIns="0" rIns="0" bIns="0" rtlCol="0" anchor="t"/>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"AI가 비교하는 중…" → 후보 · 일치도</a:t>
            </a:r>
            <a:endParaRPr lang="ko-KR" altLang="en-US" sz="1300" dirty="0"/>
          </a:p>
        </p:txBody>
      </p:sp>
      <p:sp>
        <p:nvSpPr>
          <p:cNvPr id="15" name="Shape 13"/>
          <p:cNvSpPr/>
          <p:nvPr/>
        </p:nvSpPr>
        <p:spPr>
          <a:xfrm>
            <a:off x="4553712" y="3346704"/>
            <a:ext cx="1600200" cy="274320"/>
          </a:xfrm>
          <a:prstGeom prst="roundRect">
            <a:avLst>
              <a:gd name="adj" fmla="val 50000"/>
            </a:avLst>
          </a:prstGeom>
          <a:solidFill>
            <a:srgbClr val="EAF4FC"/>
          </a:solidFill>
          <a:ln/>
        </p:spPr>
      </p:sp>
      <p:sp>
        <p:nvSpPr>
          <p:cNvPr id="16" name="Text 14"/>
          <p:cNvSpPr txBox="1"/>
          <p:nvPr/>
        </p:nvSpPr>
        <p:spPr>
          <a:xfrm>
            <a:off x="4553712" y="3346704"/>
            <a:ext cx="1600200" cy="274320"/>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임의 결과</a:t>
            </a:r>
            <a:endParaRPr lang="ko-KR" altLang="en-US" sz="1050" dirty="0"/>
          </a:p>
        </p:txBody>
      </p:sp>
      <p:sp>
        <p:nvSpPr>
          <p:cNvPr id="17" name="Shape 15"/>
          <p:cNvSpPr/>
          <p:nvPr/>
        </p:nvSpPr>
        <p:spPr>
          <a:xfrm>
            <a:off x="8046720" y="1828800"/>
            <a:ext cx="3547872" cy="1965960"/>
          </a:xfrm>
          <a:prstGeom prst="roundRect">
            <a:avLst>
              <a:gd name="adj" fmla="val 744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8" name="Text 16"/>
          <p:cNvSpPr txBox="1"/>
          <p:nvPr/>
        </p:nvSpPr>
        <p:spPr>
          <a:xfrm>
            <a:off x="8302752" y="2029968"/>
            <a:ext cx="822960" cy="640080"/>
          </a:xfrm>
          <a:prstGeom prst="rect">
            <a:avLst/>
          </a:prstGeom>
          <a:noFill/>
          <a:ln/>
        </p:spPr>
        <p:txBody>
          <a:bodyPr wrap="square" lIns="0" tIns="0" rIns="0" bIns="0" rtlCol="0" anchor="t"/>
          <a:lstStyle/>
          <a:p>
            <a:pPr indent="0" marL="0">
              <a:buNone/>
            </a:pPr>
            <a:r>
              <a:rPr lang="ko-KR" altLang="en-US" sz="3400" b="1" dirty="0">
                <a:solidFill>
                  <a:srgbClr val="1C86D9"/>
                </a:solidFill>
                <a:latin typeface="Malgun Gothic" pitchFamily="34" charset="0"/>
                <a:ea typeface="Malgun Gothic" pitchFamily="34" charset="-122"/>
                <a:cs typeface="Malgun Gothic" pitchFamily="34" charset="-120"/>
              </a:rPr>
              <a:t>3</a:t>
            </a:r>
            <a:endParaRPr lang="ko-KR" altLang="en-US" sz="3400" dirty="0"/>
          </a:p>
        </p:txBody>
      </p:sp>
      <p:sp>
        <p:nvSpPr>
          <p:cNvPr id="19" name="Text 17"/>
          <p:cNvSpPr txBox="1"/>
          <p:nvPr/>
        </p:nvSpPr>
        <p:spPr>
          <a:xfrm>
            <a:off x="9052560" y="2121408"/>
            <a:ext cx="2377440" cy="365760"/>
          </a:xfrm>
          <a:prstGeom prst="rect">
            <a:avLst/>
          </a:prstGeom>
          <a:noFill/>
          <a:ln/>
        </p:spPr>
        <p:txBody>
          <a:bodyPr wrap="square" lIns="0" tIns="0" rIns="0" bIns="0" rtlCol="0" anchor="ctr"/>
          <a:lstStyle/>
          <a:p>
            <a:pPr indent="0" marL="0">
              <a:buNone/>
            </a:pPr>
            <a:r>
              <a:rPr lang="ko-KR" altLang="en-US" sz="1800" b="1" dirty="0">
                <a:solidFill>
                  <a:srgbClr val="111111"/>
                </a:solidFill>
                <a:latin typeface="Malgun Gothic" pitchFamily="34" charset="0"/>
                <a:ea typeface="Malgun Gothic" pitchFamily="34" charset="-122"/>
                <a:cs typeface="Malgun Gothic" pitchFamily="34" charset="-120"/>
              </a:rPr>
              <a:t>컬렉션</a:t>
            </a:r>
            <a:endParaRPr lang="ko-KR" altLang="en-US" sz="1800" dirty="0"/>
          </a:p>
        </p:txBody>
      </p:sp>
      <p:sp>
        <p:nvSpPr>
          <p:cNvPr id="20" name="Text 18"/>
          <p:cNvSpPr txBox="1"/>
          <p:nvPr/>
        </p:nvSpPr>
        <p:spPr>
          <a:xfrm>
            <a:off x="8302752" y="2743200"/>
            <a:ext cx="3063240" cy="548640"/>
          </a:xfrm>
          <a:prstGeom prst="rect">
            <a:avLst/>
          </a:prstGeom>
          <a:noFill/>
          <a:ln/>
        </p:spPr>
        <p:txBody>
          <a:bodyPr wrap="square" lIns="0" tIns="0" rIns="0" bIns="0" rtlCol="0" anchor="t"/>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방금 담은 상품이 이미 있다</a:t>
            </a:r>
            <a:endParaRPr lang="ko-KR" altLang="en-US" sz="1300" dirty="0"/>
          </a:p>
        </p:txBody>
      </p:sp>
      <p:sp>
        <p:nvSpPr>
          <p:cNvPr id="21" name="Shape 19"/>
          <p:cNvSpPr/>
          <p:nvPr/>
        </p:nvSpPr>
        <p:spPr>
          <a:xfrm>
            <a:off x="8302752" y="3346704"/>
            <a:ext cx="1600200" cy="274320"/>
          </a:xfrm>
          <a:prstGeom prst="roundRect">
            <a:avLst>
              <a:gd name="adj" fmla="val 50000"/>
            </a:avLst>
          </a:prstGeom>
          <a:solidFill>
            <a:srgbClr val="EAF4FC"/>
          </a:solidFill>
          <a:ln/>
        </p:spPr>
      </p:sp>
      <p:sp>
        <p:nvSpPr>
          <p:cNvPr id="22" name="Text 20"/>
          <p:cNvSpPr txBox="1"/>
          <p:nvPr/>
        </p:nvSpPr>
        <p:spPr>
          <a:xfrm>
            <a:off x="8302752" y="3346704"/>
            <a:ext cx="1600200" cy="274320"/>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json-server GET</a:t>
            </a:r>
            <a:endParaRPr lang="ko-KR" altLang="en-US" sz="1050" dirty="0"/>
          </a:p>
        </p:txBody>
      </p:sp>
      <p:sp>
        <p:nvSpPr>
          <p:cNvPr id="23" name="Shape 21"/>
          <p:cNvSpPr/>
          <p:nvPr/>
        </p:nvSpPr>
        <p:spPr>
          <a:xfrm>
            <a:off x="548640" y="3977640"/>
            <a:ext cx="3547872" cy="1965960"/>
          </a:xfrm>
          <a:prstGeom prst="roundRect">
            <a:avLst>
              <a:gd name="adj" fmla="val 744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24" name="Text 22"/>
          <p:cNvSpPr txBox="1"/>
          <p:nvPr/>
        </p:nvSpPr>
        <p:spPr>
          <a:xfrm>
            <a:off x="804672" y="4178808"/>
            <a:ext cx="822960" cy="640080"/>
          </a:xfrm>
          <a:prstGeom prst="rect">
            <a:avLst/>
          </a:prstGeom>
          <a:noFill/>
          <a:ln/>
        </p:spPr>
        <p:txBody>
          <a:bodyPr wrap="square" lIns="0" tIns="0" rIns="0" bIns="0" rtlCol="0" anchor="t"/>
          <a:lstStyle/>
          <a:p>
            <a:pPr indent="0" marL="0">
              <a:buNone/>
            </a:pPr>
            <a:r>
              <a:rPr lang="ko-KR" altLang="en-US" sz="3400" b="1" dirty="0">
                <a:solidFill>
                  <a:srgbClr val="1C86D9"/>
                </a:solidFill>
                <a:latin typeface="Malgun Gothic" pitchFamily="34" charset="0"/>
                <a:ea typeface="Malgun Gothic" pitchFamily="34" charset="-122"/>
                <a:cs typeface="Malgun Gothic" pitchFamily="34" charset="-120"/>
              </a:rPr>
              <a:t>4</a:t>
            </a:r>
            <a:endParaRPr lang="ko-KR" altLang="en-US" sz="3400" dirty="0"/>
          </a:p>
        </p:txBody>
      </p:sp>
      <p:sp>
        <p:nvSpPr>
          <p:cNvPr id="25" name="Text 23"/>
          <p:cNvSpPr txBox="1"/>
          <p:nvPr/>
        </p:nvSpPr>
        <p:spPr>
          <a:xfrm>
            <a:off x="1554480" y="4270248"/>
            <a:ext cx="2377440" cy="365760"/>
          </a:xfrm>
          <a:prstGeom prst="rect">
            <a:avLst/>
          </a:prstGeom>
          <a:noFill/>
          <a:ln/>
        </p:spPr>
        <p:txBody>
          <a:bodyPr wrap="square" lIns="0" tIns="0" rIns="0" bIns="0" rtlCol="0" anchor="ctr"/>
          <a:lstStyle/>
          <a:p>
            <a:pPr indent="0" marL="0">
              <a:buNone/>
            </a:pPr>
            <a:r>
              <a:rPr lang="ko-KR" altLang="en-US" sz="1800" b="1" dirty="0">
                <a:solidFill>
                  <a:srgbClr val="111111"/>
                </a:solidFill>
                <a:latin typeface="Malgun Gothic" pitchFamily="34" charset="0"/>
                <a:ea typeface="Malgun Gothic" pitchFamily="34" charset="-122"/>
                <a:cs typeface="Malgun Gothic" pitchFamily="34" charset="-120"/>
              </a:rPr>
              <a:t>도감</a:t>
            </a:r>
            <a:endParaRPr lang="ko-KR" altLang="en-US" sz="1800" dirty="0"/>
          </a:p>
        </p:txBody>
      </p:sp>
      <p:sp>
        <p:nvSpPr>
          <p:cNvPr id="26" name="Text 24"/>
          <p:cNvSpPr txBox="1"/>
          <p:nvPr/>
        </p:nvSpPr>
        <p:spPr>
          <a:xfrm>
            <a:off x="804672" y="4892040"/>
            <a:ext cx="3063240" cy="548640"/>
          </a:xfrm>
          <a:prstGeom prst="rect">
            <a:avLst/>
          </a:prstGeom>
          <a:noFill/>
          <a:ln/>
        </p:spPr>
        <p:txBody>
          <a:bodyPr wrap="square" lIns="0" tIns="0" rIns="0" bIns="0" rtlCol="0" anchor="t"/>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칸이 켜지고 Lv 막대가 오른다</a:t>
            </a:r>
            <a:endParaRPr lang="ko-KR" altLang="en-US" sz="1300" dirty="0"/>
          </a:p>
        </p:txBody>
      </p:sp>
      <p:sp>
        <p:nvSpPr>
          <p:cNvPr id="27" name="Shape 25"/>
          <p:cNvSpPr/>
          <p:nvPr/>
        </p:nvSpPr>
        <p:spPr>
          <a:xfrm>
            <a:off x="804672" y="5495544"/>
            <a:ext cx="1600200" cy="274320"/>
          </a:xfrm>
          <a:prstGeom prst="roundRect">
            <a:avLst>
              <a:gd name="adj" fmla="val 50000"/>
            </a:avLst>
          </a:prstGeom>
          <a:solidFill>
            <a:srgbClr val="EAF4FC"/>
          </a:solidFill>
          <a:ln/>
        </p:spPr>
      </p:sp>
      <p:sp>
        <p:nvSpPr>
          <p:cNvPr id="28" name="Text 26"/>
          <p:cNvSpPr txBox="1"/>
          <p:nvPr/>
        </p:nvSpPr>
        <p:spPr>
          <a:xfrm>
            <a:off x="804672" y="5495544"/>
            <a:ext cx="1600200" cy="274320"/>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상태 표시</a:t>
            </a:r>
            <a:endParaRPr lang="ko-KR" altLang="en-US" sz="1050" dirty="0"/>
          </a:p>
        </p:txBody>
      </p:sp>
      <p:sp>
        <p:nvSpPr>
          <p:cNvPr id="29" name="Shape 27"/>
          <p:cNvSpPr/>
          <p:nvPr/>
        </p:nvSpPr>
        <p:spPr>
          <a:xfrm>
            <a:off x="4297680" y="3977640"/>
            <a:ext cx="3547872" cy="1965960"/>
          </a:xfrm>
          <a:prstGeom prst="roundRect">
            <a:avLst>
              <a:gd name="adj" fmla="val 744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30" name="Text 28"/>
          <p:cNvSpPr txBox="1"/>
          <p:nvPr/>
        </p:nvSpPr>
        <p:spPr>
          <a:xfrm>
            <a:off x="4553712" y="4178808"/>
            <a:ext cx="822960" cy="640080"/>
          </a:xfrm>
          <a:prstGeom prst="rect">
            <a:avLst/>
          </a:prstGeom>
          <a:noFill/>
          <a:ln/>
        </p:spPr>
        <p:txBody>
          <a:bodyPr wrap="square" lIns="0" tIns="0" rIns="0" bIns="0" rtlCol="0" anchor="t"/>
          <a:lstStyle/>
          <a:p>
            <a:pPr indent="0" marL="0">
              <a:buNone/>
            </a:pPr>
            <a:r>
              <a:rPr lang="ko-KR" altLang="en-US" sz="3400" b="1" dirty="0">
                <a:solidFill>
                  <a:srgbClr val="1C86D9"/>
                </a:solidFill>
                <a:latin typeface="Malgun Gothic" pitchFamily="34" charset="0"/>
                <a:ea typeface="Malgun Gothic" pitchFamily="34" charset="-122"/>
                <a:cs typeface="Malgun Gothic" pitchFamily="34" charset="-120"/>
              </a:rPr>
              <a:t>5</a:t>
            </a:r>
            <a:endParaRPr lang="ko-KR" altLang="en-US" sz="3400" dirty="0"/>
          </a:p>
        </p:txBody>
      </p:sp>
      <p:sp>
        <p:nvSpPr>
          <p:cNvPr id="31" name="Text 29"/>
          <p:cNvSpPr txBox="1"/>
          <p:nvPr/>
        </p:nvSpPr>
        <p:spPr>
          <a:xfrm>
            <a:off x="5303520" y="4270248"/>
            <a:ext cx="2377440" cy="365760"/>
          </a:xfrm>
          <a:prstGeom prst="rect">
            <a:avLst/>
          </a:prstGeom>
          <a:noFill/>
          <a:ln/>
        </p:spPr>
        <p:txBody>
          <a:bodyPr wrap="square" lIns="0" tIns="0" rIns="0" bIns="0" rtlCol="0" anchor="ctr"/>
          <a:lstStyle/>
          <a:p>
            <a:pPr indent="0" marL="0">
              <a:buNone/>
            </a:pPr>
            <a:r>
              <a:rPr lang="ko-KR" altLang="en-US" sz="1800" b="1" dirty="0">
                <a:solidFill>
                  <a:srgbClr val="111111"/>
                </a:solidFill>
                <a:latin typeface="Malgun Gothic" pitchFamily="34" charset="0"/>
                <a:ea typeface="Malgun Gothic" pitchFamily="34" charset="-122"/>
                <a:cs typeface="Malgun Gothic" pitchFamily="34" charset="-120"/>
              </a:rPr>
              <a:t>창 넓히기</a:t>
            </a:r>
            <a:endParaRPr lang="ko-KR" altLang="en-US" sz="1800" dirty="0"/>
          </a:p>
        </p:txBody>
      </p:sp>
      <p:sp>
        <p:nvSpPr>
          <p:cNvPr id="32" name="Text 30"/>
          <p:cNvSpPr txBox="1"/>
          <p:nvPr/>
        </p:nvSpPr>
        <p:spPr>
          <a:xfrm>
            <a:off x="4553712" y="4892040"/>
            <a:ext cx="3063240" cy="548640"/>
          </a:xfrm>
          <a:prstGeom prst="rect">
            <a:avLst/>
          </a:prstGeom>
          <a:noFill/>
          <a:ln/>
        </p:spPr>
        <p:txBody>
          <a:bodyPr wrap="square" lIns="0" tIns="0" rIns="0" bIns="0" rtlCol="0" anchor="t"/>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왼쪽 앱 · 오른쪽 상세 (반반 화면)</a:t>
            </a:r>
            <a:endParaRPr lang="ko-KR" altLang="en-US" sz="1300" dirty="0"/>
          </a:p>
        </p:txBody>
      </p:sp>
      <p:sp>
        <p:nvSpPr>
          <p:cNvPr id="33" name="Shape 31"/>
          <p:cNvSpPr/>
          <p:nvPr/>
        </p:nvSpPr>
        <p:spPr>
          <a:xfrm>
            <a:off x="4553712" y="5495544"/>
            <a:ext cx="1600200" cy="274320"/>
          </a:xfrm>
          <a:prstGeom prst="roundRect">
            <a:avLst>
              <a:gd name="adj" fmla="val 50000"/>
            </a:avLst>
          </a:prstGeom>
          <a:solidFill>
            <a:srgbClr val="EAF4FC"/>
          </a:solidFill>
          <a:ln/>
        </p:spPr>
      </p:sp>
      <p:sp>
        <p:nvSpPr>
          <p:cNvPr id="34" name="Text 32"/>
          <p:cNvSpPr txBox="1"/>
          <p:nvPr/>
        </p:nvSpPr>
        <p:spPr>
          <a:xfrm>
            <a:off x="4553712" y="5495544"/>
            <a:ext cx="1600200" cy="274320"/>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적응형</a:t>
            </a:r>
            <a:endParaRPr lang="ko-KR" altLang="en-US" sz="1050" dirty="0"/>
          </a:p>
        </p:txBody>
      </p:sp>
      <p:sp>
        <p:nvSpPr>
          <p:cNvPr id="35" name="Shape 33"/>
          <p:cNvSpPr/>
          <p:nvPr/>
        </p:nvSpPr>
        <p:spPr>
          <a:xfrm>
            <a:off x="8046720" y="3977640"/>
            <a:ext cx="3547872" cy="1965960"/>
          </a:xfrm>
          <a:prstGeom prst="roundRect">
            <a:avLst>
              <a:gd name="adj" fmla="val 744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36" name="Text 34"/>
          <p:cNvSpPr txBox="1"/>
          <p:nvPr/>
        </p:nvSpPr>
        <p:spPr>
          <a:xfrm>
            <a:off x="8302752" y="4178808"/>
            <a:ext cx="822960" cy="640080"/>
          </a:xfrm>
          <a:prstGeom prst="rect">
            <a:avLst/>
          </a:prstGeom>
          <a:noFill/>
          <a:ln/>
        </p:spPr>
        <p:txBody>
          <a:bodyPr wrap="square" lIns="0" tIns="0" rIns="0" bIns="0" rtlCol="0" anchor="t"/>
          <a:lstStyle/>
          <a:p>
            <a:pPr indent="0" marL="0">
              <a:buNone/>
            </a:pPr>
            <a:r>
              <a:rPr lang="ko-KR" altLang="en-US" sz="3400" b="1" dirty="0">
                <a:solidFill>
                  <a:srgbClr val="D93F44"/>
                </a:solidFill>
                <a:latin typeface="Malgun Gothic" pitchFamily="34" charset="0"/>
                <a:ea typeface="Malgun Gothic" pitchFamily="34" charset="-122"/>
                <a:cs typeface="Malgun Gothic" pitchFamily="34" charset="-120"/>
              </a:rPr>
              <a:t>6</a:t>
            </a:r>
            <a:endParaRPr lang="ko-KR" altLang="en-US" sz="3400" dirty="0"/>
          </a:p>
        </p:txBody>
      </p:sp>
      <p:sp>
        <p:nvSpPr>
          <p:cNvPr id="37" name="Text 35"/>
          <p:cNvSpPr txBox="1"/>
          <p:nvPr/>
        </p:nvSpPr>
        <p:spPr>
          <a:xfrm>
            <a:off x="9052560" y="4270248"/>
            <a:ext cx="2377440" cy="365760"/>
          </a:xfrm>
          <a:prstGeom prst="rect">
            <a:avLst/>
          </a:prstGeom>
          <a:noFill/>
          <a:ln/>
        </p:spPr>
        <p:txBody>
          <a:bodyPr wrap="square" lIns="0" tIns="0" rIns="0" bIns="0" rtlCol="0" anchor="ctr"/>
          <a:lstStyle/>
          <a:p>
            <a:pPr indent="0" marL="0">
              <a:buNone/>
            </a:pPr>
            <a:r>
              <a:rPr lang="ko-KR" altLang="en-US" sz="1800" b="1" dirty="0">
                <a:solidFill>
                  <a:srgbClr val="111111"/>
                </a:solidFill>
                <a:latin typeface="Malgun Gothic" pitchFamily="34" charset="0"/>
                <a:ea typeface="Malgun Gothic" pitchFamily="34" charset="-122"/>
                <a:cs typeface="Malgun Gothic" pitchFamily="34" charset="-120"/>
              </a:rPr>
              <a:t>서버 끄기</a:t>
            </a:r>
            <a:endParaRPr lang="ko-KR" altLang="en-US" sz="1800" dirty="0"/>
          </a:p>
        </p:txBody>
      </p:sp>
      <p:sp>
        <p:nvSpPr>
          <p:cNvPr id="38" name="Text 36"/>
          <p:cNvSpPr txBox="1"/>
          <p:nvPr/>
        </p:nvSpPr>
        <p:spPr>
          <a:xfrm>
            <a:off x="8302752" y="4892040"/>
            <a:ext cx="3063240" cy="548640"/>
          </a:xfrm>
          <a:prstGeom prst="rect">
            <a:avLst/>
          </a:prstGeom>
          <a:noFill/>
          <a:ln/>
        </p:spPr>
        <p:txBody>
          <a:bodyPr wrap="square" lIns="0" tIns="0" rIns="0" bIns="0" rtlCol="0" anchor="t"/>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오류 + 다시 시도 → 서버 켜고 복구</a:t>
            </a:r>
            <a:endParaRPr lang="ko-KR" altLang="en-US" sz="1300" dirty="0"/>
          </a:p>
        </p:txBody>
      </p:sp>
      <p:sp>
        <p:nvSpPr>
          <p:cNvPr id="39" name="Shape 37"/>
          <p:cNvSpPr/>
          <p:nvPr/>
        </p:nvSpPr>
        <p:spPr>
          <a:xfrm>
            <a:off x="8302752" y="5495544"/>
            <a:ext cx="1600200" cy="274320"/>
          </a:xfrm>
          <a:prstGeom prst="roundRect">
            <a:avLst>
              <a:gd name="adj" fmla="val 50000"/>
            </a:avLst>
          </a:prstGeom>
          <a:solidFill>
            <a:srgbClr val="EAF4FC"/>
          </a:solidFill>
          <a:ln/>
        </p:spPr>
      </p:sp>
      <p:sp>
        <p:nvSpPr>
          <p:cNvPr id="40" name="Text 38"/>
          <p:cNvSpPr txBox="1"/>
          <p:nvPr/>
        </p:nvSpPr>
        <p:spPr>
          <a:xfrm>
            <a:off x="8302752" y="5495544"/>
            <a:ext cx="1600200" cy="274320"/>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로딩 · 오류 · 빈</a:t>
            </a:r>
            <a:endParaRPr lang="ko-KR" altLang="en-US" sz="10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14</a:t>
            </a:fld>
            <a:endParaRPr lang="ko-KR"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8  Personal Learnings</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배운 것: 화면은 ‘사용자가 하는 일의 순서’로 나눈다</a:t>
            </a:r>
            <a:endParaRPr lang="ko-KR" altLang="en-US" sz="2800" dirty="0"/>
          </a:p>
        </p:txBody>
      </p:sp>
      <p:sp>
        <p:nvSpPr>
          <p:cNvPr id="4" name="Shape 2"/>
          <p:cNvSpPr/>
          <p:nvPr/>
        </p:nvSpPr>
        <p:spPr>
          <a:xfrm>
            <a:off x="548640" y="1600200"/>
            <a:ext cx="3557016" cy="3291840"/>
          </a:xfrm>
          <a:prstGeom prst="roundRect">
            <a:avLst>
              <a:gd name="adj" fmla="val 444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 name="Text 3"/>
          <p:cNvSpPr txBox="1"/>
          <p:nvPr/>
        </p:nvSpPr>
        <p:spPr>
          <a:xfrm>
            <a:off x="822960" y="1810512"/>
            <a:ext cx="914400" cy="731520"/>
          </a:xfrm>
          <a:prstGeom prst="rect">
            <a:avLst/>
          </a:prstGeom>
          <a:noFill/>
          <a:ln/>
        </p:spPr>
        <p:txBody>
          <a:bodyPr wrap="square" lIns="0" tIns="0" rIns="0" bIns="0" rtlCol="0" anchor="t"/>
          <a:lstStyle/>
          <a:p>
            <a:pPr indent="0" marL="0">
              <a:buNone/>
            </a:pPr>
            <a:r>
              <a:rPr lang="ko-KR" altLang="en-US" sz="4000" b="1" dirty="0">
                <a:solidFill>
                  <a:srgbClr val="1C86D9"/>
                </a:solidFill>
                <a:latin typeface="Malgun Gothic" pitchFamily="34" charset="0"/>
                <a:ea typeface="Malgun Gothic" pitchFamily="34" charset="-122"/>
                <a:cs typeface="Malgun Gothic" pitchFamily="34" charset="-120"/>
              </a:rPr>
              <a:t>1</a:t>
            </a:r>
            <a:endParaRPr lang="ko-KR" altLang="en-US" sz="4000" dirty="0"/>
          </a:p>
        </p:txBody>
      </p:sp>
      <p:sp>
        <p:nvSpPr>
          <p:cNvPr id="6" name="Text 4"/>
          <p:cNvSpPr txBox="1"/>
          <p:nvPr/>
        </p:nvSpPr>
        <p:spPr>
          <a:xfrm>
            <a:off x="822960" y="2606040"/>
            <a:ext cx="3017520" cy="274320"/>
          </a:xfrm>
          <a:prstGeom prst="rect">
            <a:avLst/>
          </a:prstGeom>
          <a:noFill/>
          <a:ln/>
        </p:spPr>
        <p:txBody>
          <a:bodyPr wrap="square" lIns="0" tIns="0" rIns="0" bIns="0" rtlCol="0" anchor="t"/>
          <a:lstStyle/>
          <a:p>
            <a:pPr indent="0" marL="0">
              <a:buNone/>
            </a:pPr>
            <a:r>
              <a:rPr lang="ko-KR" altLang="en-US" sz="1250" b="1" dirty="0">
                <a:solidFill>
                  <a:srgbClr val="1C86D9"/>
                </a:solidFill>
                <a:latin typeface="Malgun Gothic" pitchFamily="34" charset="0"/>
                <a:ea typeface="Malgun Gothic" pitchFamily="34" charset="-122"/>
                <a:cs typeface="Malgun Gothic" pitchFamily="34" charset="-120"/>
              </a:rPr>
              <a:t>배운 것</a:t>
            </a:r>
            <a:endParaRPr lang="ko-KR" altLang="en-US" sz="1250" dirty="0"/>
          </a:p>
        </p:txBody>
      </p:sp>
      <p:sp>
        <p:nvSpPr>
          <p:cNvPr id="7" name="Text 5"/>
          <p:cNvSpPr txBox="1"/>
          <p:nvPr/>
        </p:nvSpPr>
        <p:spPr>
          <a:xfrm>
            <a:off x="822960" y="2926080"/>
            <a:ext cx="3017520" cy="822960"/>
          </a:xfrm>
          <a:prstGeom prst="rect">
            <a:avLst/>
          </a:prstGeom>
          <a:noFill/>
          <a:ln/>
        </p:spPr>
        <p:txBody>
          <a:bodyPr wrap="square" lIns="0" tIns="0" rIns="0" bIns="0" rtlCol="0" anchor="t"/>
          <a:lstStyle/>
          <a:p>
            <a:pPr indent="0" marL="0">
              <a:buNone/>
            </a:pPr>
            <a:r>
              <a:rPr lang="ko-KR" altLang="en-US" sz="1900" b="1" dirty="0">
                <a:solidFill>
                  <a:srgbClr val="111111"/>
                </a:solidFill>
                <a:latin typeface="Malgun Gothic" pitchFamily="34" charset="0"/>
                <a:ea typeface="Malgun Gothic" pitchFamily="34" charset="-122"/>
                <a:cs typeface="Malgun Gothic" pitchFamily="34" charset="-120"/>
              </a:rPr>
              <a:t>화면은 하는 일의 순서로</a:t>
            </a:r>
            <a:endParaRPr lang="ko-KR" altLang="en-US" sz="1900" dirty="0"/>
          </a:p>
        </p:txBody>
      </p:sp>
      <p:sp>
        <p:nvSpPr>
          <p:cNvPr id="8" name="Text 6"/>
          <p:cNvSpPr txBox="1"/>
          <p:nvPr/>
        </p:nvSpPr>
        <p:spPr>
          <a:xfrm>
            <a:off x="822960" y="3931920"/>
            <a:ext cx="3017520" cy="1097280"/>
          </a:xfrm>
          <a:prstGeom prst="rect">
            <a:avLst/>
          </a:prstGeom>
          <a:noFill/>
          <a:ln/>
        </p:spPr>
        <p:txBody>
          <a:bodyPr wrap="square" lIns="0" tIns="0" rIns="0" bIns="0" rtlCol="0" anchor="t"/>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5 Why를 내려가 보니 문제는 기능이 아니라 구조였다</a:t>
            </a:r>
            <a:endParaRPr lang="ko-KR" altLang="en-US" sz="1300" dirty="0"/>
          </a:p>
        </p:txBody>
      </p:sp>
      <p:sp>
        <p:nvSpPr>
          <p:cNvPr id="9" name="Shape 7"/>
          <p:cNvSpPr/>
          <p:nvPr/>
        </p:nvSpPr>
        <p:spPr>
          <a:xfrm>
            <a:off x="4315968" y="1600200"/>
            <a:ext cx="3557016" cy="3291840"/>
          </a:xfrm>
          <a:prstGeom prst="roundRect">
            <a:avLst>
              <a:gd name="adj" fmla="val 444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0" name="Text 8"/>
          <p:cNvSpPr txBox="1"/>
          <p:nvPr/>
        </p:nvSpPr>
        <p:spPr>
          <a:xfrm>
            <a:off x="4590288" y="1810512"/>
            <a:ext cx="914400" cy="731520"/>
          </a:xfrm>
          <a:prstGeom prst="rect">
            <a:avLst/>
          </a:prstGeom>
          <a:noFill/>
          <a:ln/>
        </p:spPr>
        <p:txBody>
          <a:bodyPr wrap="square" lIns="0" tIns="0" rIns="0" bIns="0" rtlCol="0" anchor="t"/>
          <a:lstStyle/>
          <a:p>
            <a:pPr indent="0" marL="0">
              <a:buNone/>
            </a:pPr>
            <a:r>
              <a:rPr lang="ko-KR" altLang="en-US" sz="4000" b="1" dirty="0">
                <a:solidFill>
                  <a:srgbClr val="B86E00"/>
                </a:solidFill>
                <a:latin typeface="Malgun Gothic" pitchFamily="34" charset="0"/>
                <a:ea typeface="Malgun Gothic" pitchFamily="34" charset="-122"/>
                <a:cs typeface="Malgun Gothic" pitchFamily="34" charset="-120"/>
              </a:rPr>
              <a:t>2</a:t>
            </a:r>
            <a:endParaRPr lang="ko-KR" altLang="en-US" sz="4000" dirty="0"/>
          </a:p>
        </p:txBody>
      </p:sp>
      <p:sp>
        <p:nvSpPr>
          <p:cNvPr id="11" name="Text 9"/>
          <p:cNvSpPr txBox="1"/>
          <p:nvPr/>
        </p:nvSpPr>
        <p:spPr>
          <a:xfrm>
            <a:off x="4590288" y="2606040"/>
            <a:ext cx="3017520" cy="274320"/>
          </a:xfrm>
          <a:prstGeom prst="rect">
            <a:avLst/>
          </a:prstGeom>
          <a:noFill/>
          <a:ln/>
        </p:spPr>
        <p:txBody>
          <a:bodyPr wrap="square" lIns="0" tIns="0" rIns="0" bIns="0" rtlCol="0" anchor="t"/>
          <a:lstStyle/>
          <a:p>
            <a:pPr indent="0" marL="0">
              <a:buNone/>
            </a:pPr>
            <a:r>
              <a:rPr lang="ko-KR" altLang="en-US" sz="1250" b="1" dirty="0">
                <a:solidFill>
                  <a:srgbClr val="B86E00"/>
                </a:solidFill>
                <a:latin typeface="Malgun Gothic" pitchFamily="34" charset="0"/>
                <a:ea typeface="Malgun Gothic" pitchFamily="34" charset="-122"/>
                <a:cs typeface="Malgun Gothic" pitchFamily="34" charset="-120"/>
              </a:rPr>
              <a:t>셀프 논증 회고</a:t>
            </a:r>
            <a:endParaRPr lang="ko-KR" altLang="en-US" sz="1250" dirty="0"/>
          </a:p>
        </p:txBody>
      </p:sp>
      <p:sp>
        <p:nvSpPr>
          <p:cNvPr id="12" name="Text 10"/>
          <p:cNvSpPr txBox="1"/>
          <p:nvPr/>
        </p:nvSpPr>
        <p:spPr>
          <a:xfrm>
            <a:off x="4590288" y="2926080"/>
            <a:ext cx="3017520" cy="822960"/>
          </a:xfrm>
          <a:prstGeom prst="rect">
            <a:avLst/>
          </a:prstGeom>
          <a:noFill/>
          <a:ln/>
        </p:spPr>
        <p:txBody>
          <a:bodyPr wrap="square" lIns="0" tIns="0" rIns="0" bIns="0" rtlCol="0" anchor="t"/>
          <a:lstStyle/>
          <a:p>
            <a:pPr indent="0" marL="0">
              <a:buNone/>
            </a:pPr>
            <a:r>
              <a:rPr lang="ko-KR" altLang="en-US" sz="1900" b="1" dirty="0">
                <a:solidFill>
                  <a:srgbClr val="111111"/>
                </a:solidFill>
                <a:latin typeface="Malgun Gothic" pitchFamily="34" charset="0"/>
                <a:ea typeface="Malgun Gothic" pitchFamily="34" charset="-122"/>
                <a:cs typeface="Malgun Gothic" pitchFamily="34" charset="-120"/>
              </a:rPr>
              <a:t>반론은 받아들이기도, 버리기도</a:t>
            </a:r>
            <a:endParaRPr lang="ko-KR" altLang="en-US" sz="1900" dirty="0"/>
          </a:p>
        </p:txBody>
      </p:sp>
      <p:sp>
        <p:nvSpPr>
          <p:cNvPr id="13" name="Text 11"/>
          <p:cNvSpPr txBox="1"/>
          <p:nvPr/>
        </p:nvSpPr>
        <p:spPr>
          <a:xfrm>
            <a:off x="4590288" y="3931920"/>
            <a:ext cx="3017520" cy="1097280"/>
          </a:xfrm>
          <a:prstGeom prst="rect">
            <a:avLst/>
          </a:prstGeom>
          <a:noFill/>
          <a:ln/>
        </p:spPr>
        <p:txBody>
          <a:bodyPr wrap="square" lIns="0" tIns="0" rIns="0" bIns="0" rtlCol="0" anchor="t"/>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AI 반론으로 모양을 하나로 · AI 알약 필터는 폐기</a:t>
            </a:r>
            <a:endParaRPr lang="ko-KR" altLang="en-US" sz="1300" dirty="0"/>
          </a:p>
        </p:txBody>
      </p:sp>
      <p:sp>
        <p:nvSpPr>
          <p:cNvPr id="14" name="Shape 12"/>
          <p:cNvSpPr/>
          <p:nvPr/>
        </p:nvSpPr>
        <p:spPr>
          <a:xfrm>
            <a:off x="8083296" y="1600200"/>
            <a:ext cx="3557016" cy="3291840"/>
          </a:xfrm>
          <a:prstGeom prst="roundRect">
            <a:avLst>
              <a:gd name="adj" fmla="val 444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5" name="Text 13"/>
          <p:cNvSpPr txBox="1"/>
          <p:nvPr/>
        </p:nvSpPr>
        <p:spPr>
          <a:xfrm>
            <a:off x="8357616" y="1810512"/>
            <a:ext cx="914400" cy="731520"/>
          </a:xfrm>
          <a:prstGeom prst="rect">
            <a:avLst/>
          </a:prstGeom>
          <a:noFill/>
          <a:ln/>
        </p:spPr>
        <p:txBody>
          <a:bodyPr wrap="square" lIns="0" tIns="0" rIns="0" bIns="0" rtlCol="0" anchor="t"/>
          <a:lstStyle/>
          <a:p>
            <a:pPr indent="0" marL="0">
              <a:buNone/>
            </a:pPr>
            <a:r>
              <a:rPr lang="ko-KR" altLang="en-US" sz="4000" b="1" dirty="0">
                <a:solidFill>
                  <a:srgbClr val="12A07F"/>
                </a:solidFill>
                <a:latin typeface="Malgun Gothic" pitchFamily="34" charset="0"/>
                <a:ea typeface="Malgun Gothic" pitchFamily="34" charset="-122"/>
                <a:cs typeface="Malgun Gothic" pitchFamily="34" charset="-120"/>
              </a:rPr>
              <a:t>3</a:t>
            </a:r>
            <a:endParaRPr lang="ko-KR" altLang="en-US" sz="4000" dirty="0"/>
          </a:p>
        </p:txBody>
      </p:sp>
      <p:sp>
        <p:nvSpPr>
          <p:cNvPr id="16" name="Text 14"/>
          <p:cNvSpPr txBox="1"/>
          <p:nvPr/>
        </p:nvSpPr>
        <p:spPr>
          <a:xfrm>
            <a:off x="8357616" y="2606040"/>
            <a:ext cx="3017520" cy="274320"/>
          </a:xfrm>
          <a:prstGeom prst="rect">
            <a:avLst/>
          </a:prstGeom>
          <a:noFill/>
          <a:ln/>
        </p:spPr>
        <p:txBody>
          <a:bodyPr wrap="square" lIns="0" tIns="0" rIns="0" bIns="0" rtlCol="0" anchor="t"/>
          <a:lstStyle/>
          <a:p>
            <a:pPr indent="0" marL="0">
              <a:buNone/>
            </a:pPr>
            <a:r>
              <a:rPr lang="ko-KR" altLang="en-US" sz="1250" b="1" dirty="0">
                <a:solidFill>
                  <a:srgbClr val="12A07F"/>
                </a:solidFill>
                <a:latin typeface="Malgun Gothic" pitchFamily="34" charset="0"/>
                <a:ea typeface="Malgun Gothic" pitchFamily="34" charset="-122"/>
                <a:cs typeface="Malgun Gothic" pitchFamily="34" charset="-120"/>
              </a:rPr>
              <a:t>다음 v3</a:t>
            </a:r>
            <a:endParaRPr lang="ko-KR" altLang="en-US" sz="1250" dirty="0"/>
          </a:p>
        </p:txBody>
      </p:sp>
      <p:sp>
        <p:nvSpPr>
          <p:cNvPr id="17" name="Text 15"/>
          <p:cNvSpPr txBox="1"/>
          <p:nvPr/>
        </p:nvSpPr>
        <p:spPr>
          <a:xfrm>
            <a:off x="8357616" y="2926080"/>
            <a:ext cx="3017520" cy="822960"/>
          </a:xfrm>
          <a:prstGeom prst="rect">
            <a:avLst/>
          </a:prstGeom>
          <a:noFill/>
          <a:ln/>
        </p:spPr>
        <p:txBody>
          <a:bodyPr wrap="square" lIns="0" tIns="0" rIns="0" bIns="0" rtlCol="0" anchor="t"/>
          <a:lstStyle/>
          <a:p>
            <a:pPr indent="0" marL="0">
              <a:buNone/>
            </a:pPr>
            <a:r>
              <a:rPr lang="ko-KR" altLang="en-US" sz="1900" b="1" dirty="0">
                <a:solidFill>
                  <a:srgbClr val="111111"/>
                </a:solidFill>
                <a:latin typeface="Malgun Gothic" pitchFamily="34" charset="0"/>
                <a:ea typeface="Malgun Gothic" pitchFamily="34" charset="-122"/>
                <a:cs typeface="Malgun Gothic" pitchFamily="34" charset="-120"/>
              </a:rPr>
              <a:t>남는 기록과 로고</a:t>
            </a:r>
            <a:endParaRPr lang="ko-KR" altLang="en-US" sz="1900" dirty="0"/>
          </a:p>
        </p:txBody>
      </p:sp>
      <p:sp>
        <p:nvSpPr>
          <p:cNvPr id="18" name="Text 16"/>
          <p:cNvSpPr txBox="1"/>
          <p:nvPr/>
        </p:nvSpPr>
        <p:spPr>
          <a:xfrm>
            <a:off x="8357616" y="3931920"/>
            <a:ext cx="3017520" cy="1097280"/>
          </a:xfrm>
          <a:prstGeom prst="rect">
            <a:avLst/>
          </a:prstGeom>
          <a:noFill/>
          <a:ln/>
        </p:spPr>
        <p:txBody>
          <a:bodyPr wrap="square" lIns="0" tIns="0" rIns="0" bIns="0" rtlCol="0" anchor="t"/>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상태관리 수업에서 좋아요 · 도감 저장 · 로고 확정</a:t>
            </a:r>
            <a:endParaRPr lang="ko-KR" altLang="en-US" sz="13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15</a:t>
            </a:fld>
            <a:endParaRPr lang="ko-KR"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9  Q&amp;A</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감사합니다 — 질문 받겠습니다</a:t>
            </a:r>
            <a:endParaRPr lang="ko-KR" altLang="en-US" sz="2800" dirty="0"/>
          </a:p>
        </p:txBody>
      </p:sp>
      <p:sp>
        <p:nvSpPr>
          <p:cNvPr id="4" name="Shape 2"/>
          <p:cNvSpPr/>
          <p:nvPr/>
        </p:nvSpPr>
        <p:spPr>
          <a:xfrm>
            <a:off x="548640" y="1600200"/>
            <a:ext cx="7086600" cy="1325880"/>
          </a:xfrm>
          <a:prstGeom prst="roundRect">
            <a:avLst>
              <a:gd name="adj" fmla="val 8276"/>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 name="Text 3"/>
          <p:cNvSpPr txBox="1"/>
          <p:nvPr/>
        </p:nvSpPr>
        <p:spPr>
          <a:xfrm>
            <a:off x="777240" y="1746504"/>
            <a:ext cx="457200" cy="292608"/>
          </a:xfrm>
          <a:prstGeom prst="rect">
            <a:avLst/>
          </a:prstGeom>
          <a:noFill/>
          <a:ln/>
        </p:spPr>
        <p:txBody>
          <a:bodyPr wrap="square" lIns="0" tIns="0" rIns="0" bIns="0" rtlCol="0" anchor="t"/>
          <a:lstStyle/>
          <a:p>
            <a:pPr indent="0" marL="0">
              <a:buNone/>
            </a:pPr>
            <a:r>
              <a:rPr lang="ko-KR" altLang="en-US" sz="1400" b="1" dirty="0">
                <a:solidFill>
                  <a:srgbClr val="1C86D9"/>
                </a:solidFill>
                <a:latin typeface="Malgun Gothic" pitchFamily="34" charset="0"/>
                <a:ea typeface="Malgun Gothic" pitchFamily="34" charset="-122"/>
                <a:cs typeface="Malgun Gothic" pitchFamily="34" charset="-120"/>
              </a:rPr>
              <a:t>Q1</a:t>
            </a:r>
            <a:endParaRPr lang="ko-KR" altLang="en-US" sz="1400" dirty="0"/>
          </a:p>
        </p:txBody>
      </p:sp>
      <p:sp>
        <p:nvSpPr>
          <p:cNvPr id="6" name="Text 4"/>
          <p:cNvSpPr txBox="1"/>
          <p:nvPr/>
        </p:nvSpPr>
        <p:spPr>
          <a:xfrm>
            <a:off x="1280160" y="1746504"/>
            <a:ext cx="612648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AI 제안 중 받아들이지 않은 것은?</a:t>
            </a:r>
            <a:endParaRPr lang="ko-KR" altLang="en-US" sz="1400" dirty="0"/>
          </a:p>
        </p:txBody>
      </p:sp>
      <p:sp>
        <p:nvSpPr>
          <p:cNvPr id="7" name="Text 5"/>
          <p:cNvSpPr txBox="1"/>
          <p:nvPr/>
        </p:nvSpPr>
        <p:spPr>
          <a:xfrm>
            <a:off x="1280160" y="2103120"/>
            <a:ext cx="6126480" cy="731520"/>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AI가 처음 만든 화면 자체를 버리고 제가 다시 설계했습니다. 또 상태로 거르는 목록, 알약 필터, 로고 시안도 폐기했습니다.</a:t>
            </a:r>
            <a:endParaRPr lang="ko-KR" altLang="en-US" sz="1100" dirty="0"/>
          </a:p>
        </p:txBody>
      </p:sp>
      <p:sp>
        <p:nvSpPr>
          <p:cNvPr id="8" name="Shape 6"/>
          <p:cNvSpPr/>
          <p:nvPr/>
        </p:nvSpPr>
        <p:spPr>
          <a:xfrm>
            <a:off x="548640" y="3081528"/>
            <a:ext cx="7086600" cy="1325880"/>
          </a:xfrm>
          <a:prstGeom prst="roundRect">
            <a:avLst>
              <a:gd name="adj" fmla="val 8276"/>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9" name="Text 7"/>
          <p:cNvSpPr txBox="1"/>
          <p:nvPr/>
        </p:nvSpPr>
        <p:spPr>
          <a:xfrm>
            <a:off x="777240" y="3227832"/>
            <a:ext cx="457200" cy="292608"/>
          </a:xfrm>
          <a:prstGeom prst="rect">
            <a:avLst/>
          </a:prstGeom>
          <a:noFill/>
          <a:ln/>
        </p:spPr>
        <p:txBody>
          <a:bodyPr wrap="square" lIns="0" tIns="0" rIns="0" bIns="0" rtlCol="0" anchor="t"/>
          <a:lstStyle/>
          <a:p>
            <a:pPr indent="0" marL="0">
              <a:buNone/>
            </a:pPr>
            <a:r>
              <a:rPr lang="ko-KR" altLang="en-US" sz="1400" b="1" dirty="0">
                <a:solidFill>
                  <a:srgbClr val="1C86D9"/>
                </a:solidFill>
                <a:latin typeface="Malgun Gothic" pitchFamily="34" charset="0"/>
                <a:ea typeface="Malgun Gothic" pitchFamily="34" charset="-122"/>
                <a:cs typeface="Malgun Gothic" pitchFamily="34" charset="-120"/>
              </a:rPr>
              <a:t>Q2</a:t>
            </a:r>
            <a:endParaRPr lang="ko-KR" altLang="en-US" sz="1400" dirty="0"/>
          </a:p>
        </p:txBody>
      </p:sp>
      <p:sp>
        <p:nvSpPr>
          <p:cNvPr id="10" name="Text 8"/>
          <p:cNvSpPr txBox="1"/>
          <p:nvPr/>
        </p:nvSpPr>
        <p:spPr>
          <a:xfrm>
            <a:off x="1280160" y="3227832"/>
            <a:ext cx="612648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상태관리 패키지 없이 화면끼리 값을 어떻게 맞췄나요?</a:t>
            </a:r>
            <a:endParaRPr lang="ko-KR" altLang="en-US" sz="1400" dirty="0"/>
          </a:p>
        </p:txBody>
      </p:sp>
      <p:sp>
        <p:nvSpPr>
          <p:cNvPr id="11" name="Text 9"/>
          <p:cNvSpPr txBox="1"/>
          <p:nvPr/>
        </p:nvSpPr>
        <p:spPr>
          <a:xfrm>
            <a:off x="1280160" y="3584448"/>
            <a:ext cx="6126480" cy="731520"/>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맨 위 StatefulWidget의 setState를 InheritedWidget으로 내려 줍니다. 홈에서 리본을 누르면 컬렉션 숫자가 같이 바뀌고, 저장은 하지 않습니다.</a:t>
            </a:r>
            <a:endParaRPr lang="ko-KR" altLang="en-US" sz="1100" dirty="0"/>
          </a:p>
        </p:txBody>
      </p:sp>
      <p:sp>
        <p:nvSpPr>
          <p:cNvPr id="12" name="Shape 10"/>
          <p:cNvSpPr/>
          <p:nvPr/>
        </p:nvSpPr>
        <p:spPr>
          <a:xfrm>
            <a:off x="548640" y="4562856"/>
            <a:ext cx="7086600" cy="1325880"/>
          </a:xfrm>
          <a:prstGeom prst="roundRect">
            <a:avLst>
              <a:gd name="adj" fmla="val 8276"/>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3" name="Text 11"/>
          <p:cNvSpPr txBox="1"/>
          <p:nvPr/>
        </p:nvSpPr>
        <p:spPr>
          <a:xfrm>
            <a:off x="777240" y="4709160"/>
            <a:ext cx="457200" cy="292608"/>
          </a:xfrm>
          <a:prstGeom prst="rect">
            <a:avLst/>
          </a:prstGeom>
          <a:noFill/>
          <a:ln/>
        </p:spPr>
        <p:txBody>
          <a:bodyPr wrap="square" lIns="0" tIns="0" rIns="0" bIns="0" rtlCol="0" anchor="t"/>
          <a:lstStyle/>
          <a:p>
            <a:pPr indent="0" marL="0">
              <a:buNone/>
            </a:pPr>
            <a:r>
              <a:rPr lang="ko-KR" altLang="en-US" sz="1400" b="1" dirty="0">
                <a:solidFill>
                  <a:srgbClr val="1C86D9"/>
                </a:solidFill>
                <a:latin typeface="Malgun Gothic" pitchFamily="34" charset="0"/>
                <a:ea typeface="Malgun Gothic" pitchFamily="34" charset="-122"/>
                <a:cs typeface="Malgun Gothic" pitchFamily="34" charset="-120"/>
              </a:rPr>
              <a:t>Q3</a:t>
            </a:r>
            <a:endParaRPr lang="ko-KR" altLang="en-US" sz="1400" dirty="0"/>
          </a:p>
        </p:txBody>
      </p:sp>
      <p:sp>
        <p:nvSpPr>
          <p:cNvPr id="14" name="Text 12"/>
          <p:cNvSpPr txBox="1"/>
          <p:nvPr/>
        </p:nvSpPr>
        <p:spPr>
          <a:xfrm>
            <a:off x="1280160" y="4709160"/>
            <a:ext cx="612648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카메라 인식이나 AI 후보는 진짜인가요?</a:t>
            </a:r>
            <a:endParaRPr lang="ko-KR" altLang="en-US" sz="1400" dirty="0"/>
          </a:p>
        </p:txBody>
      </p:sp>
      <p:sp>
        <p:nvSpPr>
          <p:cNvPr id="15" name="Text 13"/>
          <p:cNvSpPr txBox="1"/>
          <p:nvPr/>
        </p:nvSpPr>
        <p:spPr>
          <a:xfrm>
            <a:off x="1280160" y="5065776"/>
            <a:ext cx="6126480" cy="731520"/>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아닙니다. 미리 정해 둔 결과로 흐름만 보여 줍니다.</a:t>
            </a:r>
            <a:endParaRPr lang="ko-KR" altLang="en-US" sz="1100" dirty="0"/>
          </a:p>
        </p:txBody>
      </p:sp>
      <p:sp>
        <p:nvSpPr>
          <p:cNvPr id="16" name="Shape 14"/>
          <p:cNvSpPr/>
          <p:nvPr/>
        </p:nvSpPr>
        <p:spPr>
          <a:xfrm>
            <a:off x="8001000" y="1600200"/>
            <a:ext cx="3639312" cy="4389120"/>
          </a:xfrm>
          <a:prstGeom prst="roundRect">
            <a:avLst>
              <a:gd name="adj" fmla="val 4020"/>
            </a:avLst>
          </a:prstGeom>
          <a:solidFill>
            <a:srgbClr val="F4F5F7"/>
          </a:solidFill>
          <a:ln/>
        </p:spPr>
      </p:sp>
      <p:sp>
        <p:nvSpPr>
          <p:cNvPr id="17" name="Text 15"/>
          <p:cNvSpPr txBox="1"/>
          <p:nvPr/>
        </p:nvSpPr>
        <p:spPr>
          <a:xfrm>
            <a:off x="8275320" y="1810512"/>
            <a:ext cx="3108960" cy="274320"/>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부록으로 바로 이동</a:t>
            </a:r>
            <a:endParaRPr lang="ko-KR" altLang="en-US" sz="1400" dirty="0"/>
          </a:p>
        </p:txBody>
      </p:sp>
      <p:sp>
        <p:nvSpPr>
          <p:cNvPr id="18" name="Text 16"/>
          <p:cNvSpPr txBox="1"/>
          <p:nvPr/>
        </p:nvSpPr>
        <p:spPr>
          <a:xfrm>
            <a:off x="8275320" y="2084832"/>
            <a:ext cx="310896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쇼에서 장 번호 + Enter</a:t>
            </a:r>
            <a:endParaRPr lang="ko-KR" altLang="en-US" sz="1050" dirty="0"/>
          </a:p>
        </p:txBody>
      </p:sp>
      <p:sp>
        <p:nvSpPr>
          <p:cNvPr id="19" name="Shape 17"/>
          <p:cNvSpPr/>
          <p:nvPr/>
        </p:nvSpPr>
        <p:spPr>
          <a:xfrm>
            <a:off x="8275320" y="2487168"/>
            <a:ext cx="3090672" cy="548640"/>
          </a:xfrm>
          <a:prstGeom prst="roundRect">
            <a:avLst>
              <a:gd name="adj" fmla="val 16667"/>
            </a:avLst>
          </a:prstGeom>
          <a:solidFill>
            <a:srgbClr val="FFFFFF"/>
          </a:solidFill>
          <a:ln/>
        </p:spPr>
      </p:sp>
      <p:sp>
        <p:nvSpPr>
          <p:cNvPr id="20" name="Text 18"/>
          <p:cNvSpPr txBox="1"/>
          <p:nvPr/>
        </p:nvSpPr>
        <p:spPr>
          <a:xfrm>
            <a:off x="8458200" y="2487168"/>
            <a:ext cx="548640" cy="548640"/>
          </a:xfrm>
          <a:prstGeom prst="rect">
            <a:avLst/>
          </a:prstGeom>
          <a:noFill/>
          <a:ln/>
        </p:spPr>
        <p:txBody>
          <a:bodyPr wrap="square" lIns="0" tIns="0" rIns="0" bIns="0" rtlCol="0" anchor="ctr"/>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B1</a:t>
            </a:r>
            <a:endParaRPr lang="ko-KR" altLang="en-US" sz="1300" dirty="0"/>
          </a:p>
        </p:txBody>
      </p:sp>
      <p:sp>
        <p:nvSpPr>
          <p:cNvPr id="21" name="Text 19"/>
          <p:cNvSpPr txBox="1"/>
          <p:nvPr/>
        </p:nvSpPr>
        <p:spPr>
          <a:xfrm>
            <a:off x="9006840" y="2487168"/>
            <a:ext cx="1737360" cy="548640"/>
          </a:xfrm>
          <a:prstGeom prst="rect">
            <a:avLst/>
          </a:prstGeom>
          <a:noFill/>
          <a:ln/>
        </p:spPr>
        <p:txBody>
          <a:bodyPr wrap="square" lIns="0" tIns="0" rIns="0" bIns="0" rtlCol="0" anchor="ctr"/>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데모 및 스크린샷</a:t>
            </a:r>
            <a:endParaRPr lang="ko-KR" altLang="en-US" sz="1200" dirty="0"/>
          </a:p>
        </p:txBody>
      </p:sp>
      <p:sp>
        <p:nvSpPr>
          <p:cNvPr id="22" name="Text 20"/>
          <p:cNvSpPr txBox="1"/>
          <p:nvPr/>
        </p:nvSpPr>
        <p:spPr>
          <a:xfrm>
            <a:off x="10607040" y="2487168"/>
            <a:ext cx="640080" cy="548640"/>
          </a:xfrm>
          <a:prstGeom prst="rect">
            <a:avLst/>
          </a:prstGeom>
          <a:noFill/>
          <a:ln/>
        </p:spPr>
        <p:txBody>
          <a:bodyPr wrap="square" lIns="0" tIns="0" rIns="0" bIns="0" rtlCol="0" anchor="ctr"/>
          <a:lstStyle/>
          <a:p>
            <a:pPr algn="r" indent="0" marL="0">
              <a:buNone/>
            </a:pPr>
            <a:r>
              <a:rPr lang="ko-KR" altLang="en-US" sz="1100" dirty="0">
                <a:solidFill>
                  <a:srgbClr val="6B7078"/>
                </a:solidFill>
                <a:latin typeface="Malgun Gothic" pitchFamily="34" charset="0"/>
                <a:ea typeface="Malgun Gothic" pitchFamily="34" charset="-122"/>
                <a:cs typeface="Malgun Gothic" pitchFamily="34" charset="-120"/>
              </a:rPr>
              <a:t>18장</a:t>
            </a:r>
            <a:endParaRPr lang="ko-KR" altLang="en-US" sz="1100" dirty="0"/>
          </a:p>
        </p:txBody>
      </p:sp>
      <p:sp>
        <p:nvSpPr>
          <p:cNvPr id="23" name="Shape 21"/>
          <p:cNvSpPr/>
          <p:nvPr/>
        </p:nvSpPr>
        <p:spPr>
          <a:xfrm>
            <a:off x="8275320" y="3163824"/>
            <a:ext cx="3090672" cy="548640"/>
          </a:xfrm>
          <a:prstGeom prst="roundRect">
            <a:avLst>
              <a:gd name="adj" fmla="val 16667"/>
            </a:avLst>
          </a:prstGeom>
          <a:solidFill>
            <a:srgbClr val="FFFFFF"/>
          </a:solidFill>
          <a:ln/>
        </p:spPr>
      </p:sp>
      <p:sp>
        <p:nvSpPr>
          <p:cNvPr id="24" name="Text 22"/>
          <p:cNvSpPr txBox="1"/>
          <p:nvPr/>
        </p:nvSpPr>
        <p:spPr>
          <a:xfrm>
            <a:off x="8458200" y="3163824"/>
            <a:ext cx="548640" cy="548640"/>
          </a:xfrm>
          <a:prstGeom prst="rect">
            <a:avLst/>
          </a:prstGeom>
          <a:noFill/>
          <a:ln/>
        </p:spPr>
        <p:txBody>
          <a:bodyPr wrap="square" lIns="0" tIns="0" rIns="0" bIns="0" rtlCol="0" anchor="ctr"/>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B2</a:t>
            </a:r>
            <a:endParaRPr lang="ko-KR" altLang="en-US" sz="1300" dirty="0"/>
          </a:p>
        </p:txBody>
      </p:sp>
      <p:sp>
        <p:nvSpPr>
          <p:cNvPr id="25" name="Text 23"/>
          <p:cNvSpPr txBox="1"/>
          <p:nvPr/>
        </p:nvSpPr>
        <p:spPr>
          <a:xfrm>
            <a:off x="9006840" y="3163824"/>
            <a:ext cx="1737360" cy="548640"/>
          </a:xfrm>
          <a:prstGeom prst="rect">
            <a:avLst/>
          </a:prstGeom>
          <a:noFill/>
          <a:ln/>
        </p:spPr>
        <p:txBody>
          <a:bodyPr wrap="square" lIns="0" tIns="0" rIns="0" bIns="0" rtlCol="0" anchor="ctr"/>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원칙 카드 P01–P10</a:t>
            </a:r>
            <a:endParaRPr lang="ko-KR" altLang="en-US" sz="1200" dirty="0"/>
          </a:p>
        </p:txBody>
      </p:sp>
      <p:sp>
        <p:nvSpPr>
          <p:cNvPr id="26" name="Text 24"/>
          <p:cNvSpPr txBox="1"/>
          <p:nvPr/>
        </p:nvSpPr>
        <p:spPr>
          <a:xfrm>
            <a:off x="10607040" y="3163824"/>
            <a:ext cx="640080" cy="548640"/>
          </a:xfrm>
          <a:prstGeom prst="rect">
            <a:avLst/>
          </a:prstGeom>
          <a:noFill/>
          <a:ln/>
        </p:spPr>
        <p:txBody>
          <a:bodyPr wrap="square" lIns="0" tIns="0" rIns="0" bIns="0" rtlCol="0" anchor="ctr"/>
          <a:lstStyle/>
          <a:p>
            <a:pPr algn="r" indent="0" marL="0">
              <a:buNone/>
            </a:pPr>
            <a:r>
              <a:rPr lang="ko-KR" altLang="en-US" sz="1100" dirty="0">
                <a:solidFill>
                  <a:srgbClr val="6B7078"/>
                </a:solidFill>
                <a:latin typeface="Malgun Gothic" pitchFamily="34" charset="0"/>
                <a:ea typeface="Malgun Gothic" pitchFamily="34" charset="-122"/>
                <a:cs typeface="Malgun Gothic" pitchFamily="34" charset="-120"/>
              </a:rPr>
              <a:t>21장</a:t>
            </a:r>
            <a:endParaRPr lang="ko-KR" altLang="en-US" sz="1100" dirty="0"/>
          </a:p>
        </p:txBody>
      </p:sp>
      <p:sp>
        <p:nvSpPr>
          <p:cNvPr id="27" name="Shape 25"/>
          <p:cNvSpPr/>
          <p:nvPr/>
        </p:nvSpPr>
        <p:spPr>
          <a:xfrm>
            <a:off x="8275320" y="3840480"/>
            <a:ext cx="3090672" cy="548640"/>
          </a:xfrm>
          <a:prstGeom prst="roundRect">
            <a:avLst>
              <a:gd name="adj" fmla="val 16667"/>
            </a:avLst>
          </a:prstGeom>
          <a:solidFill>
            <a:srgbClr val="FFFFFF"/>
          </a:solidFill>
          <a:ln/>
        </p:spPr>
      </p:sp>
      <p:sp>
        <p:nvSpPr>
          <p:cNvPr id="28" name="Text 26"/>
          <p:cNvSpPr txBox="1"/>
          <p:nvPr/>
        </p:nvSpPr>
        <p:spPr>
          <a:xfrm>
            <a:off x="8458200" y="3840480"/>
            <a:ext cx="548640" cy="548640"/>
          </a:xfrm>
          <a:prstGeom prst="rect">
            <a:avLst/>
          </a:prstGeom>
          <a:noFill/>
          <a:ln/>
        </p:spPr>
        <p:txBody>
          <a:bodyPr wrap="square" lIns="0" tIns="0" rIns="0" bIns="0" rtlCol="0" anchor="ctr"/>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B3</a:t>
            </a:r>
            <a:endParaRPr lang="ko-KR" altLang="en-US" sz="1300" dirty="0"/>
          </a:p>
        </p:txBody>
      </p:sp>
      <p:sp>
        <p:nvSpPr>
          <p:cNvPr id="29" name="Text 27"/>
          <p:cNvSpPr txBox="1"/>
          <p:nvPr/>
        </p:nvSpPr>
        <p:spPr>
          <a:xfrm>
            <a:off x="9006840" y="3840480"/>
            <a:ext cx="1737360" cy="548640"/>
          </a:xfrm>
          <a:prstGeom prst="rect">
            <a:avLst/>
          </a:prstGeom>
          <a:noFill/>
          <a:ln/>
        </p:spPr>
        <p:txBody>
          <a:bodyPr wrap="square" lIns="0" tIns="0" rIns="0" bIns="0" rtlCol="0" anchor="ctr"/>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prompt-log</a:t>
            </a:r>
            <a:endParaRPr lang="ko-KR" altLang="en-US" sz="1200" dirty="0"/>
          </a:p>
        </p:txBody>
      </p:sp>
      <p:sp>
        <p:nvSpPr>
          <p:cNvPr id="30" name="Text 28"/>
          <p:cNvSpPr txBox="1"/>
          <p:nvPr/>
        </p:nvSpPr>
        <p:spPr>
          <a:xfrm>
            <a:off x="10607040" y="3840480"/>
            <a:ext cx="640080" cy="548640"/>
          </a:xfrm>
          <a:prstGeom prst="rect">
            <a:avLst/>
          </a:prstGeom>
          <a:noFill/>
          <a:ln/>
        </p:spPr>
        <p:txBody>
          <a:bodyPr wrap="square" lIns="0" tIns="0" rIns="0" bIns="0" rtlCol="0" anchor="ctr"/>
          <a:lstStyle/>
          <a:p>
            <a:pPr algn="r" indent="0" marL="0">
              <a:buNone/>
            </a:pPr>
            <a:r>
              <a:rPr lang="ko-KR" altLang="en-US" sz="1100" dirty="0">
                <a:solidFill>
                  <a:srgbClr val="6B7078"/>
                </a:solidFill>
                <a:latin typeface="Malgun Gothic" pitchFamily="34" charset="0"/>
                <a:ea typeface="Malgun Gothic" pitchFamily="34" charset="-122"/>
                <a:cs typeface="Malgun Gothic" pitchFamily="34" charset="-120"/>
              </a:rPr>
              <a:t>31장</a:t>
            </a:r>
            <a:endParaRPr lang="ko-KR" altLang="en-US" sz="1100" dirty="0"/>
          </a:p>
        </p:txBody>
      </p:sp>
      <p:sp>
        <p:nvSpPr>
          <p:cNvPr id="31" name="Shape 29"/>
          <p:cNvSpPr/>
          <p:nvPr/>
        </p:nvSpPr>
        <p:spPr>
          <a:xfrm>
            <a:off x="8275320" y="4517136"/>
            <a:ext cx="3090672" cy="548640"/>
          </a:xfrm>
          <a:prstGeom prst="roundRect">
            <a:avLst>
              <a:gd name="adj" fmla="val 16667"/>
            </a:avLst>
          </a:prstGeom>
          <a:solidFill>
            <a:srgbClr val="FFFFFF"/>
          </a:solidFill>
          <a:ln/>
        </p:spPr>
      </p:sp>
      <p:sp>
        <p:nvSpPr>
          <p:cNvPr id="32" name="Text 30"/>
          <p:cNvSpPr txBox="1"/>
          <p:nvPr/>
        </p:nvSpPr>
        <p:spPr>
          <a:xfrm>
            <a:off x="8458200" y="4517136"/>
            <a:ext cx="548640" cy="548640"/>
          </a:xfrm>
          <a:prstGeom prst="rect">
            <a:avLst/>
          </a:prstGeom>
          <a:noFill/>
          <a:ln/>
        </p:spPr>
        <p:txBody>
          <a:bodyPr wrap="square" lIns="0" tIns="0" rIns="0" bIns="0" rtlCol="0" anchor="ctr"/>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B4</a:t>
            </a:r>
            <a:endParaRPr lang="ko-KR" altLang="en-US" sz="1300" dirty="0"/>
          </a:p>
        </p:txBody>
      </p:sp>
      <p:sp>
        <p:nvSpPr>
          <p:cNvPr id="33" name="Text 31"/>
          <p:cNvSpPr txBox="1"/>
          <p:nvPr/>
        </p:nvSpPr>
        <p:spPr>
          <a:xfrm>
            <a:off x="9006840" y="4517136"/>
            <a:ext cx="1737360" cy="548640"/>
          </a:xfrm>
          <a:prstGeom prst="rect">
            <a:avLst/>
          </a:prstGeom>
          <a:noFill/>
          <a:ln/>
        </p:spPr>
        <p:txBody>
          <a:bodyPr wrap="square" lIns="0" tIns="0" rIns="0" bIns="0" rtlCol="0" anchor="ctr"/>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자가평가 요약</a:t>
            </a:r>
            <a:endParaRPr lang="ko-KR" altLang="en-US" sz="1200" dirty="0"/>
          </a:p>
        </p:txBody>
      </p:sp>
      <p:sp>
        <p:nvSpPr>
          <p:cNvPr id="34" name="Text 32"/>
          <p:cNvSpPr txBox="1"/>
          <p:nvPr/>
        </p:nvSpPr>
        <p:spPr>
          <a:xfrm>
            <a:off x="10607040" y="4517136"/>
            <a:ext cx="640080" cy="548640"/>
          </a:xfrm>
          <a:prstGeom prst="rect">
            <a:avLst/>
          </a:prstGeom>
          <a:noFill/>
          <a:ln/>
        </p:spPr>
        <p:txBody>
          <a:bodyPr wrap="square" lIns="0" tIns="0" rIns="0" bIns="0" rtlCol="0" anchor="ctr"/>
          <a:lstStyle/>
          <a:p>
            <a:pPr algn="r" indent="0" marL="0">
              <a:buNone/>
            </a:pPr>
            <a:r>
              <a:rPr lang="ko-KR" altLang="en-US" sz="1100" dirty="0">
                <a:solidFill>
                  <a:srgbClr val="6B7078"/>
                </a:solidFill>
                <a:latin typeface="Malgun Gothic" pitchFamily="34" charset="0"/>
                <a:ea typeface="Malgun Gothic" pitchFamily="34" charset="-122"/>
                <a:cs typeface="Malgun Gothic" pitchFamily="34" charset="-120"/>
              </a:rPr>
              <a:t>33장</a:t>
            </a:r>
            <a:endParaRPr lang="ko-KR" altLang="en-US" sz="1100" dirty="0"/>
          </a:p>
        </p:txBody>
      </p:sp>
      <p:sp>
        <p:nvSpPr>
          <p:cNvPr id="35" name="Shape 33"/>
          <p:cNvSpPr/>
          <p:nvPr/>
        </p:nvSpPr>
        <p:spPr>
          <a:xfrm>
            <a:off x="8275320" y="5193792"/>
            <a:ext cx="3090672" cy="548640"/>
          </a:xfrm>
          <a:prstGeom prst="roundRect">
            <a:avLst>
              <a:gd name="adj" fmla="val 16667"/>
            </a:avLst>
          </a:prstGeom>
          <a:solidFill>
            <a:srgbClr val="FFFFFF"/>
          </a:solidFill>
          <a:ln/>
        </p:spPr>
      </p:sp>
      <p:sp>
        <p:nvSpPr>
          <p:cNvPr id="36" name="Text 34"/>
          <p:cNvSpPr txBox="1"/>
          <p:nvPr/>
        </p:nvSpPr>
        <p:spPr>
          <a:xfrm>
            <a:off x="8458200" y="5193792"/>
            <a:ext cx="548640" cy="548640"/>
          </a:xfrm>
          <a:prstGeom prst="rect">
            <a:avLst/>
          </a:prstGeom>
          <a:noFill/>
          <a:ln/>
        </p:spPr>
        <p:txBody>
          <a:bodyPr wrap="square" lIns="0" tIns="0" rIns="0" bIns="0" rtlCol="0" anchor="ctr"/>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B5</a:t>
            </a:r>
            <a:endParaRPr lang="ko-KR" altLang="en-US" sz="1300" dirty="0"/>
          </a:p>
        </p:txBody>
      </p:sp>
      <p:sp>
        <p:nvSpPr>
          <p:cNvPr id="37" name="Text 35"/>
          <p:cNvSpPr txBox="1"/>
          <p:nvPr/>
        </p:nvSpPr>
        <p:spPr>
          <a:xfrm>
            <a:off x="9006840" y="5193792"/>
            <a:ext cx="1737360" cy="548640"/>
          </a:xfrm>
          <a:prstGeom prst="rect">
            <a:avLst/>
          </a:prstGeom>
          <a:noFill/>
          <a:ln/>
        </p:spPr>
        <p:txBody>
          <a:bodyPr wrap="square" lIns="0" tIns="0" rIns="0" bIns="0" rtlCol="0" anchor="ctr"/>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기획 상세 · 요소 분석</a:t>
            </a:r>
            <a:endParaRPr lang="ko-KR" altLang="en-US" sz="1200" dirty="0"/>
          </a:p>
        </p:txBody>
      </p:sp>
      <p:sp>
        <p:nvSpPr>
          <p:cNvPr id="38" name="Text 36"/>
          <p:cNvSpPr txBox="1"/>
          <p:nvPr/>
        </p:nvSpPr>
        <p:spPr>
          <a:xfrm>
            <a:off x="10607040" y="5193792"/>
            <a:ext cx="640080" cy="548640"/>
          </a:xfrm>
          <a:prstGeom prst="rect">
            <a:avLst/>
          </a:prstGeom>
          <a:noFill/>
          <a:ln/>
        </p:spPr>
        <p:txBody>
          <a:bodyPr wrap="square" lIns="0" tIns="0" rIns="0" bIns="0" rtlCol="0" anchor="ctr"/>
          <a:lstStyle/>
          <a:p>
            <a:pPr algn="r" indent="0" marL="0">
              <a:buNone/>
            </a:pPr>
            <a:r>
              <a:rPr lang="ko-KR" altLang="en-US" sz="1100" dirty="0">
                <a:solidFill>
                  <a:srgbClr val="6B7078"/>
                </a:solidFill>
                <a:latin typeface="Malgun Gothic" pitchFamily="34" charset="0"/>
                <a:ea typeface="Malgun Gothic" pitchFamily="34" charset="-122"/>
                <a:cs typeface="Malgun Gothic" pitchFamily="34" charset="-120"/>
              </a:rPr>
              <a:t>34장</a:t>
            </a:r>
            <a:endParaRPr lang="ko-KR" altLang="en-US" sz="11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16</a:t>
            </a:fld>
            <a:endParaRPr lang="ko-KR"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31520" y="1463040"/>
            <a:ext cx="5029200" cy="292608"/>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APPENDIX</a:t>
            </a:r>
            <a:endParaRPr lang="ko-KR" altLang="en-US" sz="1300" dirty="0"/>
          </a:p>
        </p:txBody>
      </p:sp>
      <p:sp>
        <p:nvSpPr>
          <p:cNvPr id="3" name="Text 1"/>
          <p:cNvSpPr txBox="1"/>
          <p:nvPr/>
        </p:nvSpPr>
        <p:spPr>
          <a:xfrm>
            <a:off x="731520" y="1783080"/>
            <a:ext cx="5029200" cy="1005840"/>
          </a:xfrm>
          <a:prstGeom prst="rect">
            <a:avLst/>
          </a:prstGeom>
          <a:noFill/>
          <a:ln/>
        </p:spPr>
        <p:txBody>
          <a:bodyPr wrap="square" lIns="0" tIns="0" rIns="0" bIns="0" rtlCol="0" anchor="ctr"/>
          <a:lstStyle/>
          <a:p>
            <a:pPr indent="0" marL="0">
              <a:buNone/>
            </a:pPr>
            <a:r>
              <a:rPr lang="ko-KR" altLang="en-US" sz="6000" b="1" dirty="0">
                <a:solidFill>
                  <a:srgbClr val="111111"/>
                </a:solidFill>
                <a:latin typeface="Malgun Gothic" pitchFamily="34" charset="0"/>
                <a:ea typeface="Malgun Gothic" pitchFamily="34" charset="-122"/>
                <a:cs typeface="Malgun Gothic" pitchFamily="34" charset="-120"/>
              </a:rPr>
              <a:t>부록</a:t>
            </a:r>
            <a:endParaRPr lang="ko-KR" altLang="en-US" sz="6000" dirty="0"/>
          </a:p>
        </p:txBody>
      </p:sp>
      <p:sp>
        <p:nvSpPr>
          <p:cNvPr id="4" name="Text 2"/>
          <p:cNvSpPr txBox="1"/>
          <p:nvPr/>
        </p:nvSpPr>
        <p:spPr>
          <a:xfrm>
            <a:off x="731520" y="2880360"/>
            <a:ext cx="4937760" cy="1097280"/>
          </a:xfrm>
          <a:prstGeom prst="rect">
            <a:avLst/>
          </a:prstGeom>
          <a:noFill/>
          <a:ln/>
        </p:spPr>
        <p:txBody>
          <a:bodyPr wrap="square" lIns="0" tIns="0" rIns="0" bIns="0" rtlCol="0" anchor="t"/>
          <a:lstStyle/>
          <a:p>
            <a:pPr indent="0" marL="0">
              <a:buNone/>
            </a:pPr>
            <a:r>
              <a:rPr lang="ko-KR" altLang="en-US" sz="1800" dirty="0">
                <a:solidFill>
                  <a:srgbClr val="3D4148"/>
                </a:solidFill>
                <a:latin typeface="Malgun Gothic" pitchFamily="34" charset="0"/>
                <a:ea typeface="Malgun Gothic" pitchFamily="34" charset="-122"/>
                <a:cs typeface="Malgun Gothic" pitchFamily="34" charset="-120"/>
              </a:rPr>
              <a:t>본문 6분에는 넘기지 않습니다.</a:t>
            </a:r>
            <a:endParaRPr lang="ko-KR" altLang="en-US" sz="1800" dirty="0"/>
          </a:p>
          <a:p>
            <a:pPr indent="0" marL="0">
              <a:buNone/>
            </a:pPr>
            <a:r>
              <a:rPr lang="ko-KR" altLang="en-US" sz="1800" dirty="0">
                <a:solidFill>
                  <a:srgbClr val="3D4148"/>
                </a:solidFill>
                <a:latin typeface="Malgun Gothic" pitchFamily="34" charset="0"/>
                <a:ea typeface="Malgun Gothic" pitchFamily="34" charset="-122"/>
                <a:cs typeface="Malgun Gothic" pitchFamily="34" charset="-120"/>
              </a:rPr>
              <a:t>질문이 가리키는 장으로 바로 갑니다.</a:t>
            </a:r>
            <a:endParaRPr lang="ko-KR" altLang="en-US" sz="1800" dirty="0"/>
          </a:p>
        </p:txBody>
      </p:sp>
      <p:sp>
        <p:nvSpPr>
          <p:cNvPr id="5" name="Shape 3"/>
          <p:cNvSpPr/>
          <p:nvPr/>
        </p:nvSpPr>
        <p:spPr>
          <a:xfrm>
            <a:off x="6309360" y="1234440"/>
            <a:ext cx="5330952" cy="786384"/>
          </a:xfrm>
          <a:prstGeom prst="roundRect">
            <a:avLst>
              <a:gd name="adj" fmla="val 13953"/>
            </a:avLst>
          </a:prstGeom>
          <a:solidFill>
            <a:srgbClr val="FFFFFF"/>
          </a:solidFill>
          <a:ln/>
          <a:effectLst>
            <a:outerShdw sx="100000" sy="100000" kx="0" ky="0" algn="bl" rotWithShape="0" blurRad="177800" dist="50800" dir="5400000">
              <a:srgbClr val="000000">
                <a:alpha val="9000"/>
              </a:srgbClr>
            </a:outerShdw>
          </a:effectLst>
        </p:spPr>
      </p:sp>
      <p:sp>
        <p:nvSpPr>
          <p:cNvPr id="6" name="Text 4"/>
          <p:cNvSpPr txBox="1"/>
          <p:nvPr/>
        </p:nvSpPr>
        <p:spPr>
          <a:xfrm>
            <a:off x="6537960" y="1234440"/>
            <a:ext cx="640080" cy="786384"/>
          </a:xfrm>
          <a:prstGeom prst="rect">
            <a:avLst/>
          </a:prstGeom>
          <a:noFill/>
          <a:ln/>
        </p:spPr>
        <p:txBody>
          <a:bodyPr wrap="square" lIns="0" tIns="0" rIns="0" bIns="0" rtlCol="0" anchor="ctr"/>
          <a:lstStyle/>
          <a:p>
            <a:pPr indent="0" marL="0">
              <a:buNone/>
            </a:pPr>
            <a:r>
              <a:rPr lang="ko-KR" altLang="en-US" sz="1600" b="1" dirty="0">
                <a:solidFill>
                  <a:srgbClr val="1C86D9"/>
                </a:solidFill>
                <a:latin typeface="Malgun Gothic" pitchFamily="34" charset="0"/>
                <a:ea typeface="Malgun Gothic" pitchFamily="34" charset="-122"/>
                <a:cs typeface="Malgun Gothic" pitchFamily="34" charset="-120"/>
              </a:rPr>
              <a:t>B1</a:t>
            </a:r>
            <a:endParaRPr lang="ko-KR" altLang="en-US" sz="1600" dirty="0"/>
          </a:p>
        </p:txBody>
      </p:sp>
      <p:sp>
        <p:nvSpPr>
          <p:cNvPr id="7" name="Text 5"/>
          <p:cNvSpPr txBox="1"/>
          <p:nvPr/>
        </p:nvSpPr>
        <p:spPr>
          <a:xfrm>
            <a:off x="7223760" y="1362456"/>
            <a:ext cx="356616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데모 및 스크린샷</a:t>
            </a:r>
            <a:endParaRPr lang="ko-KR" altLang="en-US" sz="1400" dirty="0"/>
          </a:p>
        </p:txBody>
      </p:sp>
      <p:sp>
        <p:nvSpPr>
          <p:cNvPr id="8" name="Text 6"/>
          <p:cNvSpPr txBox="1"/>
          <p:nvPr/>
        </p:nvSpPr>
        <p:spPr>
          <a:xfrm>
            <a:off x="7223760" y="1664208"/>
            <a:ext cx="3566160" cy="256032"/>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전체 화면 · 3상태 · 적응형</a:t>
            </a:r>
            <a:endParaRPr lang="ko-KR" altLang="en-US" sz="1050" dirty="0"/>
          </a:p>
        </p:txBody>
      </p:sp>
      <p:sp>
        <p:nvSpPr>
          <p:cNvPr id="9" name="Text 7"/>
          <p:cNvSpPr txBox="1"/>
          <p:nvPr/>
        </p:nvSpPr>
        <p:spPr>
          <a:xfrm>
            <a:off x="10698480" y="1234440"/>
            <a:ext cx="777240" cy="786384"/>
          </a:xfrm>
          <a:prstGeom prst="rect">
            <a:avLst/>
          </a:prstGeom>
          <a:noFill/>
          <a:ln/>
        </p:spPr>
        <p:txBody>
          <a:bodyPr wrap="square" lIns="0" tIns="0" rIns="0" bIns="0" rtlCol="0" anchor="ctr"/>
          <a:lstStyle/>
          <a:p>
            <a:pPr algn="r" indent="0" marL="0">
              <a:buNone/>
            </a:pPr>
            <a:r>
              <a:rPr lang="ko-KR" altLang="en-US" sz="1200" dirty="0">
                <a:solidFill>
                  <a:srgbClr val="6B7078"/>
                </a:solidFill>
                <a:latin typeface="Malgun Gothic" pitchFamily="34" charset="0"/>
                <a:ea typeface="Malgun Gothic" pitchFamily="34" charset="-122"/>
                <a:cs typeface="Malgun Gothic" pitchFamily="34" charset="-120"/>
              </a:rPr>
              <a:t>18장</a:t>
            </a:r>
            <a:endParaRPr lang="ko-KR" altLang="en-US" sz="1200" dirty="0"/>
          </a:p>
        </p:txBody>
      </p:sp>
      <p:sp>
        <p:nvSpPr>
          <p:cNvPr id="10" name="Shape 8"/>
          <p:cNvSpPr/>
          <p:nvPr/>
        </p:nvSpPr>
        <p:spPr>
          <a:xfrm>
            <a:off x="6309360" y="2167128"/>
            <a:ext cx="5330952" cy="786384"/>
          </a:xfrm>
          <a:prstGeom prst="roundRect">
            <a:avLst>
              <a:gd name="adj" fmla="val 13953"/>
            </a:avLst>
          </a:prstGeom>
          <a:solidFill>
            <a:srgbClr val="FFFFFF"/>
          </a:solidFill>
          <a:ln/>
          <a:effectLst>
            <a:outerShdw sx="100000" sy="100000" kx="0" ky="0" algn="bl" rotWithShape="0" blurRad="177800" dist="50800" dir="5400000">
              <a:srgbClr val="000000">
                <a:alpha val="9000"/>
              </a:srgbClr>
            </a:outerShdw>
          </a:effectLst>
        </p:spPr>
      </p:sp>
      <p:sp>
        <p:nvSpPr>
          <p:cNvPr id="11" name="Text 9"/>
          <p:cNvSpPr txBox="1"/>
          <p:nvPr/>
        </p:nvSpPr>
        <p:spPr>
          <a:xfrm>
            <a:off x="6537960" y="2167128"/>
            <a:ext cx="640080" cy="786384"/>
          </a:xfrm>
          <a:prstGeom prst="rect">
            <a:avLst/>
          </a:prstGeom>
          <a:noFill/>
          <a:ln/>
        </p:spPr>
        <p:txBody>
          <a:bodyPr wrap="square" lIns="0" tIns="0" rIns="0" bIns="0" rtlCol="0" anchor="ctr"/>
          <a:lstStyle/>
          <a:p>
            <a:pPr indent="0" marL="0">
              <a:buNone/>
            </a:pPr>
            <a:r>
              <a:rPr lang="ko-KR" altLang="en-US" sz="1600" b="1" dirty="0">
                <a:solidFill>
                  <a:srgbClr val="1C86D9"/>
                </a:solidFill>
                <a:latin typeface="Malgun Gothic" pitchFamily="34" charset="0"/>
                <a:ea typeface="Malgun Gothic" pitchFamily="34" charset="-122"/>
                <a:cs typeface="Malgun Gothic" pitchFamily="34" charset="-120"/>
              </a:rPr>
              <a:t>B2</a:t>
            </a:r>
            <a:endParaRPr lang="ko-KR" altLang="en-US" sz="1600" dirty="0"/>
          </a:p>
        </p:txBody>
      </p:sp>
      <p:sp>
        <p:nvSpPr>
          <p:cNvPr id="12" name="Text 10"/>
          <p:cNvSpPr txBox="1"/>
          <p:nvPr/>
        </p:nvSpPr>
        <p:spPr>
          <a:xfrm>
            <a:off x="7223760" y="2295144"/>
            <a:ext cx="356616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원칙 카드 P01–P10</a:t>
            </a:r>
            <a:endParaRPr lang="ko-KR" altLang="en-US" sz="1400" dirty="0"/>
          </a:p>
        </p:txBody>
      </p:sp>
      <p:sp>
        <p:nvSpPr>
          <p:cNvPr id="13" name="Text 11"/>
          <p:cNvSpPr txBox="1"/>
          <p:nvPr/>
        </p:nvSpPr>
        <p:spPr>
          <a:xfrm>
            <a:off x="7223760" y="2596896"/>
            <a:ext cx="3566160" cy="256032"/>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원칙 · 근거 · 적용 · 시연 · 판단</a:t>
            </a:r>
            <a:endParaRPr lang="ko-KR" altLang="en-US" sz="1050" dirty="0"/>
          </a:p>
        </p:txBody>
      </p:sp>
      <p:sp>
        <p:nvSpPr>
          <p:cNvPr id="14" name="Text 12"/>
          <p:cNvSpPr txBox="1"/>
          <p:nvPr/>
        </p:nvSpPr>
        <p:spPr>
          <a:xfrm>
            <a:off x="10698480" y="2167128"/>
            <a:ext cx="777240" cy="786384"/>
          </a:xfrm>
          <a:prstGeom prst="rect">
            <a:avLst/>
          </a:prstGeom>
          <a:noFill/>
          <a:ln/>
        </p:spPr>
        <p:txBody>
          <a:bodyPr wrap="square" lIns="0" tIns="0" rIns="0" bIns="0" rtlCol="0" anchor="ctr"/>
          <a:lstStyle/>
          <a:p>
            <a:pPr algn="r" indent="0" marL="0">
              <a:buNone/>
            </a:pPr>
            <a:r>
              <a:rPr lang="ko-KR" altLang="en-US" sz="1200" dirty="0">
                <a:solidFill>
                  <a:srgbClr val="6B7078"/>
                </a:solidFill>
                <a:latin typeface="Malgun Gothic" pitchFamily="34" charset="0"/>
                <a:ea typeface="Malgun Gothic" pitchFamily="34" charset="-122"/>
                <a:cs typeface="Malgun Gothic" pitchFamily="34" charset="-120"/>
              </a:rPr>
              <a:t>21장</a:t>
            </a:r>
            <a:endParaRPr lang="ko-KR" altLang="en-US" sz="1200" dirty="0"/>
          </a:p>
        </p:txBody>
      </p:sp>
      <p:sp>
        <p:nvSpPr>
          <p:cNvPr id="15" name="Shape 13"/>
          <p:cNvSpPr/>
          <p:nvPr/>
        </p:nvSpPr>
        <p:spPr>
          <a:xfrm>
            <a:off x="6309360" y="3099816"/>
            <a:ext cx="5330952" cy="786384"/>
          </a:xfrm>
          <a:prstGeom prst="roundRect">
            <a:avLst>
              <a:gd name="adj" fmla="val 13953"/>
            </a:avLst>
          </a:prstGeom>
          <a:solidFill>
            <a:srgbClr val="FFFFFF"/>
          </a:solidFill>
          <a:ln/>
          <a:effectLst>
            <a:outerShdw sx="100000" sy="100000" kx="0" ky="0" algn="bl" rotWithShape="0" blurRad="177800" dist="50800" dir="5400000">
              <a:srgbClr val="000000">
                <a:alpha val="9000"/>
              </a:srgbClr>
            </a:outerShdw>
          </a:effectLst>
        </p:spPr>
      </p:sp>
      <p:sp>
        <p:nvSpPr>
          <p:cNvPr id="16" name="Text 14"/>
          <p:cNvSpPr txBox="1"/>
          <p:nvPr/>
        </p:nvSpPr>
        <p:spPr>
          <a:xfrm>
            <a:off x="6537960" y="3099816"/>
            <a:ext cx="640080" cy="786384"/>
          </a:xfrm>
          <a:prstGeom prst="rect">
            <a:avLst/>
          </a:prstGeom>
          <a:noFill/>
          <a:ln/>
        </p:spPr>
        <p:txBody>
          <a:bodyPr wrap="square" lIns="0" tIns="0" rIns="0" bIns="0" rtlCol="0" anchor="ctr"/>
          <a:lstStyle/>
          <a:p>
            <a:pPr indent="0" marL="0">
              <a:buNone/>
            </a:pPr>
            <a:r>
              <a:rPr lang="ko-KR" altLang="en-US" sz="1600" b="1" dirty="0">
                <a:solidFill>
                  <a:srgbClr val="1C86D9"/>
                </a:solidFill>
                <a:latin typeface="Malgun Gothic" pitchFamily="34" charset="0"/>
                <a:ea typeface="Malgun Gothic" pitchFamily="34" charset="-122"/>
                <a:cs typeface="Malgun Gothic" pitchFamily="34" charset="-120"/>
              </a:rPr>
              <a:t>B3</a:t>
            </a:r>
            <a:endParaRPr lang="ko-KR" altLang="en-US" sz="1600" dirty="0"/>
          </a:p>
        </p:txBody>
      </p:sp>
      <p:sp>
        <p:nvSpPr>
          <p:cNvPr id="17" name="Text 15"/>
          <p:cNvSpPr txBox="1"/>
          <p:nvPr/>
        </p:nvSpPr>
        <p:spPr>
          <a:xfrm>
            <a:off x="7223760" y="3227832"/>
            <a:ext cx="356616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prompt-log</a:t>
            </a:r>
            <a:endParaRPr lang="ko-KR" altLang="en-US" sz="1400" dirty="0"/>
          </a:p>
        </p:txBody>
      </p:sp>
      <p:sp>
        <p:nvSpPr>
          <p:cNvPr id="18" name="Text 16"/>
          <p:cNvSpPr txBox="1"/>
          <p:nvPr/>
        </p:nvSpPr>
        <p:spPr>
          <a:xfrm>
            <a:off x="7223760" y="3529584"/>
            <a:ext cx="3566160" cy="256032"/>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AI 요청 · 결과 · 내 판단 · 이유</a:t>
            </a:r>
            <a:endParaRPr lang="ko-KR" altLang="en-US" sz="1050" dirty="0"/>
          </a:p>
        </p:txBody>
      </p:sp>
      <p:sp>
        <p:nvSpPr>
          <p:cNvPr id="19" name="Text 17"/>
          <p:cNvSpPr txBox="1"/>
          <p:nvPr/>
        </p:nvSpPr>
        <p:spPr>
          <a:xfrm>
            <a:off x="10698480" y="3099816"/>
            <a:ext cx="777240" cy="786384"/>
          </a:xfrm>
          <a:prstGeom prst="rect">
            <a:avLst/>
          </a:prstGeom>
          <a:noFill/>
          <a:ln/>
        </p:spPr>
        <p:txBody>
          <a:bodyPr wrap="square" lIns="0" tIns="0" rIns="0" bIns="0" rtlCol="0" anchor="ctr"/>
          <a:lstStyle/>
          <a:p>
            <a:pPr algn="r" indent="0" marL="0">
              <a:buNone/>
            </a:pPr>
            <a:r>
              <a:rPr lang="ko-KR" altLang="en-US" sz="1200" dirty="0">
                <a:solidFill>
                  <a:srgbClr val="6B7078"/>
                </a:solidFill>
                <a:latin typeface="Malgun Gothic" pitchFamily="34" charset="0"/>
                <a:ea typeface="Malgun Gothic" pitchFamily="34" charset="-122"/>
                <a:cs typeface="Malgun Gothic" pitchFamily="34" charset="-120"/>
              </a:rPr>
              <a:t>31장</a:t>
            </a:r>
            <a:endParaRPr lang="ko-KR" altLang="en-US" sz="1200" dirty="0"/>
          </a:p>
        </p:txBody>
      </p:sp>
      <p:sp>
        <p:nvSpPr>
          <p:cNvPr id="20" name="Shape 18"/>
          <p:cNvSpPr/>
          <p:nvPr/>
        </p:nvSpPr>
        <p:spPr>
          <a:xfrm>
            <a:off x="6309360" y="4032504"/>
            <a:ext cx="5330952" cy="786384"/>
          </a:xfrm>
          <a:prstGeom prst="roundRect">
            <a:avLst>
              <a:gd name="adj" fmla="val 13953"/>
            </a:avLst>
          </a:prstGeom>
          <a:solidFill>
            <a:srgbClr val="FFFFFF"/>
          </a:solidFill>
          <a:ln/>
          <a:effectLst>
            <a:outerShdw sx="100000" sy="100000" kx="0" ky="0" algn="bl" rotWithShape="0" blurRad="177800" dist="50800" dir="5400000">
              <a:srgbClr val="000000">
                <a:alpha val="9000"/>
              </a:srgbClr>
            </a:outerShdw>
          </a:effectLst>
        </p:spPr>
      </p:sp>
      <p:sp>
        <p:nvSpPr>
          <p:cNvPr id="21" name="Text 19"/>
          <p:cNvSpPr txBox="1"/>
          <p:nvPr/>
        </p:nvSpPr>
        <p:spPr>
          <a:xfrm>
            <a:off x="6537960" y="4032504"/>
            <a:ext cx="640080" cy="786384"/>
          </a:xfrm>
          <a:prstGeom prst="rect">
            <a:avLst/>
          </a:prstGeom>
          <a:noFill/>
          <a:ln/>
        </p:spPr>
        <p:txBody>
          <a:bodyPr wrap="square" lIns="0" tIns="0" rIns="0" bIns="0" rtlCol="0" anchor="ctr"/>
          <a:lstStyle/>
          <a:p>
            <a:pPr indent="0" marL="0">
              <a:buNone/>
            </a:pPr>
            <a:r>
              <a:rPr lang="ko-KR" altLang="en-US" sz="1600" b="1" dirty="0">
                <a:solidFill>
                  <a:srgbClr val="1C86D9"/>
                </a:solidFill>
                <a:latin typeface="Malgun Gothic" pitchFamily="34" charset="0"/>
                <a:ea typeface="Malgun Gothic" pitchFamily="34" charset="-122"/>
                <a:cs typeface="Malgun Gothic" pitchFamily="34" charset="-120"/>
              </a:rPr>
              <a:t>B4</a:t>
            </a:r>
            <a:endParaRPr lang="ko-KR" altLang="en-US" sz="1600" dirty="0"/>
          </a:p>
        </p:txBody>
      </p:sp>
      <p:sp>
        <p:nvSpPr>
          <p:cNvPr id="22" name="Text 20"/>
          <p:cNvSpPr txBox="1"/>
          <p:nvPr/>
        </p:nvSpPr>
        <p:spPr>
          <a:xfrm>
            <a:off x="7223760" y="4160520"/>
            <a:ext cx="356616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자가평가 요약</a:t>
            </a:r>
            <a:endParaRPr lang="ko-KR" altLang="en-US" sz="1400" dirty="0"/>
          </a:p>
        </p:txBody>
      </p:sp>
      <p:sp>
        <p:nvSpPr>
          <p:cNvPr id="23" name="Text 21"/>
          <p:cNvSpPr txBox="1"/>
          <p:nvPr/>
        </p:nvSpPr>
        <p:spPr>
          <a:xfrm>
            <a:off x="7223760" y="4462272"/>
            <a:ext cx="3566160" cy="256032"/>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공개 배점 그대로</a:t>
            </a:r>
            <a:endParaRPr lang="ko-KR" altLang="en-US" sz="1050" dirty="0"/>
          </a:p>
        </p:txBody>
      </p:sp>
      <p:sp>
        <p:nvSpPr>
          <p:cNvPr id="24" name="Text 22"/>
          <p:cNvSpPr txBox="1"/>
          <p:nvPr/>
        </p:nvSpPr>
        <p:spPr>
          <a:xfrm>
            <a:off x="10698480" y="4032504"/>
            <a:ext cx="777240" cy="786384"/>
          </a:xfrm>
          <a:prstGeom prst="rect">
            <a:avLst/>
          </a:prstGeom>
          <a:noFill/>
          <a:ln/>
        </p:spPr>
        <p:txBody>
          <a:bodyPr wrap="square" lIns="0" tIns="0" rIns="0" bIns="0" rtlCol="0" anchor="ctr"/>
          <a:lstStyle/>
          <a:p>
            <a:pPr algn="r" indent="0" marL="0">
              <a:buNone/>
            </a:pPr>
            <a:r>
              <a:rPr lang="ko-KR" altLang="en-US" sz="1200" dirty="0">
                <a:solidFill>
                  <a:srgbClr val="6B7078"/>
                </a:solidFill>
                <a:latin typeface="Malgun Gothic" pitchFamily="34" charset="0"/>
                <a:ea typeface="Malgun Gothic" pitchFamily="34" charset="-122"/>
                <a:cs typeface="Malgun Gothic" pitchFamily="34" charset="-120"/>
              </a:rPr>
              <a:t>33장</a:t>
            </a:r>
            <a:endParaRPr lang="ko-KR" altLang="en-US" sz="1200" dirty="0"/>
          </a:p>
        </p:txBody>
      </p:sp>
      <p:sp>
        <p:nvSpPr>
          <p:cNvPr id="25" name="Shape 23"/>
          <p:cNvSpPr/>
          <p:nvPr/>
        </p:nvSpPr>
        <p:spPr>
          <a:xfrm>
            <a:off x="6309360" y="4965192"/>
            <a:ext cx="5330952" cy="786384"/>
          </a:xfrm>
          <a:prstGeom prst="roundRect">
            <a:avLst>
              <a:gd name="adj" fmla="val 13953"/>
            </a:avLst>
          </a:prstGeom>
          <a:solidFill>
            <a:srgbClr val="FFFFFF"/>
          </a:solidFill>
          <a:ln/>
          <a:effectLst>
            <a:outerShdw sx="100000" sy="100000" kx="0" ky="0" algn="bl" rotWithShape="0" blurRad="177800" dist="50800" dir="5400000">
              <a:srgbClr val="000000">
                <a:alpha val="9000"/>
              </a:srgbClr>
            </a:outerShdw>
          </a:effectLst>
        </p:spPr>
      </p:sp>
      <p:sp>
        <p:nvSpPr>
          <p:cNvPr id="26" name="Text 24"/>
          <p:cNvSpPr txBox="1"/>
          <p:nvPr/>
        </p:nvSpPr>
        <p:spPr>
          <a:xfrm>
            <a:off x="6537960" y="4965192"/>
            <a:ext cx="640080" cy="786384"/>
          </a:xfrm>
          <a:prstGeom prst="rect">
            <a:avLst/>
          </a:prstGeom>
          <a:noFill/>
          <a:ln/>
        </p:spPr>
        <p:txBody>
          <a:bodyPr wrap="square" lIns="0" tIns="0" rIns="0" bIns="0" rtlCol="0" anchor="ctr"/>
          <a:lstStyle/>
          <a:p>
            <a:pPr indent="0" marL="0">
              <a:buNone/>
            </a:pPr>
            <a:r>
              <a:rPr lang="ko-KR" altLang="en-US" sz="1600" b="1" dirty="0">
                <a:solidFill>
                  <a:srgbClr val="1C86D9"/>
                </a:solidFill>
                <a:latin typeface="Malgun Gothic" pitchFamily="34" charset="0"/>
                <a:ea typeface="Malgun Gothic" pitchFamily="34" charset="-122"/>
                <a:cs typeface="Malgun Gothic" pitchFamily="34" charset="-120"/>
              </a:rPr>
              <a:t>B5</a:t>
            </a:r>
            <a:endParaRPr lang="ko-KR" altLang="en-US" sz="1600" dirty="0"/>
          </a:p>
        </p:txBody>
      </p:sp>
      <p:sp>
        <p:nvSpPr>
          <p:cNvPr id="27" name="Text 25"/>
          <p:cNvSpPr txBox="1"/>
          <p:nvPr/>
        </p:nvSpPr>
        <p:spPr>
          <a:xfrm>
            <a:off x="7223760" y="5093208"/>
            <a:ext cx="356616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기획 상세</a:t>
            </a:r>
            <a:endParaRPr lang="ko-KR" altLang="en-US" sz="1400" dirty="0"/>
          </a:p>
        </p:txBody>
      </p:sp>
      <p:sp>
        <p:nvSpPr>
          <p:cNvPr id="28" name="Text 26"/>
          <p:cNvSpPr txBox="1"/>
          <p:nvPr/>
        </p:nvSpPr>
        <p:spPr>
          <a:xfrm>
            <a:off x="7223760" y="5394960"/>
            <a:ext cx="3566160" cy="256032"/>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사업 요약 · 저니 · 피쉬본 · 요소 분석 · 상태</a:t>
            </a:r>
            <a:endParaRPr lang="ko-KR" altLang="en-US" sz="1050" dirty="0"/>
          </a:p>
        </p:txBody>
      </p:sp>
      <p:sp>
        <p:nvSpPr>
          <p:cNvPr id="29" name="Text 27"/>
          <p:cNvSpPr txBox="1"/>
          <p:nvPr/>
        </p:nvSpPr>
        <p:spPr>
          <a:xfrm>
            <a:off x="10698480" y="4965192"/>
            <a:ext cx="777240" cy="786384"/>
          </a:xfrm>
          <a:prstGeom prst="rect">
            <a:avLst/>
          </a:prstGeom>
          <a:noFill/>
          <a:ln/>
        </p:spPr>
        <p:txBody>
          <a:bodyPr wrap="square" lIns="0" tIns="0" rIns="0" bIns="0" rtlCol="0" anchor="ctr"/>
          <a:lstStyle/>
          <a:p>
            <a:pPr algn="r" indent="0" marL="0">
              <a:buNone/>
            </a:pPr>
            <a:r>
              <a:rPr lang="ko-KR" altLang="en-US" sz="1200" dirty="0">
                <a:solidFill>
                  <a:srgbClr val="6B7078"/>
                </a:solidFill>
                <a:latin typeface="Malgun Gothic" pitchFamily="34" charset="0"/>
                <a:ea typeface="Malgun Gothic" pitchFamily="34" charset="-122"/>
                <a:cs typeface="Malgun Gothic" pitchFamily="34" charset="-120"/>
              </a:rPr>
              <a:t>34장</a:t>
            </a:r>
            <a:endParaRPr lang="ko-KR" altLang="en-US" sz="12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17</a:t>
            </a:fld>
            <a:endParaRPr lang="ko-KR"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B1 · 데모 및 스크린샷 1/3</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600" b="1" dirty="0">
                <a:solidFill>
                  <a:srgbClr val="111111"/>
                </a:solidFill>
                <a:latin typeface="Malgun Gothic" pitchFamily="34" charset="0"/>
                <a:ea typeface="Malgun Gothic" pitchFamily="34" charset="-122"/>
                <a:cs typeface="Malgun Gothic" pitchFamily="34" charset="-120"/>
              </a:rPr>
              <a:t>탭 화면 — 요소 번호는 디자인 가이드 3장과 같다</a:t>
            </a:r>
            <a:endParaRPr lang="ko-KR" altLang="en-US" sz="2600" dirty="0"/>
          </a:p>
        </p:txBody>
      </p:sp>
      <p:sp>
        <p:nvSpPr>
          <p:cNvPr id="4" name="Shape 2"/>
          <p:cNvSpPr/>
          <p:nvPr/>
        </p:nvSpPr>
        <p:spPr>
          <a:xfrm>
            <a:off x="566928"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home_num.png">    </p:cNvPr>
          <p:cNvPicPr>
            <a:picLocks noChangeAspect="1"/>
          </p:cNvPicPr>
          <p:nvPr/>
        </p:nvPicPr>
        <p:blipFill>
          <a:blip r:embed="rId1"/>
          <a:stretch>
            <a:fillRect/>
          </a:stretch>
        </p:blipFill>
        <p:spPr>
          <a:xfrm>
            <a:off x="548640" y="1874520"/>
            <a:ext cx="1795756" cy="3886200"/>
          </a:xfrm>
          <a:prstGeom prst="rect">
            <a:avLst/>
          </a:prstGeom>
        </p:spPr>
      </p:pic>
      <p:sp>
        <p:nvSpPr>
          <p:cNvPr id="6" name="Shape 3"/>
          <p:cNvSpPr/>
          <p:nvPr/>
        </p:nvSpPr>
        <p:spPr>
          <a:xfrm>
            <a:off x="548640" y="1481328"/>
            <a:ext cx="1795756" cy="292608"/>
          </a:xfrm>
          <a:prstGeom prst="roundRect">
            <a:avLst>
              <a:gd name="adj" fmla="val 50000"/>
            </a:avLst>
          </a:prstGeom>
          <a:solidFill>
            <a:srgbClr val="1C86D9"/>
          </a:solidFill>
          <a:ln/>
        </p:spPr>
      </p:sp>
      <p:sp>
        <p:nvSpPr>
          <p:cNvPr id="7" name="Text 4"/>
          <p:cNvSpPr txBox="1"/>
          <p:nvPr/>
        </p:nvSpPr>
        <p:spPr>
          <a:xfrm>
            <a:off x="548640"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A 홈</a:t>
            </a:r>
            <a:endParaRPr lang="ko-KR" altLang="en-US" sz="1050" dirty="0"/>
          </a:p>
        </p:txBody>
      </p:sp>
      <p:sp>
        <p:nvSpPr>
          <p:cNvPr id="8" name="Text 5"/>
          <p:cNvSpPr txBox="1"/>
          <p:nvPr/>
        </p:nvSpPr>
        <p:spPr>
          <a:xfrm>
            <a:off x="502920"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a_home_screen</a:t>
            </a:r>
            <a:endParaRPr lang="ko-KR" altLang="en-US" sz="950" dirty="0"/>
          </a:p>
        </p:txBody>
      </p:sp>
      <p:sp>
        <p:nvSpPr>
          <p:cNvPr id="9" name="Shape 6"/>
          <p:cNvSpPr/>
          <p:nvPr/>
        </p:nvSpPr>
        <p:spPr>
          <a:xfrm>
            <a:off x="2423160"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10" name="Image 1" descr="C:\Users\Windows11\AppData\Local\Temp\claude\C--Users-Windows11-Desktop-New-folder--2-\a0c8a1d0-32ba-4ae6-9843-b5ebc69d925f\scratchpad\deck2/img/search.png">    </p:cNvPr>
          <p:cNvPicPr>
            <a:picLocks noChangeAspect="1"/>
          </p:cNvPicPr>
          <p:nvPr/>
        </p:nvPicPr>
        <p:blipFill>
          <a:blip r:embed="rId2"/>
          <a:stretch>
            <a:fillRect/>
          </a:stretch>
        </p:blipFill>
        <p:spPr>
          <a:xfrm>
            <a:off x="2404872" y="1874520"/>
            <a:ext cx="1795756" cy="3886200"/>
          </a:xfrm>
          <a:prstGeom prst="rect">
            <a:avLst/>
          </a:prstGeom>
        </p:spPr>
      </p:pic>
      <p:sp>
        <p:nvSpPr>
          <p:cNvPr id="11" name="Shape 7"/>
          <p:cNvSpPr/>
          <p:nvPr/>
        </p:nvSpPr>
        <p:spPr>
          <a:xfrm>
            <a:off x="2404872" y="1481328"/>
            <a:ext cx="1795756" cy="292608"/>
          </a:xfrm>
          <a:prstGeom prst="roundRect">
            <a:avLst>
              <a:gd name="adj" fmla="val 50000"/>
            </a:avLst>
          </a:prstGeom>
          <a:solidFill>
            <a:srgbClr val="1C86D9"/>
          </a:solidFill>
          <a:ln/>
        </p:spPr>
      </p:sp>
      <p:sp>
        <p:nvSpPr>
          <p:cNvPr id="12" name="Text 8"/>
          <p:cNvSpPr txBox="1"/>
          <p:nvPr/>
        </p:nvSpPr>
        <p:spPr>
          <a:xfrm>
            <a:off x="2404872"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B · O 전체 상품</a:t>
            </a:r>
            <a:endParaRPr lang="ko-KR" altLang="en-US" sz="1050" dirty="0"/>
          </a:p>
        </p:txBody>
      </p:sp>
      <p:sp>
        <p:nvSpPr>
          <p:cNvPr id="13" name="Text 9"/>
          <p:cNvSpPr txBox="1"/>
          <p:nvPr/>
        </p:nvSpPr>
        <p:spPr>
          <a:xfrm>
            <a:off x="2359152"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b_search · o_see_all</a:t>
            </a:r>
            <a:endParaRPr lang="ko-KR" altLang="en-US" sz="950" dirty="0"/>
          </a:p>
        </p:txBody>
      </p:sp>
      <p:sp>
        <p:nvSpPr>
          <p:cNvPr id="14" name="Shape 10"/>
          <p:cNvSpPr/>
          <p:nvPr/>
        </p:nvSpPr>
        <p:spPr>
          <a:xfrm>
            <a:off x="4279392"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15" name="Image 2" descr="C:\Users\Windows11\AppData\Local\Temp\claude\C--Users-Windows11-Desktop-New-folder--2-\a0c8a1d0-32ba-4ae6-9843-b5ebc69d925f\scratchpad\deck2/img/detail_num.png">    </p:cNvPr>
          <p:cNvPicPr>
            <a:picLocks noChangeAspect="1"/>
          </p:cNvPicPr>
          <p:nvPr/>
        </p:nvPicPr>
        <p:blipFill>
          <a:blip r:embed="rId3"/>
          <a:stretch>
            <a:fillRect/>
          </a:stretch>
        </p:blipFill>
        <p:spPr>
          <a:xfrm>
            <a:off x="4261104" y="1874520"/>
            <a:ext cx="1795756" cy="3886200"/>
          </a:xfrm>
          <a:prstGeom prst="rect">
            <a:avLst/>
          </a:prstGeom>
        </p:spPr>
      </p:pic>
      <p:sp>
        <p:nvSpPr>
          <p:cNvPr id="16" name="Shape 11"/>
          <p:cNvSpPr/>
          <p:nvPr/>
        </p:nvSpPr>
        <p:spPr>
          <a:xfrm>
            <a:off x="4261104" y="1481328"/>
            <a:ext cx="1795756" cy="292608"/>
          </a:xfrm>
          <a:prstGeom prst="roundRect">
            <a:avLst>
              <a:gd name="adj" fmla="val 50000"/>
            </a:avLst>
          </a:prstGeom>
          <a:solidFill>
            <a:srgbClr val="1C86D9"/>
          </a:solidFill>
          <a:ln/>
        </p:spPr>
      </p:sp>
      <p:sp>
        <p:nvSpPr>
          <p:cNvPr id="17" name="Text 12"/>
          <p:cNvSpPr txBox="1"/>
          <p:nvPr/>
        </p:nvSpPr>
        <p:spPr>
          <a:xfrm>
            <a:off x="4261104"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D 상품 상세</a:t>
            </a:r>
            <a:endParaRPr lang="ko-KR" altLang="en-US" sz="1050" dirty="0"/>
          </a:p>
        </p:txBody>
      </p:sp>
      <p:sp>
        <p:nvSpPr>
          <p:cNvPr id="18" name="Text 13"/>
          <p:cNvSpPr txBox="1"/>
          <p:nvPr/>
        </p:nvSpPr>
        <p:spPr>
          <a:xfrm>
            <a:off x="4215384"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d_kit_detail_screen</a:t>
            </a:r>
            <a:endParaRPr lang="ko-KR" altLang="en-US" sz="950" dirty="0"/>
          </a:p>
        </p:txBody>
      </p:sp>
      <p:sp>
        <p:nvSpPr>
          <p:cNvPr id="19" name="Shape 14"/>
          <p:cNvSpPr/>
          <p:nvPr/>
        </p:nvSpPr>
        <p:spPr>
          <a:xfrm>
            <a:off x="6135624"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20" name="Image 3" descr="C:\Users\Windows11\AppData\Local\Temp\claude\C--Users-Windows11-Desktop-New-folder--2-\a0c8a1d0-32ba-4ae6-9843-b5ebc69d925f\scratchpad\deck2/img/collection.png">    </p:cNvPr>
          <p:cNvPicPr>
            <a:picLocks noChangeAspect="1"/>
          </p:cNvPicPr>
          <p:nvPr/>
        </p:nvPicPr>
        <p:blipFill>
          <a:blip r:embed="rId4"/>
          <a:stretch>
            <a:fillRect/>
          </a:stretch>
        </p:blipFill>
        <p:spPr>
          <a:xfrm>
            <a:off x="6117336" y="1874520"/>
            <a:ext cx="1795756" cy="3886200"/>
          </a:xfrm>
          <a:prstGeom prst="rect">
            <a:avLst/>
          </a:prstGeom>
        </p:spPr>
      </p:pic>
      <p:sp>
        <p:nvSpPr>
          <p:cNvPr id="21" name="Shape 15"/>
          <p:cNvSpPr/>
          <p:nvPr/>
        </p:nvSpPr>
        <p:spPr>
          <a:xfrm>
            <a:off x="6117336" y="1481328"/>
            <a:ext cx="1795756" cy="292608"/>
          </a:xfrm>
          <a:prstGeom prst="roundRect">
            <a:avLst>
              <a:gd name="adj" fmla="val 50000"/>
            </a:avLst>
          </a:prstGeom>
          <a:solidFill>
            <a:srgbClr val="1C86D9"/>
          </a:solidFill>
          <a:ln/>
        </p:spPr>
      </p:sp>
      <p:sp>
        <p:nvSpPr>
          <p:cNvPr id="22" name="Text 16"/>
          <p:cNvSpPr txBox="1"/>
          <p:nvPr/>
        </p:nvSpPr>
        <p:spPr>
          <a:xfrm>
            <a:off x="6117336"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F 컬렉션</a:t>
            </a:r>
            <a:endParaRPr lang="ko-KR" altLang="en-US" sz="1050" dirty="0"/>
          </a:p>
        </p:txBody>
      </p:sp>
      <p:sp>
        <p:nvSpPr>
          <p:cNvPr id="23" name="Text 17"/>
          <p:cNvSpPr txBox="1"/>
          <p:nvPr/>
        </p:nvSpPr>
        <p:spPr>
          <a:xfrm>
            <a:off x="6071616"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f_collection_screen</a:t>
            </a:r>
            <a:endParaRPr lang="ko-KR" altLang="en-US" sz="950" dirty="0"/>
          </a:p>
        </p:txBody>
      </p:sp>
      <p:sp>
        <p:nvSpPr>
          <p:cNvPr id="24" name="Shape 18"/>
          <p:cNvSpPr/>
          <p:nvPr/>
        </p:nvSpPr>
        <p:spPr>
          <a:xfrm>
            <a:off x="7991856"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25" name="Image 4" descr="C:\Users\Windows11\AppData\Local\Temp\claude\C--Users-Windows11-Desktop-New-folder--2-\a0c8a1d0-32ba-4ae6-9843-b5ebc69d925f\scratchpad\deck2/img/guide_num.png">    </p:cNvPr>
          <p:cNvPicPr>
            <a:picLocks noChangeAspect="1"/>
          </p:cNvPicPr>
          <p:nvPr/>
        </p:nvPicPr>
        <p:blipFill>
          <a:blip r:embed="rId5"/>
          <a:stretch>
            <a:fillRect/>
          </a:stretch>
        </p:blipFill>
        <p:spPr>
          <a:xfrm>
            <a:off x="7973568" y="1874520"/>
            <a:ext cx="1795756" cy="3886200"/>
          </a:xfrm>
          <a:prstGeom prst="rect">
            <a:avLst/>
          </a:prstGeom>
        </p:spPr>
      </p:pic>
      <p:sp>
        <p:nvSpPr>
          <p:cNvPr id="26" name="Shape 19"/>
          <p:cNvSpPr/>
          <p:nvPr/>
        </p:nvSpPr>
        <p:spPr>
          <a:xfrm>
            <a:off x="7973568" y="1481328"/>
            <a:ext cx="1795756" cy="292608"/>
          </a:xfrm>
          <a:prstGeom prst="roundRect">
            <a:avLst>
              <a:gd name="adj" fmla="val 50000"/>
            </a:avLst>
          </a:prstGeom>
          <a:solidFill>
            <a:srgbClr val="1C86D9"/>
          </a:solidFill>
          <a:ln/>
        </p:spPr>
      </p:sp>
      <p:sp>
        <p:nvSpPr>
          <p:cNvPr id="27" name="Text 20"/>
          <p:cNvSpPr txBox="1"/>
          <p:nvPr/>
        </p:nvSpPr>
        <p:spPr>
          <a:xfrm>
            <a:off x="7973568"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G 도감</a:t>
            </a:r>
            <a:endParaRPr lang="ko-KR" altLang="en-US" sz="1050" dirty="0"/>
          </a:p>
        </p:txBody>
      </p:sp>
      <p:sp>
        <p:nvSpPr>
          <p:cNvPr id="28" name="Text 21"/>
          <p:cNvSpPr txBox="1"/>
          <p:nvPr/>
        </p:nvSpPr>
        <p:spPr>
          <a:xfrm>
            <a:off x="7927848"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g_guide_view</a:t>
            </a:r>
            <a:endParaRPr lang="ko-KR" altLang="en-US" sz="950" dirty="0"/>
          </a:p>
        </p:txBody>
      </p:sp>
      <p:sp>
        <p:nvSpPr>
          <p:cNvPr id="29" name="Shape 22"/>
          <p:cNvSpPr/>
          <p:nvPr/>
        </p:nvSpPr>
        <p:spPr>
          <a:xfrm>
            <a:off x="9848088"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30" name="Image 5" descr="C:\Users\Windows11\AppData\Local\Temp\claude\C--Users-Windows11-Desktop-New-folder--2-\a0c8a1d0-32ba-4ae6-9843-b5ebc69d925f\scratchpad\deck2/img/calendar.png">    </p:cNvPr>
          <p:cNvPicPr>
            <a:picLocks noChangeAspect="1"/>
          </p:cNvPicPr>
          <p:nvPr/>
        </p:nvPicPr>
        <p:blipFill>
          <a:blip r:embed="rId6"/>
          <a:stretch>
            <a:fillRect/>
          </a:stretch>
        </p:blipFill>
        <p:spPr>
          <a:xfrm>
            <a:off x="9829800" y="1874520"/>
            <a:ext cx="1795756" cy="3886200"/>
          </a:xfrm>
          <a:prstGeom prst="rect">
            <a:avLst/>
          </a:prstGeom>
        </p:spPr>
      </p:pic>
      <p:sp>
        <p:nvSpPr>
          <p:cNvPr id="31" name="Shape 23"/>
          <p:cNvSpPr/>
          <p:nvPr/>
        </p:nvSpPr>
        <p:spPr>
          <a:xfrm>
            <a:off x="9829800" y="1481328"/>
            <a:ext cx="1795756" cy="292608"/>
          </a:xfrm>
          <a:prstGeom prst="roundRect">
            <a:avLst>
              <a:gd name="adj" fmla="val 50000"/>
            </a:avLst>
          </a:prstGeom>
          <a:solidFill>
            <a:srgbClr val="1C86D9"/>
          </a:solidFill>
          <a:ln/>
        </p:spPr>
      </p:sp>
      <p:sp>
        <p:nvSpPr>
          <p:cNvPr id="32" name="Text 24"/>
          <p:cNvSpPr txBox="1"/>
          <p:nvPr/>
        </p:nvSpPr>
        <p:spPr>
          <a:xfrm>
            <a:off x="9829800"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H 캘린더</a:t>
            </a:r>
            <a:endParaRPr lang="ko-KR" altLang="en-US" sz="1050" dirty="0"/>
          </a:p>
        </p:txBody>
      </p:sp>
      <p:sp>
        <p:nvSpPr>
          <p:cNvPr id="33" name="Text 25"/>
          <p:cNvSpPr txBox="1"/>
          <p:nvPr/>
        </p:nvSpPr>
        <p:spPr>
          <a:xfrm>
            <a:off x="9784080"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h_calendar_screen</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18</a:t>
            </a:fld>
            <a:endParaRPr lang="ko-KR"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B1 · 데모 및 스크린샷 2/3</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600" b="1" dirty="0">
                <a:solidFill>
                  <a:srgbClr val="111111"/>
                </a:solidFill>
                <a:latin typeface="Malgun Gothic" pitchFamily="34" charset="0"/>
                <a:ea typeface="Malgun Gothic" pitchFamily="34" charset="-122"/>
                <a:cs typeface="Malgun Gothic" pitchFamily="34" charset="-120"/>
              </a:rPr>
              <a:t>나머지 화면 — 친구 · 내 정보 · 알림 · 설정 · 카메라</a:t>
            </a:r>
            <a:endParaRPr lang="ko-KR" altLang="en-US" sz="2600" dirty="0"/>
          </a:p>
        </p:txBody>
      </p:sp>
      <p:sp>
        <p:nvSpPr>
          <p:cNvPr id="4" name="Shape 2"/>
          <p:cNvSpPr/>
          <p:nvPr/>
        </p:nvSpPr>
        <p:spPr>
          <a:xfrm>
            <a:off x="566928"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drawer.png">    </p:cNvPr>
          <p:cNvPicPr>
            <a:picLocks noChangeAspect="1"/>
          </p:cNvPicPr>
          <p:nvPr/>
        </p:nvPicPr>
        <p:blipFill>
          <a:blip r:embed="rId1"/>
          <a:stretch>
            <a:fillRect/>
          </a:stretch>
        </p:blipFill>
        <p:spPr>
          <a:xfrm>
            <a:off x="548640" y="1874520"/>
            <a:ext cx="1795756" cy="3886200"/>
          </a:xfrm>
          <a:prstGeom prst="rect">
            <a:avLst/>
          </a:prstGeom>
        </p:spPr>
      </p:pic>
      <p:sp>
        <p:nvSpPr>
          <p:cNvPr id="6" name="Shape 3"/>
          <p:cNvSpPr/>
          <p:nvPr/>
        </p:nvSpPr>
        <p:spPr>
          <a:xfrm>
            <a:off x="548640" y="1481328"/>
            <a:ext cx="1795756" cy="292608"/>
          </a:xfrm>
          <a:prstGeom prst="roundRect">
            <a:avLst>
              <a:gd name="adj" fmla="val 50000"/>
            </a:avLst>
          </a:prstGeom>
          <a:solidFill>
            <a:srgbClr val="1C86D9"/>
          </a:solidFill>
          <a:ln/>
        </p:spPr>
      </p:sp>
      <p:sp>
        <p:nvSpPr>
          <p:cNvPr id="7" name="Text 4"/>
          <p:cNvSpPr txBox="1"/>
          <p:nvPr/>
        </p:nvSpPr>
        <p:spPr>
          <a:xfrm>
            <a:off x="548640"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M 친구 서랍</a:t>
            </a:r>
            <a:endParaRPr lang="ko-KR" altLang="en-US" sz="1050" dirty="0"/>
          </a:p>
        </p:txBody>
      </p:sp>
      <p:sp>
        <p:nvSpPr>
          <p:cNvPr id="8" name="Text 5"/>
          <p:cNvSpPr txBox="1"/>
          <p:nvPr/>
        </p:nvSpPr>
        <p:spPr>
          <a:xfrm>
            <a:off x="502920"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m_friends_drawer</a:t>
            </a:r>
            <a:endParaRPr lang="ko-KR" altLang="en-US" sz="950" dirty="0"/>
          </a:p>
        </p:txBody>
      </p:sp>
      <p:sp>
        <p:nvSpPr>
          <p:cNvPr id="9" name="Shape 6"/>
          <p:cNvSpPr/>
          <p:nvPr/>
        </p:nvSpPr>
        <p:spPr>
          <a:xfrm>
            <a:off x="2423160"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10" name="Image 1" descr="C:\Users\Windows11\AppData\Local\Temp\claude\C--Users-Windows11-Desktop-New-folder--2-\a0c8a1d0-32ba-4ae6-9843-b5ebc69d925f\scratchpad\deck2/img/profile.png">    </p:cNvPr>
          <p:cNvPicPr>
            <a:picLocks noChangeAspect="1"/>
          </p:cNvPicPr>
          <p:nvPr/>
        </p:nvPicPr>
        <p:blipFill>
          <a:blip r:embed="rId2"/>
          <a:stretch>
            <a:fillRect/>
          </a:stretch>
        </p:blipFill>
        <p:spPr>
          <a:xfrm>
            <a:off x="2404872" y="1874520"/>
            <a:ext cx="1795756" cy="3886200"/>
          </a:xfrm>
          <a:prstGeom prst="rect">
            <a:avLst/>
          </a:prstGeom>
        </p:spPr>
      </p:pic>
      <p:sp>
        <p:nvSpPr>
          <p:cNvPr id="11" name="Shape 7"/>
          <p:cNvSpPr/>
          <p:nvPr/>
        </p:nvSpPr>
        <p:spPr>
          <a:xfrm>
            <a:off x="2404872" y="1481328"/>
            <a:ext cx="1795756" cy="292608"/>
          </a:xfrm>
          <a:prstGeom prst="roundRect">
            <a:avLst>
              <a:gd name="adj" fmla="val 50000"/>
            </a:avLst>
          </a:prstGeom>
          <a:solidFill>
            <a:srgbClr val="1C86D9"/>
          </a:solidFill>
          <a:ln/>
        </p:spPr>
      </p:sp>
      <p:sp>
        <p:nvSpPr>
          <p:cNvPr id="12" name="Text 8"/>
          <p:cNvSpPr txBox="1"/>
          <p:nvPr/>
        </p:nvSpPr>
        <p:spPr>
          <a:xfrm>
            <a:off x="2404872"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I 내 정보</a:t>
            </a:r>
            <a:endParaRPr lang="ko-KR" altLang="en-US" sz="1050" dirty="0"/>
          </a:p>
        </p:txBody>
      </p:sp>
      <p:sp>
        <p:nvSpPr>
          <p:cNvPr id="13" name="Text 9"/>
          <p:cNvSpPr txBox="1"/>
          <p:nvPr/>
        </p:nvSpPr>
        <p:spPr>
          <a:xfrm>
            <a:off x="2359152"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i_profile_screen</a:t>
            </a:r>
            <a:endParaRPr lang="ko-KR" altLang="en-US" sz="950" dirty="0"/>
          </a:p>
        </p:txBody>
      </p:sp>
      <p:sp>
        <p:nvSpPr>
          <p:cNvPr id="14" name="Shape 10"/>
          <p:cNvSpPr/>
          <p:nvPr/>
        </p:nvSpPr>
        <p:spPr>
          <a:xfrm>
            <a:off x="4279392"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15" name="Image 2" descr="C:\Users\Windows11\AppData\Local\Temp\claude\C--Users-Windows11-Desktop-New-folder--2-\a0c8a1d0-32ba-4ae6-9843-b5ebc69d925f\scratchpad\deck2/img/friend.png">    </p:cNvPr>
          <p:cNvPicPr>
            <a:picLocks noChangeAspect="1"/>
          </p:cNvPicPr>
          <p:nvPr/>
        </p:nvPicPr>
        <p:blipFill>
          <a:blip r:embed="rId3"/>
          <a:stretch>
            <a:fillRect/>
          </a:stretch>
        </p:blipFill>
        <p:spPr>
          <a:xfrm>
            <a:off x="4261104" y="1874520"/>
            <a:ext cx="1795756" cy="3886200"/>
          </a:xfrm>
          <a:prstGeom prst="rect">
            <a:avLst/>
          </a:prstGeom>
        </p:spPr>
      </p:pic>
      <p:sp>
        <p:nvSpPr>
          <p:cNvPr id="16" name="Shape 11"/>
          <p:cNvSpPr/>
          <p:nvPr/>
        </p:nvSpPr>
        <p:spPr>
          <a:xfrm>
            <a:off x="4261104" y="1481328"/>
            <a:ext cx="1795756" cy="292608"/>
          </a:xfrm>
          <a:prstGeom prst="roundRect">
            <a:avLst>
              <a:gd name="adj" fmla="val 50000"/>
            </a:avLst>
          </a:prstGeom>
          <a:solidFill>
            <a:srgbClr val="1C86D9"/>
          </a:solidFill>
          <a:ln/>
        </p:spPr>
      </p:sp>
      <p:sp>
        <p:nvSpPr>
          <p:cNvPr id="17" name="Text 12"/>
          <p:cNvSpPr txBox="1"/>
          <p:nvPr/>
        </p:nvSpPr>
        <p:spPr>
          <a:xfrm>
            <a:off x="4261104"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L 친구 컬렉션</a:t>
            </a:r>
            <a:endParaRPr lang="ko-KR" altLang="en-US" sz="1050" dirty="0"/>
          </a:p>
        </p:txBody>
      </p:sp>
      <p:sp>
        <p:nvSpPr>
          <p:cNvPr id="18" name="Text 13"/>
          <p:cNvSpPr txBox="1"/>
          <p:nvPr/>
        </p:nvSpPr>
        <p:spPr>
          <a:xfrm>
            <a:off x="4215384"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l_friend_collection</a:t>
            </a:r>
            <a:endParaRPr lang="ko-KR" altLang="en-US" sz="950" dirty="0"/>
          </a:p>
        </p:txBody>
      </p:sp>
      <p:sp>
        <p:nvSpPr>
          <p:cNvPr id="19" name="Shape 14"/>
          <p:cNvSpPr/>
          <p:nvPr/>
        </p:nvSpPr>
        <p:spPr>
          <a:xfrm>
            <a:off x="6135624"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20" name="Image 3" descr="C:\Users\Windows11\AppData\Local\Temp\claude\C--Users-Windows11-Desktop-New-folder--2-\a0c8a1d0-32ba-4ae6-9843-b5ebc69d925f\scratchpad\deck2/img/notif.png">    </p:cNvPr>
          <p:cNvPicPr>
            <a:picLocks noChangeAspect="1"/>
          </p:cNvPicPr>
          <p:nvPr/>
        </p:nvPicPr>
        <p:blipFill>
          <a:blip r:embed="rId4"/>
          <a:stretch>
            <a:fillRect/>
          </a:stretch>
        </p:blipFill>
        <p:spPr>
          <a:xfrm>
            <a:off x="6117336" y="1874520"/>
            <a:ext cx="1795756" cy="3886200"/>
          </a:xfrm>
          <a:prstGeom prst="rect">
            <a:avLst/>
          </a:prstGeom>
        </p:spPr>
      </p:pic>
      <p:sp>
        <p:nvSpPr>
          <p:cNvPr id="21" name="Shape 15"/>
          <p:cNvSpPr/>
          <p:nvPr/>
        </p:nvSpPr>
        <p:spPr>
          <a:xfrm>
            <a:off x="6117336" y="1481328"/>
            <a:ext cx="1795756" cy="292608"/>
          </a:xfrm>
          <a:prstGeom prst="roundRect">
            <a:avLst>
              <a:gd name="adj" fmla="val 50000"/>
            </a:avLst>
          </a:prstGeom>
          <a:solidFill>
            <a:srgbClr val="1C86D9"/>
          </a:solidFill>
          <a:ln/>
        </p:spPr>
      </p:sp>
      <p:sp>
        <p:nvSpPr>
          <p:cNvPr id="22" name="Text 16"/>
          <p:cNvSpPr txBox="1"/>
          <p:nvPr/>
        </p:nvSpPr>
        <p:spPr>
          <a:xfrm>
            <a:off x="6117336"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N 알림</a:t>
            </a:r>
            <a:endParaRPr lang="ko-KR" altLang="en-US" sz="1050" dirty="0"/>
          </a:p>
        </p:txBody>
      </p:sp>
      <p:sp>
        <p:nvSpPr>
          <p:cNvPr id="23" name="Text 17"/>
          <p:cNvSpPr txBox="1"/>
          <p:nvPr/>
        </p:nvSpPr>
        <p:spPr>
          <a:xfrm>
            <a:off x="6071616"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n_notifications_screen</a:t>
            </a:r>
            <a:endParaRPr lang="ko-KR" altLang="en-US" sz="950" dirty="0"/>
          </a:p>
        </p:txBody>
      </p:sp>
      <p:sp>
        <p:nvSpPr>
          <p:cNvPr id="24" name="Shape 18"/>
          <p:cNvSpPr/>
          <p:nvPr/>
        </p:nvSpPr>
        <p:spPr>
          <a:xfrm>
            <a:off x="7991856"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25" name="Image 4" descr="C:\Users\Windows11\AppData\Local\Temp\claude\C--Users-Windows11-Desktop-New-folder--2-\a0c8a1d0-32ba-4ae6-9843-b5ebc69d925f\scratchpad\deck2/img/settings.png">    </p:cNvPr>
          <p:cNvPicPr>
            <a:picLocks noChangeAspect="1"/>
          </p:cNvPicPr>
          <p:nvPr/>
        </p:nvPicPr>
        <p:blipFill>
          <a:blip r:embed="rId5"/>
          <a:stretch>
            <a:fillRect/>
          </a:stretch>
        </p:blipFill>
        <p:spPr>
          <a:xfrm>
            <a:off x="7973568" y="1874520"/>
            <a:ext cx="1795756" cy="3886200"/>
          </a:xfrm>
          <a:prstGeom prst="rect">
            <a:avLst/>
          </a:prstGeom>
        </p:spPr>
      </p:pic>
      <p:sp>
        <p:nvSpPr>
          <p:cNvPr id="26" name="Shape 19"/>
          <p:cNvSpPr/>
          <p:nvPr/>
        </p:nvSpPr>
        <p:spPr>
          <a:xfrm>
            <a:off x="7973568" y="1481328"/>
            <a:ext cx="1795756" cy="292608"/>
          </a:xfrm>
          <a:prstGeom prst="roundRect">
            <a:avLst>
              <a:gd name="adj" fmla="val 50000"/>
            </a:avLst>
          </a:prstGeom>
          <a:solidFill>
            <a:srgbClr val="1C86D9"/>
          </a:solidFill>
          <a:ln/>
        </p:spPr>
      </p:sp>
      <p:sp>
        <p:nvSpPr>
          <p:cNvPr id="27" name="Text 20"/>
          <p:cNvSpPr txBox="1"/>
          <p:nvPr/>
        </p:nvSpPr>
        <p:spPr>
          <a:xfrm>
            <a:off x="7973568"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K 설정</a:t>
            </a:r>
            <a:endParaRPr lang="ko-KR" altLang="en-US" sz="1050" dirty="0"/>
          </a:p>
        </p:txBody>
      </p:sp>
      <p:sp>
        <p:nvSpPr>
          <p:cNvPr id="28" name="Text 21"/>
          <p:cNvSpPr txBox="1"/>
          <p:nvPr/>
        </p:nvSpPr>
        <p:spPr>
          <a:xfrm>
            <a:off x="7927848"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k_settings_screen</a:t>
            </a:r>
            <a:endParaRPr lang="ko-KR" altLang="en-US" sz="950" dirty="0"/>
          </a:p>
        </p:txBody>
      </p:sp>
      <p:sp>
        <p:nvSpPr>
          <p:cNvPr id="29" name="Shape 22"/>
          <p:cNvSpPr/>
          <p:nvPr/>
        </p:nvSpPr>
        <p:spPr>
          <a:xfrm>
            <a:off x="9848088"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30" name="Image 5" descr="C:\Users\Windows11\AppData\Local\Temp\claude\C--Users-Windows11-Desktop-New-folder--2-\a0c8a1d0-32ba-4ae6-9843-b5ebc69d925f\scratchpad\deck2/img/camera.png">    </p:cNvPr>
          <p:cNvPicPr>
            <a:picLocks noChangeAspect="1"/>
          </p:cNvPicPr>
          <p:nvPr/>
        </p:nvPicPr>
        <p:blipFill>
          <a:blip r:embed="rId6"/>
          <a:stretch>
            <a:fillRect/>
          </a:stretch>
        </p:blipFill>
        <p:spPr>
          <a:xfrm>
            <a:off x="9829800" y="1874520"/>
            <a:ext cx="1795756" cy="3886200"/>
          </a:xfrm>
          <a:prstGeom prst="rect">
            <a:avLst/>
          </a:prstGeom>
        </p:spPr>
      </p:pic>
      <p:sp>
        <p:nvSpPr>
          <p:cNvPr id="31" name="Shape 23"/>
          <p:cNvSpPr/>
          <p:nvPr/>
        </p:nvSpPr>
        <p:spPr>
          <a:xfrm>
            <a:off x="9829800" y="1481328"/>
            <a:ext cx="1795756" cy="292608"/>
          </a:xfrm>
          <a:prstGeom prst="roundRect">
            <a:avLst>
              <a:gd name="adj" fmla="val 50000"/>
            </a:avLst>
          </a:prstGeom>
          <a:solidFill>
            <a:srgbClr val="1C86D9"/>
          </a:solidFill>
          <a:ln/>
        </p:spPr>
      </p:sp>
      <p:sp>
        <p:nvSpPr>
          <p:cNvPr id="32" name="Text 24"/>
          <p:cNvSpPr txBox="1"/>
          <p:nvPr/>
        </p:nvSpPr>
        <p:spPr>
          <a:xfrm>
            <a:off x="9829800"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E 찍어서 찾기</a:t>
            </a:r>
            <a:endParaRPr lang="ko-KR" altLang="en-US" sz="1050" dirty="0"/>
          </a:p>
        </p:txBody>
      </p:sp>
      <p:sp>
        <p:nvSpPr>
          <p:cNvPr id="33" name="Text 25"/>
          <p:cNvSpPr txBox="1"/>
          <p:nvPr/>
        </p:nvSpPr>
        <p:spPr>
          <a:xfrm>
            <a:off x="9784080"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e_camera_screen</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19</a:t>
            </a:fld>
            <a:endParaRPr lang="ko-KR"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B1 · 데모 및 스크린샷 3/3</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600" b="1" dirty="0">
                <a:solidFill>
                  <a:srgbClr val="111111"/>
                </a:solidFill>
                <a:latin typeface="Malgun Gothic" pitchFamily="34" charset="0"/>
                <a:ea typeface="Malgun Gothic" pitchFamily="34" charset="-122"/>
                <a:cs typeface="Malgun Gothic" pitchFamily="34" charset="-120"/>
              </a:rPr>
              <a:t>3상태 · 적응형 — 오류가 나면? 넓은 화면은?</a:t>
            </a:r>
            <a:endParaRPr lang="ko-KR" altLang="en-US" sz="2600" dirty="0"/>
          </a:p>
        </p:txBody>
      </p:sp>
      <p:sp>
        <p:nvSpPr>
          <p:cNvPr id="4" name="Shape 2"/>
          <p:cNvSpPr/>
          <p:nvPr/>
        </p:nvSpPr>
        <p:spPr>
          <a:xfrm>
            <a:off x="566928"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loading.png">    </p:cNvPr>
          <p:cNvPicPr>
            <a:picLocks noChangeAspect="1"/>
          </p:cNvPicPr>
          <p:nvPr/>
        </p:nvPicPr>
        <p:blipFill>
          <a:blip r:embed="rId1"/>
          <a:stretch>
            <a:fillRect/>
          </a:stretch>
        </p:blipFill>
        <p:spPr>
          <a:xfrm>
            <a:off x="548640" y="1874520"/>
            <a:ext cx="1795756" cy="3886200"/>
          </a:xfrm>
          <a:prstGeom prst="rect">
            <a:avLst/>
          </a:prstGeom>
        </p:spPr>
      </p:pic>
      <p:sp>
        <p:nvSpPr>
          <p:cNvPr id="6" name="Shape 3"/>
          <p:cNvSpPr/>
          <p:nvPr/>
        </p:nvSpPr>
        <p:spPr>
          <a:xfrm>
            <a:off x="548640" y="1481328"/>
            <a:ext cx="1795756" cy="292608"/>
          </a:xfrm>
          <a:prstGeom prst="roundRect">
            <a:avLst>
              <a:gd name="adj" fmla="val 50000"/>
            </a:avLst>
          </a:prstGeom>
          <a:solidFill>
            <a:srgbClr val="1C86D9"/>
          </a:solidFill>
          <a:ln/>
        </p:spPr>
      </p:sp>
      <p:sp>
        <p:nvSpPr>
          <p:cNvPr id="7" name="Text 4"/>
          <p:cNvSpPr txBox="1"/>
          <p:nvPr/>
        </p:nvSpPr>
        <p:spPr>
          <a:xfrm>
            <a:off x="548640"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로딩</a:t>
            </a:r>
            <a:endParaRPr lang="ko-KR" altLang="en-US" sz="1050" dirty="0"/>
          </a:p>
        </p:txBody>
      </p:sp>
      <p:sp>
        <p:nvSpPr>
          <p:cNvPr id="8" name="Text 5"/>
          <p:cNvSpPr txBox="1"/>
          <p:nvPr/>
        </p:nvSpPr>
        <p:spPr>
          <a:xfrm>
            <a:off x="502920"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DEMO_STATE=loading</a:t>
            </a:r>
            <a:endParaRPr lang="ko-KR" altLang="en-US" sz="950" dirty="0"/>
          </a:p>
        </p:txBody>
      </p:sp>
      <p:sp>
        <p:nvSpPr>
          <p:cNvPr id="9" name="Shape 6"/>
          <p:cNvSpPr/>
          <p:nvPr/>
        </p:nvSpPr>
        <p:spPr>
          <a:xfrm>
            <a:off x="2423160"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10" name="Image 1" descr="C:\Users\Windows11\AppData\Local\Temp\claude\C--Users-Windows11-Desktop-New-folder--2-\a0c8a1d0-32ba-4ae6-9843-b5ebc69d925f\scratchpad\deck2/img/error.png">    </p:cNvPr>
          <p:cNvPicPr>
            <a:picLocks noChangeAspect="1"/>
          </p:cNvPicPr>
          <p:nvPr/>
        </p:nvPicPr>
        <p:blipFill>
          <a:blip r:embed="rId2"/>
          <a:stretch>
            <a:fillRect/>
          </a:stretch>
        </p:blipFill>
        <p:spPr>
          <a:xfrm>
            <a:off x="2404872" y="1874520"/>
            <a:ext cx="1795756" cy="3886200"/>
          </a:xfrm>
          <a:prstGeom prst="rect">
            <a:avLst/>
          </a:prstGeom>
        </p:spPr>
      </p:pic>
      <p:sp>
        <p:nvSpPr>
          <p:cNvPr id="11" name="Shape 7"/>
          <p:cNvSpPr/>
          <p:nvPr/>
        </p:nvSpPr>
        <p:spPr>
          <a:xfrm>
            <a:off x="2404872" y="1481328"/>
            <a:ext cx="1795756" cy="292608"/>
          </a:xfrm>
          <a:prstGeom prst="roundRect">
            <a:avLst>
              <a:gd name="adj" fmla="val 50000"/>
            </a:avLst>
          </a:prstGeom>
          <a:solidFill>
            <a:srgbClr val="1C86D9"/>
          </a:solidFill>
          <a:ln/>
        </p:spPr>
      </p:sp>
      <p:sp>
        <p:nvSpPr>
          <p:cNvPr id="12" name="Text 8"/>
          <p:cNvSpPr txBox="1"/>
          <p:nvPr/>
        </p:nvSpPr>
        <p:spPr>
          <a:xfrm>
            <a:off x="2404872"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오류 + 다시 시도</a:t>
            </a:r>
            <a:endParaRPr lang="ko-KR" altLang="en-US" sz="1050" dirty="0"/>
          </a:p>
        </p:txBody>
      </p:sp>
      <p:sp>
        <p:nvSpPr>
          <p:cNvPr id="13" name="Text 9"/>
          <p:cNvSpPr txBox="1"/>
          <p:nvPr/>
        </p:nvSpPr>
        <p:spPr>
          <a:xfrm>
            <a:off x="2359152"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DEMO_STATE=error</a:t>
            </a:r>
            <a:endParaRPr lang="ko-KR" altLang="en-US" sz="950" dirty="0"/>
          </a:p>
        </p:txBody>
      </p:sp>
      <p:sp>
        <p:nvSpPr>
          <p:cNvPr id="14" name="Shape 10"/>
          <p:cNvSpPr/>
          <p:nvPr/>
        </p:nvSpPr>
        <p:spPr>
          <a:xfrm>
            <a:off x="4279392"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15" name="Image 2" descr="C:\Users\Windows11\AppData\Local\Temp\claude\C--Users-Windows11-Desktop-New-folder--2-\a0c8a1d0-32ba-4ae6-9843-b5ebc69d925f\scratchpad\deck2/img/empty.png">    </p:cNvPr>
          <p:cNvPicPr>
            <a:picLocks noChangeAspect="1"/>
          </p:cNvPicPr>
          <p:nvPr/>
        </p:nvPicPr>
        <p:blipFill>
          <a:blip r:embed="rId3"/>
          <a:stretch>
            <a:fillRect/>
          </a:stretch>
        </p:blipFill>
        <p:spPr>
          <a:xfrm>
            <a:off x="4261104" y="1874520"/>
            <a:ext cx="1795756" cy="3886200"/>
          </a:xfrm>
          <a:prstGeom prst="rect">
            <a:avLst/>
          </a:prstGeom>
        </p:spPr>
      </p:pic>
      <p:sp>
        <p:nvSpPr>
          <p:cNvPr id="16" name="Shape 11"/>
          <p:cNvSpPr/>
          <p:nvPr/>
        </p:nvSpPr>
        <p:spPr>
          <a:xfrm>
            <a:off x="4261104" y="1481328"/>
            <a:ext cx="1795756" cy="292608"/>
          </a:xfrm>
          <a:prstGeom prst="roundRect">
            <a:avLst>
              <a:gd name="adj" fmla="val 50000"/>
            </a:avLst>
          </a:prstGeom>
          <a:solidFill>
            <a:srgbClr val="1C86D9"/>
          </a:solidFill>
          <a:ln/>
        </p:spPr>
      </p:sp>
      <p:sp>
        <p:nvSpPr>
          <p:cNvPr id="17" name="Text 12"/>
          <p:cNvSpPr txBox="1"/>
          <p:nvPr/>
        </p:nvSpPr>
        <p:spPr>
          <a:xfrm>
            <a:off x="4261104"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빈 상태</a:t>
            </a:r>
            <a:endParaRPr lang="ko-KR" altLang="en-US" sz="1050" dirty="0"/>
          </a:p>
        </p:txBody>
      </p:sp>
      <p:sp>
        <p:nvSpPr>
          <p:cNvPr id="18" name="Text 13"/>
          <p:cNvSpPr txBox="1"/>
          <p:nvPr/>
        </p:nvSpPr>
        <p:spPr>
          <a:xfrm>
            <a:off x="4215384"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DEMO_STATE=empty</a:t>
            </a:r>
            <a:endParaRPr lang="ko-KR" altLang="en-US" sz="950" dirty="0"/>
          </a:p>
        </p:txBody>
      </p:sp>
      <p:sp>
        <p:nvSpPr>
          <p:cNvPr id="19" name="Shape 14"/>
          <p:cNvSpPr/>
          <p:nvPr/>
        </p:nvSpPr>
        <p:spPr>
          <a:xfrm>
            <a:off x="6309360" y="1481328"/>
            <a:ext cx="2194560" cy="292608"/>
          </a:xfrm>
          <a:prstGeom prst="roundRect">
            <a:avLst>
              <a:gd name="adj" fmla="val 50000"/>
            </a:avLst>
          </a:prstGeom>
          <a:solidFill>
            <a:srgbClr val="111111"/>
          </a:solidFill>
          <a:ln/>
        </p:spPr>
      </p:sp>
      <p:sp>
        <p:nvSpPr>
          <p:cNvPr id="20" name="Text 15"/>
          <p:cNvSpPr txBox="1"/>
          <p:nvPr/>
        </p:nvSpPr>
        <p:spPr>
          <a:xfrm>
            <a:off x="6309360" y="1481328"/>
            <a:ext cx="2194560"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가로 폰 — 측면 탭 (S-5)</a:t>
            </a:r>
            <a:endParaRPr lang="ko-KR" altLang="en-US" sz="1050" dirty="0"/>
          </a:p>
        </p:txBody>
      </p:sp>
      <p:sp>
        <p:nvSpPr>
          <p:cNvPr id="21" name="Shape 16"/>
          <p:cNvSpPr/>
          <p:nvPr/>
        </p:nvSpPr>
        <p:spPr>
          <a:xfrm>
            <a:off x="6327648" y="1892808"/>
            <a:ext cx="4535424" cy="2076078"/>
          </a:xfrm>
          <a:prstGeom prst="roundRect">
            <a:avLst>
              <a:gd name="adj" fmla="val 3562"/>
            </a:avLst>
          </a:prstGeom>
          <a:solidFill>
            <a:srgbClr val="FFFFFF"/>
          </a:solidFill>
          <a:ln/>
          <a:effectLst>
            <a:outerShdw sx="100000" sy="100000" kx="0" ky="0" algn="bl" rotWithShape="0" blurRad="228600" dist="76200" dir="5400000">
              <a:srgbClr val="000000">
                <a:alpha val="18000"/>
              </a:srgbClr>
            </a:outerShdw>
          </a:effectLst>
        </p:spPr>
      </p:sp>
      <p:pic>
        <p:nvPicPr>
          <p:cNvPr id="22" name="Image 3" descr="C:\Users\Windows11\AppData\Local\Temp\claude\C--Users-Windows11-Desktop-New-folder--2-\a0c8a1d0-32ba-4ae6-9843-b5ebc69d925f\scratchpad\deck2/img/landscape.png">    </p:cNvPr>
          <p:cNvPicPr>
            <a:picLocks noChangeAspect="1"/>
          </p:cNvPicPr>
          <p:nvPr/>
        </p:nvPicPr>
        <p:blipFill>
          <a:blip r:embed="rId4"/>
          <a:stretch>
            <a:fillRect/>
          </a:stretch>
        </p:blipFill>
        <p:spPr>
          <a:xfrm>
            <a:off x="6309360" y="1874520"/>
            <a:ext cx="4572000" cy="2112654"/>
          </a:xfrm>
          <a:prstGeom prst="rect">
            <a:avLst/>
          </a:prstGeom>
        </p:spPr>
      </p:pic>
      <p:sp>
        <p:nvSpPr>
          <p:cNvPr id="23" name="Shape 17"/>
          <p:cNvSpPr/>
          <p:nvPr/>
        </p:nvSpPr>
        <p:spPr>
          <a:xfrm>
            <a:off x="6309360" y="4114800"/>
            <a:ext cx="2377440" cy="292608"/>
          </a:xfrm>
          <a:prstGeom prst="roundRect">
            <a:avLst>
              <a:gd name="adj" fmla="val 50000"/>
            </a:avLst>
          </a:prstGeom>
          <a:solidFill>
            <a:srgbClr val="111111"/>
          </a:solidFill>
          <a:ln/>
        </p:spPr>
      </p:sp>
      <p:sp>
        <p:nvSpPr>
          <p:cNvPr id="24" name="Text 18"/>
          <p:cNvSpPr txBox="1"/>
          <p:nvPr/>
        </p:nvSpPr>
        <p:spPr>
          <a:xfrm>
            <a:off x="6309360" y="4114800"/>
            <a:ext cx="2377440"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폴드 · 넓은 창 — 반반 (S-12)</a:t>
            </a:r>
            <a:endParaRPr lang="ko-KR" altLang="en-US" sz="1050" dirty="0"/>
          </a:p>
        </p:txBody>
      </p:sp>
      <p:sp>
        <p:nvSpPr>
          <p:cNvPr id="25" name="Shape 19"/>
          <p:cNvSpPr/>
          <p:nvPr/>
        </p:nvSpPr>
        <p:spPr>
          <a:xfrm>
            <a:off x="6327648" y="4526280"/>
            <a:ext cx="1888302" cy="1563624"/>
          </a:xfrm>
          <a:prstGeom prst="roundRect">
            <a:avLst>
              <a:gd name="adj" fmla="val 3582"/>
            </a:avLst>
          </a:prstGeom>
          <a:solidFill>
            <a:srgbClr val="FFFFFF"/>
          </a:solidFill>
          <a:ln/>
          <a:effectLst>
            <a:outerShdw sx="100000" sy="100000" kx="0" ky="0" algn="bl" rotWithShape="0" blurRad="228600" dist="76200" dir="5400000">
              <a:srgbClr val="000000">
                <a:alpha val="18000"/>
              </a:srgbClr>
            </a:outerShdw>
          </a:effectLst>
        </p:spPr>
      </p:sp>
      <p:pic>
        <p:nvPicPr>
          <p:cNvPr id="26" name="Image 4" descr="C:\Users\Windows11\AppData\Local\Temp\claude\C--Users-Windows11-Desktop-New-folder--2-\a0c8a1d0-32ba-4ae6-9843-b5ebc69d925f\scratchpad\deck2/img/fold.png">    </p:cNvPr>
          <p:cNvPicPr>
            <a:picLocks noChangeAspect="1"/>
          </p:cNvPicPr>
          <p:nvPr/>
        </p:nvPicPr>
        <p:blipFill>
          <a:blip r:embed="rId5"/>
          <a:stretch>
            <a:fillRect/>
          </a:stretch>
        </p:blipFill>
        <p:spPr>
          <a:xfrm>
            <a:off x="6309360" y="4507992"/>
            <a:ext cx="1924878" cy="1600200"/>
          </a:xfrm>
          <a:prstGeom prst="rect">
            <a:avLst/>
          </a:prstGeom>
        </p:spPr>
      </p:pic>
      <p:sp>
        <p:nvSpPr>
          <p:cNvPr id="27" name="Shape 20"/>
          <p:cNvSpPr/>
          <p:nvPr/>
        </p:nvSpPr>
        <p:spPr>
          <a:xfrm>
            <a:off x="8385048" y="4526280"/>
            <a:ext cx="2523744" cy="1563624"/>
          </a:xfrm>
          <a:prstGeom prst="roundRect">
            <a:avLst>
              <a:gd name="adj" fmla="val 3582"/>
            </a:avLst>
          </a:prstGeom>
          <a:solidFill>
            <a:srgbClr val="FFFFFF"/>
          </a:solidFill>
          <a:ln/>
          <a:effectLst>
            <a:outerShdw sx="100000" sy="100000" kx="0" ky="0" algn="bl" rotWithShape="0" blurRad="228600" dist="76200" dir="5400000">
              <a:srgbClr val="000000">
                <a:alpha val="18000"/>
              </a:srgbClr>
            </a:outerShdw>
          </a:effectLst>
        </p:spPr>
      </p:sp>
      <p:pic>
        <p:nvPicPr>
          <p:cNvPr id="28" name="Image 5" descr="C:\Users\Windows11\AppData\Local\Temp\claude\C--Users-Windows11-Desktop-New-folder--2-\a0c8a1d0-32ba-4ae6-9843-b5ebc69d925f\scratchpad\deck2/img/wide.png">    </p:cNvPr>
          <p:cNvPicPr>
            <a:picLocks noChangeAspect="1"/>
          </p:cNvPicPr>
          <p:nvPr/>
        </p:nvPicPr>
        <p:blipFill>
          <a:blip r:embed="rId6"/>
          <a:stretch>
            <a:fillRect/>
          </a:stretch>
        </p:blipFill>
        <p:spPr>
          <a:xfrm>
            <a:off x="8366760" y="4507992"/>
            <a:ext cx="2560320" cy="1600200"/>
          </a:xfrm>
          <a:prstGeom prst="rect">
            <a:avLst/>
          </a:prstGeom>
        </p:spPr>
      </p:pic>
      <p:sp>
        <p:nvSpPr>
          <p:cNvPr id="29" name="Text 21"/>
          <p:cNvSpPr txBox="1"/>
          <p:nvPr/>
        </p:nvSpPr>
        <p:spPr>
          <a:xfrm>
            <a:off x="10954512" y="1920240"/>
            <a:ext cx="685800" cy="20116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844×390</a:t>
            </a:r>
            <a:endParaRPr lang="ko-KR" altLang="en-US" sz="950" dirty="0"/>
          </a:p>
        </p:txBody>
      </p:sp>
      <p:sp>
        <p:nvSpPr>
          <p:cNvPr id="30" name="Text 22"/>
          <p:cNvSpPr txBox="1"/>
          <p:nvPr/>
        </p:nvSpPr>
        <p:spPr>
          <a:xfrm>
            <a:off x="6309360" y="6144768"/>
            <a:ext cx="530352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830×690 · 1280×800 — test/layout_test.dart 7가지 크기에서 넘침 0</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20</a:t>
            </a:fld>
            <a:endParaRPr lang="ko-KR"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1/10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P01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시스템 상태의 가시성</a:t>
            </a:r>
            <a:endParaRPr lang="ko-KR" altLang="en-US" sz="2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1 — 지금 무슨 일이 일어나는지 늘 알려 준다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2025.07.28 ★3 "PLEASE FIX THE SCANNER" — 스캐너가 멈춰도 앱이 아무것도 알려 주지 않는다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E-4 "AI가 비교하는 중…" · E-6 일치도 막대 · G-4a Lv 막대(다음 레벨까지 n점) · N-3 안 읽음 점 · 모든 GET 화면 LoadingView — 코드 // E-4 P01</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카메라 → 찍기 → "비교하는 중…" → 일치도 94%  (p01.mp4)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돌아가는 원만 보여 주기 — 버림: 무엇을 하는 중인지 모른다. 문구 + 결과 일치도로 바꿈</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21</a:t>
            </a:fld>
            <a:endParaRPr lang="ko-KR"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2/10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P02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시스템과 실세계의 일치</a:t>
            </a:r>
            <a:endParaRPr lang="ko-KR" altLang="en-US" sz="28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2 — 사용자가 아는 말 · 물건 · 순서로 보여 준다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현행 캡처: 미국 경매가(달러) 위주, 일본 정가 · 원래 이름이 없다 / 잘된 점: 상자 사진 · 품번은 그대로 가져감</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D-4 일본어 원래 이름 · D-5 "일본 정가" ¥ · D-2 공식 사진 · A-3 공식 예고 이미지 그대로 · 건담 작품명은 영어 공식명</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상세 → 일본어 이름 → "일본 정가" → 국내 시세 한 줄  (p02.mp4)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정가를 원화로 바꿔 보여 주기 — 버림: 환율 계산은 "실제 계산"이고 매장 가격표와 달라진다(p27). 작품명 한글 줄임말 — 버림(p25)</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22</a:t>
            </a:fld>
            <a:endParaRPr lang="ko-KR"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3/10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P03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사용자 통제와 자유</a:t>
            </a:r>
            <a:endParaRPr lang="ko-KR" altLang="en-US" sz="2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3 — 실수했을 때 쉽게 되돌아갈 비상구</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2023.04.18 ★5 "the layout is a pain" — 누를 때마다 다른 창 · 2025.08.08 ★1 — 원치 않게 처음 화면으로 튕김</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모든 켜고 끄기 토스트에 "되돌리기" · F-10 휴지통 · S-6 IndexedStack(탭을 바꿔도 보던 자리) · 전체 목록 = 같은 탭 안 보기 + ‹</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편집 → 2개 삭제 → 휴지통 배지 → 복원  (p03.mp4)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삭제 전 확인만 묻기 — 부족: 확인 뒤엔 방법이 없다 → 휴지통(p13). 전체 목록을 새 화면으로 — 버림 → 탭 안 보기(p20)</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23</a:t>
            </a:fld>
            <a:endParaRPr lang="ko-KR"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4/10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P04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일관성과 표준</a:t>
            </a:r>
            <a:endParaRPr lang="ko-KR" altLang="en-US" sz="28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4 — 같은 것은 어디서나 같은 모양 · 같은 말</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2023.11.23 ★5 "쇼케이스와 컬렉션의 차이를 모르겠다" — 비슷한 기능이 다른 이름 · 모양으로 흩어져 있다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모양 둘: ♡ = 좋아요, 리본 = 구매함(A-9 · G-4b · D-6) · 색 둘: 파랑 = 고름, 민트 = 가진 것(S-15) · 앱 전체 한 벌(S-16 MarksHost)</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홈 ♡ → 컬렉션 좋아요 +1 → 상세 ♡ 켜짐  (p04.mp4)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화면마다 다른 표시 — 버림: AI 반론 "같은 행동이 3–4가지 모양"(쟁점 1) → 하나로(p26). 파랑 하나로 모든 상태 — 버림(쟁점 2)</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24</a:t>
            </a:fld>
            <a:endParaRPr lang="ko-KR" alt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5/10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P05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오류 예방</a:t>
            </a:r>
            <a:endParaRPr lang="ko-KR" altLang="en-US" sz="2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5 — 실수가 일어나기 전에 막는다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2025.08.08 ★1 — 원치 않는 새로고침 · 리셋, 사용자가 의도하지 않은 큰 변화</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F-7 여러 개 삭제 · D-12 오류 제보 · K-5 로그아웃 → 확인 대화상자 · G-5c 그 기체가 찍힌 사진이어야 켜짐 · 맞는 상품 0이면 필터 적용 잠김(O-2)</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도감 기체 → 내 사진 → 다른 사진 → "찾지 못했어요" → 맞는 사진 → 인증  (p05.mp4)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"내 사진으로" 한 번에 점등 — 버림: "사진에 그 기체가 있어야 켜져야"(p09) → 사진 고르기 + 판정</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25</a:t>
            </a:fld>
            <a:endParaRPr lang="ko-KR"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6/10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P06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기억보다 재인</a:t>
            </a:r>
            <a:endParaRPr lang="ko-KR" altLang="en-US" sz="28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6 — 외우지 않아도 보고 고를 수 있게</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2023.11.23 ★5 — 오래 썼지만 인터페이스를 익히기 어렵다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늘 보이는 내 채널 바(C-1) · 밑줄 탭(F-2 · N-1) · 검색창을 누르면 최근 · 인기 검색어 · AI 예시 문장(B-3~B-5) · 필터 패널 체크 목록(O-2)</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검색 탭(전체 상품) → 검색창 → 최근 검색 → 결과  (p06.mp4)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필터를 알약 줄로 — 버림: "상태가 아니라 작품별로" → 오른쪽 패널(p21). 검색 첫 화면 = 최근 · 인기 판 — 버림(p22)</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26</a:t>
            </a:fld>
            <a:endParaRPr lang="ko-KR"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7/10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P07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사용의 유연성과 효율성</a:t>
            </a:r>
            <a:endParaRPr lang="ko-KR" altLang="en-US" sz="28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7 — 익숙한 사람은 지름길로</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2025.11.30 ★1 — 시세를 한 달 10번만 볼 수 있게 막았다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사진 위 ♡ · 리본 바로 누르기(A-9 · G-4b) · 탭 바 가운데 카메라(S-4) · 국내 시세 한 줄, 횟수 제한 없음(D-5b) · 내 정보 숫자 → 그 목록(I-4)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홈 카드 리본 한 번 → ✓ (상세에 들어가지 않고)  (p07.mp4)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시세를 "시장가" 칸 + 국내 시세 칸 두 곳에 — 버림: "겹친다" → 정가 아래 한 줄 + 누르면 시트(p08)</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27</a:t>
            </a:fld>
            <a:endParaRPr lang="ko-KR"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8/10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P08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미학적이고 미니멀한 디자인</a:t>
            </a:r>
            <a:endParaRPr lang="ko-KR" altLang="en-US" sz="28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8 — 지금 필요 없는 정보는 뺀다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2023.04.18 ★5 "the layout is a pain" · 2025.11.30 ★1 "TOO MANY ADS ON ONE SCREEN"</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흑백 + 포인트 두 색 · 글자 6단계(S-15) · 홈 줄은 사진 + 이름만(A-6) · 스크롤하면 탭 바 · 아바타 줄 접힘(S-8 · S-13) · 광고 없음</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홈을 내려 읽으면 위 · 아래가 접힘  (p08.mp4)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큰 검정 바탕 + 흰 글자 면 — 버림(흰 바탕 위 떠 있는 버튼). 장식 많은 로고 — 버림: 작은 아이콘에서 뭉개짐(로고 보류)</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28</a:t>
            </a:fld>
            <a:endParaRPr lang="ko-KR"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9/10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P09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오류 인식 · 진단 · 복구 돕기</a:t>
            </a:r>
            <a:endParaRPr lang="ko-KR" altLang="en-US" sz="28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9 — 무엇이 잘못됐는지 말하고 빠져나갈 길을 준다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2021.03.22 ★2 — 목록에 없는 상품을 추가 · 오류 표시할 방법이 없다 · 2023.11.23 — 일반판이 자주 빠져 있다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모든 GET 화면 ErrorView + "다시 시도" · 빈 상태 + 빠져나갈 길(F-9 "검색하러 가기", O-8 "필터 초기화") · D-12 정보 오류 제보 · E-9 다시 찍기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DEMO_STATE=error → 오류 안내 → 다시 시도  (p09.mp4)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토스트로만 "불러오기 실패" — 버림: 몇 초 뒤 사라지면 다음 행동을 모른다 → 화면에 남는 ErrorView + 버튼</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29</a:t>
            </a:fld>
            <a:endParaRPr lang="ko-KR"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10/10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P10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도움말과 문서</a:t>
            </a:r>
            <a:endParaRPr lang="ko-KR" altLang="en-US" sz="28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10 — 필요할 때 그 자리에서 짧게</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2021.09.17 ★3 — 시세가 어디서 나온 값인지 모르겠다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G-2 도감 읽는 법(? → 4단계 · 점수) · D-5b 국내 시세 "거래 n건" + 플랫폼 3곳 · J-5 "공식으로 가기"(출처) · B-5 "말로 설명해서 찾기" 예시</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작품 도감 → ? → 도감 읽는 법 시트  (p10.mp4)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화면 위 긴 범례 줄 — 버림: "긴 줄 대신 ? 아이콘"(p12). 시세 출처를 문장으로 길게 — 버림: 거래 건수 + 플랫폼 이름만</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30</a:t>
            </a:fld>
            <a:endParaRPr lang="ko-KR"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B3 · prompt-log 1/2</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AI에게 맡긴 일과 나의 판단</a:t>
            </a:r>
            <a:endParaRPr lang="ko-KR" altLang="en-US" sz="28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658368"/>
                <a:gridCol w="2971800"/>
                <a:gridCol w="2743200"/>
                <a:gridCol w="731520"/>
                <a:gridCol w="3255264"/>
                <a:gridCol w="731520"/>
              </a:tblGrid>
              <a:tr h="420624">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날짜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요청 (지문 요약)</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AI 결과</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판단</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이유 (원칙 · 리뷰 · 커밋)</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P</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 (ChatGPT) 기존 Gunpula · hobbyDB 화면의 문제를 비판해 달라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메뉴 과다 · 정보 흩어짐 · 화면마다 다른 조작</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그대로 따르지 않고 "아래 탭 + 위 채널 바"로 다시 설계</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아래 탭을 무엇으로 나눌지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캘린더 · 컬렉션, 도감은 컬렉션 안 보기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저니 ⑤ 모은 것 보기를 컬렉션 안에 — 탭 수 줄이기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P06 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홈 레이아웃 시안 여러 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매거진형 · 목록형 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PS Store · IMDb 참고 → "배너 + 가로 줄"</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홈 · 검색 검색창이 다르다, 재사용 안 된 것</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GpSearchBar 하나로 · 중복 7종 공용 위젯</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같은 것은 같은 모양</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상세의 "시장가"와 "국내 시세"가 겹친다</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정가 아래 시세 한 줄 + 시트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같은 정보 두 번 = 미니멀 위반 (p08)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P07 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도감을 내 사진으로 켜고 싶다</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"내 사진으로" 토글 한 번에 점등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그 기체가 찍힌 사진이어야 → 사진 고르기 + 판정 (p09)</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좋아요 · 구매함 표시를 IMDb 처럼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사진 왼쪽 위 리본 · 아래 ♡</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상세에 들어가지 않고 바로 담기 (p14)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P07</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친구 화면을 QQ 옆 서랍처럼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아바타 → 서랍 → 내 정보</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친구 목록을 한 곳에 (p16 · p17)</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P07</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홈 "›" 전체 목록 화면</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새 화면 + 좋아요/구매함 알약 거르기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B86E00"/>
                          </a:solidFill>
                          <a:latin typeface="Malgun Gothic" pitchFamily="34" charset="0"/>
                          <a:ea typeface="Malgun Gothic" pitchFamily="34" charset="-122"/>
                          <a:cs typeface="Malgun Gothic" pitchFamily="34" charset="-120"/>
                        </a:rPr>
                        <a:t>폐기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홈 머리 아래 · 작품별로 → 탭 안 보기 + 필터 패널 (p20 · p21)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P03 P06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검색 탭 첫 화면</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"전체 상품 둘러보기" 카드 + 최근 · 인기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기본 = 전체 상품, 검색창을 누르면 판 (p22)</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199632"/>
            <a:ext cx="1106424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 = AI에게 반론을 요청한 줄 (셀프 논증의 증거)  ·  수용 = 그대로 · 수정 = 고쳐서 · 폐기 = 버림  ·  원본 docs/prompt-log.md</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31</a:t>
            </a:fld>
            <a:endParaRPr lang="ko-KR"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B3 · prompt-log 2/2</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AI에게 맡긴 일과 나의 판단</a:t>
            </a:r>
            <a:endParaRPr lang="ko-KR" altLang="en-US" sz="28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658368"/>
                <a:gridCol w="2971800"/>
                <a:gridCol w="2743200"/>
                <a:gridCol w="731520"/>
                <a:gridCol w="3255264"/>
                <a:gridCol w="731520"/>
              </a:tblGrid>
              <a:tr h="420624">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날짜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요청 (지문 요약)</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AI 결과</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판단</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이유 (원칙 · 리뷰 · 커밋)</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P</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정렬 메뉴가 앱과 안 어울림 · 비율 문제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바텀 시트 · 측면 탭 · 7가지 크기 테스트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적응형 = 창 너비 기준, 넘침 0 확인 (p23)</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P04 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폴드처럼 반반 화면 — 의견 먼저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목록-상세만 반반, 홈 제외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QQ처럼 왼쪽 = 폰 화면 전체 (p24)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P07</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 UI 설계에 어떤 문제가 있는지 지적해 달라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13가지: 표시 모양 3–4종 · 파랑 과다 · 위쪽 높이 · 동기화 …</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로고만 보류, 12개 반영 — 셀프 논증 쟁점 1–5 (p25–p32)</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P04 P08 P01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로고 디자인 (원형 아카이브 · 명품 로고 참고)</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시안 4차례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B86E00"/>
                          </a:solidFill>
                          <a:latin typeface="Malgun Gothic" pitchFamily="34" charset="0"/>
                          <a:ea typeface="Malgun Gothic" pitchFamily="34" charset="-122"/>
                          <a:cs typeface="Malgun Gothic" pitchFamily="34" charset="-120"/>
                        </a:rPr>
                        <a:t>폐기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고급스럽지 않음 → 로고는 다음 단계로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반반 화면 선택 표시를 ValueNotifier 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동작함</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"setState 만" → 맨 위 setState + InheritedWidget (p33)</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좋아요 · 구매함이 화면마다 따로 바뀜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맨 위 MarksHost(setState)로 한 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패키지 없이 setState 를 위로 · 저장 안 함 (p31)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디자인 가이드를 지금 코드와 맞게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코드 대응표 → 요소표 생성기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"기획과 일치" — 번호 · 명칭이 코드와 같게 (p34)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제출물 준비 (README · 스크린샷 · 문서)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스크린샷 생성 · 리뷰 확인 · 초안</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셀프 논증 · 자가 점수는 내가 확인 후 확정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현행 앱 스크린샷</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이메일이 보이는 이미지 제외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실제 개인정보 사용 금지 (안내문 5장)</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779008"/>
            <a:ext cx="1106424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 = AI에게 반론을 요청한 줄 (셀프 논증의 증거)  ·  수용 = 그대로 · 수정 = 고쳐서 · 폐기 = 버림  ·  원본 docs/prompt-log.md</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32</a:t>
            </a:fld>
            <a:endParaRPr lang="ko-KR" alt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B4 · 자가평가 요약 (제출 전 점검)</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공개 배점 그대로 — 근거 위치를 모두 채웠다</a:t>
            </a:r>
            <a:endParaRPr lang="ko-KR" altLang="en-US" sz="28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1188720"/>
                <a:gridCol w="2148840"/>
                <a:gridCol w="777240"/>
                <a:gridCol w="3657600"/>
                <a:gridCol w="2606040"/>
                <a:gridCol w="713232"/>
              </a:tblGrid>
              <a:tr h="384048">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영역</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세부</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배점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확인할 것 (안내문 문구)</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근거 위치</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자가</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384048">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기획</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현행 분석 · 리뷰 근거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10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잘된 점 원칙 번호 · 별점 분포 · 인용 · 유형</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05–06장 · docs/기획.md 1장</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10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사업 요약</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목표 · 퍼소나 · 문제 · v2 핵심 가치</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03 · 05장 · B5-1 (34장)</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저니</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8</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목표 · 단계별 리뷰 · 감정 최저점 · 확장 4줄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07장 · B5-2 (35장)</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8</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피쉬본 · 5 Why</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여섯 시각 · 우선순위 1개 · 근본 원인까지</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07장 · B5-3 (36장)</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요소 분석 · 기준 · 가이드 글</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8</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번호 · 위젯명 · 비즈니스 명칭 · 명칭 일관</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08–11장 · B5-4 (37–39장)</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8</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상태관리 포인트</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4</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바뀌는 데이터 → 위젯 · 구현 안 함</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13장 · B5-5 (40장) · STATE 74곳</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4</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셀프 논증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주장 · 반론 · 결론 · 전후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20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쟁점마다 주장 · AI 반론 · 재반론 · 결론 · 근거 · 전후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12장 · B3 · docs/셀프논증.md</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20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UI 구현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일치 · 기능 · 3상태 · 적응형</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25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전환 · 임의 결과 · GET · 로딩/오류/빈 · 넓은 화면</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13–14장 · B1 · 테스트 53개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25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발표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6분 · 데모 · 질의</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15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리허설 6분 이내 · 데모 · 질의 2분에 부록으로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리허설 기록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15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가산 · 감점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Vercel · 감점 항목</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+5 / −5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배포 URL(선택) · 감점 항목 없음</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Vercel 없음 · grep 결과 없음</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b="1" dirty="0">
                          <a:solidFill>
                            <a:srgbClr val="12A07F"/>
                          </a:solidFill>
                          <a:latin typeface="Malgun Gothic" pitchFamily="34" charset="0"/>
                          <a:ea typeface="Malgun Gothic" pitchFamily="34" charset="-122"/>
                          <a:cs typeface="Malgun Gothic" pitchFamily="34" charset="-120"/>
                        </a:rPr>
                        <a:t>+0 −0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r>
                        <a:rPr lang="ko-KR" altLang="en-US" sz="1050" b="1" dirty="0">
                          <a:solidFill>
                            <a:srgbClr val="1C86D9"/>
                          </a:solidFill>
                          <a:latin typeface="Malgun Gothic" pitchFamily="34" charset="0"/>
                          <a:ea typeface="Malgun Gothic" pitchFamily="34" charset="-122"/>
                          <a:cs typeface="Malgun Gothic" pitchFamily="34" charset="-120"/>
                        </a:rPr>
                        <a:t>합계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1C86D9"/>
                          </a:solidFill>
                          <a:latin typeface="Malgun Gothic" pitchFamily="34" charset="0"/>
                          <a:ea typeface="Malgun Gothic" pitchFamily="34" charset="-122"/>
                          <a:cs typeface="Malgun Gothic" pitchFamily="34" charset="-120"/>
                        </a:rPr>
                        <a:t>100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가산 · 감점 반영 전후 모두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100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144768"/>
            <a:ext cx="1106424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점수는 강사가 안내문 7장 배점 안에서 매긴다 — 이 표는 빠진 칸을 찾는 점검 도구, 자가 칸은 제출 전에 직접 채운다</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33</a:t>
            </a:fld>
            <a:endParaRPr lang="ko-KR"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B5-1 · 기획 상세 — 사업 요약</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민준의 흩어진 소식 · 기록을 한 앱으로</a:t>
            </a:r>
            <a:endParaRPr lang="ko-KR" altLang="en-US" sz="2800" dirty="0"/>
          </a:p>
        </p:txBody>
      </p:sp>
      <p:sp>
        <p:nvSpPr>
          <p:cNvPr id="4" name="Shape 2"/>
          <p:cNvSpPr/>
          <p:nvPr/>
        </p:nvSpPr>
        <p:spPr>
          <a:xfrm>
            <a:off x="548640" y="1481328"/>
            <a:ext cx="5440680" cy="2240280"/>
          </a:xfrm>
          <a:prstGeom prst="roundRect">
            <a:avLst>
              <a:gd name="adj" fmla="val 571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 name="Text 3"/>
          <p:cNvSpPr txBox="1"/>
          <p:nvPr/>
        </p:nvSpPr>
        <p:spPr>
          <a:xfrm>
            <a:off x="822960" y="1682496"/>
            <a:ext cx="489204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목표</a:t>
            </a:r>
            <a:endParaRPr lang="ko-KR" altLang="en-US" sz="1300" dirty="0"/>
          </a:p>
        </p:txBody>
      </p:sp>
      <p:sp>
        <p:nvSpPr>
          <p:cNvPr id="6" name="Text 4"/>
          <p:cNvSpPr txBox="1"/>
          <p:nvPr/>
        </p:nvSpPr>
        <p:spPr>
          <a:xfrm>
            <a:off x="822960" y="2029968"/>
            <a:ext cx="4892040" cy="1554480"/>
          </a:xfrm>
          <a:prstGeom prst="rect">
            <a:avLst/>
          </a:prstGeom>
          <a:noFill/>
          <a:ln/>
        </p:spPr>
        <p:txBody>
          <a:bodyPr wrap="square" lIns="0" tIns="0" rIns="0" bIns="0" rtlCol="0" anchor="t"/>
          <a:lstStyle/>
          <a:p>
            <a:pPr indent="0" marL="0">
              <a:spcAft>
                <a:spcPts val="500"/>
              </a:spcAft>
              <a:buNone/>
            </a:pPr>
            <a:r>
              <a:rPr lang="ko-KR" altLang="en-US" sz="1250" b="1" dirty="0">
                <a:solidFill>
                  <a:srgbClr val="111111"/>
                </a:solidFill>
                <a:latin typeface="Malgun Gothic" pitchFamily="34" charset="0"/>
                <a:ea typeface="Malgun Gothic" pitchFamily="34" charset="-122"/>
                <a:cs typeface="Malgun Gothic" pitchFamily="34" charset="-120"/>
              </a:rPr>
              <a:t>관심 IP의 새 소식과 내 컬렉션을 한 앱에서</a:t>
            </a:r>
            <a:endParaRPr lang="ko-KR" altLang="en-US" sz="1250" dirty="0"/>
          </a:p>
          <a:p>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소식 → 기록까지: 브랜드 공식 사이트 10곳 + 중고 앱 → 1곳</a:t>
            </a:r>
            <a:endParaRPr lang="ko-KR" altLang="en-US" sz="1250" dirty="0"/>
          </a:p>
          <a:p>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구매함 기록: 상세에 들어가서 → 사진 위 리본 1번</a:t>
            </a:r>
            <a:endParaRPr lang="ko-KR" altLang="en-US" sz="1250" dirty="0"/>
          </a:p>
          <a:p>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시세 보기 제한: 한 달 10번 → 없음</a:t>
            </a:r>
            <a:endParaRPr lang="ko-KR" altLang="en-US" sz="1250" dirty="0"/>
          </a:p>
        </p:txBody>
      </p:sp>
      <p:sp>
        <p:nvSpPr>
          <p:cNvPr id="7" name="Shape 5"/>
          <p:cNvSpPr/>
          <p:nvPr/>
        </p:nvSpPr>
        <p:spPr>
          <a:xfrm>
            <a:off x="6199632" y="1481328"/>
            <a:ext cx="5440680" cy="2240280"/>
          </a:xfrm>
          <a:prstGeom prst="roundRect">
            <a:avLst>
              <a:gd name="adj" fmla="val 571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8" name="Shape 6"/>
          <p:cNvSpPr/>
          <p:nvPr/>
        </p:nvSpPr>
        <p:spPr>
          <a:xfrm>
            <a:off x="6473952" y="1783080"/>
            <a:ext cx="822960" cy="822960"/>
          </a:xfrm>
          <a:prstGeom prst="ellipse">
            <a:avLst/>
          </a:prstGeom>
          <a:solidFill>
            <a:srgbClr val="1C86D9"/>
          </a:solidFill>
          <a:ln/>
        </p:spPr>
      </p:sp>
      <p:sp>
        <p:nvSpPr>
          <p:cNvPr id="9" name="Text 7"/>
          <p:cNvSpPr txBox="1"/>
          <p:nvPr/>
        </p:nvSpPr>
        <p:spPr>
          <a:xfrm>
            <a:off x="6473952" y="1783080"/>
            <a:ext cx="822960" cy="822960"/>
          </a:xfrm>
          <a:prstGeom prst="rect">
            <a:avLst/>
          </a:prstGeom>
          <a:noFill/>
          <a:ln/>
        </p:spPr>
        <p:txBody>
          <a:bodyPr wrap="square" lIns="0" tIns="0" rIns="0" bIns="0" rtlCol="0" anchor="ctr"/>
          <a:lstStyle/>
          <a:p>
            <a:pPr algn="ctr" indent="0" marL="0">
              <a:buNone/>
            </a:pPr>
            <a:r>
              <a:rPr lang="ko-KR" altLang="en-US" sz="2400" b="1" dirty="0">
                <a:solidFill>
                  <a:srgbClr val="FFFFFF"/>
                </a:solidFill>
                <a:latin typeface="Malgun Gothic" pitchFamily="34" charset="0"/>
                <a:ea typeface="Malgun Gothic" pitchFamily="34" charset="-122"/>
                <a:cs typeface="Malgun Gothic" pitchFamily="34" charset="-120"/>
              </a:rPr>
              <a:t>민</a:t>
            </a:r>
            <a:endParaRPr lang="ko-KR" altLang="en-US" sz="2400" dirty="0"/>
          </a:p>
        </p:txBody>
      </p:sp>
      <p:sp>
        <p:nvSpPr>
          <p:cNvPr id="10" name="Text 8"/>
          <p:cNvSpPr txBox="1"/>
          <p:nvPr/>
        </p:nvSpPr>
        <p:spPr>
          <a:xfrm>
            <a:off x="7498080" y="1737360"/>
            <a:ext cx="3931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대상 사용자 — 퍼소나</a:t>
            </a:r>
            <a:endParaRPr lang="ko-KR" altLang="en-US" sz="1300" dirty="0"/>
          </a:p>
        </p:txBody>
      </p:sp>
      <p:sp>
        <p:nvSpPr>
          <p:cNvPr id="11" name="Text 9"/>
          <p:cNvSpPr txBox="1"/>
          <p:nvPr/>
        </p:nvSpPr>
        <p:spPr>
          <a:xfrm>
            <a:off x="7498080" y="2029968"/>
            <a:ext cx="3931920" cy="310896"/>
          </a:xfrm>
          <a:prstGeom prst="rect">
            <a:avLst/>
          </a:prstGeom>
          <a:noFill/>
          <a:ln/>
        </p:spPr>
        <p:txBody>
          <a:bodyPr wrap="square" lIns="0" tIns="0" rIns="0" bIns="0" rtlCol="0" anchor="t"/>
          <a:lstStyle/>
          <a:p>
            <a:pPr indent="0" marL="0">
              <a:buNone/>
            </a:pPr>
            <a:r>
              <a:rPr lang="ko-KR" altLang="en-US" sz="1500" b="1" dirty="0">
                <a:solidFill>
                  <a:srgbClr val="111111"/>
                </a:solidFill>
                <a:latin typeface="Malgun Gothic" pitchFamily="34" charset="0"/>
                <a:ea typeface="Malgun Gothic" pitchFamily="34" charset="-122"/>
                <a:cs typeface="Malgun Gothic" pitchFamily="34" charset="-120"/>
              </a:rPr>
              <a:t>민준 · 23 · 대학생 · 수집 4년차</a:t>
            </a:r>
            <a:endParaRPr lang="ko-KR" altLang="en-US" sz="1500" dirty="0"/>
          </a:p>
        </p:txBody>
      </p:sp>
      <p:sp>
        <p:nvSpPr>
          <p:cNvPr id="12" name="Text 10"/>
          <p:cNvSpPr txBox="1"/>
          <p:nvPr/>
        </p:nvSpPr>
        <p:spPr>
          <a:xfrm>
            <a:off x="7498080" y="2395728"/>
            <a:ext cx="3931920" cy="1280160"/>
          </a:xfrm>
          <a:prstGeom prst="rect">
            <a:avLst/>
          </a:prstGeom>
          <a:noFill/>
          <a:ln/>
        </p:spPr>
        <p:txBody>
          <a:bodyPr wrap="square" lIns="0" tIns="0" rIns="0" bIns="0" rtlCol="0" anchor="t"/>
          <a:lstStyle/>
          <a:p>
            <a:pPr indent="0" marL="0">
              <a:spcAft>
                <a:spcPts val="300"/>
              </a:spcAft>
              <a:buNone/>
            </a:pPr>
            <a:r>
              <a:rPr lang="ko-KR" altLang="en-US" sz="1150" dirty="0">
                <a:solidFill>
                  <a:srgbClr val="3D4148"/>
                </a:solidFill>
                <a:latin typeface="Malgun Gothic" pitchFamily="34" charset="0"/>
                <a:ea typeface="Malgun Gothic" pitchFamily="34" charset="-122"/>
                <a:cs typeface="Malgun Gothic" pitchFamily="34" charset="-120"/>
              </a:rPr>
              <a:t>건프라 · 베이블레이드 X · 포켓몬 피규어</a:t>
            </a:r>
            <a:endParaRPr lang="ko-KR" altLang="en-US" sz="1150" dirty="0"/>
          </a:p>
          <a:p>
            <a:pPr indent="0" marL="0">
              <a:spcAft>
                <a:spcPts val="300"/>
              </a:spcAft>
              <a:buNone/>
            </a:pPr>
            <a:r>
              <a:rPr lang="ko-KR" altLang="en-US" sz="1150" dirty="0">
                <a:solidFill>
                  <a:srgbClr val="3D4148"/>
                </a:solidFill>
                <a:latin typeface="Malgun Gothic" pitchFamily="34" charset="0"/>
                <a:ea typeface="Malgun Gothic" pitchFamily="34" charset="-122"/>
                <a:cs typeface="Malgun Gothic" pitchFamily="34" charset="-120"/>
              </a:rPr>
              <a:t>소식은 공식 X · 유튜브, 가격은 중고 앱에서 따로</a:t>
            </a:r>
            <a:endParaRPr lang="ko-KR" altLang="en-US" sz="1150" dirty="0"/>
          </a:p>
          <a:p>
            <a:pPr indent="0" marL="0">
              <a:spcAft>
                <a:spcPts val="300"/>
              </a:spcAft>
              <a:buNone/>
            </a:pPr>
            <a:r>
              <a:rPr lang="ko-KR" altLang="en-US" sz="1150" dirty="0">
                <a:solidFill>
                  <a:srgbClr val="3D4148"/>
                </a:solidFill>
                <a:latin typeface="Malgun Gothic" pitchFamily="34" charset="0"/>
                <a:ea typeface="Malgun Gothic" pitchFamily="34" charset="-122"/>
                <a:cs typeface="Malgun Gothic" pitchFamily="34" charset="-120"/>
              </a:rPr>
              <a:t>갤럭시 폴드 — 밖에선 접고 집에선 펼친다</a:t>
            </a:r>
            <a:endParaRPr lang="ko-KR" altLang="en-US" sz="1150" dirty="0"/>
          </a:p>
          <a:p>
            <a:pPr indent="0" marL="0">
              <a:spcAft>
                <a:spcPts val="300"/>
              </a:spcAft>
              <a:buNone/>
            </a:pPr>
            <a:r>
              <a:rPr lang="ko-KR" altLang="en-US" sz="1150" dirty="0">
                <a:solidFill>
                  <a:srgbClr val="3D4148"/>
                </a:solidFill>
                <a:latin typeface="Malgun Gothic" pitchFamily="34" charset="0"/>
                <a:ea typeface="Malgun Gothic" pitchFamily="34" charset="-122"/>
                <a:cs typeface="Malgun Gothic" pitchFamily="34" charset="-120"/>
              </a:rPr>
              <a:t>동생과 같은 방 — 겹쳐 사는 일이 생긴다</a:t>
            </a:r>
            <a:endParaRPr lang="ko-KR" altLang="en-US" sz="1150" dirty="0"/>
          </a:p>
        </p:txBody>
      </p:sp>
      <p:sp>
        <p:nvSpPr>
          <p:cNvPr id="13" name="Shape 11"/>
          <p:cNvSpPr/>
          <p:nvPr/>
        </p:nvSpPr>
        <p:spPr>
          <a:xfrm>
            <a:off x="548640" y="3904488"/>
            <a:ext cx="5440680" cy="2377440"/>
          </a:xfrm>
          <a:prstGeom prst="roundRect">
            <a:avLst>
              <a:gd name="adj" fmla="val 5385"/>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4" name="Text 12"/>
          <p:cNvSpPr txBox="1"/>
          <p:nvPr/>
        </p:nvSpPr>
        <p:spPr>
          <a:xfrm>
            <a:off x="822960" y="4105656"/>
            <a:ext cx="489204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해결할 문제</a:t>
            </a:r>
            <a:endParaRPr lang="ko-KR" altLang="en-US" sz="1300" dirty="0"/>
          </a:p>
        </p:txBody>
      </p:sp>
      <p:sp>
        <p:nvSpPr>
          <p:cNvPr id="15" name="Text 13"/>
          <p:cNvSpPr txBox="1"/>
          <p:nvPr/>
        </p:nvSpPr>
        <p:spPr>
          <a:xfrm>
            <a:off x="822960" y="4453128"/>
            <a:ext cx="4892040" cy="1691640"/>
          </a:xfrm>
          <a:prstGeom prst="rect">
            <a:avLst/>
          </a:prstGeom>
          <a:noFill/>
          <a:ln/>
        </p:spPr>
        <p:txBody>
          <a:bodyPr wrap="square" lIns="0" tIns="0" rIns="0" bIns="0" rtlCol="0" anchor="t"/>
          <a:lstStyle/>
          <a:p>
            <a:pPr indent="0" marL="0">
              <a:spcAft>
                <a:spcPts val="500"/>
              </a:spcAft>
              <a:buNone/>
            </a:pPr>
            <a:r>
              <a:rPr lang="ko-KR" altLang="en-US" sz="1250" b="1" dirty="0">
                <a:solidFill>
                  <a:srgbClr val="111111"/>
                </a:solidFill>
                <a:latin typeface="Malgun Gothic" pitchFamily="34" charset="0"/>
                <a:ea typeface="Malgun Gothic" pitchFamily="34" charset="-122"/>
                <a:cs typeface="Malgun Gothic" pitchFamily="34" charset="-120"/>
              </a:rPr>
              <a:t>① 정보가 흩어져 있다</a:t>
            </a:r>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 브랜드마다 따로: 호비 사이트 · TAMASHII · 프리미엄 반다이 · KOTOBUKIYA …</a:t>
            </a:r>
            <a:endParaRPr lang="ko-KR" altLang="en-US" sz="1250" dirty="0"/>
          </a:p>
          <a:p>
            <a:pPr indent="0" marL="0">
              <a:spcAft>
                <a:spcPts val="500"/>
              </a:spcAft>
              <a:buNone/>
            </a:pPr>
            <a:r>
              <a:rPr lang="ko-KR" altLang="en-US" sz="1250" b="1" dirty="0">
                <a:solidFill>
                  <a:srgbClr val="111111"/>
                </a:solidFill>
                <a:latin typeface="Malgun Gothic" pitchFamily="34" charset="0"/>
                <a:ea typeface="Malgun Gothic" pitchFamily="34" charset="-122"/>
                <a:cs typeface="Malgun Gothic" pitchFamily="34" charset="-120"/>
              </a:rPr>
              <a:t>② 익히기 어렵다</a:t>
            </a:r>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 웹 메뉴 구조, 창이 따로 열림</a:t>
            </a:r>
            <a:endParaRPr lang="ko-KR" altLang="en-US" sz="1250" dirty="0"/>
          </a:p>
          <a:p>
            <a:pPr indent="0" marL="0">
              <a:spcAft>
                <a:spcPts val="500"/>
              </a:spcAft>
              <a:buNone/>
            </a:pPr>
            <a:r>
              <a:rPr lang="ko-KR" altLang="en-US" sz="1250" b="1" dirty="0">
                <a:solidFill>
                  <a:srgbClr val="111111"/>
                </a:solidFill>
                <a:latin typeface="Malgun Gothic" pitchFamily="34" charset="0"/>
                <a:ea typeface="Malgun Gothic" pitchFamily="34" charset="-122"/>
                <a:cs typeface="Malgun Gothic" pitchFamily="34" charset="-120"/>
              </a:rPr>
              <a:t>③ 막히면 떠난다</a:t>
            </a:r>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 스캐너 멈춤 · 광고 · 시세 제한</a:t>
            </a:r>
            <a:endParaRPr lang="ko-KR" altLang="en-US" sz="1250" dirty="0"/>
          </a:p>
          <a:p>
            <a:pPr indent="0" marL="0">
              <a:spcAft>
                <a:spcPts val="500"/>
              </a:spcAft>
              <a:buNone/>
            </a:pPr>
            <a:r>
              <a:rPr lang="ko-KR" altLang="en-US" sz="1250" b="1" dirty="0">
                <a:solidFill>
                  <a:srgbClr val="111111"/>
                </a:solidFill>
                <a:latin typeface="Malgun Gothic" pitchFamily="34" charset="0"/>
                <a:ea typeface="Malgun Gothic" pitchFamily="34" charset="-122"/>
                <a:cs typeface="Malgun Gothic" pitchFamily="34" charset="-120"/>
              </a:rPr>
              <a:t>④ 나눌 곳이 없다</a:t>
            </a:r>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 동생과 겹쳐 사고, 보여 줄 곳이 없다</a:t>
            </a:r>
            <a:endParaRPr lang="ko-KR" altLang="en-US" sz="1250" dirty="0"/>
          </a:p>
        </p:txBody>
      </p:sp>
      <p:sp>
        <p:nvSpPr>
          <p:cNvPr id="16" name="Shape 14"/>
          <p:cNvSpPr/>
          <p:nvPr/>
        </p:nvSpPr>
        <p:spPr>
          <a:xfrm>
            <a:off x="6199632" y="3904488"/>
            <a:ext cx="5440680" cy="2377440"/>
          </a:xfrm>
          <a:prstGeom prst="roundRect">
            <a:avLst>
              <a:gd name="adj" fmla="val 5385"/>
            </a:avLst>
          </a:prstGeom>
          <a:solidFill>
            <a:srgbClr val="EAF4FC"/>
          </a:solidFill>
          <a:ln/>
        </p:spPr>
      </p:sp>
      <p:sp>
        <p:nvSpPr>
          <p:cNvPr id="17" name="Text 15"/>
          <p:cNvSpPr txBox="1"/>
          <p:nvPr/>
        </p:nvSpPr>
        <p:spPr>
          <a:xfrm>
            <a:off x="6473952" y="4105656"/>
            <a:ext cx="48463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v2의 핵심 가치</a:t>
            </a:r>
            <a:endParaRPr lang="ko-KR" altLang="en-US" sz="1300" dirty="0"/>
          </a:p>
        </p:txBody>
      </p:sp>
      <p:sp>
        <p:nvSpPr>
          <p:cNvPr id="18" name="Text 16"/>
          <p:cNvSpPr txBox="1"/>
          <p:nvPr/>
        </p:nvSpPr>
        <p:spPr>
          <a:xfrm>
            <a:off x="6473952" y="4480560"/>
            <a:ext cx="1600200" cy="365760"/>
          </a:xfrm>
          <a:prstGeom prst="rect">
            <a:avLst/>
          </a:prstGeom>
          <a:noFill/>
          <a:ln/>
        </p:spPr>
        <p:txBody>
          <a:bodyPr wrap="square" lIns="0" tIns="0" rIns="0" bIns="0" rtlCol="0" anchor="ct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내 채널 소식</a:t>
            </a:r>
            <a:endParaRPr lang="ko-KR" altLang="en-US" sz="1300" dirty="0"/>
          </a:p>
        </p:txBody>
      </p:sp>
      <p:sp>
        <p:nvSpPr>
          <p:cNvPr id="19" name="Text 17"/>
          <p:cNvSpPr txBox="1"/>
          <p:nvPr/>
        </p:nvSpPr>
        <p:spPr>
          <a:xfrm>
            <a:off x="8092440" y="4480560"/>
            <a:ext cx="2651760" cy="365760"/>
          </a:xfrm>
          <a:prstGeom prst="rect">
            <a:avLst/>
          </a:prstGeom>
          <a:noFill/>
          <a:ln/>
        </p:spPr>
        <p:txBody>
          <a:bodyPr wrap="square" lIns="0" tIns="0" rIns="0" bIns="0" rtlCol="0" anchor="ctr"/>
          <a:lstStyle/>
          <a:p>
            <a:pPr indent="0" marL="0">
              <a:buNone/>
            </a:pPr>
            <a:r>
              <a:rPr lang="ko-KR" altLang="en-US" sz="1150" dirty="0">
                <a:solidFill>
                  <a:srgbClr val="3D4148"/>
                </a:solidFill>
                <a:latin typeface="Malgun Gothic" pitchFamily="34" charset="0"/>
                <a:ea typeface="Malgun Gothic" pitchFamily="34" charset="-122"/>
                <a:cs typeface="Malgun Gothic" pitchFamily="34" charset="-120"/>
              </a:rPr>
              <a:t>A 홈 · H 캘린더 · C-1 채널 바</a:t>
            </a:r>
            <a:endParaRPr lang="ko-KR" altLang="en-US" sz="1150" dirty="0"/>
          </a:p>
        </p:txBody>
      </p:sp>
      <p:sp>
        <p:nvSpPr>
          <p:cNvPr id="20" name="Text 18"/>
          <p:cNvSpPr txBox="1"/>
          <p:nvPr/>
        </p:nvSpPr>
        <p:spPr>
          <a:xfrm>
            <a:off x="10607040" y="4480560"/>
            <a:ext cx="868680" cy="365760"/>
          </a:xfrm>
          <a:prstGeom prst="rect">
            <a:avLst/>
          </a:prstGeom>
          <a:noFill/>
          <a:ln/>
        </p:spPr>
        <p:txBody>
          <a:bodyPr wrap="square" lIns="0" tIns="0" rIns="0" bIns="0" rtlCol="0" anchor="ctr"/>
          <a:lstStyle/>
          <a:p>
            <a:pPr algn="r" indent="0" marL="0">
              <a:buNone/>
            </a:pPr>
            <a:r>
              <a:rPr lang="ko-KR" altLang="en-US" sz="1100" b="1" dirty="0">
                <a:solidFill>
                  <a:srgbClr val="1C86D9"/>
                </a:solidFill>
                <a:latin typeface="Malgun Gothic" pitchFamily="34" charset="0"/>
                <a:ea typeface="Malgun Gothic" pitchFamily="34" charset="-122"/>
                <a:cs typeface="Malgun Gothic" pitchFamily="34" charset="-120"/>
              </a:rPr>
              <a:t>P06</a:t>
            </a:r>
            <a:endParaRPr lang="ko-KR" altLang="en-US" sz="1100" dirty="0"/>
          </a:p>
        </p:txBody>
      </p:sp>
      <p:sp>
        <p:nvSpPr>
          <p:cNvPr id="21" name="Text 19"/>
          <p:cNvSpPr txBox="1"/>
          <p:nvPr/>
        </p:nvSpPr>
        <p:spPr>
          <a:xfrm>
            <a:off x="6473952" y="4910328"/>
            <a:ext cx="1600200" cy="365760"/>
          </a:xfrm>
          <a:prstGeom prst="rect">
            <a:avLst/>
          </a:prstGeom>
          <a:noFill/>
          <a:ln/>
        </p:spPr>
        <p:txBody>
          <a:bodyPr wrap="square" lIns="0" tIns="0" rIns="0" bIns="0" rtlCol="0" anchor="ct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한 번에 기록</a:t>
            </a:r>
            <a:endParaRPr lang="ko-KR" altLang="en-US" sz="1300" dirty="0"/>
          </a:p>
        </p:txBody>
      </p:sp>
      <p:sp>
        <p:nvSpPr>
          <p:cNvPr id="22" name="Text 20"/>
          <p:cNvSpPr txBox="1"/>
          <p:nvPr/>
        </p:nvSpPr>
        <p:spPr>
          <a:xfrm>
            <a:off x="8092440" y="4910328"/>
            <a:ext cx="2651760" cy="365760"/>
          </a:xfrm>
          <a:prstGeom prst="rect">
            <a:avLst/>
          </a:prstGeom>
          <a:noFill/>
          <a:ln/>
        </p:spPr>
        <p:txBody>
          <a:bodyPr wrap="square" lIns="0" tIns="0" rIns="0" bIns="0" rtlCol="0" anchor="ctr"/>
          <a:lstStyle/>
          <a:p>
            <a:pPr indent="0" marL="0">
              <a:buNone/>
            </a:pPr>
            <a:r>
              <a:rPr lang="ko-KR" altLang="en-US" sz="1150" dirty="0">
                <a:solidFill>
                  <a:srgbClr val="3D4148"/>
                </a:solidFill>
                <a:latin typeface="Malgun Gothic" pitchFamily="34" charset="0"/>
                <a:ea typeface="Malgun Gothic" pitchFamily="34" charset="-122"/>
                <a:cs typeface="Malgun Gothic" pitchFamily="34" charset="-120"/>
              </a:rPr>
              <a:t>♡ · 리본, 앱 전체 한 벌</a:t>
            </a:r>
            <a:endParaRPr lang="ko-KR" altLang="en-US" sz="1150" dirty="0"/>
          </a:p>
        </p:txBody>
      </p:sp>
      <p:sp>
        <p:nvSpPr>
          <p:cNvPr id="23" name="Text 21"/>
          <p:cNvSpPr txBox="1"/>
          <p:nvPr/>
        </p:nvSpPr>
        <p:spPr>
          <a:xfrm>
            <a:off x="10607040" y="4910328"/>
            <a:ext cx="868680" cy="365760"/>
          </a:xfrm>
          <a:prstGeom prst="rect">
            <a:avLst/>
          </a:prstGeom>
          <a:noFill/>
          <a:ln/>
        </p:spPr>
        <p:txBody>
          <a:bodyPr wrap="square" lIns="0" tIns="0" rIns="0" bIns="0" rtlCol="0" anchor="ctr"/>
          <a:lstStyle/>
          <a:p>
            <a:pPr algn="r" indent="0" marL="0">
              <a:buNone/>
            </a:pPr>
            <a:r>
              <a:rPr lang="ko-KR" altLang="en-US" sz="1100" b="1" dirty="0">
                <a:solidFill>
                  <a:srgbClr val="1C86D9"/>
                </a:solidFill>
                <a:latin typeface="Malgun Gothic" pitchFamily="34" charset="0"/>
                <a:ea typeface="Malgun Gothic" pitchFamily="34" charset="-122"/>
                <a:cs typeface="Malgun Gothic" pitchFamily="34" charset="-120"/>
              </a:rPr>
              <a:t>P04 P07</a:t>
            </a:r>
            <a:endParaRPr lang="ko-KR" altLang="en-US" sz="1100" dirty="0"/>
          </a:p>
        </p:txBody>
      </p:sp>
      <p:sp>
        <p:nvSpPr>
          <p:cNvPr id="24" name="Text 22"/>
          <p:cNvSpPr txBox="1"/>
          <p:nvPr/>
        </p:nvSpPr>
        <p:spPr>
          <a:xfrm>
            <a:off x="6473952" y="5340096"/>
            <a:ext cx="1600200" cy="365760"/>
          </a:xfrm>
          <a:prstGeom prst="rect">
            <a:avLst/>
          </a:prstGeom>
          <a:noFill/>
          <a:ln/>
        </p:spPr>
        <p:txBody>
          <a:bodyPr wrap="square" lIns="0" tIns="0" rIns="0" bIns="0" rtlCol="0" anchor="ct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도감 레벨</a:t>
            </a:r>
            <a:endParaRPr lang="ko-KR" altLang="en-US" sz="1300" dirty="0"/>
          </a:p>
        </p:txBody>
      </p:sp>
      <p:sp>
        <p:nvSpPr>
          <p:cNvPr id="25" name="Text 23"/>
          <p:cNvSpPr txBox="1"/>
          <p:nvPr/>
        </p:nvSpPr>
        <p:spPr>
          <a:xfrm>
            <a:off x="8092440" y="5340096"/>
            <a:ext cx="2651760" cy="365760"/>
          </a:xfrm>
          <a:prstGeom prst="rect">
            <a:avLst/>
          </a:prstGeom>
          <a:noFill/>
          <a:ln/>
        </p:spPr>
        <p:txBody>
          <a:bodyPr wrap="square" lIns="0" tIns="0" rIns="0" bIns="0" rtlCol="0" anchor="ctr"/>
          <a:lstStyle/>
          <a:p>
            <a:pPr indent="0" marL="0">
              <a:buNone/>
            </a:pPr>
            <a:r>
              <a:rPr lang="ko-KR" altLang="en-US" sz="1150" dirty="0">
                <a:solidFill>
                  <a:srgbClr val="3D4148"/>
                </a:solidFill>
                <a:latin typeface="Malgun Gothic" pitchFamily="34" charset="0"/>
                <a:ea typeface="Malgun Gothic" pitchFamily="34" charset="-122"/>
                <a:cs typeface="Malgun Gothic" pitchFamily="34" charset="-120"/>
              </a:rPr>
              <a:t>G-4 4단계 · G-4a Lv</a:t>
            </a:r>
            <a:endParaRPr lang="ko-KR" altLang="en-US" sz="1150" dirty="0"/>
          </a:p>
        </p:txBody>
      </p:sp>
      <p:sp>
        <p:nvSpPr>
          <p:cNvPr id="26" name="Text 24"/>
          <p:cNvSpPr txBox="1"/>
          <p:nvPr/>
        </p:nvSpPr>
        <p:spPr>
          <a:xfrm>
            <a:off x="10607040" y="5340096"/>
            <a:ext cx="868680" cy="365760"/>
          </a:xfrm>
          <a:prstGeom prst="rect">
            <a:avLst/>
          </a:prstGeom>
          <a:noFill/>
          <a:ln/>
        </p:spPr>
        <p:txBody>
          <a:bodyPr wrap="square" lIns="0" tIns="0" rIns="0" bIns="0" rtlCol="0" anchor="ctr"/>
          <a:lstStyle/>
          <a:p>
            <a:pPr algn="r" indent="0" marL="0">
              <a:buNone/>
            </a:pPr>
            <a:r>
              <a:rPr lang="ko-KR" altLang="en-US" sz="1100" b="1" dirty="0">
                <a:solidFill>
                  <a:srgbClr val="1C86D9"/>
                </a:solidFill>
                <a:latin typeface="Malgun Gothic" pitchFamily="34" charset="0"/>
                <a:ea typeface="Malgun Gothic" pitchFamily="34" charset="-122"/>
                <a:cs typeface="Malgun Gothic" pitchFamily="34" charset="-120"/>
              </a:rPr>
              <a:t>P01</a:t>
            </a:r>
            <a:endParaRPr lang="ko-KR" altLang="en-US" sz="1100" dirty="0"/>
          </a:p>
        </p:txBody>
      </p:sp>
      <p:sp>
        <p:nvSpPr>
          <p:cNvPr id="27" name="Text 25"/>
          <p:cNvSpPr txBox="1"/>
          <p:nvPr/>
        </p:nvSpPr>
        <p:spPr>
          <a:xfrm>
            <a:off x="6473952" y="5769864"/>
            <a:ext cx="1600200" cy="365760"/>
          </a:xfrm>
          <a:prstGeom prst="rect">
            <a:avLst/>
          </a:prstGeom>
          <a:noFill/>
          <a:ln/>
        </p:spPr>
        <p:txBody>
          <a:bodyPr wrap="square" lIns="0" tIns="0" rIns="0" bIns="0" rtlCol="0" anchor="ct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겹쳐 사지 않기</a:t>
            </a:r>
            <a:endParaRPr lang="ko-KR" altLang="en-US" sz="1300" dirty="0"/>
          </a:p>
        </p:txBody>
      </p:sp>
      <p:sp>
        <p:nvSpPr>
          <p:cNvPr id="28" name="Text 26"/>
          <p:cNvSpPr txBox="1"/>
          <p:nvPr/>
        </p:nvSpPr>
        <p:spPr>
          <a:xfrm>
            <a:off x="8092440" y="5769864"/>
            <a:ext cx="2651760" cy="365760"/>
          </a:xfrm>
          <a:prstGeom prst="rect">
            <a:avLst/>
          </a:prstGeom>
          <a:noFill/>
          <a:ln/>
        </p:spPr>
        <p:txBody>
          <a:bodyPr wrap="square" lIns="0" tIns="0" rIns="0" bIns="0" rtlCol="0" anchor="ctr"/>
          <a:lstStyle/>
          <a:p>
            <a:pPr indent="0" marL="0">
              <a:buNone/>
            </a:pPr>
            <a:r>
              <a:rPr lang="ko-KR" altLang="en-US" sz="1150" dirty="0">
                <a:solidFill>
                  <a:srgbClr val="3D4148"/>
                </a:solidFill>
                <a:latin typeface="Malgun Gothic" pitchFamily="34" charset="0"/>
                <a:ea typeface="Malgun Gothic" pitchFamily="34" charset="-122"/>
                <a:cs typeface="Malgun Gothic" pitchFamily="34" charset="-120"/>
              </a:rPr>
              <a:t>M 친구 서랍 · L "나도 있음"</a:t>
            </a:r>
            <a:endParaRPr lang="ko-KR" altLang="en-US" sz="1150" dirty="0"/>
          </a:p>
        </p:txBody>
      </p:sp>
      <p:sp>
        <p:nvSpPr>
          <p:cNvPr id="29" name="Text 27"/>
          <p:cNvSpPr txBox="1"/>
          <p:nvPr/>
        </p:nvSpPr>
        <p:spPr>
          <a:xfrm>
            <a:off x="10607040" y="5769864"/>
            <a:ext cx="868680" cy="365760"/>
          </a:xfrm>
          <a:prstGeom prst="rect">
            <a:avLst/>
          </a:prstGeom>
          <a:noFill/>
          <a:ln/>
        </p:spPr>
        <p:txBody>
          <a:bodyPr wrap="square" lIns="0" tIns="0" rIns="0" bIns="0" rtlCol="0" anchor="ctr"/>
          <a:lstStyle/>
          <a:p>
            <a:pPr algn="r" indent="0" marL="0">
              <a:buNone/>
            </a:pPr>
            <a:r>
              <a:rPr lang="ko-KR" altLang="en-US" sz="1100" b="1" dirty="0">
                <a:solidFill>
                  <a:srgbClr val="1C86D9"/>
                </a:solidFill>
                <a:latin typeface="Malgun Gothic" pitchFamily="34" charset="0"/>
                <a:ea typeface="Malgun Gothic" pitchFamily="34" charset="-122"/>
                <a:cs typeface="Malgun Gothic" pitchFamily="34" charset="-120"/>
              </a:rPr>
              <a:t>P07</a:t>
            </a:r>
            <a:endParaRPr lang="ko-KR" altLang="en-US" sz="11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34</a:t>
            </a:fld>
            <a:endParaRPr lang="ko-KR"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B5-2 · 기획 상세 — 사용자 저니 전체</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최저점은 ③ 살지 판단 — 시세 제한 · 광고</a:t>
            </a:r>
            <a:endParaRPr lang="ko-KR" altLang="en-US" sz="2800" dirty="0"/>
          </a:p>
        </p:txBody>
      </p:sp>
      <p:sp>
        <p:nvSpPr>
          <p:cNvPr id="4" name="Text 2"/>
          <p:cNvSpPr txBox="1"/>
          <p:nvPr/>
        </p:nvSpPr>
        <p:spPr>
          <a:xfrm>
            <a:off x="548640" y="1444752"/>
            <a:ext cx="5943600" cy="292608"/>
          </a:xfrm>
          <a:prstGeom prst="rect">
            <a:avLst/>
          </a:prstGeom>
          <a:noFill/>
          <a:ln/>
        </p:spPr>
        <p:txBody>
          <a:bodyPr wrap="square" lIns="0" tIns="0" rIns="0" bIns="0" rtlCol="0" anchor="ctr"/>
          <a:lstStyle/>
          <a:p>
            <a:pPr indent="0" marL="0">
              <a:buNone/>
            </a:pPr>
            <a:r>
              <a:rPr lang="ko-KR" altLang="en-US" sz="1250" b="1" dirty="0">
                <a:solidFill>
                  <a:srgbClr val="1C86D9"/>
                </a:solidFill>
                <a:latin typeface="Malgun Gothic" pitchFamily="34" charset="0"/>
                <a:ea typeface="Malgun Gothic" pitchFamily="34" charset="-122"/>
                <a:cs typeface="Malgun Gothic" pitchFamily="34" charset="-120"/>
              </a:rPr>
              <a:t>목표  </a:t>
            </a:r>
            <a:pPr indent="0" marL="0">
              <a:buNone/>
            </a:pPr>
            <a:r>
              <a:rPr lang="ko-KR" altLang="en-US" sz="1250" dirty="0">
                <a:solidFill>
                  <a:srgbClr val="111111"/>
                </a:solidFill>
                <a:latin typeface="Malgun Gothic" pitchFamily="34" charset="0"/>
                <a:ea typeface="Malgun Gothic" pitchFamily="34" charset="-122"/>
                <a:cs typeface="Malgun Gothic" pitchFamily="34" charset="-120"/>
              </a:rPr>
              <a:t>새 재판 소식을 보고 → 사서 → 도감에 기록하기</a:t>
            </a:r>
            <a:endParaRPr lang="ko-KR" altLang="en-US" sz="1250" dirty="0"/>
          </a:p>
        </p:txBody>
      </p:sp>
      <p:sp>
        <p:nvSpPr>
          <p:cNvPr id="5" name="Text 3"/>
          <p:cNvSpPr txBox="1"/>
          <p:nvPr/>
        </p:nvSpPr>
        <p:spPr>
          <a:xfrm>
            <a:off x="6400800" y="1444752"/>
            <a:ext cx="5239512" cy="292608"/>
          </a:xfrm>
          <a:prstGeom prst="rect">
            <a:avLst/>
          </a:prstGeom>
          <a:noFill/>
          <a:ln/>
        </p:spPr>
        <p:txBody>
          <a:bodyPr wrap="square" lIns="0" tIns="0" rIns="0" bIns="0" rtlCol="0" anchor="ctr"/>
          <a:lstStyle/>
          <a:p>
            <a:pPr algn="r" indent="0" marL="0">
              <a:buNone/>
            </a:pPr>
            <a:r>
              <a:rPr lang="ko-KR" altLang="en-US" sz="1250" b="1" dirty="0">
                <a:solidFill>
                  <a:srgbClr val="D93F44"/>
                </a:solidFill>
                <a:latin typeface="Malgun Gothic" pitchFamily="34" charset="0"/>
                <a:ea typeface="Malgun Gothic" pitchFamily="34" charset="-122"/>
                <a:cs typeface="Malgun Gothic" pitchFamily="34" charset="-120"/>
              </a:rPr>
              <a:t>감정 최저점  </a:t>
            </a:r>
            <a:pPr algn="r" indent="0" marL="0">
              <a:buNone/>
            </a:pPr>
            <a:r>
              <a:rPr lang="ko-KR" altLang="en-US" sz="1250" dirty="0">
                <a:solidFill>
                  <a:srgbClr val="111111"/>
                </a:solidFill>
                <a:latin typeface="Malgun Gothic" pitchFamily="34" charset="0"/>
                <a:ea typeface="Malgun Gothic" pitchFamily="34" charset="-122"/>
                <a:cs typeface="Malgun Gothic" pitchFamily="34" charset="-120"/>
              </a:rPr>
              <a:t>③ 살지 판단 · 어긴 원칙 P07 P08 P10</a:t>
            </a:r>
            <a:endParaRPr lang="ko-KR" altLang="en-US" sz="12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1490472"/>
                <a:gridCol w="1600200"/>
                <a:gridCol w="1600200"/>
                <a:gridCol w="1600200"/>
                <a:gridCol w="1600200"/>
                <a:gridCol w="1600200"/>
                <a:gridCol w="1600200"/>
              </a:tblGrid>
              <a:tr h="411480">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단계 →</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① 소식 알기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② 찾기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③ 살지 판단</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④ 기록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⑤ 모은 것 보기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⑥ 나누기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사용자 행동</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재판 · 신상 소식 확인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이름 · 번호 · 생김새로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정가 · 시세 · 가졌나</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산 것 · 갖고 싶은 것</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무엇이 남았나</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동생 · 친구에게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현행 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소식 없음 (외부 SNS)</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웹 메뉴 · 스캐너</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b="1" dirty="0">
                          <a:solidFill>
                            <a:srgbClr val="D93F44"/>
                          </a:solidFill>
                          <a:latin typeface="Malgun Gothic" pitchFamily="34" charset="0"/>
                          <a:ea typeface="Malgun Gothic" pitchFamily="34" charset="-122"/>
                          <a:cs typeface="Malgun Gothic" pitchFamily="34" charset="-120"/>
                        </a:rPr>
                        <a:t>시세 월 10회 · 광고</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CEDED"/>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쇼케이스/컬렉션 모호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목록만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쇼케이스(공개만)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리뷰 근거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#4 스캐너 · 없는 상품</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b="1" dirty="0">
                          <a:solidFill>
                            <a:srgbClr val="D93F44"/>
                          </a:solidFill>
                          <a:latin typeface="Malgun Gothic" pitchFamily="34" charset="0"/>
                          <a:ea typeface="Malgun Gothic" pitchFamily="34" charset="-122"/>
                          <a:cs typeface="Malgun Gothic" pitchFamily="34" charset="-120"/>
                        </a:rPr>
                        <a:t>#3 · 시세 출처 불명</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CEDED"/>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 쇼케이스 vs 컬렉션</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#2 창이 따로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감정 (+2 ~ −2)</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0</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b="1" dirty="0">
                          <a:solidFill>
                            <a:srgbClr val="D93F44"/>
                          </a:solidFill>
                          <a:latin typeface="Malgun Gothic" pitchFamily="34" charset="0"/>
                          <a:ea typeface="Malgun Gothic" pitchFamily="34" charset="-122"/>
                          <a:cs typeface="Malgun Gothic" pitchFamily="34" charset="-120"/>
                        </a:rPr>
                        <a:t>−2 최저점</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CEDED"/>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0</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사용 기기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폰(매장) · 카메라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폰 · 폴드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폴드 · 태블릿</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AI 활용 기회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내 채널 소식 요약</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말로 찾기 · 사진 인식</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시세 범위 설명</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사진 속 기체 판정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어긴 원칙</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P01 · P09</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P07 · P08 · P10</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P04 · P06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P03 · 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필요한 데이터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announcements</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kits · keywords</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kits.priceJpy</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내 좋아요 · 구매함</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guideWorks · Units</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profile.friends</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v2에서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AF4FC"/>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홈 배너 · 캘린더 · 알림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검색 · 카메라 · 필터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정가 + 시세 한 줄</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 · 리본 바로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도감 4단계 · Lv</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친구 서랍 · 게시물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6035040"/>
            <a:ext cx="1106424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주황 칸 = 확장 4줄(사용 기기 · AI 활용 기회 · 어긴 원칙 · 필요한 데이터) · 감정 곡선은 07장 · 원본 docs/기획.md 3장</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35</a:t>
            </a:fld>
            <a:endParaRPr lang="ko-KR"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B5-3 · 기획 상세 — 피쉬본 · 5 Why</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600" b="1" dirty="0">
                <a:solidFill>
                  <a:srgbClr val="111111"/>
                </a:solidFill>
                <a:latin typeface="Malgun Gothic" pitchFamily="34" charset="0"/>
                <a:ea typeface="Malgun Gothic" pitchFamily="34" charset="-122"/>
                <a:cs typeface="Malgun Gothic" pitchFamily="34" charset="-120"/>
              </a:rPr>
              <a:t>근본 원인: 채널과 일의 순서가 화면의 기준이 아니다</a:t>
            </a:r>
            <a:endParaRPr lang="ko-KR" altLang="en-US" sz="2600" dirty="0"/>
          </a:p>
        </p:txBody>
      </p:sp>
      <p:sp>
        <p:nvSpPr>
          <p:cNvPr id="4" name="Text 2"/>
          <p:cNvSpPr txBox="1"/>
          <p:nvPr/>
        </p:nvSpPr>
        <p:spPr>
          <a:xfrm>
            <a:off x="548640" y="1481328"/>
            <a:ext cx="5669280" cy="256032"/>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피쉬본 — 여섯 시각</a:t>
            </a:r>
            <a:pPr indent="0" marL="0">
              <a:buNone/>
            </a:pPr>
            <a:r>
              <a:rPr lang="ko-KR" altLang="en-US" sz="1100" dirty="0">
                <a:solidFill>
                  <a:srgbClr val="6B7078"/>
                </a:solidFill>
                <a:latin typeface="Malgun Gothic" pitchFamily="34" charset="0"/>
                <a:ea typeface="Malgun Gothic" pitchFamily="34" charset="-122"/>
                <a:cs typeface="Malgun Gothic" pitchFamily="34" charset="-120"/>
              </a:rPr>
              <a:t>   머리 = 수집가가 컬렉션 관리를 그만둔다</a:t>
            </a:r>
            <a:endParaRPr lang="ko-KR" alt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810512"/>
          <a:ext cx="5715000" cy="914400"/>
        </p:xfrm>
        <a:graphic>
          <a:graphicData uri="http://schemas.openxmlformats.org/drawingml/2006/table">
            <a:tbl>
              <a:tblPr/>
              <a:tblGrid>
                <a:gridCol w="1188720"/>
                <a:gridCol w="4526280"/>
              </a:tblGrid>
              <a:tr h="640080">
                <a:tc>
                  <a:txBody>
                    <a:bodyPr/>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시각</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원인 (리뷰 #)</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640080">
                <a:tc>
                  <a:txBody>
                    <a:bodyPr/>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모바일 UX</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웹 메뉴를 앱에 그대로 · 기능마다 새 창 (#2)</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40080">
                <a:tc>
                  <a:txBody>
                    <a:bodyPr/>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사용성</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AF4FC"/>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쇼케이스 · 컬렉션 차이가 안 보임 · 상태가 모양으로 안 갈림 (#1)</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AF4FC"/>
                    </a:solidFill>
                  </a:tcPr>
                </a:tc>
              </a:tr>
              <a:tr h="640080">
                <a:tc>
                  <a:txBody>
                    <a:bodyPr/>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데이터</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일반판 누락 · 사용자가 추가 · 오류 표시 못 함 · 시세 출처 불명</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40080">
                <a:tc>
                  <a:txBody>
                    <a:bodyPr/>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API</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시세 조회 횟수 제한(유료 유도) · 스캔 → 검색 연결 멈춤 (#3)</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40080">
                <a:tc>
                  <a:txBody>
                    <a:bodyPr/>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네트워크</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스캐너 멈춤 · 원치 않는 새로고침 · 처음 화면으로 튕김 (#4)</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40080">
                <a:tc>
                  <a:txBody>
                    <a:bodyPr/>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프로세스</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화면마다 광고 · 구독 정책 변경 · 사이트를 흡수하며 복잡해짐</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6" name="Shape 3"/>
          <p:cNvSpPr/>
          <p:nvPr/>
        </p:nvSpPr>
        <p:spPr>
          <a:xfrm>
            <a:off x="6537960" y="1481328"/>
            <a:ext cx="5102352" cy="777240"/>
          </a:xfrm>
          <a:prstGeom prst="roundRect">
            <a:avLst>
              <a:gd name="adj" fmla="val 14118"/>
            </a:avLst>
          </a:prstGeom>
          <a:solidFill>
            <a:srgbClr val="FFF4E2"/>
          </a:solidFill>
          <a:ln/>
        </p:spPr>
      </p:sp>
      <p:sp>
        <p:nvSpPr>
          <p:cNvPr id="7" name="Text 4"/>
          <p:cNvSpPr txBox="1"/>
          <p:nvPr/>
        </p:nvSpPr>
        <p:spPr>
          <a:xfrm>
            <a:off x="6766560" y="1572768"/>
            <a:ext cx="4663440" cy="603504"/>
          </a:xfrm>
          <a:prstGeom prst="rect">
            <a:avLst/>
          </a:prstGeom>
          <a:noFill/>
          <a:ln/>
        </p:spPr>
        <p:txBody>
          <a:bodyPr wrap="square" lIns="0" tIns="0" rIns="0" bIns="0" rtlCol="0" anchor="ctr"/>
          <a:lstStyle/>
          <a:p>
            <a:pPr indent="0" marL="0">
              <a:buNone/>
            </a:pPr>
            <a:r>
              <a:rPr lang="ko-KR" altLang="en-US" sz="1150" b="1" dirty="0">
                <a:solidFill>
                  <a:srgbClr val="B86E00"/>
                </a:solidFill>
                <a:latin typeface="Malgun Gothic" pitchFamily="34" charset="0"/>
                <a:ea typeface="Malgun Gothic" pitchFamily="34" charset="-122"/>
                <a:cs typeface="Malgun Gothic" pitchFamily="34" charset="-120"/>
              </a:rPr>
              <a:t>우선순위 1  </a:t>
            </a:r>
            <a:pPr indent="0" marL="0">
              <a:buNone/>
            </a:pPr>
            <a:r>
              <a:rPr lang="ko-KR" altLang="en-US" sz="1150" dirty="0">
                <a:solidFill>
                  <a:srgbClr val="111111"/>
                </a:solidFill>
                <a:latin typeface="Malgun Gothic" pitchFamily="34" charset="0"/>
                <a:ea typeface="Malgun Gothic" pitchFamily="34" charset="-122"/>
                <a:cs typeface="Malgun Gothic" pitchFamily="34" charset="-120"/>
              </a:rPr>
              <a:t>사용성 “익히기 어렵다” — ★5 리뷰도 지적, 모든 단계에 영향, UI로 고칠 수 있다</a:t>
            </a:r>
            <a:endParaRPr lang="ko-KR" altLang="en-US" sz="1150" dirty="0"/>
          </a:p>
        </p:txBody>
      </p:sp>
      <p:sp>
        <p:nvSpPr>
          <p:cNvPr id="8" name="Text 5"/>
          <p:cNvSpPr txBox="1"/>
          <p:nvPr/>
        </p:nvSpPr>
        <p:spPr>
          <a:xfrm>
            <a:off x="6537960" y="2395728"/>
            <a:ext cx="685800" cy="457200"/>
          </a:xfrm>
          <a:prstGeom prst="rect">
            <a:avLst/>
          </a:prstGeom>
          <a:noFill/>
          <a:ln/>
        </p:spPr>
        <p:txBody>
          <a:bodyPr wrap="square" lIns="0" tIns="0" rIns="0" bIns="0" rtlCol="0" anchor="ctr"/>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Why 1</a:t>
            </a:r>
            <a:endParaRPr lang="ko-KR" altLang="en-US" sz="1100" dirty="0"/>
          </a:p>
        </p:txBody>
      </p:sp>
      <p:sp>
        <p:nvSpPr>
          <p:cNvPr id="9" name="Text 6"/>
          <p:cNvSpPr txBox="1"/>
          <p:nvPr/>
        </p:nvSpPr>
        <p:spPr>
          <a:xfrm>
            <a:off x="7223760" y="2395728"/>
            <a:ext cx="4416552" cy="457200"/>
          </a:xfrm>
          <a:prstGeom prst="rect">
            <a:avLst/>
          </a:prstGeom>
          <a:noFill/>
          <a:ln/>
        </p:spPr>
        <p:txBody>
          <a:bodyPr wrap="square" lIns="0" tIns="0" rIns="0" bIns="0" rtlCol="0" anchor="ctr"/>
          <a:lstStyle/>
          <a:p>
            <a:pPr indent="0" marL="0">
              <a:buNone/>
            </a:pPr>
            <a:r>
              <a:rPr lang="ko-KR" altLang="en-US" sz="1150" dirty="0">
                <a:solidFill>
                  <a:srgbClr val="111111"/>
                </a:solidFill>
                <a:latin typeface="Malgun Gothic" pitchFamily="34" charset="0"/>
                <a:ea typeface="Malgun Gothic" pitchFamily="34" charset="-122"/>
                <a:cs typeface="Malgun Gothic" pitchFamily="34" charset="-120"/>
              </a:rPr>
              <a:t>왜 익히기 어렵나? → 메뉴가 많고 누를 때마다 다른 창이 열린다</a:t>
            </a:r>
            <a:endParaRPr lang="ko-KR" altLang="en-US" sz="1150" dirty="0"/>
          </a:p>
        </p:txBody>
      </p:sp>
      <p:sp>
        <p:nvSpPr>
          <p:cNvPr id="10" name="Text 7"/>
          <p:cNvSpPr txBox="1"/>
          <p:nvPr/>
        </p:nvSpPr>
        <p:spPr>
          <a:xfrm>
            <a:off x="6537960" y="2944368"/>
            <a:ext cx="685800" cy="457200"/>
          </a:xfrm>
          <a:prstGeom prst="rect">
            <a:avLst/>
          </a:prstGeom>
          <a:noFill/>
          <a:ln/>
        </p:spPr>
        <p:txBody>
          <a:bodyPr wrap="square" lIns="0" tIns="0" rIns="0" bIns="0" rtlCol="0" anchor="ctr"/>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Why 2</a:t>
            </a:r>
            <a:endParaRPr lang="ko-KR" altLang="en-US" sz="1100" dirty="0"/>
          </a:p>
        </p:txBody>
      </p:sp>
      <p:sp>
        <p:nvSpPr>
          <p:cNvPr id="11" name="Text 8"/>
          <p:cNvSpPr txBox="1"/>
          <p:nvPr/>
        </p:nvSpPr>
        <p:spPr>
          <a:xfrm>
            <a:off x="7223760" y="2944368"/>
            <a:ext cx="4416552" cy="457200"/>
          </a:xfrm>
          <a:prstGeom prst="rect">
            <a:avLst/>
          </a:prstGeom>
          <a:noFill/>
          <a:ln/>
        </p:spPr>
        <p:txBody>
          <a:bodyPr wrap="square" lIns="0" tIns="0" rIns="0" bIns="0" rtlCol="0" anchor="ctr"/>
          <a:lstStyle/>
          <a:p>
            <a:pPr indent="0" marL="0">
              <a:buNone/>
            </a:pPr>
            <a:r>
              <a:rPr lang="ko-KR" altLang="en-US" sz="1150" dirty="0">
                <a:solidFill>
                  <a:srgbClr val="111111"/>
                </a:solidFill>
                <a:latin typeface="Malgun Gothic" pitchFamily="34" charset="0"/>
                <a:ea typeface="Malgun Gothic" pitchFamily="34" charset="-122"/>
                <a:cs typeface="Malgun Gothic" pitchFamily="34" charset="-120"/>
              </a:rPr>
              <a:t>왜 메뉴가 많나? → 웹사이트 정보 구조를 그대로 앱에 넣었다</a:t>
            </a:r>
            <a:endParaRPr lang="ko-KR" altLang="en-US" sz="1150" dirty="0"/>
          </a:p>
        </p:txBody>
      </p:sp>
      <p:sp>
        <p:nvSpPr>
          <p:cNvPr id="12" name="Text 9"/>
          <p:cNvSpPr txBox="1"/>
          <p:nvPr/>
        </p:nvSpPr>
        <p:spPr>
          <a:xfrm>
            <a:off x="6537960" y="3493008"/>
            <a:ext cx="685800" cy="457200"/>
          </a:xfrm>
          <a:prstGeom prst="rect">
            <a:avLst/>
          </a:prstGeom>
          <a:noFill/>
          <a:ln/>
        </p:spPr>
        <p:txBody>
          <a:bodyPr wrap="square" lIns="0" tIns="0" rIns="0" bIns="0" rtlCol="0" anchor="ctr"/>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Why 3</a:t>
            </a:r>
            <a:endParaRPr lang="ko-KR" altLang="en-US" sz="1100" dirty="0"/>
          </a:p>
        </p:txBody>
      </p:sp>
      <p:sp>
        <p:nvSpPr>
          <p:cNvPr id="13" name="Text 10"/>
          <p:cNvSpPr txBox="1"/>
          <p:nvPr/>
        </p:nvSpPr>
        <p:spPr>
          <a:xfrm>
            <a:off x="7223760" y="3493008"/>
            <a:ext cx="4416552" cy="457200"/>
          </a:xfrm>
          <a:prstGeom prst="rect">
            <a:avLst/>
          </a:prstGeom>
          <a:noFill/>
          <a:ln/>
        </p:spPr>
        <p:txBody>
          <a:bodyPr wrap="square" lIns="0" tIns="0" rIns="0" bIns="0" rtlCol="0" anchor="ctr"/>
          <a:lstStyle/>
          <a:p>
            <a:pPr indent="0" marL="0">
              <a:buNone/>
            </a:pPr>
            <a:r>
              <a:rPr lang="ko-KR" altLang="en-US" sz="1150" dirty="0">
                <a:solidFill>
                  <a:srgbClr val="111111"/>
                </a:solidFill>
                <a:latin typeface="Malgun Gothic" pitchFamily="34" charset="0"/>
                <a:ea typeface="Malgun Gothic" pitchFamily="34" charset="-122"/>
                <a:cs typeface="Malgun Gothic" pitchFamily="34" charset="-120"/>
              </a:rPr>
              <a:t>왜 웹 구조 그대로? → "데이터베이스를 보여 주는 창"으로 설계했다</a:t>
            </a:r>
            <a:endParaRPr lang="ko-KR" altLang="en-US" sz="1150" dirty="0"/>
          </a:p>
        </p:txBody>
      </p:sp>
      <p:sp>
        <p:nvSpPr>
          <p:cNvPr id="14" name="Text 11"/>
          <p:cNvSpPr txBox="1"/>
          <p:nvPr/>
        </p:nvSpPr>
        <p:spPr>
          <a:xfrm>
            <a:off x="6537960" y="4041648"/>
            <a:ext cx="685800" cy="457200"/>
          </a:xfrm>
          <a:prstGeom prst="rect">
            <a:avLst/>
          </a:prstGeom>
          <a:noFill/>
          <a:ln/>
        </p:spPr>
        <p:txBody>
          <a:bodyPr wrap="square" lIns="0" tIns="0" rIns="0" bIns="0" rtlCol="0" anchor="ctr"/>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Why 4</a:t>
            </a:r>
            <a:endParaRPr lang="ko-KR" altLang="en-US" sz="1100" dirty="0"/>
          </a:p>
        </p:txBody>
      </p:sp>
      <p:sp>
        <p:nvSpPr>
          <p:cNvPr id="15" name="Text 12"/>
          <p:cNvSpPr txBox="1"/>
          <p:nvPr/>
        </p:nvSpPr>
        <p:spPr>
          <a:xfrm>
            <a:off x="7223760" y="4041648"/>
            <a:ext cx="4416552" cy="457200"/>
          </a:xfrm>
          <a:prstGeom prst="rect">
            <a:avLst/>
          </a:prstGeom>
          <a:noFill/>
          <a:ln/>
        </p:spPr>
        <p:txBody>
          <a:bodyPr wrap="square" lIns="0" tIns="0" rIns="0" bIns="0" rtlCol="0" anchor="ctr"/>
          <a:lstStyle/>
          <a:p>
            <a:pPr indent="0" marL="0">
              <a:buNone/>
            </a:pPr>
            <a:r>
              <a:rPr lang="ko-KR" altLang="en-US" sz="1150" dirty="0">
                <a:solidFill>
                  <a:srgbClr val="111111"/>
                </a:solidFill>
                <a:latin typeface="Malgun Gothic" pitchFamily="34" charset="0"/>
                <a:ea typeface="Malgun Gothic" pitchFamily="34" charset="-122"/>
                <a:cs typeface="Malgun Gothic" pitchFamily="34" charset="-120"/>
              </a:rPr>
              <a:t>왜 데이터 종류로? → 모든 분야를 한 메뉴로 — 관심 분야가 화면에 없다</a:t>
            </a:r>
            <a:endParaRPr lang="ko-KR" altLang="en-US" sz="1150" dirty="0"/>
          </a:p>
        </p:txBody>
      </p:sp>
      <p:sp>
        <p:nvSpPr>
          <p:cNvPr id="16" name="Shape 13"/>
          <p:cNvSpPr/>
          <p:nvPr/>
        </p:nvSpPr>
        <p:spPr>
          <a:xfrm>
            <a:off x="6537960" y="4636008"/>
            <a:ext cx="5102352" cy="1645920"/>
          </a:xfrm>
          <a:prstGeom prst="roundRect">
            <a:avLst>
              <a:gd name="adj" fmla="val 7778"/>
            </a:avLst>
          </a:prstGeom>
          <a:solidFill>
            <a:srgbClr val="EAF4FC"/>
          </a:solidFill>
          <a:ln/>
        </p:spPr>
      </p:sp>
      <p:sp>
        <p:nvSpPr>
          <p:cNvPr id="17" name="Text 14"/>
          <p:cNvSpPr txBox="1"/>
          <p:nvPr/>
        </p:nvSpPr>
        <p:spPr>
          <a:xfrm>
            <a:off x="6766560" y="4754880"/>
            <a:ext cx="4663440" cy="237744"/>
          </a:xfrm>
          <a:prstGeom prst="rect">
            <a:avLst/>
          </a:prstGeom>
          <a:noFill/>
          <a:ln/>
        </p:spPr>
        <p:txBody>
          <a:bodyPr wrap="square" lIns="0" tIns="0" rIns="0" bIns="0" rtlCol="0" anchor="t"/>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Why 5 — 근본 원인</a:t>
            </a:r>
            <a:endParaRPr lang="ko-KR" altLang="en-US" sz="1100" dirty="0"/>
          </a:p>
        </p:txBody>
      </p:sp>
      <p:sp>
        <p:nvSpPr>
          <p:cNvPr id="18" name="Text 15"/>
          <p:cNvSpPr txBox="1"/>
          <p:nvPr/>
        </p:nvSpPr>
        <p:spPr>
          <a:xfrm>
            <a:off x="6766560" y="5010912"/>
            <a:ext cx="4663440" cy="566928"/>
          </a:xfrm>
          <a:prstGeom prst="rect">
            <a:avLst/>
          </a:prstGeom>
          <a:noFill/>
          <a:ln/>
        </p:spPr>
        <p:txBody>
          <a:bodyPr wrap="square" lIns="0" tIns="0" rIns="0" bIns="0" rtlCol="0" anchor="t"/>
          <a:lstStyle/>
          <a:p>
            <a:pPr indent="0" marL="0">
              <a:buNone/>
            </a:pPr>
            <a:r>
              <a:rPr lang="ko-KR" altLang="en-US" sz="1350" b="1" dirty="0">
                <a:solidFill>
                  <a:srgbClr val="111111"/>
                </a:solidFill>
                <a:latin typeface="Malgun Gothic" pitchFamily="34" charset="0"/>
                <a:ea typeface="Malgun Gothic" pitchFamily="34" charset="-122"/>
                <a:cs typeface="Malgun Gothic" pitchFamily="34" charset="-120"/>
              </a:rPr>
              <a:t>내 관심 분야(채널)와 내가 하는 일의 순서가 화면 구조의 기준이 아니다</a:t>
            </a:r>
            <a:endParaRPr lang="ko-KR" altLang="en-US" sz="1350" dirty="0"/>
          </a:p>
        </p:txBody>
      </p:sp>
      <p:sp>
        <p:nvSpPr>
          <p:cNvPr id="19" name="Text 16"/>
          <p:cNvSpPr txBox="1"/>
          <p:nvPr/>
        </p:nvSpPr>
        <p:spPr>
          <a:xfrm>
            <a:off x="6766560" y="5596128"/>
            <a:ext cx="4663440" cy="594360"/>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 v2: 위 내 채널 바 하나(C-1) · 아래 탭 = 홈 · 검색 · 카메라 · 캘린더 · 컬렉션(S-3) · 새 창 대신 시트 · 같은 탭 안 보기</a:t>
            </a:r>
            <a:endParaRPr lang="ko-KR" altLang="en-US" sz="11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36</a:t>
            </a:fld>
            <a:endParaRPr lang="ko-KR"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B5-4 · 화면별 요소 분석표 1/3</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화면 A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홈</a:t>
            </a:r>
            <a:endParaRPr lang="ko-KR" altLang="en-US" sz="2800" dirty="0"/>
          </a:p>
        </p:txBody>
      </p:sp>
      <p:sp>
        <p:nvSpPr>
          <p:cNvPr id="4" name="Shape 2"/>
          <p:cNvSpPr/>
          <p:nvPr/>
        </p:nvSpPr>
        <p:spPr>
          <a:xfrm>
            <a:off x="566928" y="1499616"/>
            <a:ext cx="2076078" cy="4535424"/>
          </a:xfrm>
          <a:prstGeom prst="roundRect">
            <a:avLst>
              <a:gd name="adj" fmla="val 7632"/>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home_num.png">    </p:cNvPr>
          <p:cNvPicPr>
            <a:picLocks noChangeAspect="1"/>
          </p:cNvPicPr>
          <p:nvPr/>
        </p:nvPicPr>
        <p:blipFill>
          <a:blip r:embed="rId1"/>
          <a:stretch>
            <a:fillRect/>
          </a:stretch>
        </p:blipFill>
        <p:spPr>
          <a:xfrm>
            <a:off x="548640" y="1481328"/>
            <a:ext cx="2112654" cy="4572000"/>
          </a:xfrm>
          <a:prstGeom prst="rect">
            <a:avLst/>
          </a:prstGeom>
        </p:spPr>
      </p:pic>
      <p:sp>
        <p:nvSpPr>
          <p:cNvPr id="6" name="Text 3"/>
          <p:cNvSpPr txBox="1"/>
          <p:nvPr/>
        </p:nvSpPr>
        <p:spPr>
          <a:xfrm>
            <a:off x="411480" y="6108192"/>
            <a:ext cx="2377440"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a_home_screen.dart</a:t>
            </a:r>
            <a:endParaRPr lang="ko-KR" altLang="en-US" sz="9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2971800" y="1481328"/>
          <a:ext cx="8668512" cy="914400"/>
        </p:xfrm>
        <a:graphic>
          <a:graphicData uri="http://schemas.openxmlformats.org/drawingml/2006/table">
            <a:tbl>
              <a:tblPr/>
              <a:tblGrid>
                <a:gridCol w="621792"/>
                <a:gridCol w="1783080"/>
                <a:gridCol w="1600200"/>
                <a:gridCol w="1371600"/>
                <a:gridCol w="777240"/>
                <a:gridCol w="1280160"/>
                <a:gridCol w="1234440"/>
              </a:tblGrid>
              <a:tr h="438912">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Flutter 위젯명</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비즈니스 명칭</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정보 전달 기준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P번호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편의성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가이드 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A-1</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ChannelHeader</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아바타 줄 + 내 채널 바</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내 채널이 먼저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P04 P06</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채널을 외우지 않음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네 탭 같은 머리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GpSearchBar 입구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검색창 · 카메라</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찾기는 늘 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P07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탭 이동 없이 검색</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검색 화면과 같은 모양</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A-3</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PageView + 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예고 배너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가장 큰 소식 1장</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P08 P02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4초마다 자동 넘김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이미지 그대로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배너 아래 상태 · 제목</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예고 상태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발표 → 확정 → 예약</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지금 단계를 한눈에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상태 글자 고정</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A-5</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SectionHeader (막대 + ›)</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줄 이름 · 전체 보기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줄마다 이름 하나</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P06 P07</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 로 같은 탭 전체 목록</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새 창 대신 탭 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A-6</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가로 ListView + ProductTile</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최근 추가 · 발매 · 예고</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사진 + 이름만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옆으로 훑기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날짜 · 가격은 상세에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A-7</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Loading / Error / Empty</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불러오는 중 · 오류 · 빈 채널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상태를 화면에 남김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다시 시도 버튼</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3상태 모든 GET</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흰 띠 + 회백색 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줄 사이 층 구분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선 없이 경계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P08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덜 복잡해 보임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흰 띠 10dp 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QuickMarks (리본 · ♡)</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좋아요 · 구매함 바로 담기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왼쪽 위 리본 · 아래 ♡</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P07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상세에 안 들어감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앱 전체 한 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2971800" y="5980176"/>
            <a:ext cx="868680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16화면 147요소 전체: docs/디자인가이드.md 3장 (코드 맨 위 대응표에서 생성) · 코드 주석 // A-1 P0x</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37</a:t>
            </a:fld>
            <a:endParaRPr lang="ko-KR" alt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B5-4 · 화면별 요소 분석표 2/3</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화면 D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상품 상세</a:t>
            </a:r>
            <a:endParaRPr lang="ko-KR" altLang="en-US" sz="2800" dirty="0"/>
          </a:p>
        </p:txBody>
      </p:sp>
      <p:sp>
        <p:nvSpPr>
          <p:cNvPr id="4" name="Shape 2"/>
          <p:cNvSpPr/>
          <p:nvPr/>
        </p:nvSpPr>
        <p:spPr>
          <a:xfrm>
            <a:off x="566928" y="1499616"/>
            <a:ext cx="2076078" cy="4535424"/>
          </a:xfrm>
          <a:prstGeom prst="roundRect">
            <a:avLst>
              <a:gd name="adj" fmla="val 7632"/>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detail_num.png">    </p:cNvPr>
          <p:cNvPicPr>
            <a:picLocks noChangeAspect="1"/>
          </p:cNvPicPr>
          <p:nvPr/>
        </p:nvPicPr>
        <p:blipFill>
          <a:blip r:embed="rId1"/>
          <a:stretch>
            <a:fillRect/>
          </a:stretch>
        </p:blipFill>
        <p:spPr>
          <a:xfrm>
            <a:off x="548640" y="1481328"/>
            <a:ext cx="2112654" cy="4572000"/>
          </a:xfrm>
          <a:prstGeom prst="rect">
            <a:avLst/>
          </a:prstGeom>
        </p:spPr>
      </p:pic>
      <p:sp>
        <p:nvSpPr>
          <p:cNvPr id="6" name="Text 3"/>
          <p:cNvSpPr txBox="1"/>
          <p:nvPr/>
        </p:nvSpPr>
        <p:spPr>
          <a:xfrm>
            <a:off x="411480" y="6108192"/>
            <a:ext cx="2377440"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d_kit_detail_screen.dart</a:t>
            </a:r>
            <a:endParaRPr lang="ko-KR" altLang="en-US" sz="9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2971800" y="1481328"/>
          <a:ext cx="8668512" cy="914400"/>
        </p:xfrm>
        <a:graphic>
          <a:graphicData uri="http://schemas.openxmlformats.org/drawingml/2006/table">
            <a:tbl>
              <a:tblPr/>
              <a:tblGrid>
                <a:gridCol w="621792"/>
                <a:gridCol w="1783080"/>
                <a:gridCol w="1600200"/>
                <a:gridCol w="1371600"/>
                <a:gridCol w="777240"/>
                <a:gridCol w="1280160"/>
                <a:gridCol w="1234440"/>
              </a:tblGrid>
              <a:tr h="420624">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Flutter 위젯명</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비즈니스 명칭</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정보 전달 기준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P번호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편의성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가이드 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PageView + 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사진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사진이 먼저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P02 P08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넘겨 보기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사진만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제목 + 일본어 이름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상품명 (원문)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이름 → 원래 이름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검색에 복사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원문 그대로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D-5</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Text(¥) + 발매일</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일본 정가 · 발매</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가장 큰 숫자 = 정가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P02 P01</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정가 한눈에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엔화 = 일본 정가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D-5b</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시세 한 줄 → 시트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국내 시세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정가 바로 아래</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횟수 제한 없음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시세는 이 한 곳</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D-5c</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"내 구매가" 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내가 낸 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구매함일 때만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P03</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수정 시트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원화 = 내 구매가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D-6</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하단 고정 ♡ · 리본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좋아요 · 구매함</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화면 아래 늘 보임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P03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내려 읽어도 바로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쇼핑 앱 같은 자리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요약 줄 → 시트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정보</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요약 → 전체 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P08 P06</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필요할 때만 펼침</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분류 · 작품 · 라인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시세 시트 3칸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국내 시세 자세히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범위 · 플랫폼 3곳</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없으면 찾을 곳</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거래 n건 표시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D-12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TextButton → 확인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정보 오류 제보</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보내기 전 확인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P05 P09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실수 전송 막음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수정 폼 대신 한 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D-14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하단 왼쪽 복사 · 공식</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복사 · 공식 페이지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출처는 작게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P07 P10</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한 번에 복사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 출처</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2971800" y="6217920"/>
            <a:ext cx="868680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나머지 D-1 · D-10 · D-11 · D-13 → 16화면 147요소 전체: docs/디자인가이드.md 3장 (코드 맨 위 대응표에서 생성) · 코드 주석 // D-2 P0x</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38</a:t>
            </a:fld>
            <a:endParaRPr lang="ko-KR"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B5-4 · 화면별 요소 분석표 3/3</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화면 G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도감</a:t>
            </a:r>
            <a:endParaRPr lang="ko-KR" altLang="en-US" sz="2800" dirty="0"/>
          </a:p>
        </p:txBody>
      </p:sp>
      <p:sp>
        <p:nvSpPr>
          <p:cNvPr id="4" name="Shape 2"/>
          <p:cNvSpPr/>
          <p:nvPr/>
        </p:nvSpPr>
        <p:spPr>
          <a:xfrm>
            <a:off x="566928" y="1499616"/>
            <a:ext cx="2076078" cy="4535424"/>
          </a:xfrm>
          <a:prstGeom prst="roundRect">
            <a:avLst>
              <a:gd name="adj" fmla="val 7632"/>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guide_num.png">    </p:cNvPr>
          <p:cNvPicPr>
            <a:picLocks noChangeAspect="1"/>
          </p:cNvPicPr>
          <p:nvPr/>
        </p:nvPicPr>
        <p:blipFill>
          <a:blip r:embed="rId1"/>
          <a:stretch>
            <a:fillRect/>
          </a:stretch>
        </p:blipFill>
        <p:spPr>
          <a:xfrm>
            <a:off x="548640" y="1481328"/>
            <a:ext cx="2112654" cy="4572000"/>
          </a:xfrm>
          <a:prstGeom prst="rect">
            <a:avLst/>
          </a:prstGeom>
        </p:spPr>
      </p:pic>
      <p:sp>
        <p:nvSpPr>
          <p:cNvPr id="6" name="Text 3"/>
          <p:cNvSpPr txBox="1"/>
          <p:nvPr/>
        </p:nvSpPr>
        <p:spPr>
          <a:xfrm>
            <a:off x="411480" y="6108192"/>
            <a:ext cx="2377440"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g_guide_view.dart</a:t>
            </a:r>
            <a:endParaRPr lang="ko-KR" altLang="en-US" sz="9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2971800" y="1481328"/>
          <a:ext cx="8668512" cy="914400"/>
        </p:xfrm>
        <a:graphic>
          <a:graphicData uri="http://schemas.openxmlformats.org/drawingml/2006/table">
            <a:tbl>
              <a:tblPr/>
              <a:tblGrid>
                <a:gridCol w="621792"/>
                <a:gridCol w="1783080"/>
                <a:gridCol w="1600200"/>
                <a:gridCol w="1371600"/>
                <a:gridCol w="777240"/>
                <a:gridCol w="1280160"/>
                <a:gridCol w="1234440"/>
              </a:tblGrid>
              <a:tr h="438912">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Flutter 위젯명</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비즈니스 명칭</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정보 전달 기준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P번호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편의성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가이드 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 → 바텀 시트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도감 읽는 법</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범례는 숨김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P10 P08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필요할 때 ?</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긴 범례 줄 대신</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G-3</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작품 카드 + 진행 막대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작품 도감 (n/전체)</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작품 → 수집 수</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P06</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남은 개수 보임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막대 = 민트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기체 칸 격자 4단계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흑백 → 컬러 → 테두리 → 사진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모을수록 밝아짐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한눈에 진행</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4단계 고정</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G-4a</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Lv 막대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작품 레벨</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1 · 2 · 3점, 5점마다</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다음 레벨까지 n점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오르는 느낌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G-4b</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칸 위 MarkOverlay</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칸에서 바로 담기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상품 사진과 같은 자리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P07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시트 없이 바로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리본 · ♡ 같은 모양</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G-5</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바텀 시트: 기체 → 상품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이 기체의 상품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기체 → 상품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P07</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상세로 바로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덮기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G-5b</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시트 TogglePill 3개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좋아요 · 구매함 · 내 사진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세 단계 따로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P03 P07</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따로 켜고 끔</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되돌리기 토스트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G-5c</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사진 고르기 → 확인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내 사진 인증</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그 기체가 찍혀야</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P05 P09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실패하면 안내</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미리 쓴 판정</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Loading / Error / Empty</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불러오는 중 · 오류</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상태를 화면에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다시 시도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3상태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2971800" y="5980176"/>
            <a:ext cx="868680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나머지 G-1 · G-6 · G-7 → 16화면 147요소 전체: docs/디자인가이드.md 3장 (코드 맨 위 대응표에서 생성) · 코드 주석 // G-2 P0x</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39</a:t>
            </a:fld>
            <a:endParaRPr lang="ko-KR" alt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B5-5 · 기획 상세 — 상태관리 포인트 (표시만)</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바뀌는 데이터와 그것을 보여 줄 위젯</a:t>
            </a:r>
            <a:endParaRPr lang="ko-KR" altLang="en-US" sz="28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502920"/>
                <a:gridCol w="1188720"/>
                <a:gridCol w="1737360"/>
                <a:gridCol w="2834640"/>
                <a:gridCol w="2514600"/>
                <a:gridCol w="2313432"/>
              </a:tblGrid>
              <a:tr h="457200">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화면</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바뀌는 데이터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언제 바뀌나 (사용자 행동)</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보여질 위젯 (요소 번호)</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코드 // STATE:</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57200">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S1</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앱 전체</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좋아요 · 구매함</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A-9 · D-6 · G-4b 누름 · F-6 삭제 · F-10 복원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모든 ♡ · 리본 · F-2 개수 · I-4 숫자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marks.dart:25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r>
              <a:tr h="457200">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S2</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반반 화면</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오른쪽 칸에 연 것</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카드를 눌러 openPage</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왼쪽 카드 테두리 · 줄 바탕</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detail_pane.dart:30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S3</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 앱 셸</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내 채널 목록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C-4 · C-5 더하기 · 빼기 · 순서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네 탭의 채널 바 · 목록 범위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s_app_shell.dart:83</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S4</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 앱 셸</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탭 바 · 위 줄 보임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아래로 / 위로 스크롤</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S-8 탭 바 · S-13 아바타 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s_app_shell.dart:236</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O 전체 목록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필터 · 정렬 · 보기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O-2 패널 적용 · O-3 정렬</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O-4 격자/목록 · 조건 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o_see_all_screen.dart:243</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S6</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G 도감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칸 단계 · 내 사진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G-4b · G-5b · G-5c 인증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G-4 칸 · G-4a Lv</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g_guide_view.dart:486</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S7</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N 알림</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읽음 · 지움 · 탭</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N-4 모두 읽음 · 밀어 지우기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N-3 점 · 굵은 제목 · 탭 개수</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n_notifications_screen.dart:112</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S8</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I 내 정보</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공개 범위 · 워터마크</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I-9 · I-10 · I-7</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I-6 게시물 칸 · 제목 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i_profile_screen.dart:119</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715000"/>
            <a:ext cx="11064240" cy="566928"/>
          </a:xfrm>
          <a:prstGeom prst="rect">
            <a:avLst/>
          </a:prstGeom>
          <a:noFill/>
          <a:ln/>
        </p:spPr>
        <p:txBody>
          <a:bodyPr wrap="square" lIns="0" tIns="0" rIns="0" bIns="0" rtlCol="0" anchor="t"/>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S1 · S2 (초록) = 맨 위 StatefulWidget 의 setState + InheritedWidget, 나머지 = 그 화면의 setState.  </a:t>
            </a:r>
            <a:pPr indent="0" marL="0">
              <a:buNone/>
            </a:pPr>
            <a:r>
              <a:rPr lang="ko-KR" altLang="en-US" sz="1050" dirty="0">
                <a:solidFill>
                  <a:srgbClr val="3D4148"/>
                </a:solidFill>
                <a:latin typeface="Malgun Gothic" pitchFamily="34" charset="0"/>
                <a:ea typeface="Malgun Gothic" pitchFamily="34" charset="-122"/>
                <a:cs typeface="Malgun Gothic" pitchFamily="34" charset="-120"/>
              </a:rPr>
              <a:t>표시 74곳: grep -rn "STATE:" lib  ·  구현하지 않는 것: Provider · Riverpod · Bloc 같은 상태관리 패키지, 영구 저장 — 앱을 끄면 db.json 처음 값</a:t>
            </a:r>
            <a:endParaRPr lang="ko-KR" altLang="en-US" sz="10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40</a:t>
            </a:fld>
            <a:endParaRPr lang="ko-KR" alt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Hobby Atlas — GAI3008-01 중간고사 발표</dc:title>
  <dc:subject>PptxGenJS Presentation</dc:subject>
  <dc:creator>ZHENG BOWEN</dc:creator>
  <cp:lastModifiedBy>ZHENG BOWEN</cp:lastModifiedBy>
  <cp:revision>1</cp:revision>
  <dcterms:created xsi:type="dcterms:W3CDTF">2026-10-29T04:08:04Z</dcterms:created>
  <dcterms:modified xsi:type="dcterms:W3CDTF">2026-10-29T04:08:04Z</dcterms:modified>
</cp:coreProperties>
</file>