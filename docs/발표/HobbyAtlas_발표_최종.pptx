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98eea9a8-4b8b-4989-07be-e9518b9871a6}">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부록" id="{da1cb915-7a83-e341-e56b-1759ec4deab2}">
          <p14:sldIdLst>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감정</c:v>
                </c:pt>
              </c:strCache>
            </c:strRef>
          </c:tx>
          <c:spPr>
            <a:solidFill>
              <a:srgbClr val="1C86D9"/>
            </a:solidFill>
            <a:ln w="31750" cap="flat">
              <a:solidFill>
                <a:srgbClr val="1C86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1C86D9"/>
              </a:solidFill>
              <a:ln w="9525" cap="flat">
                <a:solidFill>
                  <a:srgbClr val="1C86D9"/>
                </a:solidFill>
                <a:prstDash val="solid"/>
                <a:round/>
              </a:ln>
              <a:effectLst/>
            </c:spPr>
          </c:marker>
          <c:cat>
            <c:multiLvlStrRef>
              <c:f>Sheet1!$A$2:$A$7</c:f>
              <c:multiLvlStrCache>
                <c:ptCount val="6"/>
                <c:lvl>
                  <c:pt idx="0">
                    <c:v>① 소식 알기</c:v>
                  </c:pt>
                  <c:pt idx="1">
                    <c:v>② 찾기</c:v>
                  </c:pt>
                  <c:pt idx="2">
                    <c:v>③ 살지 판단</c:v>
                  </c:pt>
                  <c:pt idx="3">
                    <c:v>④ 기록</c:v>
                  </c:pt>
                  <c:pt idx="4">
                    <c:v>⑤ 모은 것 보기</c:v>
                  </c:pt>
                  <c:pt idx="5">
                    <c:v>⑥ 나누기</c:v>
                  </c:pt>
                </c:lvl>
              </c:multiLvlStrCache>
            </c:multiLvlStrRef>
          </c:cat>
          <c:val>
            <c:numRef>
              <c:f>Sheet1!$B$2:$B$7</c:f>
              <c:numCache>
                <c:formatCode>General</c:formatCode>
                <c:ptCount val="6"/>
                <c:pt idx="0">
                  <c:v>0</c:v>
                </c:pt>
                <c:pt idx="1">
                  <c:v>-1</c:v>
                </c:pt>
                <c:pt idx="2">
                  <c:v>-2</c:v>
                </c:pt>
                <c:pt idx="3">
                  <c:v>-1</c:v>
                </c:pt>
                <c:pt idx="4">
                  <c:v>0</c:v>
                </c:pt>
                <c:pt idx="5">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111111"/>
                </a:solidFill>
                <a:latin typeface="Malgun Gothic"/>
              </a:defRPr>
            </a:pPr>
            <a:endParaRPr lang="en-US"/>
          </a:p>
        </c:txPr>
        <c:crossAx val="2094734552"/>
        <c:crosses val="autoZero"/>
        <c:auto val="1"/>
        <c:lblAlgn val="ctr"/>
        <c:noMultiLvlLbl val="1"/>
      </c:catAx>
      <c:valAx>
        <c:axId val="2094734552"/>
        <c:scaling>
          <c:orientation val="minMax"/>
          <c:max val="2"/>
          <c:min val="-2"/>
        </c:scaling>
        <c:delete val="0"/>
        <c:axPos val="l"/>
        <c:majorGridlines>
          <c:spPr>
            <a:ln w="9525" cap="flat">
              <a:solidFill>
                <a:srgbClr val="EEEEEE"/>
              </a:solidFill>
              <a:prstDash val="solid"/>
              <a:round/>
            </a:ln>
          </c:spPr>
        </c:majorGridlines>
        <c:numFmt formatCode="+0;-0;0" sourceLinked="0"/>
        <c:majorTickMark val="out"/>
        <c:minorTickMark val="none"/>
        <c:tickLblPos val="nextTo"/>
        <c:spPr>
          <a:ln w="12700" cap="flat">
            <a:noFill/>
            <a:prstDash val="solid"/>
            <a:round/>
          </a:ln>
        </c:spPr>
        <c:txPr>
          <a:bodyPr/>
          <a:lstStyle/>
          <a:p>
            <a:pPr>
              <a:defRPr sz="900" b="0" i="0" u="none" strike="noStrike">
                <a:solidFill>
                  <a:srgbClr val="9AA0A6"/>
                </a:solidFill>
                <a:latin typeface="Malgun Gothic"/>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【표지 · 0:05】
[한국어]
안녕하세요. Hobby Atlas를 발표할 ZHENG BOWEN입니다.
[中文]
大家好，我是发表 Hobby Atlas 的 ZHENG BOWEN。</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【목차 · 0:05】
[한국어]
개요, 문제 정의, 화면이 바뀐 과정, 셀프 논증, 구현, 데모 순서로 말씀드리겠습니다.
[中文]
我会按 概要、问题定义、画面怎么变的、自我论证、实现、演示 的顺序讲。</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1/2 · 0:20】
[한국어]
Hobby Atlas는 피규어와 프라모델 수집가를 위한 앱입니다. 관심 있는 IP의 새 소식을 먼저 보고, 하트와 리본으로 한 번에 기록하면 도감이 켜집니다. 바탕이 된 앱은 hobbyDB입니다.
[中文]
Hobby Atlas 是给手办和模型收藏玩家的 App。先看关心 IP 的新消息，用爱心和丝带一次记录，图鉴就会亮。原型 App 是 hobbyDB。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【프로젝트 개요 2/2 — 첫 버전 → 지금 · 0:20】
[한국어]
왼쪽이 AI가 처음 만든 버전, 오른쪽이 지금입니다. 첫 버전은 hobbyDB처럼 상품 목록뿐이어서, 제가 화면을 다시 설계했습니다. 4일 동안 커밋 54번, 제 요청으로 하나씩 바꿨고, 그 과정은 해결 방법에서 보여 드리겠습니다.
[中文]
左边是 AI 最初做的版本，右边是现在。第一版像 hobbyDB 一样只有商品列表，所以我自己重新设计了画面。4 天里提交了 54 次，按我的要求一步一步改，过程在"解决方法"里展示。</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1/3 — 왜 만들었나 · 0:20】
[한국어]
건담 하나만 봐도, 프라모델은 호비 사이트, 완성품은 TAMASHII NATIONS, 한정판은 프리미엄 반다이, 경품은 BANPRESTO에 있습니다. 포켓몬과 베이블레이드까지 모으면 공식 사이트가 열 곳이 넘고, 서로 연결되지 않아 지난 상품은 찾기도 어렵습니다.
[中文]
光是高达：模型在 Bandai Hobby 官网，成品在 TAMASHII NATIONS，限定版在 Premium Bandai，景品在 BANPRESTO。再加上宝可梦和战斗陀螺，官网超过十个，彼此不互通，过去的商品也很难找到。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2/3 — 기존 앱에 없는 기능 · 0:25】
[한국어]
이런 정보를 모아 주는 기존 앱 hobbyDB의 리뷰를 보면, 버그보다 없는 기능과 불편함이 많습니다. 라인별로 정리할 수 없고, 신상품은 늦게 올라오고, 넣고 빼기가 번거롭고, 자기 나라 통화 시세가 없습니다. 오른쪽이 Hobby Atlas의 답입니다.
[中文]
看现有 App hobbyDB 的评论，比起 bug，更多的是缺少的功能和不方便：不能按系列整理、新品上得慢、加入删除麻烦、没有本国货币的行情。右边是 Hobby Atlas 的回答。</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【문제 정의 3/3 — 근본 원인 · 0:25】
[한국어]
퍼소나 민준의 저니에서 가장 낮은 곳은 "살지 판단"입니다. 정가, 시세, 이미 가졌는지를 한곳에서 볼 수 없습니다. 5 Why로 내려가 보니 근본 원인은, 화면이 내가 하는 일의 순서로 짜여 있지 않다는 것이었습니다.
[中文]
用户画像"民俊"的旅程里最低点是"判断要不要买"：定价、行情、是否已拥有，没法在一个地方看到。用 5 Why 追下去，根本原因是：画面不是按我做事的顺序组织的。</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1/4 — 홈 · 0:25】
[한국어]
이제 화면이 바뀐 과정입니다. 위의 노란 칸이 제 요청, 검은 꼬리표가 제가 AI에게 보여 준 참고 캡처, 빨간 칸이 제가 버린 AI 결과입니다. 홈은 AI가 만든 목록에서 시작해, PS Store 캡처처럼 배너와 가로 줄로 바꿨고, AI가 만든 알약 줄은 너무 못생겨서 토이저러스 같은 필터 패널로 바꿨습니다.
[中文]
下面是画面变化的过程。上面黄色格子是我的要求，黑色标签是我给 AI 看的参考截图，红色格子是我否决的 AI 结果。首页从 AI 做的列表开始，参考 PS Store 改成横幅加横排；AI 做的胶囊筛选太丑，改成像玩具反斗城那样的筛选面板。</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2/4 — 상품 상세 · 0:25】
[한국어]
상품 상세는 타오바오 캡처처럼 공식 정보를 작게 접고, 검은 버튼 · 토스트가 앱과 안 어울려서 바꿨고, AI 제안 중 세 가지만 골라 아래 고정 버튼과 정가 아래 시세 한 줄로 정리했습니다. 마지막으로 내가 쓴 돈도 적을 수 있게 했습니다.
[中文]
商品详情：参考淘宝把官方信息收小，黑色按钮和提示框和 App 不搭所以改掉；AI 的建议里我只选了三条，做成底部固定按钮和定价下面一行行情。最后加上了记录自己花了多少钱。</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3/4 — 좋아요 · 구매함 · 도감 · 0:25】
[한국어]
좋아요와 구매함은 사진에서 바로 누르게 했고, 하나 더 모으면 레벨이 오르는 도감을 만들었습니다. 긴 범례 줄은 물음표 하나로 바꿨고, IMDb 캡처처럼 리본으로 바꾼 뒤, AI가 모양이 제각각이라고 지적해서 모든 화면을 하나로 맞췄습니다.
[中文]
喜欢和已购买改成在图片上直接点；做了多收集一个就升级的图鉴；长长的图例条换成一个问号。参考 IMDb 改成丝带后，AI 指出样子不统一，于是把所有画面统一成一种。</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【해결 방법 4/4 — 친구 · 내 정보 · 넓은 창 · 0:25】
[한국어]
내 정보에는 숫자와 사진 벽을 넣고, 친구 화면은 QQ 캡처처럼 옆으로 여는 서랍으로 만들었습니다. 넓은 창에서는 폰 화면이 늘어나기만 해서, QQ 폴드 화면처럼 반반으로 바꿨습니다.
[中文]
个人页加了数字和照片墙；好友画面参考 QQ 做成侧滑抽屉。宽屏下原来只是把手机画面拉宽，所以参考 QQ 在折叠屏上的样子改成分屏。</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【셀프 논증 · 0:40】
[한국어]
셀프 논증입니다. 왼쪽은 AI 반론을 받아들인 경우입니다. 저는 자리마다 다른 모양을 썼는데, AI에게 UI의 문제를 물으니 같은 구매함이 서너 가지 모양이라 일관성에 어긋난다고 했습니다. 리뷰 근거도 있어서 로고만 빼고 받아들였습니다. 오른쪽은 반대로 AI 제안을 제가 버린 경우입니다. 상태로 거르는 목록 대신 작품별로 거르게 했습니다.
[中文]
这是自我论证。左边是接受 AI 反驳的例子：我原本每个位置用不同样子，问 AI 我的 UI 有什么问题，它说同一个"已购买"有三四种样子，违反一致性。也有评论作依据，所以除了 Logo 都接受了。右边是我否决 AI 提议的例子：不按状态筛选，改成按作品筛选。</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【Flutter 구현 · 0:30】
[한국어]
구현은 위젯 트리 하나입니다. 화면 이동은 쌓기, 옆으로, 덮기 세 가지, 데이터는 json-server GET만, 모든 화면에 로딩 · 오류 · 빈 상태가 있고, 창 너비에 따라 반반 화면으로 바뀝니다. 상태관리 패키지 없이 setState를 맨 위로 올렸습니다.
[中文]
实现就是一棵 Widget 树。跳转三种：叠加、横向、覆盖；数据只从 json-server 做 GET；所有画面都有加载、错误、空状态；根据窗口宽度切换分屏。没有用状态管理套件，把 setState 放到了最上层。</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【데모 (라이브) · 1:00】
[한국어]
배포된 주소로 직접 보여 드리겠습니다. QR로 여셔도 됩니다. [홈] 배너가 넘어갑니다. 이 상품의 리본을 누르면 구매함에 들어갑니다. [카메라] 찍으면 AI가 비교하고 후보가 나옵니다. 미리 정해 둔 결과입니다. [컬렉션] 방금 담은 상품이 여기 있습니다. [도감] 칸이 켜지고 레벨이 오릅니다. [창 넓히기] 왼쪽은 앱, 오른쪽은 상세입니다. [오류] 인터넷을 잠깐 끄고 채널을 바꾸면 오류와 다시 시도가 나오고, 다시 켜고 누르면 돌아옵니다.
[中文]
现在用部署好的网址直接演示，也可以扫二维码打开。【首页】横幅在翻页，点这个商品的丝带就加入已购买。【相机】拍照后 AI 比对给出候选，这是预设的结果。【收藏】刚才的商品在这里。【图鉴】格子亮了，等级上升。【拉宽窗口】左边 App，右边详情。【错误】暂时关掉网络再切换频道，出现错误和"重试"；重新联网再点就恢复。</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【Personal Learnings · 0:10】
[한국어]
가장 크게 배운 것은 화면을 사용자가 하는 일의 순서로 나눠야 한다는 것입니다. 감사합니다.
[中文]
最大的收获是：画面要按用户做事的顺序来划分。谢谢大家。</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【Q&amp;A · 2:00】
[한국어]
질문 받겠습니다.
[中文]
现在接受提问。
Q1. 왜 하필 hobbyDB를 바탕으로 골랐나요?
A. 여러 브랜드의 수집품을 한 앱에 모으는 거의 유일한 앱이라, 브랜드마다 흩어진 정보라는 제 문제에 가장 가깝습니다. 별점은 4.8이지만 웹사이트 메뉴를 그대로 옮긴 구조라, 라인별 정리 · 신상품 · 넣고 빼기 같은 "없는 기능 · 불편" 리뷰가 많았습니다. 그래서 구조를 다시 설계할 가치가 있다고 봤습니다.
问：为什么选 hobbyDB？答：它几乎是唯一把多个品牌的收藏品集中在一个 App 里的，最接近我"信息分散在各品牌"的问题。评分 4.8，但结构是把网站菜单原样搬过来，评论里"缺功能/不方便"很多（不能按系列整理、新品慢、加入删除麻烦），所以值得重新设计结构。
Q2. 다음 버전(v3)에서 가장 먼저 추가할 기능은?
A. 첫째, 지금은 앱을 끄면 사라지는 좋아요 · 구매함 · 도감 기록을 저장하겠습니다(상태관리 수업에서). 둘째, 브랜드마다 흩어진 공식 예고를 자동으로 모으는 것, 셋째, 실제 사진 인식입니다. 로고와 앱 아이콘도 확정하겠습니다.
问：v3 最先加什么？答：第一，保存现在关掉 App 就没了的喜欢/已购买/图鉴记录（在状态管理课上做）；第二，自动收集各品牌的官方预告；第三，真实的照片识别。Logo 和 App 图标也会定下来。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4.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sp>
        <p:nvSpPr>
          <p:cNvPr id="5"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6"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7"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8"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9" name="Text 7"/>
          <p:cNvSpPr txBox="1"/>
          <p:nvPr/>
        </p:nvSpPr>
        <p:spPr>
          <a:xfrm>
            <a:off x="731520" y="5852160"/>
            <a:ext cx="6035040" cy="274320"/>
          </a:xfrm>
          <a:prstGeom prst="rect">
            <a:avLst/>
          </a:prstGeom>
          <a:noFill/>
          <a:ln/>
        </p:spPr>
        <p:txBody>
          <a:bodyPr wrap="square" lIns="0" tIns="0" rIns="0" bIns="0" rtlCol="0" anchor="t"/>
          <a:lstStyle/>
          <a:p>
            <a:pPr indent="0" marL="0">
              <a:buNone/>
            </a:pPr>
            <a:r>
              <a:rPr lang="ko-KR" altLang="en-US" sz="1200" dirty="0">
                <a:solidFill>
                  <a:srgbClr val="1C86D9"/>
                </a:solidFill>
                <a:latin typeface="Malgun Gothic" pitchFamily="34" charset="0"/>
                <a:ea typeface="Malgun Gothic" pitchFamily="34" charset="-122"/>
                <a:cs typeface="Malgun Gothic" pitchFamily="34" charset="-120"/>
              </a:rPr>
              <a:t>▶ </a:t>
            </a:r>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200" dirty="0"/>
          </a:p>
        </p:txBody>
      </p:sp>
      <p:sp>
        <p:nvSpPr>
          <p:cNvPr id="10" name="Shape 8"/>
          <p:cNvSpPr/>
          <p:nvPr/>
        </p:nvSpPr>
        <p:spPr>
          <a:xfrm>
            <a:off x="7086600" y="548640"/>
            <a:ext cx="4553712" cy="5760720"/>
          </a:xfrm>
          <a:prstGeom prst="roundRect">
            <a:avLst>
              <a:gd name="adj" fmla="val 6024"/>
            </a:avLst>
          </a:prstGeom>
          <a:solidFill>
            <a:srgbClr val="F4F5F7"/>
          </a:solidFill>
          <a:ln/>
        </p:spPr>
      </p:sp>
      <p:sp>
        <p:nvSpPr>
          <p:cNvPr id="11" name="Shape 9"/>
          <p:cNvSpPr/>
          <p:nvPr/>
        </p:nvSpPr>
        <p:spPr>
          <a:xfrm>
            <a:off x="8219784" y="932688"/>
            <a:ext cx="2287343" cy="4992624"/>
          </a:xfrm>
          <a:prstGeom prst="roundRect">
            <a:avLst>
              <a:gd name="adj" fmla="val 7620"/>
            </a:avLst>
          </a:prstGeom>
          <a:solidFill>
            <a:srgbClr val="FFFFFF"/>
          </a:solidFill>
          <a:ln/>
          <a:effectLst>
            <a:outerShdw sx="100000" sy="100000" kx="0" ky="0" algn="bl" rotWithShape="0" blurRad="228600" dist="76200" dir="5400000">
              <a:srgbClr val="000000">
                <a:alpha val="18000"/>
              </a:srgbClr>
            </a:outerShdw>
          </a:effectLst>
        </p:spPr>
      </p:sp>
      <p:pic>
        <p:nvPicPr>
          <p:cNvPr id="12" name="Image 0" descr="C:\Users\Windows11\AppData\Local\Temp\claude\C--Users-Windows11-Desktop-New-folder--2-\a0c8a1d0-32ba-4ae6-9843-b5ebc69d925f\scratchpad\deck2/img/home.png">    </p:cNvPr>
          <p:cNvPicPr>
            <a:picLocks noChangeAspect="1"/>
          </p:cNvPicPr>
          <p:nvPr/>
        </p:nvPicPr>
        <p:blipFill>
          <a:blip r:embed="rId1"/>
          <a:stretch>
            <a:fillRect/>
          </a:stretch>
        </p:blipFill>
        <p:spPr>
          <a:xfrm>
            <a:off x="8201496" y="914400"/>
            <a:ext cx="2323919"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4" name="Shape 2"/>
          <p:cNvSpPr/>
          <p:nvPr/>
        </p:nvSpPr>
        <p:spPr>
          <a:xfrm>
            <a:off x="548640" y="1673352"/>
            <a:ext cx="347472" cy="347472"/>
          </a:xfrm>
          <a:prstGeom prst="ellipse">
            <a:avLst/>
          </a:prstGeom>
          <a:solidFill>
            <a:srgbClr val="1C86D9"/>
          </a:solidFill>
          <a:ln/>
        </p:spPr>
      </p:sp>
      <p:sp>
        <p:nvSpPr>
          <p:cNvPr id="5" name="Text 3"/>
          <p:cNvSpPr txBox="1"/>
          <p:nvPr/>
        </p:nvSpPr>
        <p:spPr>
          <a:xfrm>
            <a:off x="548640" y="16733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6" name="Text 4"/>
          <p:cNvSpPr txBox="1"/>
          <p:nvPr/>
        </p:nvSpPr>
        <p:spPr>
          <a:xfrm>
            <a:off x="1097280" y="16550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프로젝트 개요</a:t>
            </a:r>
            <a:endParaRPr lang="ko-KR" altLang="en-US" sz="1700" dirty="0"/>
          </a:p>
        </p:txBody>
      </p:sp>
      <p:sp>
        <p:nvSpPr>
          <p:cNvPr id="7" name="Text 5"/>
          <p:cNvSpPr txBox="1"/>
          <p:nvPr/>
        </p:nvSpPr>
        <p:spPr>
          <a:xfrm>
            <a:off x="3931920" y="16550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어떤 앱인가 · 내 앱이 바뀐 과정 한눈에</a:t>
            </a:r>
            <a:endParaRPr lang="ko-KR" altLang="en-US" sz="1300" dirty="0"/>
          </a:p>
        </p:txBody>
      </p:sp>
      <p:sp>
        <p:nvSpPr>
          <p:cNvPr id="8" name="Shape 6"/>
          <p:cNvSpPr/>
          <p:nvPr/>
        </p:nvSpPr>
        <p:spPr>
          <a:xfrm>
            <a:off x="1097280" y="2121408"/>
            <a:ext cx="6858000" cy="0"/>
          </a:xfrm>
          <a:prstGeom prst="line">
            <a:avLst/>
          </a:prstGeom>
          <a:noFill/>
          <a:ln w="9525">
            <a:solidFill>
              <a:srgbClr val="E3E5E8"/>
            </a:solidFill>
            <a:prstDash val="solid"/>
          </a:ln>
        </p:spPr>
      </p:sp>
      <p:sp>
        <p:nvSpPr>
          <p:cNvPr id="9" name="Shape 7"/>
          <p:cNvSpPr/>
          <p:nvPr/>
        </p:nvSpPr>
        <p:spPr>
          <a:xfrm>
            <a:off x="548640" y="2221992"/>
            <a:ext cx="347472" cy="347472"/>
          </a:xfrm>
          <a:prstGeom prst="ellipse">
            <a:avLst/>
          </a:prstGeom>
          <a:solidFill>
            <a:srgbClr val="1C86D9"/>
          </a:solidFill>
          <a:ln/>
        </p:spPr>
      </p:sp>
      <p:sp>
        <p:nvSpPr>
          <p:cNvPr id="10" name="Text 8"/>
          <p:cNvSpPr txBox="1"/>
          <p:nvPr/>
        </p:nvSpPr>
        <p:spPr>
          <a:xfrm>
            <a:off x="548640" y="22219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1" name="Text 9"/>
          <p:cNvSpPr txBox="1"/>
          <p:nvPr/>
        </p:nvSpPr>
        <p:spPr>
          <a:xfrm>
            <a:off x="1097280" y="22037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문제 정의</a:t>
            </a:r>
            <a:endParaRPr lang="ko-KR" altLang="en-US" sz="1700" dirty="0"/>
          </a:p>
        </p:txBody>
      </p:sp>
      <p:sp>
        <p:nvSpPr>
          <p:cNvPr id="12" name="Text 10"/>
          <p:cNvSpPr txBox="1"/>
          <p:nvPr/>
        </p:nvSpPr>
        <p:spPr>
          <a:xfrm>
            <a:off x="3931920" y="22037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왜 만들었나 · 기존 앱에 없는 기능 · 근본 원인</a:t>
            </a:r>
            <a:endParaRPr lang="ko-KR" altLang="en-US" sz="1300" dirty="0"/>
          </a:p>
        </p:txBody>
      </p:sp>
      <p:sp>
        <p:nvSpPr>
          <p:cNvPr id="13" name="Shape 11"/>
          <p:cNvSpPr/>
          <p:nvPr/>
        </p:nvSpPr>
        <p:spPr>
          <a:xfrm>
            <a:off x="1097280" y="2670048"/>
            <a:ext cx="6858000" cy="0"/>
          </a:xfrm>
          <a:prstGeom prst="line">
            <a:avLst/>
          </a:prstGeom>
          <a:noFill/>
          <a:ln w="9525">
            <a:solidFill>
              <a:srgbClr val="E3E5E8"/>
            </a:solidFill>
            <a:prstDash val="solid"/>
          </a:ln>
        </p:spPr>
      </p:sp>
      <p:sp>
        <p:nvSpPr>
          <p:cNvPr id="14" name="Shape 12"/>
          <p:cNvSpPr/>
          <p:nvPr/>
        </p:nvSpPr>
        <p:spPr>
          <a:xfrm>
            <a:off x="548640" y="2770632"/>
            <a:ext cx="347472" cy="347472"/>
          </a:xfrm>
          <a:prstGeom prst="ellipse">
            <a:avLst/>
          </a:prstGeom>
          <a:solidFill>
            <a:srgbClr val="1C86D9"/>
          </a:solidFill>
          <a:ln/>
        </p:spPr>
      </p:sp>
      <p:sp>
        <p:nvSpPr>
          <p:cNvPr id="15" name="Text 13"/>
          <p:cNvSpPr txBox="1"/>
          <p:nvPr/>
        </p:nvSpPr>
        <p:spPr>
          <a:xfrm>
            <a:off x="548640" y="27706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16" name="Text 14"/>
          <p:cNvSpPr txBox="1"/>
          <p:nvPr/>
        </p:nvSpPr>
        <p:spPr>
          <a:xfrm>
            <a:off x="1097280" y="27523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해결 방법</a:t>
            </a:r>
            <a:endParaRPr lang="ko-KR" altLang="en-US" sz="1700" dirty="0"/>
          </a:p>
        </p:txBody>
      </p:sp>
      <p:sp>
        <p:nvSpPr>
          <p:cNvPr id="17" name="Text 15"/>
          <p:cNvSpPr txBox="1"/>
          <p:nvPr/>
        </p:nvSpPr>
        <p:spPr>
          <a:xfrm>
            <a:off x="3931920" y="27523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화면이 바뀐 과정 — 내 요청 → 바뀐 화면</a:t>
            </a:r>
            <a:endParaRPr lang="ko-KR" altLang="en-US" sz="1300" dirty="0"/>
          </a:p>
        </p:txBody>
      </p:sp>
      <p:sp>
        <p:nvSpPr>
          <p:cNvPr id="18" name="Shape 16"/>
          <p:cNvSpPr/>
          <p:nvPr/>
        </p:nvSpPr>
        <p:spPr>
          <a:xfrm>
            <a:off x="1097280" y="3218688"/>
            <a:ext cx="6858000" cy="0"/>
          </a:xfrm>
          <a:prstGeom prst="line">
            <a:avLst/>
          </a:prstGeom>
          <a:noFill/>
          <a:ln w="9525">
            <a:solidFill>
              <a:srgbClr val="E3E5E8"/>
            </a:solidFill>
            <a:prstDash val="solid"/>
          </a:ln>
        </p:spPr>
      </p:sp>
      <p:sp>
        <p:nvSpPr>
          <p:cNvPr id="19" name="Shape 17"/>
          <p:cNvSpPr/>
          <p:nvPr/>
        </p:nvSpPr>
        <p:spPr>
          <a:xfrm>
            <a:off x="548640" y="3319272"/>
            <a:ext cx="347472" cy="347472"/>
          </a:xfrm>
          <a:prstGeom prst="ellipse">
            <a:avLst/>
          </a:prstGeom>
          <a:solidFill>
            <a:srgbClr val="1C86D9"/>
          </a:solidFill>
          <a:ln/>
        </p:spPr>
      </p:sp>
      <p:sp>
        <p:nvSpPr>
          <p:cNvPr id="20" name="Text 18"/>
          <p:cNvSpPr txBox="1"/>
          <p:nvPr/>
        </p:nvSpPr>
        <p:spPr>
          <a:xfrm>
            <a:off x="548640" y="331927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1" name="Text 19"/>
          <p:cNvSpPr txBox="1"/>
          <p:nvPr/>
        </p:nvSpPr>
        <p:spPr>
          <a:xfrm>
            <a:off x="1097280" y="330098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셀프 논증</a:t>
            </a:r>
            <a:endParaRPr lang="ko-KR" altLang="en-US" sz="1700" dirty="0"/>
          </a:p>
        </p:txBody>
      </p:sp>
      <p:sp>
        <p:nvSpPr>
          <p:cNvPr id="22" name="Text 20"/>
          <p:cNvSpPr txBox="1"/>
          <p:nvPr/>
        </p:nvSpPr>
        <p:spPr>
          <a:xfrm>
            <a:off x="3931920" y="330098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AI에게 반론을 요청해 다진 결정</a:t>
            </a:r>
            <a:endParaRPr lang="ko-KR" altLang="en-US" sz="1300" dirty="0"/>
          </a:p>
        </p:txBody>
      </p:sp>
      <p:sp>
        <p:nvSpPr>
          <p:cNvPr id="23" name="Shape 21"/>
          <p:cNvSpPr/>
          <p:nvPr/>
        </p:nvSpPr>
        <p:spPr>
          <a:xfrm>
            <a:off x="1097280" y="3767328"/>
            <a:ext cx="6858000" cy="0"/>
          </a:xfrm>
          <a:prstGeom prst="line">
            <a:avLst/>
          </a:prstGeom>
          <a:noFill/>
          <a:ln w="9525">
            <a:solidFill>
              <a:srgbClr val="E3E5E8"/>
            </a:solidFill>
            <a:prstDash val="solid"/>
          </a:ln>
        </p:spPr>
      </p:sp>
      <p:sp>
        <p:nvSpPr>
          <p:cNvPr id="24" name="Shape 22"/>
          <p:cNvSpPr/>
          <p:nvPr/>
        </p:nvSpPr>
        <p:spPr>
          <a:xfrm>
            <a:off x="548640" y="3867912"/>
            <a:ext cx="347472" cy="347472"/>
          </a:xfrm>
          <a:prstGeom prst="ellipse">
            <a:avLst/>
          </a:prstGeom>
          <a:solidFill>
            <a:srgbClr val="1C86D9"/>
          </a:solidFill>
          <a:ln/>
        </p:spPr>
      </p:sp>
      <p:sp>
        <p:nvSpPr>
          <p:cNvPr id="25" name="Text 23"/>
          <p:cNvSpPr txBox="1"/>
          <p:nvPr/>
        </p:nvSpPr>
        <p:spPr>
          <a:xfrm>
            <a:off x="548640" y="386791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26" name="Text 24"/>
          <p:cNvSpPr txBox="1"/>
          <p:nvPr/>
        </p:nvSpPr>
        <p:spPr>
          <a:xfrm>
            <a:off x="1097280" y="384962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Flutter 구현</a:t>
            </a:r>
            <a:endParaRPr lang="ko-KR" altLang="en-US" sz="1700" dirty="0"/>
          </a:p>
        </p:txBody>
      </p:sp>
      <p:sp>
        <p:nvSpPr>
          <p:cNvPr id="27" name="Text 25"/>
          <p:cNvSpPr txBox="1"/>
          <p:nvPr/>
        </p:nvSpPr>
        <p:spPr>
          <a:xfrm>
            <a:off x="3931920" y="384962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위젯 트리 · 화면 이동 · 3상태 · 적응형</a:t>
            </a:r>
            <a:endParaRPr lang="ko-KR" altLang="en-US" sz="1300" dirty="0"/>
          </a:p>
        </p:txBody>
      </p:sp>
      <p:sp>
        <p:nvSpPr>
          <p:cNvPr id="28" name="Shape 26"/>
          <p:cNvSpPr/>
          <p:nvPr/>
        </p:nvSpPr>
        <p:spPr>
          <a:xfrm>
            <a:off x="1097280" y="4315968"/>
            <a:ext cx="6858000" cy="0"/>
          </a:xfrm>
          <a:prstGeom prst="line">
            <a:avLst/>
          </a:prstGeom>
          <a:noFill/>
          <a:ln w="9525">
            <a:solidFill>
              <a:srgbClr val="E3E5E8"/>
            </a:solidFill>
            <a:prstDash val="solid"/>
          </a:ln>
        </p:spPr>
      </p:sp>
      <p:sp>
        <p:nvSpPr>
          <p:cNvPr id="29" name="Shape 27"/>
          <p:cNvSpPr/>
          <p:nvPr/>
        </p:nvSpPr>
        <p:spPr>
          <a:xfrm>
            <a:off x="548640" y="4416552"/>
            <a:ext cx="347472" cy="347472"/>
          </a:xfrm>
          <a:prstGeom prst="ellipse">
            <a:avLst/>
          </a:prstGeom>
          <a:solidFill>
            <a:srgbClr val="1C86D9"/>
          </a:solidFill>
          <a:ln/>
        </p:spPr>
      </p:sp>
      <p:sp>
        <p:nvSpPr>
          <p:cNvPr id="30" name="Text 28"/>
          <p:cNvSpPr txBox="1"/>
          <p:nvPr/>
        </p:nvSpPr>
        <p:spPr>
          <a:xfrm>
            <a:off x="548640" y="44165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1" name="Text 29"/>
          <p:cNvSpPr txBox="1"/>
          <p:nvPr/>
        </p:nvSpPr>
        <p:spPr>
          <a:xfrm>
            <a:off x="1097280" y="43982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데모</a:t>
            </a:r>
            <a:endParaRPr lang="ko-KR" altLang="en-US" sz="1700" dirty="0"/>
          </a:p>
        </p:txBody>
      </p:sp>
      <p:sp>
        <p:nvSpPr>
          <p:cNvPr id="32" name="Text 30"/>
          <p:cNvSpPr txBox="1"/>
          <p:nvPr/>
        </p:nvSpPr>
        <p:spPr>
          <a:xfrm>
            <a:off x="3931920" y="43982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라이브 시연</a:t>
            </a:r>
            <a:endParaRPr lang="ko-KR" altLang="en-US" sz="1300" dirty="0"/>
          </a:p>
        </p:txBody>
      </p:sp>
      <p:sp>
        <p:nvSpPr>
          <p:cNvPr id="33" name="Shape 31"/>
          <p:cNvSpPr/>
          <p:nvPr/>
        </p:nvSpPr>
        <p:spPr>
          <a:xfrm>
            <a:off x="1097280" y="4864608"/>
            <a:ext cx="6858000" cy="0"/>
          </a:xfrm>
          <a:prstGeom prst="line">
            <a:avLst/>
          </a:prstGeom>
          <a:noFill/>
          <a:ln w="9525">
            <a:solidFill>
              <a:srgbClr val="E3E5E8"/>
            </a:solidFill>
            <a:prstDash val="solid"/>
          </a:ln>
        </p:spPr>
      </p:sp>
      <p:sp>
        <p:nvSpPr>
          <p:cNvPr id="34" name="Shape 32"/>
          <p:cNvSpPr/>
          <p:nvPr/>
        </p:nvSpPr>
        <p:spPr>
          <a:xfrm>
            <a:off x="548640" y="4965192"/>
            <a:ext cx="347472" cy="347472"/>
          </a:xfrm>
          <a:prstGeom prst="ellipse">
            <a:avLst/>
          </a:prstGeom>
          <a:solidFill>
            <a:srgbClr val="1C86D9"/>
          </a:solidFill>
          <a:ln/>
        </p:spPr>
      </p:sp>
      <p:sp>
        <p:nvSpPr>
          <p:cNvPr id="35" name="Text 33"/>
          <p:cNvSpPr txBox="1"/>
          <p:nvPr/>
        </p:nvSpPr>
        <p:spPr>
          <a:xfrm>
            <a:off x="548640" y="49651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36" name="Text 34"/>
          <p:cNvSpPr txBox="1"/>
          <p:nvPr/>
        </p:nvSpPr>
        <p:spPr>
          <a:xfrm>
            <a:off x="1097280" y="49469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Personal Learnings</a:t>
            </a:r>
            <a:endParaRPr lang="ko-KR" altLang="en-US" sz="1700" dirty="0"/>
          </a:p>
        </p:txBody>
      </p:sp>
      <p:sp>
        <p:nvSpPr>
          <p:cNvPr id="37" name="Text 35"/>
          <p:cNvSpPr txBox="1"/>
          <p:nvPr/>
        </p:nvSpPr>
        <p:spPr>
          <a:xfrm>
            <a:off x="3931920" y="49469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배운 점 · 다음 v3</a:t>
            </a:r>
            <a:endParaRPr lang="ko-KR" altLang="en-US" sz="1300" dirty="0"/>
          </a:p>
        </p:txBody>
      </p:sp>
      <p:sp>
        <p:nvSpPr>
          <p:cNvPr id="38" name="Shape 36"/>
          <p:cNvSpPr/>
          <p:nvPr/>
        </p:nvSpPr>
        <p:spPr>
          <a:xfrm>
            <a:off x="1097280" y="5413248"/>
            <a:ext cx="6858000" cy="0"/>
          </a:xfrm>
          <a:prstGeom prst="line">
            <a:avLst/>
          </a:prstGeom>
          <a:noFill/>
          <a:ln w="9525">
            <a:solidFill>
              <a:srgbClr val="E3E5E8"/>
            </a:solidFill>
            <a:prstDash val="solid"/>
          </a:ln>
        </p:spPr>
      </p:sp>
      <p:sp>
        <p:nvSpPr>
          <p:cNvPr id="39" name="Shape 37"/>
          <p:cNvSpPr/>
          <p:nvPr/>
        </p:nvSpPr>
        <p:spPr>
          <a:xfrm>
            <a:off x="548640" y="5513832"/>
            <a:ext cx="347472" cy="347472"/>
          </a:xfrm>
          <a:prstGeom prst="ellipse">
            <a:avLst/>
          </a:prstGeom>
          <a:solidFill>
            <a:srgbClr val="9AA0A6"/>
          </a:solidFill>
          <a:ln/>
        </p:spPr>
      </p:sp>
      <p:sp>
        <p:nvSpPr>
          <p:cNvPr id="40" name="Text 38"/>
          <p:cNvSpPr txBox="1"/>
          <p:nvPr/>
        </p:nvSpPr>
        <p:spPr>
          <a:xfrm>
            <a:off x="548640" y="55138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41" name="Text 39"/>
          <p:cNvSpPr txBox="1"/>
          <p:nvPr/>
        </p:nvSpPr>
        <p:spPr>
          <a:xfrm>
            <a:off x="1097280" y="54955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Q&amp;A</a:t>
            </a:r>
            <a:endParaRPr lang="ko-KR" altLang="en-US" sz="1700" dirty="0"/>
          </a:p>
        </p:txBody>
      </p:sp>
      <p:sp>
        <p:nvSpPr>
          <p:cNvPr id="42" name="Text 40"/>
          <p:cNvSpPr txBox="1"/>
          <p:nvPr/>
        </p:nvSpPr>
        <p:spPr>
          <a:xfrm>
            <a:off x="3931920" y="54955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300" dirty="0"/>
          </a:p>
        </p:txBody>
      </p:sp>
      <p:sp>
        <p:nvSpPr>
          <p:cNvPr id="43" name="Shape 41"/>
          <p:cNvSpPr/>
          <p:nvPr/>
        </p:nvSpPr>
        <p:spPr>
          <a:xfrm>
            <a:off x="8321040" y="1600200"/>
            <a:ext cx="3319272" cy="4389120"/>
          </a:xfrm>
          <a:prstGeom prst="roundRect">
            <a:avLst>
              <a:gd name="adj" fmla="val 4408"/>
            </a:avLst>
          </a:prstGeom>
          <a:solidFill>
            <a:srgbClr val="F4F5F7"/>
          </a:solidFill>
          <a:ln/>
        </p:spPr>
      </p:sp>
      <p:sp>
        <p:nvSpPr>
          <p:cNvPr id="44" name="Text 42"/>
          <p:cNvSpPr txBox="1"/>
          <p:nvPr/>
        </p:nvSpPr>
        <p:spPr>
          <a:xfrm>
            <a:off x="8595360" y="1810512"/>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45" name="Text 43"/>
          <p:cNvSpPr txBox="1"/>
          <p:nvPr/>
        </p:nvSpPr>
        <p:spPr>
          <a:xfrm>
            <a:off x="8595360" y="22860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46" name="Text 44"/>
          <p:cNvSpPr txBox="1"/>
          <p:nvPr/>
        </p:nvSpPr>
        <p:spPr>
          <a:xfrm>
            <a:off x="9098280" y="22860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47" name="Text 45"/>
          <p:cNvSpPr txBox="1"/>
          <p:nvPr/>
        </p:nvSpPr>
        <p:spPr>
          <a:xfrm>
            <a:off x="9098280" y="2560320"/>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18장</a:t>
            </a:r>
            <a:endParaRPr lang="ko-KR" altLang="en-US" sz="1050" dirty="0"/>
          </a:p>
        </p:txBody>
      </p:sp>
      <p:sp>
        <p:nvSpPr>
          <p:cNvPr id="48" name="Text 46"/>
          <p:cNvSpPr txBox="1"/>
          <p:nvPr/>
        </p:nvSpPr>
        <p:spPr>
          <a:xfrm>
            <a:off x="8595360" y="2999232"/>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49" name="Text 47"/>
          <p:cNvSpPr txBox="1"/>
          <p:nvPr/>
        </p:nvSpPr>
        <p:spPr>
          <a:xfrm>
            <a:off x="9098280" y="2999232"/>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50" name="Text 48"/>
          <p:cNvSpPr txBox="1"/>
          <p:nvPr/>
        </p:nvSpPr>
        <p:spPr>
          <a:xfrm>
            <a:off x="9098280" y="3273552"/>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21장</a:t>
            </a:r>
            <a:endParaRPr lang="ko-KR" altLang="en-US" sz="1050" dirty="0"/>
          </a:p>
        </p:txBody>
      </p:sp>
      <p:sp>
        <p:nvSpPr>
          <p:cNvPr id="51" name="Text 49"/>
          <p:cNvSpPr txBox="1"/>
          <p:nvPr/>
        </p:nvSpPr>
        <p:spPr>
          <a:xfrm>
            <a:off x="8595360" y="3712464"/>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52" name="Text 50"/>
          <p:cNvSpPr txBox="1"/>
          <p:nvPr/>
        </p:nvSpPr>
        <p:spPr>
          <a:xfrm>
            <a:off x="9098280" y="3712464"/>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53" name="Text 51"/>
          <p:cNvSpPr txBox="1"/>
          <p:nvPr/>
        </p:nvSpPr>
        <p:spPr>
          <a:xfrm>
            <a:off x="9098280" y="3986784"/>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31장</a:t>
            </a:r>
            <a:endParaRPr lang="ko-KR" altLang="en-US" sz="1050" dirty="0"/>
          </a:p>
        </p:txBody>
      </p:sp>
      <p:sp>
        <p:nvSpPr>
          <p:cNvPr id="54" name="Text 52"/>
          <p:cNvSpPr txBox="1"/>
          <p:nvPr/>
        </p:nvSpPr>
        <p:spPr>
          <a:xfrm>
            <a:off x="8595360" y="4425696"/>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55" name="Text 53"/>
          <p:cNvSpPr txBox="1"/>
          <p:nvPr/>
        </p:nvSpPr>
        <p:spPr>
          <a:xfrm>
            <a:off x="9098280" y="4425696"/>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56" name="Text 54"/>
          <p:cNvSpPr txBox="1"/>
          <p:nvPr/>
        </p:nvSpPr>
        <p:spPr>
          <a:xfrm>
            <a:off x="9098280" y="4700016"/>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33장</a:t>
            </a:r>
            <a:endParaRPr lang="ko-KR" altLang="en-US" sz="1050" dirty="0"/>
          </a:p>
        </p:txBody>
      </p:sp>
      <p:sp>
        <p:nvSpPr>
          <p:cNvPr id="57" name="Text 55"/>
          <p:cNvSpPr txBox="1"/>
          <p:nvPr/>
        </p:nvSpPr>
        <p:spPr>
          <a:xfrm>
            <a:off x="8595360" y="5138928"/>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58" name="Text 56"/>
          <p:cNvSpPr txBox="1"/>
          <p:nvPr/>
        </p:nvSpPr>
        <p:spPr>
          <a:xfrm>
            <a:off x="9098280" y="5138928"/>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59" name="Text 57"/>
          <p:cNvSpPr txBox="1"/>
          <p:nvPr/>
        </p:nvSpPr>
        <p:spPr>
          <a:xfrm>
            <a:off x="9098280" y="5413248"/>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34장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4" name="Text 2"/>
          <p:cNvSpPr txBox="1"/>
          <p:nvPr/>
        </p:nvSpPr>
        <p:spPr>
          <a:xfrm>
            <a:off x="548640" y="1572768"/>
            <a:ext cx="63093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부제</a:t>
            </a:r>
            <a:endParaRPr lang="ko-KR" altLang="en-US" sz="1050" dirty="0"/>
          </a:p>
        </p:txBody>
      </p:sp>
      <p:sp>
        <p:nvSpPr>
          <p:cNvPr id="5" name="Text 3"/>
          <p:cNvSpPr txBox="1"/>
          <p:nvPr/>
        </p:nvSpPr>
        <p:spPr>
          <a:xfrm>
            <a:off x="548640" y="1810512"/>
            <a:ext cx="630936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6" name="Text 4"/>
          <p:cNvSpPr txBox="1"/>
          <p:nvPr/>
        </p:nvSpPr>
        <p:spPr>
          <a:xfrm>
            <a:off x="548640" y="2359152"/>
            <a:ext cx="630936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7" name="Shape 5"/>
          <p:cNvSpPr/>
          <p:nvPr/>
        </p:nvSpPr>
        <p:spPr>
          <a:xfrm>
            <a:off x="548640" y="2926080"/>
            <a:ext cx="2514600" cy="329184"/>
          </a:xfrm>
          <a:prstGeom prst="roundRect">
            <a:avLst>
              <a:gd name="adj" fmla="val 50000"/>
            </a:avLst>
          </a:prstGeom>
          <a:solidFill>
            <a:srgbClr val="F4F5F7"/>
          </a:solidFill>
          <a:ln/>
        </p:spPr>
      </p:sp>
      <p:sp>
        <p:nvSpPr>
          <p:cNvPr id="8" name="Text 6"/>
          <p:cNvSpPr txBox="1"/>
          <p:nvPr/>
        </p:nvSpPr>
        <p:spPr>
          <a:xfrm>
            <a:off x="548640" y="2926080"/>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9" name="Shape 7"/>
          <p:cNvSpPr/>
          <p:nvPr/>
        </p:nvSpPr>
        <p:spPr>
          <a:xfrm>
            <a:off x="3172968" y="2926080"/>
            <a:ext cx="3291840" cy="329184"/>
          </a:xfrm>
          <a:prstGeom prst="roundRect">
            <a:avLst>
              <a:gd name="adj" fmla="val 50000"/>
            </a:avLst>
          </a:prstGeom>
          <a:solidFill>
            <a:srgbClr val="F4F5F7"/>
          </a:solidFill>
          <a:ln/>
        </p:spPr>
      </p:sp>
      <p:sp>
        <p:nvSpPr>
          <p:cNvPr id="10" name="Text 8"/>
          <p:cNvSpPr txBox="1"/>
          <p:nvPr/>
        </p:nvSpPr>
        <p:spPr>
          <a:xfrm>
            <a:off x="3172968" y="2926080"/>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1" name="Shape 9"/>
          <p:cNvSpPr/>
          <p:nvPr/>
        </p:nvSpPr>
        <p:spPr>
          <a:xfrm>
            <a:off x="548640" y="3346704"/>
            <a:ext cx="5916168" cy="329184"/>
          </a:xfrm>
          <a:prstGeom prst="roundRect">
            <a:avLst>
              <a:gd name="adj" fmla="val 50000"/>
            </a:avLst>
          </a:prstGeom>
          <a:solidFill>
            <a:srgbClr val="F4F5F7"/>
          </a:solidFill>
          <a:ln/>
        </p:spPr>
      </p:sp>
      <p:sp>
        <p:nvSpPr>
          <p:cNvPr id="12" name="Text 10"/>
          <p:cNvSpPr txBox="1"/>
          <p:nvPr/>
        </p:nvSpPr>
        <p:spPr>
          <a:xfrm>
            <a:off x="548640" y="3346704"/>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폰 → 매장에선 카메라 → 집에선 폴드</a:t>
            </a:r>
            <a:endParaRPr lang="ko-KR" altLang="en-US" sz="1100" dirty="0"/>
          </a:p>
        </p:txBody>
      </p:sp>
      <p:sp>
        <p:nvSpPr>
          <p:cNvPr id="13" name="Shape 11"/>
          <p:cNvSpPr/>
          <p:nvPr/>
        </p:nvSpPr>
        <p:spPr>
          <a:xfrm>
            <a:off x="548640" y="4014216"/>
            <a:ext cx="384048" cy="384048"/>
          </a:xfrm>
          <a:prstGeom prst="ellipse">
            <a:avLst/>
          </a:prstGeom>
          <a:solidFill>
            <a:srgbClr val="1C86D9"/>
          </a:solidFill>
          <a:ln/>
        </p:spPr>
      </p:sp>
      <p:sp>
        <p:nvSpPr>
          <p:cNvPr id="14"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5" name="Text 13"/>
          <p:cNvSpPr txBox="1"/>
          <p:nvPr/>
        </p:nvSpPr>
        <p:spPr>
          <a:xfrm>
            <a:off x="1115568" y="3977640"/>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내 채널 새 소식</a:t>
            </a:r>
            <a:endParaRPr lang="ko-KR" altLang="en-US" sz="1600" dirty="0"/>
          </a:p>
        </p:txBody>
      </p:sp>
      <p:sp>
        <p:nvSpPr>
          <p:cNvPr id="16" name="Text 14"/>
          <p:cNvSpPr txBox="1"/>
          <p:nvPr/>
        </p:nvSpPr>
        <p:spPr>
          <a:xfrm>
            <a:off x="1115568" y="4288536"/>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관심 IP만 골라 공식 예고 · 발매일을 먼저</a:t>
            </a:r>
            <a:endParaRPr lang="ko-KR" altLang="en-US" sz="1300" dirty="0"/>
          </a:p>
        </p:txBody>
      </p:sp>
      <p:sp>
        <p:nvSpPr>
          <p:cNvPr id="17" name="Shape 15"/>
          <p:cNvSpPr/>
          <p:nvPr/>
        </p:nvSpPr>
        <p:spPr>
          <a:xfrm>
            <a:off x="548640" y="4727448"/>
            <a:ext cx="384048" cy="384048"/>
          </a:xfrm>
          <a:prstGeom prst="ellipse">
            <a:avLst/>
          </a:prstGeom>
          <a:solidFill>
            <a:srgbClr val="1C86D9"/>
          </a:solidFill>
          <a:ln/>
        </p:spPr>
      </p:sp>
      <p:sp>
        <p:nvSpPr>
          <p:cNvPr id="18" name="Text 16"/>
          <p:cNvSpPr txBox="1"/>
          <p:nvPr/>
        </p:nvSpPr>
        <p:spPr>
          <a:xfrm>
            <a:off x="548640" y="472744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19" name="Text 17"/>
          <p:cNvSpPr txBox="1"/>
          <p:nvPr/>
        </p:nvSpPr>
        <p:spPr>
          <a:xfrm>
            <a:off x="1115568" y="4690872"/>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한 번에 기록</a:t>
            </a:r>
            <a:endParaRPr lang="ko-KR" altLang="en-US" sz="1600" dirty="0"/>
          </a:p>
        </p:txBody>
      </p:sp>
      <p:sp>
        <p:nvSpPr>
          <p:cNvPr id="20" name="Text 18"/>
          <p:cNvSpPr txBox="1"/>
          <p:nvPr/>
        </p:nvSpPr>
        <p:spPr>
          <a:xfrm>
            <a:off x="1115568" y="5001768"/>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좋아요 · 리본 구매함</a:t>
            </a:r>
            <a:endParaRPr lang="ko-KR" altLang="en-US" sz="1300" dirty="0"/>
          </a:p>
        </p:txBody>
      </p:sp>
      <p:sp>
        <p:nvSpPr>
          <p:cNvPr id="21" name="Shape 19"/>
          <p:cNvSpPr/>
          <p:nvPr/>
        </p:nvSpPr>
        <p:spPr>
          <a:xfrm>
            <a:off x="548640" y="5440680"/>
            <a:ext cx="384048" cy="384048"/>
          </a:xfrm>
          <a:prstGeom prst="ellipse">
            <a:avLst/>
          </a:prstGeom>
          <a:solidFill>
            <a:srgbClr val="1C86D9"/>
          </a:solidFill>
          <a:ln/>
        </p:spPr>
      </p:sp>
      <p:sp>
        <p:nvSpPr>
          <p:cNvPr id="22" name="Text 20"/>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3" name="Text 21"/>
          <p:cNvSpPr txBox="1"/>
          <p:nvPr/>
        </p:nvSpPr>
        <p:spPr>
          <a:xfrm>
            <a:off x="1115568" y="5404104"/>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모을수록 켜지는 도감</a:t>
            </a:r>
            <a:endParaRPr lang="ko-KR" altLang="en-US" sz="1600" dirty="0"/>
          </a:p>
        </p:txBody>
      </p:sp>
      <p:sp>
        <p:nvSpPr>
          <p:cNvPr id="24" name="Text 22"/>
          <p:cNvSpPr txBox="1"/>
          <p:nvPr/>
        </p:nvSpPr>
        <p:spPr>
          <a:xfrm>
            <a:off x="1115568" y="5715000"/>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레벨이 오른다</a:t>
            </a:r>
            <a:endParaRPr lang="ko-KR" altLang="en-US" sz="1300" dirty="0"/>
          </a:p>
        </p:txBody>
      </p:sp>
      <p:sp>
        <p:nvSpPr>
          <p:cNvPr id="25" name="Shape 23"/>
          <p:cNvSpPr/>
          <p:nvPr/>
        </p:nvSpPr>
        <p:spPr>
          <a:xfrm>
            <a:off x="7315200" y="1572768"/>
            <a:ext cx="4325112" cy="452628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6" name="Text 24"/>
          <p:cNvSpPr txBox="1"/>
          <p:nvPr/>
        </p:nvSpPr>
        <p:spPr>
          <a:xfrm>
            <a:off x="7635240" y="1801368"/>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바탕이 된 앱 hobbyDB</a:t>
            </a:r>
            <a:endParaRPr lang="ko-KR" altLang="en-US" sz="1200" dirty="0"/>
          </a:p>
        </p:txBody>
      </p:sp>
      <p:sp>
        <p:nvSpPr>
          <p:cNvPr id="27" name="Text 25"/>
          <p:cNvSpPr txBox="1"/>
          <p:nvPr/>
        </p:nvSpPr>
        <p:spPr>
          <a:xfrm>
            <a:off x="7635240" y="2121408"/>
            <a:ext cx="201168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28" name="Text 26"/>
          <p:cNvSpPr txBox="1"/>
          <p:nvPr/>
        </p:nvSpPr>
        <p:spPr>
          <a:xfrm>
            <a:off x="9601200" y="2212848"/>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29" name="Text 27"/>
          <p:cNvSpPr txBox="1"/>
          <p:nvPr/>
        </p:nvSpPr>
        <p:spPr>
          <a:xfrm>
            <a:off x="9601200" y="2505456"/>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a:t>
            </a:r>
            <a:endParaRPr lang="ko-KR" altLang="en-US" sz="1000" dirty="0"/>
          </a:p>
        </p:txBody>
      </p:sp>
      <p:sp>
        <p:nvSpPr>
          <p:cNvPr id="30" name="Shape 28"/>
          <p:cNvSpPr/>
          <p:nvPr/>
        </p:nvSpPr>
        <p:spPr>
          <a:xfrm>
            <a:off x="7635240" y="3108960"/>
            <a:ext cx="3685032" cy="1207008"/>
          </a:xfrm>
          <a:prstGeom prst="roundRect">
            <a:avLst>
              <a:gd name="adj" fmla="val 7576"/>
            </a:avLst>
          </a:prstGeom>
          <a:solidFill>
            <a:srgbClr val="F4F5F7"/>
          </a:solidFill>
          <a:ln/>
        </p:spPr>
      </p:sp>
      <p:sp>
        <p:nvSpPr>
          <p:cNvPr id="31" name="Text 29"/>
          <p:cNvSpPr txBox="1"/>
          <p:nvPr/>
        </p:nvSpPr>
        <p:spPr>
          <a:xfrm>
            <a:off x="7818120" y="32369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250" dirty="0"/>
          </a:p>
        </p:txBody>
      </p:sp>
      <p:sp>
        <p:nvSpPr>
          <p:cNvPr id="32" name="Text 30"/>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100" dirty="0"/>
          </a:p>
        </p:txBody>
      </p:sp>
      <p:sp>
        <p:nvSpPr>
          <p:cNvPr id="33" name="Text 31"/>
          <p:cNvSpPr txBox="1"/>
          <p:nvPr/>
        </p:nvSpPr>
        <p:spPr>
          <a:xfrm>
            <a:off x="7818120" y="40599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★4 · 2022.11.06</a:t>
            </a:r>
            <a:endParaRPr lang="ko-KR" altLang="en-US" sz="950" dirty="0"/>
          </a:p>
        </p:txBody>
      </p:sp>
      <p:sp>
        <p:nvSpPr>
          <p:cNvPr id="34" name="Shape 32"/>
          <p:cNvSpPr/>
          <p:nvPr/>
        </p:nvSpPr>
        <p:spPr>
          <a:xfrm>
            <a:off x="7635240" y="4480560"/>
            <a:ext cx="3685032" cy="1207008"/>
          </a:xfrm>
          <a:prstGeom prst="roundRect">
            <a:avLst>
              <a:gd name="adj" fmla="val 7576"/>
            </a:avLst>
          </a:prstGeom>
          <a:solidFill>
            <a:srgbClr val="F4F5F7"/>
          </a:solidFill>
          <a:ln/>
        </p:spPr>
      </p:sp>
      <p:sp>
        <p:nvSpPr>
          <p:cNvPr id="35" name="Text 33"/>
          <p:cNvSpPr txBox="1"/>
          <p:nvPr/>
        </p:nvSpPr>
        <p:spPr>
          <a:xfrm>
            <a:off x="7818120" y="46085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250" dirty="0"/>
          </a:p>
        </p:txBody>
      </p:sp>
      <p:sp>
        <p:nvSpPr>
          <p:cNvPr id="36" name="Text 34"/>
          <p:cNvSpPr txBox="1"/>
          <p:nvPr/>
        </p:nvSpPr>
        <p:spPr>
          <a:xfrm>
            <a:off x="7818120" y="52120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100" dirty="0"/>
          </a:p>
        </p:txBody>
      </p:sp>
      <p:sp>
        <p:nvSpPr>
          <p:cNvPr id="37" name="Text 35"/>
          <p:cNvSpPr txBox="1"/>
          <p:nvPr/>
        </p:nvSpPr>
        <p:spPr>
          <a:xfrm>
            <a:off x="7818120" y="54315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★5 · 2025.01.26</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첫 버전 → 지금: 내 앱은 이렇게 바뀌었다</a:t>
            </a:r>
            <a:endParaRPr lang="ko-KR" altLang="en-US" sz="2800" dirty="0"/>
          </a:p>
        </p:txBody>
      </p:sp>
      <p:sp>
        <p:nvSpPr>
          <p:cNvPr id="4" name="Shape 2"/>
          <p:cNvSpPr/>
          <p:nvPr/>
        </p:nvSpPr>
        <p:spPr>
          <a:xfrm>
            <a:off x="583288"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evo_99dd2b9_home.png">    </p:cNvPr>
          <p:cNvPicPr>
            <a:picLocks noChangeAspect="1"/>
          </p:cNvPicPr>
          <p:nvPr/>
        </p:nvPicPr>
        <p:blipFill>
          <a:blip r:embed="rId1"/>
          <a:stretch>
            <a:fillRect/>
          </a:stretch>
        </p:blipFill>
        <p:spPr>
          <a:xfrm>
            <a:off x="565000" y="1600200"/>
            <a:ext cx="2070401" cy="4480560"/>
          </a:xfrm>
          <a:prstGeom prst="rect">
            <a:avLst/>
          </a:prstGeom>
        </p:spPr>
      </p:pic>
      <p:sp>
        <p:nvSpPr>
          <p:cNvPr id="6" name="Shape 3"/>
          <p:cNvSpPr/>
          <p:nvPr/>
        </p:nvSpPr>
        <p:spPr>
          <a:xfrm>
            <a:off x="565000" y="1481328"/>
            <a:ext cx="2070401" cy="292608"/>
          </a:xfrm>
          <a:prstGeom prst="roundRect">
            <a:avLst>
              <a:gd name="adj" fmla="val 50000"/>
            </a:avLst>
          </a:prstGeom>
          <a:solidFill>
            <a:srgbClr val="9AA0A6"/>
          </a:solidFill>
          <a:ln/>
        </p:spPr>
      </p:sp>
      <p:sp>
        <p:nvSpPr>
          <p:cNvPr id="7" name="Text 4"/>
          <p:cNvSpPr txBox="1"/>
          <p:nvPr/>
        </p:nvSpPr>
        <p:spPr>
          <a:xfrm>
            <a:off x="565000"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첫 버전 · 10/24</a:t>
            </a:r>
            <a:endParaRPr lang="ko-KR" altLang="en-US" sz="1100" dirty="0"/>
          </a:p>
        </p:txBody>
      </p:sp>
      <p:sp>
        <p:nvSpPr>
          <p:cNvPr id="8" name="Shape 5"/>
          <p:cNvSpPr/>
          <p:nvPr/>
        </p:nvSpPr>
        <p:spPr>
          <a:xfrm>
            <a:off x="9571840"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9553552" y="1600200"/>
            <a:ext cx="2070401" cy="4480560"/>
          </a:xfrm>
          <a:prstGeom prst="rect">
            <a:avLst/>
          </a:prstGeom>
        </p:spPr>
      </p:pic>
      <p:sp>
        <p:nvSpPr>
          <p:cNvPr id="10" name="Shape 6"/>
          <p:cNvSpPr/>
          <p:nvPr/>
        </p:nvSpPr>
        <p:spPr>
          <a:xfrm>
            <a:off x="9553552" y="1481328"/>
            <a:ext cx="2070401" cy="292608"/>
          </a:xfrm>
          <a:prstGeom prst="roundRect">
            <a:avLst>
              <a:gd name="adj" fmla="val 50000"/>
            </a:avLst>
          </a:prstGeom>
          <a:solidFill>
            <a:srgbClr val="1C86D9"/>
          </a:solidFill>
          <a:ln/>
        </p:spPr>
      </p:sp>
      <p:sp>
        <p:nvSpPr>
          <p:cNvPr id="11" name="Text 7"/>
          <p:cNvSpPr txBox="1"/>
          <p:nvPr/>
        </p:nvSpPr>
        <p:spPr>
          <a:xfrm>
            <a:off x="9553552"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지금 · 10/29</a:t>
            </a:r>
            <a:endParaRPr lang="ko-KR" altLang="en-US" sz="1100" dirty="0"/>
          </a:p>
        </p:txBody>
      </p:sp>
      <p:sp>
        <p:nvSpPr>
          <p:cNvPr id="12" name="Text 8"/>
          <p:cNvSpPr txBox="1"/>
          <p:nvPr/>
        </p:nvSpPr>
        <p:spPr>
          <a:xfrm>
            <a:off x="3063240" y="1481328"/>
            <a:ext cx="60350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바뀐 순서</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4일 · 커밋 54번 · 내 요청 39번</a:t>
            </a:r>
            <a:endParaRPr lang="ko-KR" altLang="en-US" sz="1300" dirty="0"/>
          </a:p>
        </p:txBody>
      </p:sp>
      <p:sp>
        <p:nvSpPr>
          <p:cNvPr id="13" name="Shape 9"/>
          <p:cNvSpPr/>
          <p:nvPr/>
        </p:nvSpPr>
        <p:spPr>
          <a:xfrm>
            <a:off x="3246120" y="1965960"/>
            <a:ext cx="0" cy="3695700"/>
          </a:xfrm>
          <a:prstGeom prst="line">
            <a:avLst/>
          </a:prstGeom>
          <a:noFill/>
          <a:ln w="25400">
            <a:solidFill>
              <a:srgbClr val="C9CDD2"/>
            </a:solidFill>
            <a:prstDash val="solid"/>
          </a:ln>
        </p:spPr>
      </p:sp>
      <p:sp>
        <p:nvSpPr>
          <p:cNvPr id="14" name="Shape 10"/>
          <p:cNvSpPr/>
          <p:nvPr/>
        </p:nvSpPr>
        <p:spPr>
          <a:xfrm>
            <a:off x="3154680" y="1874520"/>
            <a:ext cx="182880" cy="182880"/>
          </a:xfrm>
          <a:prstGeom prst="ellipse">
            <a:avLst/>
          </a:prstGeom>
          <a:solidFill>
            <a:srgbClr val="FFFFFF"/>
          </a:solidFill>
          <a:ln w="25400">
            <a:solidFill>
              <a:srgbClr val="1C86D9"/>
            </a:solidFill>
            <a:prstDash val="solid"/>
          </a:ln>
        </p:spPr>
      </p:sp>
      <p:sp>
        <p:nvSpPr>
          <p:cNvPr id="15" name="Text 11"/>
          <p:cNvSpPr txBox="1"/>
          <p:nvPr/>
        </p:nvSpPr>
        <p:spPr>
          <a:xfrm>
            <a:off x="3520440" y="182880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10/24</a:t>
            </a:r>
            <a:endParaRPr lang="ko-KR" altLang="en-US" sz="1100" dirty="0"/>
          </a:p>
        </p:txBody>
      </p:sp>
      <p:sp>
        <p:nvSpPr>
          <p:cNvPr id="16" name="Text 12"/>
          <p:cNvSpPr txBox="1"/>
          <p:nvPr/>
        </p:nvSpPr>
        <p:spPr>
          <a:xfrm>
            <a:off x="4434840" y="182880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첫 버전</a:t>
            </a:r>
            <a:endParaRPr lang="ko-KR" altLang="en-US" sz="1250" dirty="0"/>
          </a:p>
        </p:txBody>
      </p:sp>
      <p:sp>
        <p:nvSpPr>
          <p:cNvPr id="17" name="Text 13"/>
          <p:cNvSpPr txBox="1"/>
          <p:nvPr/>
        </p:nvSpPr>
        <p:spPr>
          <a:xfrm>
            <a:off x="4434840" y="209397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키트 목록 · 상세 · 도감 — hobbyDB 구조 그대로</a:t>
            </a:r>
            <a:endParaRPr lang="ko-KR" altLang="en-US" sz="1000" dirty="0"/>
          </a:p>
        </p:txBody>
      </p:sp>
      <p:sp>
        <p:nvSpPr>
          <p:cNvPr id="18" name="Shape 14"/>
          <p:cNvSpPr/>
          <p:nvPr/>
        </p:nvSpPr>
        <p:spPr>
          <a:xfrm>
            <a:off x="3154680" y="2613660"/>
            <a:ext cx="182880" cy="182880"/>
          </a:xfrm>
          <a:prstGeom prst="ellipse">
            <a:avLst/>
          </a:prstGeom>
          <a:solidFill>
            <a:srgbClr val="FFFFFF"/>
          </a:solidFill>
          <a:ln w="25400">
            <a:solidFill>
              <a:srgbClr val="1C86D9"/>
            </a:solidFill>
            <a:prstDash val="solid"/>
          </a:ln>
        </p:spPr>
      </p:sp>
      <p:sp>
        <p:nvSpPr>
          <p:cNvPr id="19" name="Text 15"/>
          <p:cNvSpPr txBox="1"/>
          <p:nvPr/>
        </p:nvSpPr>
        <p:spPr>
          <a:xfrm>
            <a:off x="3520440" y="256794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오후</a:t>
            </a:r>
            <a:endParaRPr lang="ko-KR" altLang="en-US" sz="1100" dirty="0"/>
          </a:p>
        </p:txBody>
      </p:sp>
      <p:sp>
        <p:nvSpPr>
          <p:cNvPr id="20" name="Text 16"/>
          <p:cNvSpPr txBox="1"/>
          <p:nvPr/>
        </p:nvSpPr>
        <p:spPr>
          <a:xfrm>
            <a:off x="4434840" y="256794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하단 탭 · 내 채널 바 · 흑백</a:t>
            </a:r>
            <a:endParaRPr lang="ko-KR" altLang="en-US" sz="1250" dirty="0"/>
          </a:p>
        </p:txBody>
      </p:sp>
      <p:sp>
        <p:nvSpPr>
          <p:cNvPr id="21" name="Text 17"/>
          <p:cNvSpPr txBox="1"/>
          <p:nvPr/>
        </p:nvSpPr>
        <p:spPr>
          <a:xfrm>
            <a:off x="4434840" y="283311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홈 = 공식 예고 배너 + 가로 줄</a:t>
            </a:r>
            <a:endParaRPr lang="ko-KR" altLang="en-US" sz="1000" dirty="0"/>
          </a:p>
        </p:txBody>
      </p:sp>
      <p:sp>
        <p:nvSpPr>
          <p:cNvPr id="22" name="Shape 18"/>
          <p:cNvSpPr/>
          <p:nvPr/>
        </p:nvSpPr>
        <p:spPr>
          <a:xfrm>
            <a:off x="3154680" y="3352800"/>
            <a:ext cx="182880" cy="182880"/>
          </a:xfrm>
          <a:prstGeom prst="ellipse">
            <a:avLst/>
          </a:prstGeom>
          <a:solidFill>
            <a:srgbClr val="FFFFFF"/>
          </a:solidFill>
          <a:ln w="25400">
            <a:solidFill>
              <a:srgbClr val="1C86D9"/>
            </a:solidFill>
            <a:prstDash val="solid"/>
          </a:ln>
        </p:spPr>
      </p:sp>
      <p:sp>
        <p:nvSpPr>
          <p:cNvPr id="23" name="Text 19"/>
          <p:cNvSpPr txBox="1"/>
          <p:nvPr/>
        </p:nvSpPr>
        <p:spPr>
          <a:xfrm>
            <a:off x="3520440" y="330708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저녁</a:t>
            </a:r>
            <a:endParaRPr lang="ko-KR" altLang="en-US" sz="1100" dirty="0"/>
          </a:p>
        </p:txBody>
      </p:sp>
      <p:sp>
        <p:nvSpPr>
          <p:cNvPr id="24" name="Text 20"/>
          <p:cNvSpPr txBox="1"/>
          <p:nvPr/>
        </p:nvSpPr>
        <p:spPr>
          <a:xfrm>
            <a:off x="4434840" y="330708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상세 · 검색 · 카메라 · 컬렉션 · 캘린더</a:t>
            </a:r>
            <a:endParaRPr lang="ko-KR" altLang="en-US" sz="1250" dirty="0"/>
          </a:p>
        </p:txBody>
      </p:sp>
      <p:sp>
        <p:nvSpPr>
          <p:cNvPr id="25" name="Text 21"/>
          <p:cNvSpPr txBox="1"/>
          <p:nvPr/>
        </p:nvSpPr>
        <p:spPr>
          <a:xfrm>
            <a:off x="4434840" y="357225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정가 아래 시세 한 줄 · 아래 고정 버튼</a:t>
            </a:r>
            <a:endParaRPr lang="ko-KR" altLang="en-US" sz="1000" dirty="0"/>
          </a:p>
        </p:txBody>
      </p:sp>
      <p:sp>
        <p:nvSpPr>
          <p:cNvPr id="26" name="Shape 22"/>
          <p:cNvSpPr/>
          <p:nvPr/>
        </p:nvSpPr>
        <p:spPr>
          <a:xfrm>
            <a:off x="3154680" y="4091940"/>
            <a:ext cx="182880" cy="182880"/>
          </a:xfrm>
          <a:prstGeom prst="ellipse">
            <a:avLst/>
          </a:prstGeom>
          <a:solidFill>
            <a:srgbClr val="FFFFFF"/>
          </a:solidFill>
          <a:ln w="25400">
            <a:solidFill>
              <a:srgbClr val="1C86D9"/>
            </a:solidFill>
            <a:prstDash val="solid"/>
          </a:ln>
        </p:spPr>
      </p:sp>
      <p:sp>
        <p:nvSpPr>
          <p:cNvPr id="27" name="Text 23"/>
          <p:cNvSpPr txBox="1"/>
          <p:nvPr/>
        </p:nvSpPr>
        <p:spPr>
          <a:xfrm>
            <a:off x="3520440" y="404622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밤</a:t>
            </a:r>
            <a:endParaRPr lang="ko-KR" altLang="en-US" sz="1100" dirty="0"/>
          </a:p>
        </p:txBody>
      </p:sp>
      <p:sp>
        <p:nvSpPr>
          <p:cNvPr id="28" name="Text 24"/>
          <p:cNvSpPr txBox="1"/>
          <p:nvPr/>
        </p:nvSpPr>
        <p:spPr>
          <a:xfrm>
            <a:off x="4434840" y="404622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좋아요 · 구매함 · 도감 레벨 · 친구 서랍</a:t>
            </a:r>
            <a:endParaRPr lang="ko-KR" altLang="en-US" sz="1250" dirty="0"/>
          </a:p>
        </p:txBody>
      </p:sp>
      <p:sp>
        <p:nvSpPr>
          <p:cNvPr id="29" name="Text 25"/>
          <p:cNvSpPr txBox="1"/>
          <p:nvPr/>
        </p:nvSpPr>
        <p:spPr>
          <a:xfrm>
            <a:off x="4434840" y="431139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전체 목록 · 필터 패널 · 반반 화면</a:t>
            </a:r>
            <a:endParaRPr lang="ko-KR" altLang="en-US" sz="1000" dirty="0"/>
          </a:p>
        </p:txBody>
      </p:sp>
      <p:sp>
        <p:nvSpPr>
          <p:cNvPr id="30" name="Shape 26"/>
          <p:cNvSpPr/>
          <p:nvPr/>
        </p:nvSpPr>
        <p:spPr>
          <a:xfrm>
            <a:off x="3154680" y="4831080"/>
            <a:ext cx="182880" cy="182880"/>
          </a:xfrm>
          <a:prstGeom prst="ellipse">
            <a:avLst/>
          </a:prstGeom>
          <a:solidFill>
            <a:srgbClr val="FFFFFF"/>
          </a:solidFill>
          <a:ln w="25400">
            <a:solidFill>
              <a:srgbClr val="1C86D9"/>
            </a:solidFill>
            <a:prstDash val="solid"/>
          </a:ln>
        </p:spPr>
      </p:sp>
      <p:sp>
        <p:nvSpPr>
          <p:cNvPr id="31" name="Text 27"/>
          <p:cNvSpPr txBox="1"/>
          <p:nvPr/>
        </p:nvSpPr>
        <p:spPr>
          <a:xfrm>
            <a:off x="3520440" y="478536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10/26</a:t>
            </a:r>
            <a:endParaRPr lang="ko-KR" altLang="en-US" sz="1100" dirty="0"/>
          </a:p>
        </p:txBody>
      </p:sp>
      <p:sp>
        <p:nvSpPr>
          <p:cNvPr id="32" name="Text 28"/>
          <p:cNvSpPr txBox="1"/>
          <p:nvPr/>
        </p:nvSpPr>
        <p:spPr>
          <a:xfrm>
            <a:off x="4434840" y="478536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AI 반론 반영</a:t>
            </a:r>
            <a:endParaRPr lang="ko-KR" altLang="en-US" sz="1250" dirty="0"/>
          </a:p>
        </p:txBody>
      </p:sp>
      <p:sp>
        <p:nvSpPr>
          <p:cNvPr id="33" name="Text 29"/>
          <p:cNvSpPr txBox="1"/>
          <p:nvPr/>
        </p:nvSpPr>
        <p:spPr>
          <a:xfrm>
            <a:off x="4434840" y="505053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표시 모양 하나로 · 색 둘 · 앱 전체 한 벌</a:t>
            </a:r>
            <a:endParaRPr lang="ko-KR" altLang="en-US" sz="1000" dirty="0"/>
          </a:p>
        </p:txBody>
      </p:sp>
      <p:sp>
        <p:nvSpPr>
          <p:cNvPr id="34" name="Shape 30"/>
          <p:cNvSpPr/>
          <p:nvPr/>
        </p:nvSpPr>
        <p:spPr>
          <a:xfrm>
            <a:off x="3154680" y="5570220"/>
            <a:ext cx="182880" cy="182880"/>
          </a:xfrm>
          <a:prstGeom prst="ellipse">
            <a:avLst/>
          </a:prstGeom>
          <a:solidFill>
            <a:srgbClr val="1C86D9"/>
          </a:solidFill>
          <a:ln w="25400">
            <a:solidFill>
              <a:srgbClr val="1C86D9"/>
            </a:solidFill>
            <a:prstDash val="solid"/>
          </a:ln>
        </p:spPr>
      </p:sp>
      <p:sp>
        <p:nvSpPr>
          <p:cNvPr id="35" name="Text 31"/>
          <p:cNvSpPr txBox="1"/>
          <p:nvPr/>
        </p:nvSpPr>
        <p:spPr>
          <a:xfrm>
            <a:off x="3520440" y="552450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10/29</a:t>
            </a:r>
            <a:endParaRPr lang="ko-KR" altLang="en-US" sz="1100" dirty="0"/>
          </a:p>
        </p:txBody>
      </p:sp>
      <p:sp>
        <p:nvSpPr>
          <p:cNvPr id="36" name="Text 32"/>
          <p:cNvSpPr txBox="1"/>
          <p:nvPr/>
        </p:nvSpPr>
        <p:spPr>
          <a:xfrm>
            <a:off x="4434840" y="552450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이름 Hobby Atlas</a:t>
            </a:r>
            <a:endParaRPr lang="ko-KR" altLang="en-US" sz="1250" dirty="0"/>
          </a:p>
        </p:txBody>
      </p:sp>
      <p:sp>
        <p:nvSpPr>
          <p:cNvPr id="37" name="Text 33"/>
          <p:cNvSpPr txBox="1"/>
          <p:nvPr/>
        </p:nvSpPr>
        <p:spPr>
          <a:xfrm>
            <a:off x="4434840" y="578967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브랜드마다 흩어진 정보를 한곳에</a:t>
            </a:r>
            <a:endParaRPr lang="ko-KR" altLang="en-US" sz="1000" dirty="0"/>
          </a:p>
        </p:txBody>
      </p:sp>
      <p:sp>
        <p:nvSpPr>
          <p:cNvPr id="38" name="Shape 34"/>
          <p:cNvSpPr/>
          <p:nvPr/>
        </p:nvSpPr>
        <p:spPr>
          <a:xfrm>
            <a:off x="9098280" y="3840480"/>
            <a:ext cx="411480" cy="0"/>
          </a:xfrm>
          <a:prstGeom prst="line">
            <a:avLst/>
          </a:prstGeom>
          <a:noFill/>
          <a:ln w="19050">
            <a:solidFill>
              <a:srgbClr val="1C86D9"/>
            </a:solidFill>
            <a:prstDash val="solid"/>
            <a:tailEnd type="triangle"/>
          </a:ln>
        </p:spPr>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1/3 — 왜 만들었나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4" name="Text 2"/>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50" dirty="0"/>
          </a:p>
        </p:txBody>
      </p:sp>
      <p:sp>
        <p:nvSpPr>
          <p:cNvPr id="5" name="Shape 3"/>
          <p:cNvSpPr/>
          <p:nvPr/>
        </p:nvSpPr>
        <p:spPr>
          <a:xfrm>
            <a:off x="548640"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6"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136465"/>
            <a:ext cx="1024128" cy="88758"/>
          </a:xfrm>
          <a:prstGeom prst="rect">
            <a:avLst/>
          </a:prstGeom>
        </p:spPr>
      </p:pic>
      <p:sp>
        <p:nvSpPr>
          <p:cNvPr id="7" name="Text 4"/>
          <p:cNvSpPr txBox="1"/>
          <p:nvPr/>
        </p:nvSpPr>
        <p:spPr>
          <a:xfrm>
            <a:off x="594360"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8" name="Shape 5"/>
          <p:cNvSpPr/>
          <p:nvPr/>
        </p:nvSpPr>
        <p:spPr>
          <a:xfrm>
            <a:off x="1947672"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9"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35832" y="1929384"/>
            <a:ext cx="522129" cy="502920"/>
          </a:xfrm>
          <a:prstGeom prst="rect">
            <a:avLst/>
          </a:prstGeom>
        </p:spPr>
      </p:pic>
      <p:sp>
        <p:nvSpPr>
          <p:cNvPr id="10" name="Text 6"/>
          <p:cNvSpPr txBox="1"/>
          <p:nvPr/>
        </p:nvSpPr>
        <p:spPr>
          <a:xfrm>
            <a:off x="1993392"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1" name="Shape 7"/>
          <p:cNvSpPr/>
          <p:nvPr/>
        </p:nvSpPr>
        <p:spPr>
          <a:xfrm>
            <a:off x="3346704"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2"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82698"/>
            <a:ext cx="1024128" cy="196291"/>
          </a:xfrm>
          <a:prstGeom prst="rect">
            <a:avLst/>
          </a:prstGeom>
        </p:spPr>
      </p:pic>
      <p:sp>
        <p:nvSpPr>
          <p:cNvPr id="13" name="Text 8"/>
          <p:cNvSpPr txBox="1"/>
          <p:nvPr/>
        </p:nvSpPr>
        <p:spPr>
          <a:xfrm>
            <a:off x="3392424"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4" name="Shape 9"/>
          <p:cNvSpPr/>
          <p:nvPr/>
        </p:nvSpPr>
        <p:spPr>
          <a:xfrm>
            <a:off x="4745736"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5"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73458"/>
            <a:ext cx="1024128" cy="414772"/>
          </a:xfrm>
          <a:prstGeom prst="rect">
            <a:avLst/>
          </a:prstGeom>
        </p:spPr>
      </p:pic>
      <p:sp>
        <p:nvSpPr>
          <p:cNvPr id="16" name="Text 10"/>
          <p:cNvSpPr txBox="1"/>
          <p:nvPr/>
        </p:nvSpPr>
        <p:spPr>
          <a:xfrm>
            <a:off x="4791456"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7" name="Shape 11"/>
          <p:cNvSpPr/>
          <p:nvPr/>
        </p:nvSpPr>
        <p:spPr>
          <a:xfrm>
            <a:off x="6144768"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8"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74423" y="1929384"/>
            <a:ext cx="439139" cy="502920"/>
          </a:xfrm>
          <a:prstGeom prst="rect">
            <a:avLst/>
          </a:prstGeom>
        </p:spPr>
      </p:pic>
      <p:sp>
        <p:nvSpPr>
          <p:cNvPr id="19" name="Text 12"/>
          <p:cNvSpPr txBox="1"/>
          <p:nvPr/>
        </p:nvSpPr>
        <p:spPr>
          <a:xfrm>
            <a:off x="6190488"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0" name="Text 13"/>
          <p:cNvSpPr txBox="1"/>
          <p:nvPr/>
        </p:nvSpPr>
        <p:spPr>
          <a:xfrm>
            <a:off x="548640" y="3054096"/>
            <a:ext cx="6949440" cy="256032"/>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50" dirty="0"/>
          </a:p>
        </p:txBody>
      </p:sp>
      <p:sp>
        <p:nvSpPr>
          <p:cNvPr id="21" name="Shape 14"/>
          <p:cNvSpPr/>
          <p:nvPr/>
        </p:nvSpPr>
        <p:spPr>
          <a:xfrm>
            <a:off x="548640"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2"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599993"/>
            <a:ext cx="1024128" cy="307238"/>
          </a:xfrm>
          <a:prstGeom prst="rect">
            <a:avLst/>
          </a:prstGeom>
        </p:spPr>
      </p:pic>
      <p:sp>
        <p:nvSpPr>
          <p:cNvPr id="23" name="Text 15"/>
          <p:cNvSpPr txBox="1"/>
          <p:nvPr/>
        </p:nvSpPr>
        <p:spPr>
          <a:xfrm>
            <a:off x="594360"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4" name="Shape 16"/>
          <p:cNvSpPr/>
          <p:nvPr/>
        </p:nvSpPr>
        <p:spPr>
          <a:xfrm>
            <a:off x="1947672"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5"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609381"/>
            <a:ext cx="1024128" cy="288463"/>
          </a:xfrm>
          <a:prstGeom prst="rect">
            <a:avLst/>
          </a:prstGeom>
        </p:spPr>
      </p:pic>
      <p:sp>
        <p:nvSpPr>
          <p:cNvPr id="26" name="Text 17"/>
          <p:cNvSpPr txBox="1"/>
          <p:nvPr/>
        </p:nvSpPr>
        <p:spPr>
          <a:xfrm>
            <a:off x="1993392"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7" name="Shape 18"/>
          <p:cNvSpPr/>
          <p:nvPr/>
        </p:nvSpPr>
        <p:spPr>
          <a:xfrm>
            <a:off x="3346704"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8"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37338" y="3502152"/>
            <a:ext cx="917179" cy="502920"/>
          </a:xfrm>
          <a:prstGeom prst="rect">
            <a:avLst/>
          </a:prstGeom>
        </p:spPr>
      </p:pic>
      <p:sp>
        <p:nvSpPr>
          <p:cNvPr id="29" name="Text 19"/>
          <p:cNvSpPr txBox="1"/>
          <p:nvPr/>
        </p:nvSpPr>
        <p:spPr>
          <a:xfrm>
            <a:off x="3392424"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0" name="Shape 20"/>
          <p:cNvSpPr/>
          <p:nvPr/>
        </p:nvSpPr>
        <p:spPr>
          <a:xfrm>
            <a:off x="4745736"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1"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673389"/>
            <a:ext cx="1024128" cy="160447"/>
          </a:xfrm>
          <a:prstGeom prst="rect">
            <a:avLst/>
          </a:prstGeom>
        </p:spPr>
      </p:pic>
      <p:sp>
        <p:nvSpPr>
          <p:cNvPr id="32" name="Text 21"/>
          <p:cNvSpPr txBox="1"/>
          <p:nvPr/>
        </p:nvSpPr>
        <p:spPr>
          <a:xfrm>
            <a:off x="4791456"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3" name="Shape 22"/>
          <p:cNvSpPr/>
          <p:nvPr/>
        </p:nvSpPr>
        <p:spPr>
          <a:xfrm>
            <a:off x="6144768"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4"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547080"/>
            <a:ext cx="1024128" cy="413065"/>
          </a:xfrm>
          <a:prstGeom prst="rect">
            <a:avLst/>
          </a:prstGeom>
        </p:spPr>
      </p:pic>
      <p:sp>
        <p:nvSpPr>
          <p:cNvPr id="35" name="Text 23"/>
          <p:cNvSpPr txBox="1"/>
          <p:nvPr/>
        </p:nvSpPr>
        <p:spPr>
          <a:xfrm>
            <a:off x="6190488"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6" name="Shape 24"/>
          <p:cNvSpPr/>
          <p:nvPr/>
        </p:nvSpPr>
        <p:spPr>
          <a:xfrm>
            <a:off x="548640" y="4754880"/>
            <a:ext cx="6949440" cy="1234440"/>
          </a:xfrm>
          <a:prstGeom prst="roundRect">
            <a:avLst>
              <a:gd name="adj" fmla="val 10370"/>
            </a:avLst>
          </a:prstGeom>
          <a:solidFill>
            <a:srgbClr val="F4F5F7"/>
          </a:solidFill>
          <a:ln/>
        </p:spPr>
      </p:sp>
      <p:sp>
        <p:nvSpPr>
          <p:cNvPr id="37" name="Text 25"/>
          <p:cNvSpPr txBox="1"/>
          <p:nvPr/>
        </p:nvSpPr>
        <p:spPr>
          <a:xfrm>
            <a:off x="777240" y="4864608"/>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프라모델 · 완성품 · 한정판 · 경품 · G.E.M. 사는 곳이 다 다르다</a:t>
            </a:r>
            <a:endParaRPr lang="ko-KR" altLang="en-US" sz="1300" dirty="0"/>
          </a:p>
        </p:txBody>
      </p:sp>
      <p:sp>
        <p:nvSpPr>
          <p:cNvPr id="38" name="Text 26"/>
          <p:cNvSpPr txBox="1"/>
          <p:nvPr/>
        </p:nvSpPr>
        <p:spPr>
          <a:xfrm>
            <a:off x="777240" y="5257800"/>
            <a:ext cx="6492240" cy="548640"/>
          </a:xfrm>
          <a:prstGeom prst="rect">
            <a:avLst/>
          </a:prstGeom>
          <a:noFill/>
          <a:ln/>
        </p:spPr>
        <p:txBody>
          <a:bodyPr wrap="square" lIns="0" tIns="0" rIns="0" bIns="0" rtlCol="0" anchor="ctr"/>
          <a:lstStyle/>
          <a:p>
            <a:pPr indent="0" marL="0">
              <a:buNone/>
            </a:pPr>
            <a:r>
              <a:rPr lang="ko-KR" altLang="en-US" sz="1400" b="1" dirty="0">
                <a:solidFill>
                  <a:srgbClr val="3D4148"/>
                </a:solidFill>
                <a:latin typeface="Malgun Gothic" pitchFamily="34" charset="0"/>
                <a:ea typeface="Malgun Gothic" pitchFamily="34" charset="-122"/>
                <a:cs typeface="Malgun Gothic" pitchFamily="34" charset="-120"/>
              </a:rPr>
              <a:t>호비 사이트  ·  TAMASHII  ·  프리미엄 반다이  ·  BANPRESTO  ·  MegaHouse</a:t>
            </a:r>
            <a:endParaRPr lang="ko-KR" altLang="en-US" sz="1400" dirty="0"/>
          </a:p>
        </p:txBody>
      </p:sp>
      <p:sp>
        <p:nvSpPr>
          <p:cNvPr id="39" name="Shape 27"/>
          <p:cNvSpPr/>
          <p:nvPr/>
        </p:nvSpPr>
        <p:spPr>
          <a:xfrm>
            <a:off x="7818120" y="1481328"/>
            <a:ext cx="3822192" cy="3063240"/>
          </a:xfrm>
          <a:prstGeom prst="roundRect">
            <a:avLst>
              <a:gd name="adj" fmla="val 417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Text 28"/>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41" name="Shape 29"/>
          <p:cNvSpPr/>
          <p:nvPr/>
        </p:nvSpPr>
        <p:spPr>
          <a:xfrm>
            <a:off x="8092440" y="2121408"/>
            <a:ext cx="292608" cy="292608"/>
          </a:xfrm>
          <a:prstGeom prst="ellipse">
            <a:avLst/>
          </a:prstGeom>
          <a:solidFill>
            <a:srgbClr val="D93F44"/>
          </a:solidFill>
          <a:ln/>
        </p:spPr>
      </p:sp>
      <p:sp>
        <p:nvSpPr>
          <p:cNvPr id="42" name="Text 30"/>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43" name="Text 31"/>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44" name="Text 32"/>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45" name="Shape 33"/>
          <p:cNvSpPr/>
          <p:nvPr/>
        </p:nvSpPr>
        <p:spPr>
          <a:xfrm>
            <a:off x="8092440" y="2907792"/>
            <a:ext cx="292608" cy="292608"/>
          </a:xfrm>
          <a:prstGeom prst="ellipse">
            <a:avLst/>
          </a:prstGeom>
          <a:solidFill>
            <a:srgbClr val="D93F44"/>
          </a:solidFill>
          <a:ln/>
        </p:spPr>
      </p:sp>
      <p:sp>
        <p:nvSpPr>
          <p:cNvPr id="46" name="Text 34"/>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47" name="Text 35"/>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48" name="Text 36"/>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묻힌다</a:t>
            </a:r>
            <a:endParaRPr lang="ko-KR" altLang="en-US" sz="1100" dirty="0"/>
          </a:p>
        </p:txBody>
      </p:sp>
      <p:sp>
        <p:nvSpPr>
          <p:cNvPr id="49" name="Shape 37"/>
          <p:cNvSpPr/>
          <p:nvPr/>
        </p:nvSpPr>
        <p:spPr>
          <a:xfrm>
            <a:off x="8092440" y="3694176"/>
            <a:ext cx="292608" cy="292608"/>
          </a:xfrm>
          <a:prstGeom prst="ellipse">
            <a:avLst/>
          </a:prstGeom>
          <a:solidFill>
            <a:srgbClr val="D93F44"/>
          </a:solidFill>
          <a:ln/>
        </p:spPr>
      </p:sp>
      <p:sp>
        <p:nvSpPr>
          <p:cNvPr id="50" name="Text 38"/>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51" name="Text 39"/>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52" name="Text 40"/>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발매일을 여기저기 돌며 확인</a:t>
            </a:r>
            <a:endParaRPr lang="ko-KR" altLang="en-US" sz="1100" dirty="0"/>
          </a:p>
        </p:txBody>
      </p:sp>
      <p:sp>
        <p:nvSpPr>
          <p:cNvPr id="53" name="Shape 41"/>
          <p:cNvSpPr/>
          <p:nvPr/>
        </p:nvSpPr>
        <p:spPr>
          <a:xfrm>
            <a:off x="7818120" y="4681728"/>
            <a:ext cx="3822192" cy="1307592"/>
          </a:xfrm>
          <a:prstGeom prst="roundRect">
            <a:avLst>
              <a:gd name="adj" fmla="val 9790"/>
            </a:avLst>
          </a:prstGeom>
          <a:solidFill>
            <a:srgbClr val="EAF4FC"/>
          </a:solidFill>
          <a:ln/>
        </p:spPr>
      </p:sp>
      <p:sp>
        <p:nvSpPr>
          <p:cNvPr id="54" name="Text 42"/>
          <p:cNvSpPr txBox="1"/>
          <p:nvPr/>
        </p:nvSpPr>
        <p:spPr>
          <a:xfrm>
            <a:off x="8092440" y="4791456"/>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55" name="Text 43"/>
          <p:cNvSpPr txBox="1"/>
          <p:nvPr/>
        </p:nvSpPr>
        <p:spPr>
          <a:xfrm>
            <a:off x="8092440" y="5065776"/>
            <a:ext cx="3337560" cy="82296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56" name="Text 44"/>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2/3 — 현행 분석 · 리뷰 근거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hobbyDB에 없는 기능 · 쓰기 불편한 점</a:t>
            </a:r>
            <a:endParaRPr lang="ko-KR" altLang="en-US" sz="2800" dirty="0"/>
          </a:p>
        </p:txBody>
      </p:sp>
      <p:sp>
        <p:nvSpPr>
          <p:cNvPr id="4" name="Shape 2"/>
          <p:cNvSpPr/>
          <p:nvPr/>
        </p:nvSpPr>
        <p:spPr>
          <a:xfrm>
            <a:off x="548640" y="1481328"/>
            <a:ext cx="3017520" cy="4617720"/>
          </a:xfrm>
          <a:prstGeom prst="roundRect">
            <a:avLst>
              <a:gd name="adj" fmla="val 4242"/>
            </a:avLst>
          </a:prstGeom>
          <a:solidFill>
            <a:srgbClr val="F4F5F7"/>
          </a:solidFill>
          <a:ln/>
        </p:spPr>
      </p:sp>
      <p:sp>
        <p:nvSpPr>
          <p:cNvPr id="5" name="Text 3"/>
          <p:cNvSpPr txBox="1"/>
          <p:nvPr/>
        </p:nvSpPr>
        <p:spPr>
          <a:xfrm>
            <a:off x="749808" y="1627632"/>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8,656개</a:t>
            </a:r>
            <a:endParaRPr lang="ko-KR" altLang="en-US" sz="1200" dirty="0"/>
          </a:p>
        </p:txBody>
      </p:sp>
      <p:sp>
        <p:nvSpPr>
          <p:cNvPr id="6" name="Text 4"/>
          <p:cNvSpPr txBox="1"/>
          <p:nvPr/>
        </p:nvSpPr>
        <p:spPr>
          <a:xfrm>
            <a:off x="749808" y="196596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★5</a:t>
            </a:r>
            <a:endParaRPr lang="ko-KR" altLang="en-US" sz="1000" dirty="0"/>
          </a:p>
        </p:txBody>
      </p:sp>
      <p:sp>
        <p:nvSpPr>
          <p:cNvPr id="7" name="Shape 5"/>
          <p:cNvSpPr/>
          <p:nvPr/>
        </p:nvSpPr>
        <p:spPr>
          <a:xfrm>
            <a:off x="1143000" y="2011680"/>
            <a:ext cx="1828800" cy="128016"/>
          </a:xfrm>
          <a:prstGeom prst="rect">
            <a:avLst/>
          </a:prstGeom>
          <a:solidFill>
            <a:srgbClr val="C9CDD2"/>
          </a:solidFill>
          <a:ln/>
        </p:spPr>
      </p:sp>
      <p:sp>
        <p:nvSpPr>
          <p:cNvPr id="8" name="Text 6"/>
          <p:cNvSpPr txBox="1"/>
          <p:nvPr/>
        </p:nvSpPr>
        <p:spPr>
          <a:xfrm>
            <a:off x="3017520" y="196596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7,690</a:t>
            </a:r>
            <a:endParaRPr lang="ko-KR" altLang="en-US" sz="900" dirty="0"/>
          </a:p>
        </p:txBody>
      </p:sp>
      <p:sp>
        <p:nvSpPr>
          <p:cNvPr id="9" name="Text 7"/>
          <p:cNvSpPr txBox="1"/>
          <p:nvPr/>
        </p:nvSpPr>
        <p:spPr>
          <a:xfrm>
            <a:off x="749808" y="224028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★4</a:t>
            </a:r>
            <a:endParaRPr lang="ko-KR" altLang="en-US" sz="1000" dirty="0"/>
          </a:p>
        </p:txBody>
      </p:sp>
      <p:sp>
        <p:nvSpPr>
          <p:cNvPr id="10" name="Shape 8"/>
          <p:cNvSpPr/>
          <p:nvPr/>
        </p:nvSpPr>
        <p:spPr>
          <a:xfrm>
            <a:off x="1143000" y="2286000"/>
            <a:ext cx="109395" cy="128016"/>
          </a:xfrm>
          <a:prstGeom prst="rect">
            <a:avLst/>
          </a:prstGeom>
          <a:solidFill>
            <a:srgbClr val="C9CDD2"/>
          </a:solidFill>
          <a:ln/>
        </p:spPr>
      </p:sp>
      <p:sp>
        <p:nvSpPr>
          <p:cNvPr id="11" name="Text 9"/>
          <p:cNvSpPr txBox="1"/>
          <p:nvPr/>
        </p:nvSpPr>
        <p:spPr>
          <a:xfrm>
            <a:off x="1298115" y="224028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460</a:t>
            </a:r>
            <a:endParaRPr lang="ko-KR" altLang="en-US" sz="900" dirty="0"/>
          </a:p>
        </p:txBody>
      </p:sp>
      <p:sp>
        <p:nvSpPr>
          <p:cNvPr id="12" name="Text 10"/>
          <p:cNvSpPr txBox="1"/>
          <p:nvPr/>
        </p:nvSpPr>
        <p:spPr>
          <a:xfrm>
            <a:off x="749808" y="251460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★3</a:t>
            </a:r>
            <a:endParaRPr lang="ko-KR" altLang="en-US" sz="1000" dirty="0"/>
          </a:p>
        </p:txBody>
      </p:sp>
      <p:sp>
        <p:nvSpPr>
          <p:cNvPr id="13" name="Shape 11"/>
          <p:cNvSpPr/>
          <p:nvPr/>
        </p:nvSpPr>
        <p:spPr>
          <a:xfrm>
            <a:off x="1143000" y="2560320"/>
            <a:ext cx="37813" cy="128016"/>
          </a:xfrm>
          <a:prstGeom prst="rect">
            <a:avLst/>
          </a:prstGeom>
          <a:solidFill>
            <a:srgbClr val="C9CDD2"/>
          </a:solidFill>
          <a:ln/>
        </p:spPr>
      </p:sp>
      <p:sp>
        <p:nvSpPr>
          <p:cNvPr id="14" name="Text 12"/>
          <p:cNvSpPr txBox="1"/>
          <p:nvPr/>
        </p:nvSpPr>
        <p:spPr>
          <a:xfrm>
            <a:off x="1226533" y="251460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159</a:t>
            </a:r>
            <a:endParaRPr lang="ko-KR" altLang="en-US" sz="900" dirty="0"/>
          </a:p>
        </p:txBody>
      </p:sp>
      <p:sp>
        <p:nvSpPr>
          <p:cNvPr id="15" name="Text 13"/>
          <p:cNvSpPr txBox="1"/>
          <p:nvPr/>
        </p:nvSpPr>
        <p:spPr>
          <a:xfrm>
            <a:off x="749808" y="278892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★2</a:t>
            </a:r>
            <a:endParaRPr lang="ko-KR" altLang="en-US" sz="1000" dirty="0"/>
          </a:p>
        </p:txBody>
      </p:sp>
      <p:sp>
        <p:nvSpPr>
          <p:cNvPr id="16" name="Shape 14"/>
          <p:cNvSpPr/>
          <p:nvPr/>
        </p:nvSpPr>
        <p:spPr>
          <a:xfrm>
            <a:off x="1143000" y="2834640"/>
            <a:ext cx="36576" cy="128016"/>
          </a:xfrm>
          <a:prstGeom prst="rect">
            <a:avLst/>
          </a:prstGeom>
          <a:solidFill>
            <a:srgbClr val="C9CDD2"/>
          </a:solidFill>
          <a:ln/>
        </p:spPr>
      </p:sp>
      <p:sp>
        <p:nvSpPr>
          <p:cNvPr id="17" name="Text 15"/>
          <p:cNvSpPr txBox="1"/>
          <p:nvPr/>
        </p:nvSpPr>
        <p:spPr>
          <a:xfrm>
            <a:off x="1225296" y="278892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70</a:t>
            </a:r>
            <a:endParaRPr lang="ko-KR" altLang="en-US" sz="900" dirty="0"/>
          </a:p>
        </p:txBody>
      </p:sp>
      <p:sp>
        <p:nvSpPr>
          <p:cNvPr id="18" name="Text 16"/>
          <p:cNvSpPr txBox="1"/>
          <p:nvPr/>
        </p:nvSpPr>
        <p:spPr>
          <a:xfrm>
            <a:off x="749808" y="306324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★1</a:t>
            </a:r>
            <a:endParaRPr lang="ko-KR" altLang="en-US" sz="1000" dirty="0"/>
          </a:p>
        </p:txBody>
      </p:sp>
      <p:sp>
        <p:nvSpPr>
          <p:cNvPr id="19" name="Shape 17"/>
          <p:cNvSpPr/>
          <p:nvPr/>
        </p:nvSpPr>
        <p:spPr>
          <a:xfrm>
            <a:off x="1143000" y="3108960"/>
            <a:ext cx="65875" cy="128016"/>
          </a:xfrm>
          <a:prstGeom prst="rect">
            <a:avLst/>
          </a:prstGeom>
          <a:solidFill>
            <a:srgbClr val="D93F44"/>
          </a:solidFill>
          <a:ln/>
        </p:spPr>
      </p:sp>
      <p:sp>
        <p:nvSpPr>
          <p:cNvPr id="20" name="Text 18"/>
          <p:cNvSpPr txBox="1"/>
          <p:nvPr/>
        </p:nvSpPr>
        <p:spPr>
          <a:xfrm>
            <a:off x="1254595" y="306324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277</a:t>
            </a:r>
            <a:endParaRPr lang="ko-KR" altLang="en-US" sz="900" dirty="0"/>
          </a:p>
        </p:txBody>
      </p:sp>
      <p:sp>
        <p:nvSpPr>
          <p:cNvPr id="21" name="Text 19"/>
          <p:cNvSpPr txBox="1"/>
          <p:nvPr/>
        </p:nvSpPr>
        <p:spPr>
          <a:xfrm>
            <a:off x="749808" y="3401568"/>
            <a:ext cx="2651760" cy="457200"/>
          </a:xfrm>
          <a:prstGeom prst="rect">
            <a:avLst/>
          </a:prstGeom>
          <a:noFill/>
          <a:ln/>
        </p:spPr>
        <p:txBody>
          <a:bodyPr wrap="square" lIns="0" tIns="0" rIns="0" bIns="0" rtlCol="0" anchor="t"/>
          <a:lstStyle/>
          <a:p>
            <a:pPr indent="0" marL="0">
              <a:buNone/>
            </a:pPr>
            <a:r>
              <a:rPr lang="ko-KR" altLang="en-US" sz="1050" b="1" dirty="0">
                <a:solidFill>
                  <a:srgbClr val="D93F44"/>
                </a:solidFill>
                <a:latin typeface="Malgun Gothic" pitchFamily="34" charset="0"/>
                <a:ea typeface="Malgun Gothic" pitchFamily="34" charset="-122"/>
                <a:cs typeface="Malgun Gothic" pitchFamily="34" charset="-120"/>
              </a:rPr>
              <a:t>★1이 ★2 + ★3보다 많다 — 한 번 막히면 떠난다</a:t>
            </a:r>
            <a:endParaRPr lang="ko-KR" altLang="en-US" sz="1050" dirty="0"/>
          </a:p>
        </p:txBody>
      </p:sp>
      <p:sp>
        <p:nvSpPr>
          <p:cNvPr id="22" name="Text 20"/>
          <p:cNvSpPr txBox="1"/>
          <p:nvPr/>
        </p:nvSpPr>
        <p:spPr>
          <a:xfrm>
            <a:off x="749808" y="3931920"/>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리뷰 유형</a:t>
            </a:r>
            <a:endParaRPr lang="ko-KR" altLang="en-US" sz="1200" dirty="0"/>
          </a:p>
        </p:txBody>
      </p:sp>
      <p:sp>
        <p:nvSpPr>
          <p:cNvPr id="23" name="Text 21"/>
          <p:cNvSpPr txBox="1"/>
          <p:nvPr/>
        </p:nvSpPr>
        <p:spPr>
          <a:xfrm>
            <a:off x="749808" y="422452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없는 기능</a:t>
            </a:r>
            <a:endParaRPr lang="ko-KR" altLang="en-US" sz="1050" dirty="0"/>
          </a:p>
        </p:txBody>
      </p:sp>
      <p:sp>
        <p:nvSpPr>
          <p:cNvPr id="24" name="Text 22"/>
          <p:cNvSpPr txBox="1"/>
          <p:nvPr/>
        </p:nvSpPr>
        <p:spPr>
          <a:xfrm>
            <a:off x="2834640" y="422452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5" name="Text 23"/>
          <p:cNvSpPr txBox="1"/>
          <p:nvPr/>
        </p:nvSpPr>
        <p:spPr>
          <a:xfrm>
            <a:off x="749808" y="449884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쓰기 불편 (유료 잠금 포함)</a:t>
            </a:r>
            <a:endParaRPr lang="ko-KR" altLang="en-US" sz="1050" dirty="0"/>
          </a:p>
        </p:txBody>
      </p:sp>
      <p:sp>
        <p:nvSpPr>
          <p:cNvPr id="26" name="Text 24"/>
          <p:cNvSpPr txBox="1"/>
          <p:nvPr/>
        </p:nvSpPr>
        <p:spPr>
          <a:xfrm>
            <a:off x="2834640" y="449884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7" name="Text 25"/>
          <p:cNvSpPr txBox="1"/>
          <p:nvPr/>
        </p:nvSpPr>
        <p:spPr>
          <a:xfrm>
            <a:off x="749808" y="4773168"/>
            <a:ext cx="2103120" cy="237744"/>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버그 · 광고 · 속도 — 이번엔 제외</a:t>
            </a:r>
            <a:endParaRPr lang="ko-KR" altLang="en-US" sz="1050" dirty="0"/>
          </a:p>
        </p:txBody>
      </p:sp>
      <p:sp>
        <p:nvSpPr>
          <p:cNvPr id="28" name="Text 26"/>
          <p:cNvSpPr txBox="1"/>
          <p:nvPr/>
        </p:nvSpPr>
        <p:spPr>
          <a:xfrm>
            <a:off x="2834640" y="4773168"/>
            <a:ext cx="548640" cy="237744"/>
          </a:xfrm>
          <a:prstGeom prst="rect">
            <a:avLst/>
          </a:prstGeom>
          <a:noFill/>
          <a:ln/>
        </p:spPr>
        <p:txBody>
          <a:bodyPr wrap="square" lIns="0" tIns="0" rIns="0" bIns="0" rtlCol="0" anchor="ctr"/>
          <a:lstStyle/>
          <a:p>
            <a:pPr algn="r" indent="0" marL="0">
              <a:buNone/>
            </a:pPr>
            <a:r>
              <a:rPr lang="ko-KR" altLang="en-US" sz="1050" b="1" dirty="0">
                <a:solidFill>
                  <a:srgbClr val="6B7078"/>
                </a:solidFill>
                <a:latin typeface="Malgun Gothic" pitchFamily="34" charset="0"/>
                <a:ea typeface="Malgun Gothic" pitchFamily="34" charset="-122"/>
                <a:cs typeface="Malgun Gothic" pitchFamily="34" charset="-120"/>
              </a:rPr>
              <a:t>—</a:t>
            </a:r>
            <a:endParaRPr lang="ko-KR" altLang="en-US" sz="1050" dirty="0"/>
          </a:p>
        </p:txBody>
      </p:sp>
      <p:sp>
        <p:nvSpPr>
          <p:cNvPr id="29" name="Text 27"/>
          <p:cNvSpPr txBox="1"/>
          <p:nvPr/>
        </p:nvSpPr>
        <p:spPr>
          <a:xfrm>
            <a:off x="749808" y="5440680"/>
            <a:ext cx="2651760" cy="548640"/>
          </a:xfrm>
          <a:prstGeom prst="rect">
            <a:avLst/>
          </a:prstGeom>
          <a:noFill/>
          <a:ln/>
        </p:spPr>
        <p:txBody>
          <a:bodyPr wrap="square" lIns="0" tIns="0" rIns="0" bIns="0" rtlCol="0" anchor="t"/>
          <a:lstStyle/>
          <a:p>
            <a:pPr indent="0" marL="0">
              <a:buNone/>
            </a:pPr>
            <a:r>
              <a:rPr lang="ko-KR" altLang="en-US" sz="1000" b="1" dirty="0">
                <a:solidFill>
                  <a:srgbClr val="12A07F"/>
                </a:solidFill>
                <a:latin typeface="Malgun Gothic" pitchFamily="34" charset="0"/>
                <a:ea typeface="Malgun Gothic" pitchFamily="34" charset="-122"/>
                <a:cs typeface="Malgun Gothic" pitchFamily="34" charset="-120"/>
              </a:rPr>
              <a:t>잘된 점  </a:t>
            </a:r>
            <a:pPr indent="0" marL="0">
              <a:buNone/>
            </a:pPr>
            <a:r>
              <a:rPr lang="ko-KR" altLang="en-US" sz="1000" dirty="0">
                <a:solidFill>
                  <a:srgbClr val="3D4148"/>
                </a:solidFill>
                <a:latin typeface="Malgun Gothic" pitchFamily="34" charset="0"/>
                <a:ea typeface="Malgun Gothic" pitchFamily="34" charset="-122"/>
                <a:cs typeface="Malgun Gothic" pitchFamily="34" charset="-120"/>
              </a:rPr>
              <a:t>P02 상자 사진 · 품번, P07 바코드 — v2도 지킨다</a:t>
            </a:r>
            <a:endParaRPr lang="ko-KR" altLang="en-US" sz="1000" dirty="0"/>
          </a:p>
        </p:txBody>
      </p:sp>
      <p:sp>
        <p:nvSpPr>
          <p:cNvPr id="30" name="Text 28"/>
          <p:cNvSpPr txBox="1"/>
          <p:nvPr/>
        </p:nvSpPr>
        <p:spPr>
          <a:xfrm>
            <a:off x="3794760" y="1481328"/>
            <a:ext cx="77724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   →   Hobby Atlas가 답하는 기능</a:t>
            </a:r>
            <a:endParaRPr lang="ko-KR" altLang="en-US" sz="1300" dirty="0"/>
          </a:p>
        </p:txBody>
      </p:sp>
      <p:sp>
        <p:nvSpPr>
          <p:cNvPr id="31" name="Shape 29"/>
          <p:cNvSpPr/>
          <p:nvPr/>
        </p:nvSpPr>
        <p:spPr>
          <a:xfrm>
            <a:off x="3794760" y="1828800"/>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Shape 30"/>
          <p:cNvSpPr/>
          <p:nvPr/>
        </p:nvSpPr>
        <p:spPr>
          <a:xfrm>
            <a:off x="3950208" y="1938528"/>
            <a:ext cx="1005840" cy="219456"/>
          </a:xfrm>
          <a:prstGeom prst="roundRect">
            <a:avLst>
              <a:gd name="adj" fmla="val 50000"/>
            </a:avLst>
          </a:prstGeom>
          <a:solidFill>
            <a:srgbClr val="D93F44"/>
          </a:solidFill>
          <a:ln/>
        </p:spPr>
      </p:sp>
      <p:sp>
        <p:nvSpPr>
          <p:cNvPr id="33" name="Text 31"/>
          <p:cNvSpPr txBox="1"/>
          <p:nvPr/>
        </p:nvSpPr>
        <p:spPr>
          <a:xfrm>
            <a:off x="3950208" y="1938528"/>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34" name="Text 32"/>
          <p:cNvSpPr txBox="1"/>
          <p:nvPr/>
        </p:nvSpPr>
        <p:spPr>
          <a:xfrm>
            <a:off x="5047488" y="1929384"/>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2022.11.06 · Google Play</a:t>
            </a:r>
            <a:endParaRPr lang="ko-KR" altLang="en-US" sz="900" dirty="0"/>
          </a:p>
        </p:txBody>
      </p:sp>
      <p:sp>
        <p:nvSpPr>
          <p:cNvPr id="35" name="Text 33"/>
          <p:cNvSpPr txBox="1"/>
          <p:nvPr/>
        </p:nvSpPr>
        <p:spPr>
          <a:xfrm>
            <a:off x="3950208" y="2212848"/>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150" dirty="0"/>
          </a:p>
        </p:txBody>
      </p:sp>
      <p:sp>
        <p:nvSpPr>
          <p:cNvPr id="36" name="Text 34"/>
          <p:cNvSpPr txBox="1"/>
          <p:nvPr/>
        </p:nvSpPr>
        <p:spPr>
          <a:xfrm>
            <a:off x="3950208" y="2487168"/>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050" dirty="0"/>
          </a:p>
        </p:txBody>
      </p:sp>
      <p:sp>
        <p:nvSpPr>
          <p:cNvPr id="37" name="Shape 35"/>
          <p:cNvSpPr/>
          <p:nvPr/>
        </p:nvSpPr>
        <p:spPr>
          <a:xfrm>
            <a:off x="8759952" y="2313432"/>
            <a:ext cx="292608" cy="0"/>
          </a:xfrm>
          <a:prstGeom prst="line">
            <a:avLst/>
          </a:prstGeom>
          <a:noFill/>
          <a:ln w="19050">
            <a:solidFill>
              <a:srgbClr val="1C86D9"/>
            </a:solidFill>
            <a:prstDash val="solid"/>
            <a:tailEnd type="triangle"/>
          </a:ln>
        </p:spPr>
      </p:sp>
      <p:sp>
        <p:nvSpPr>
          <p:cNvPr id="38" name="Shape 36"/>
          <p:cNvSpPr/>
          <p:nvPr/>
        </p:nvSpPr>
        <p:spPr>
          <a:xfrm>
            <a:off x="9144000" y="1901952"/>
            <a:ext cx="2496312" cy="822960"/>
          </a:xfrm>
          <a:prstGeom prst="roundRect">
            <a:avLst>
              <a:gd name="adj" fmla="val 11111"/>
            </a:avLst>
          </a:prstGeom>
          <a:solidFill>
            <a:srgbClr val="EAF4FC"/>
          </a:solidFill>
          <a:ln/>
        </p:spPr>
      </p:sp>
      <p:sp>
        <p:nvSpPr>
          <p:cNvPr id="39" name="Text 37"/>
          <p:cNvSpPr txBox="1"/>
          <p:nvPr/>
        </p:nvSpPr>
        <p:spPr>
          <a:xfrm>
            <a:off x="9281160" y="1901952"/>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내 IP 채널 바 · 작품별 필터</a:t>
            </a:r>
            <a:endParaRPr lang="ko-KR" altLang="en-US" sz="1200" dirty="0"/>
          </a:p>
        </p:txBody>
      </p:sp>
      <p:sp>
        <p:nvSpPr>
          <p:cNvPr id="40" name="Shape 38"/>
          <p:cNvSpPr/>
          <p:nvPr/>
        </p:nvSpPr>
        <p:spPr>
          <a:xfrm>
            <a:off x="3794760" y="2907792"/>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9"/>
          <p:cNvSpPr/>
          <p:nvPr/>
        </p:nvSpPr>
        <p:spPr>
          <a:xfrm>
            <a:off x="3950208" y="3017520"/>
            <a:ext cx="1005840" cy="219456"/>
          </a:xfrm>
          <a:prstGeom prst="roundRect">
            <a:avLst>
              <a:gd name="adj" fmla="val 50000"/>
            </a:avLst>
          </a:prstGeom>
          <a:solidFill>
            <a:srgbClr val="B86E00"/>
          </a:solidFill>
          <a:ln/>
        </p:spPr>
      </p:sp>
      <p:sp>
        <p:nvSpPr>
          <p:cNvPr id="42" name="Text 40"/>
          <p:cNvSpPr txBox="1"/>
          <p:nvPr/>
        </p:nvSpPr>
        <p:spPr>
          <a:xfrm>
            <a:off x="3950208" y="3017520"/>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43" name="Text 41"/>
          <p:cNvSpPr txBox="1"/>
          <p:nvPr/>
        </p:nvSpPr>
        <p:spPr>
          <a:xfrm>
            <a:off x="5047488" y="3008376"/>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★5 · 2025.01.26 · Google Play</a:t>
            </a:r>
            <a:endParaRPr lang="ko-KR" altLang="en-US" sz="900" dirty="0"/>
          </a:p>
        </p:txBody>
      </p:sp>
      <p:sp>
        <p:nvSpPr>
          <p:cNvPr id="44" name="Text 42"/>
          <p:cNvSpPr txBox="1"/>
          <p:nvPr/>
        </p:nvSpPr>
        <p:spPr>
          <a:xfrm>
            <a:off x="3950208" y="3291840"/>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150" dirty="0"/>
          </a:p>
        </p:txBody>
      </p:sp>
      <p:sp>
        <p:nvSpPr>
          <p:cNvPr id="45" name="Text 43"/>
          <p:cNvSpPr txBox="1"/>
          <p:nvPr/>
        </p:nvSpPr>
        <p:spPr>
          <a:xfrm>
            <a:off x="3950208" y="3566160"/>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050" dirty="0"/>
          </a:p>
        </p:txBody>
      </p:sp>
      <p:sp>
        <p:nvSpPr>
          <p:cNvPr id="46" name="Shape 44"/>
          <p:cNvSpPr/>
          <p:nvPr/>
        </p:nvSpPr>
        <p:spPr>
          <a:xfrm>
            <a:off x="8759952" y="3392424"/>
            <a:ext cx="292608" cy="0"/>
          </a:xfrm>
          <a:prstGeom prst="line">
            <a:avLst/>
          </a:prstGeom>
          <a:noFill/>
          <a:ln w="19050">
            <a:solidFill>
              <a:srgbClr val="1C86D9"/>
            </a:solidFill>
            <a:prstDash val="solid"/>
            <a:tailEnd type="triangle"/>
          </a:ln>
        </p:spPr>
      </p:sp>
      <p:sp>
        <p:nvSpPr>
          <p:cNvPr id="47" name="Shape 45"/>
          <p:cNvSpPr/>
          <p:nvPr/>
        </p:nvSpPr>
        <p:spPr>
          <a:xfrm>
            <a:off x="9144000" y="2980944"/>
            <a:ext cx="2496312" cy="822960"/>
          </a:xfrm>
          <a:prstGeom prst="roundRect">
            <a:avLst>
              <a:gd name="adj" fmla="val 11111"/>
            </a:avLst>
          </a:prstGeom>
          <a:solidFill>
            <a:srgbClr val="EAF4FC"/>
          </a:solidFill>
          <a:ln/>
        </p:spPr>
      </p:sp>
      <p:sp>
        <p:nvSpPr>
          <p:cNvPr id="48" name="Text 46"/>
          <p:cNvSpPr txBox="1"/>
          <p:nvPr/>
        </p:nvSpPr>
        <p:spPr>
          <a:xfrm>
            <a:off x="9281160" y="2980944"/>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발매 캘린더</a:t>
            </a:r>
            <a:endParaRPr lang="ko-KR" altLang="en-US" sz="1200" dirty="0"/>
          </a:p>
        </p:txBody>
      </p:sp>
      <p:sp>
        <p:nvSpPr>
          <p:cNvPr id="49" name="Shape 47"/>
          <p:cNvSpPr/>
          <p:nvPr/>
        </p:nvSpPr>
        <p:spPr>
          <a:xfrm>
            <a:off x="3794760" y="3986784"/>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0" name="Shape 48"/>
          <p:cNvSpPr/>
          <p:nvPr/>
        </p:nvSpPr>
        <p:spPr>
          <a:xfrm>
            <a:off x="3950208" y="4096512"/>
            <a:ext cx="1005840" cy="219456"/>
          </a:xfrm>
          <a:prstGeom prst="roundRect">
            <a:avLst>
              <a:gd name="adj" fmla="val 50000"/>
            </a:avLst>
          </a:prstGeom>
          <a:solidFill>
            <a:srgbClr val="B86E00"/>
          </a:solidFill>
          <a:ln/>
        </p:spPr>
      </p:sp>
      <p:sp>
        <p:nvSpPr>
          <p:cNvPr id="51" name="Text 49"/>
          <p:cNvSpPr txBox="1"/>
          <p:nvPr/>
        </p:nvSpPr>
        <p:spPr>
          <a:xfrm>
            <a:off x="3950208" y="4096512"/>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52" name="Text 50"/>
          <p:cNvSpPr txBox="1"/>
          <p:nvPr/>
        </p:nvSpPr>
        <p:spPr>
          <a:xfrm>
            <a:off x="5047488" y="4087368"/>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★3 · 2021.09.17 · App Store US</a:t>
            </a:r>
            <a:endParaRPr lang="ko-KR" altLang="en-US" sz="900" dirty="0"/>
          </a:p>
        </p:txBody>
      </p:sp>
      <p:sp>
        <p:nvSpPr>
          <p:cNvPr id="53" name="Text 51"/>
          <p:cNvSpPr txBox="1"/>
          <p:nvPr/>
        </p:nvSpPr>
        <p:spPr>
          <a:xfrm>
            <a:off x="3950208" y="4370832"/>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"could be made much easier to add and remove items from your collection"</a:t>
            </a:r>
            <a:endParaRPr lang="ko-KR" altLang="en-US" sz="1150" dirty="0"/>
          </a:p>
        </p:txBody>
      </p:sp>
      <p:sp>
        <p:nvSpPr>
          <p:cNvPr id="54" name="Text 52"/>
          <p:cNvSpPr txBox="1"/>
          <p:nvPr/>
        </p:nvSpPr>
        <p:spPr>
          <a:xfrm>
            <a:off x="3950208" y="4645152"/>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컬렉션에 넣고 빼기가 번거롭다</a:t>
            </a:r>
            <a:endParaRPr lang="ko-KR" altLang="en-US" sz="1050" dirty="0"/>
          </a:p>
        </p:txBody>
      </p:sp>
      <p:sp>
        <p:nvSpPr>
          <p:cNvPr id="55" name="Shape 53"/>
          <p:cNvSpPr/>
          <p:nvPr/>
        </p:nvSpPr>
        <p:spPr>
          <a:xfrm>
            <a:off x="8759952" y="4471416"/>
            <a:ext cx="292608" cy="0"/>
          </a:xfrm>
          <a:prstGeom prst="line">
            <a:avLst/>
          </a:prstGeom>
          <a:noFill/>
          <a:ln w="19050">
            <a:solidFill>
              <a:srgbClr val="1C86D9"/>
            </a:solidFill>
            <a:prstDash val="solid"/>
            <a:tailEnd type="triangle"/>
          </a:ln>
        </p:spPr>
      </p:sp>
      <p:sp>
        <p:nvSpPr>
          <p:cNvPr id="56" name="Shape 54"/>
          <p:cNvSpPr/>
          <p:nvPr/>
        </p:nvSpPr>
        <p:spPr>
          <a:xfrm>
            <a:off x="9144000" y="4059936"/>
            <a:ext cx="2496312" cy="822960"/>
          </a:xfrm>
          <a:prstGeom prst="roundRect">
            <a:avLst>
              <a:gd name="adj" fmla="val 11111"/>
            </a:avLst>
          </a:prstGeom>
          <a:solidFill>
            <a:srgbClr val="EAF4FC"/>
          </a:solidFill>
          <a:ln/>
        </p:spPr>
      </p:sp>
      <p:sp>
        <p:nvSpPr>
          <p:cNvPr id="57" name="Text 55"/>
          <p:cNvSpPr txBox="1"/>
          <p:nvPr/>
        </p:nvSpPr>
        <p:spPr>
          <a:xfrm>
            <a:off x="9281160" y="4059936"/>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리본 한 번 · 휴지통</a:t>
            </a:r>
            <a:endParaRPr lang="ko-KR" altLang="en-US" sz="1200" dirty="0"/>
          </a:p>
        </p:txBody>
      </p:sp>
      <p:sp>
        <p:nvSpPr>
          <p:cNvPr id="58" name="Shape 56"/>
          <p:cNvSpPr/>
          <p:nvPr/>
        </p:nvSpPr>
        <p:spPr>
          <a:xfrm>
            <a:off x="3794760" y="5065776"/>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9" name="Shape 57"/>
          <p:cNvSpPr/>
          <p:nvPr/>
        </p:nvSpPr>
        <p:spPr>
          <a:xfrm>
            <a:off x="3950208" y="5175504"/>
            <a:ext cx="1005840" cy="219456"/>
          </a:xfrm>
          <a:prstGeom prst="roundRect">
            <a:avLst>
              <a:gd name="adj" fmla="val 50000"/>
            </a:avLst>
          </a:prstGeom>
          <a:solidFill>
            <a:srgbClr val="D93F44"/>
          </a:solidFill>
          <a:ln/>
        </p:spPr>
      </p:sp>
      <p:sp>
        <p:nvSpPr>
          <p:cNvPr id="60" name="Text 58"/>
          <p:cNvSpPr txBox="1"/>
          <p:nvPr/>
        </p:nvSpPr>
        <p:spPr>
          <a:xfrm>
            <a:off x="3950208" y="5175504"/>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61" name="Text 59"/>
          <p:cNvSpPr txBox="1"/>
          <p:nvPr/>
        </p:nvSpPr>
        <p:spPr>
          <a:xfrm>
            <a:off x="5047488" y="5166360"/>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2021.04.29 · App Store CA</a:t>
            </a:r>
            <a:endParaRPr lang="ko-KR" altLang="en-US" sz="900" dirty="0"/>
          </a:p>
        </p:txBody>
      </p:sp>
      <p:sp>
        <p:nvSpPr>
          <p:cNvPr id="62" name="Text 60"/>
          <p:cNvSpPr txBox="1"/>
          <p:nvPr/>
        </p:nvSpPr>
        <p:spPr>
          <a:xfrm>
            <a:off x="3950208" y="5449824"/>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 wish there was a Canadian Version showing PPG in CDN$ dollars"</a:t>
            </a:r>
            <a:endParaRPr lang="ko-KR" altLang="en-US" sz="1150" dirty="0"/>
          </a:p>
        </p:txBody>
      </p:sp>
      <p:sp>
        <p:nvSpPr>
          <p:cNvPr id="63" name="Text 61"/>
          <p:cNvSpPr txBox="1"/>
          <p:nvPr/>
        </p:nvSpPr>
        <p:spPr>
          <a:xfrm>
            <a:off x="3950208" y="5724144"/>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자기 나라 통화 시세가 없다</a:t>
            </a:r>
            <a:endParaRPr lang="ko-KR" altLang="en-US" sz="1050" dirty="0"/>
          </a:p>
        </p:txBody>
      </p:sp>
      <p:sp>
        <p:nvSpPr>
          <p:cNvPr id="64" name="Shape 62"/>
          <p:cNvSpPr/>
          <p:nvPr/>
        </p:nvSpPr>
        <p:spPr>
          <a:xfrm>
            <a:off x="8759952" y="5550408"/>
            <a:ext cx="292608" cy="0"/>
          </a:xfrm>
          <a:prstGeom prst="line">
            <a:avLst/>
          </a:prstGeom>
          <a:noFill/>
          <a:ln w="19050">
            <a:solidFill>
              <a:srgbClr val="1C86D9"/>
            </a:solidFill>
            <a:prstDash val="solid"/>
            <a:tailEnd type="triangle"/>
          </a:ln>
        </p:spPr>
      </p:sp>
      <p:sp>
        <p:nvSpPr>
          <p:cNvPr id="65" name="Shape 63"/>
          <p:cNvSpPr/>
          <p:nvPr/>
        </p:nvSpPr>
        <p:spPr>
          <a:xfrm>
            <a:off x="9144000" y="5138928"/>
            <a:ext cx="2496312" cy="822960"/>
          </a:xfrm>
          <a:prstGeom prst="roundRect">
            <a:avLst>
              <a:gd name="adj" fmla="val 11111"/>
            </a:avLst>
          </a:prstGeom>
          <a:solidFill>
            <a:srgbClr val="EAF4FC"/>
          </a:solidFill>
          <a:ln/>
        </p:spPr>
      </p:sp>
      <p:sp>
        <p:nvSpPr>
          <p:cNvPr id="66" name="Text 64"/>
          <p:cNvSpPr txBox="1"/>
          <p:nvPr/>
        </p:nvSpPr>
        <p:spPr>
          <a:xfrm>
            <a:off x="9281160" y="5138928"/>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일본 정가 + 국내 시세(원)</a:t>
            </a:r>
            <a:endParaRPr lang="ko-KR" altLang="en-US" sz="1200" dirty="0"/>
          </a:p>
        </p:txBody>
      </p:sp>
      <p:sp>
        <p:nvSpPr>
          <p:cNvPr id="67" name="Text 65"/>
          <p:cNvSpPr txBox="1"/>
          <p:nvPr/>
        </p:nvSpPr>
        <p:spPr>
          <a:xfrm>
            <a:off x="3794760" y="6172200"/>
            <a:ext cx="7772400" cy="201168"/>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리뷰는 원문 구절 · 작성자 이름 지움 · 수업 목적 인용 · 버그 · 광고 리뷰는 이번 분석에서 뺐다</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3/3 — 저니 감정 최저점 · 근본 원인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500" b="1" dirty="0">
                <a:solidFill>
                  <a:srgbClr val="111111"/>
                </a:solidFill>
                <a:latin typeface="Malgun Gothic" pitchFamily="34" charset="0"/>
                <a:ea typeface="Malgun Gothic" pitchFamily="34" charset="-122"/>
                <a:cs typeface="Malgun Gothic" pitchFamily="34" charset="-120"/>
              </a:rPr>
              <a:t>근본 원인: 화면이 ‘내가 하는 일의 순서’로 짜여 있지 않다</a:t>
            </a:r>
            <a:endParaRPr lang="ko-KR" altLang="en-US" sz="2500" dirty="0"/>
          </a:p>
        </p:txBody>
      </p:sp>
      <p:sp>
        <p:nvSpPr>
          <p:cNvPr id="4" name="Shape 2"/>
          <p:cNvSpPr/>
          <p:nvPr/>
        </p:nvSpPr>
        <p:spPr>
          <a:xfrm>
            <a:off x="548640" y="1481328"/>
            <a:ext cx="11091672" cy="2103120"/>
          </a:xfrm>
          <a:prstGeom prst="roundRect">
            <a:avLst>
              <a:gd name="adj" fmla="val 6087"/>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768096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민준(23) · 수집 4년차 — 재판 소식을 보고 → 사서 → 도감에 기록하기까지</a:t>
            </a:r>
            <a:endParaRPr lang="ko-KR" altLang="en-US" sz="1300" dirty="0"/>
          </a:p>
        </p:txBody>
      </p:sp>
      <p:graphicFrame>
        <p:nvGraphicFramePr>
          <p:cNvPr id="6" name="Chart 0" descr=""/>
          <p:cNvGraphicFramePr/>
          <p:nvPr/>
        </p:nvGraphicFramePr>
        <p:xfrm>
          <a:off x="640080" y="1847088"/>
          <a:ext cx="7863840" cy="166420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732520" y="1645920"/>
            <a:ext cx="2697480" cy="1783080"/>
          </a:xfrm>
          <a:prstGeom prst="roundRect">
            <a:avLst>
              <a:gd name="adj" fmla="val 6154"/>
            </a:avLst>
          </a:prstGeom>
          <a:solidFill>
            <a:srgbClr val="FCEDED"/>
          </a:solidFill>
          <a:ln/>
        </p:spPr>
      </p:sp>
      <p:sp>
        <p:nvSpPr>
          <p:cNvPr id="8" name="Text 5"/>
          <p:cNvSpPr txBox="1"/>
          <p:nvPr/>
        </p:nvSpPr>
        <p:spPr>
          <a:xfrm>
            <a:off x="8915400" y="1737360"/>
            <a:ext cx="2377440" cy="292608"/>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감정 최저점</a:t>
            </a:r>
            <a:endParaRPr lang="ko-KR" altLang="en-US" sz="1100" dirty="0"/>
          </a:p>
        </p:txBody>
      </p:sp>
      <p:sp>
        <p:nvSpPr>
          <p:cNvPr id="9" name="Text 6"/>
          <p:cNvSpPr txBox="1"/>
          <p:nvPr/>
        </p:nvSpPr>
        <p:spPr>
          <a:xfrm>
            <a:off x="8915400" y="2011680"/>
            <a:ext cx="2377440" cy="365760"/>
          </a:xfrm>
          <a:prstGeom prst="rect">
            <a:avLst/>
          </a:prstGeom>
          <a:noFill/>
          <a:ln/>
        </p:spPr>
        <p:txBody>
          <a:bodyPr wrap="square" lIns="0" tIns="0" rIns="0" bIns="0" rtlCol="0" anchor="t"/>
          <a:lstStyle/>
          <a:p>
            <a:pPr indent="0" marL="0">
              <a:buNone/>
            </a:pPr>
            <a:r>
              <a:rPr lang="ko-KR" altLang="en-US" sz="1600" b="1" dirty="0">
                <a:solidFill>
                  <a:srgbClr val="D93F44"/>
                </a:solidFill>
                <a:latin typeface="Malgun Gothic" pitchFamily="34" charset="0"/>
                <a:ea typeface="Malgun Gothic" pitchFamily="34" charset="-122"/>
                <a:cs typeface="Malgun Gothic" pitchFamily="34" charset="-120"/>
              </a:rPr>
              <a:t>③ 살지 판단 (−2)</a:t>
            </a:r>
            <a:endParaRPr lang="ko-KR" altLang="en-US" sz="1600" dirty="0"/>
          </a:p>
        </p:txBody>
      </p:sp>
      <p:sp>
        <p:nvSpPr>
          <p:cNvPr id="10" name="Text 7"/>
          <p:cNvSpPr txBox="1"/>
          <p:nvPr/>
        </p:nvSpPr>
        <p:spPr>
          <a:xfrm>
            <a:off x="8915400" y="2395728"/>
            <a:ext cx="2377440" cy="640080"/>
          </a:xfrm>
          <a:prstGeom prst="rect">
            <a:avLst/>
          </a:prstGeom>
          <a:noFill/>
          <a:ln/>
        </p:spPr>
        <p:txBody>
          <a:bodyPr wrap="square" lIns="0" tIns="0" rIns="0" bIns="0" rtlCol="0" anchor="t"/>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정가 · 시세 · 이미 가졌는지를 한곳에서 못 본다</a:t>
            </a:r>
            <a:endParaRPr lang="ko-KR" altLang="en-US" sz="1150" dirty="0"/>
          </a:p>
        </p:txBody>
      </p:sp>
      <p:sp>
        <p:nvSpPr>
          <p:cNvPr id="11" name="Text 8"/>
          <p:cNvSpPr txBox="1"/>
          <p:nvPr/>
        </p:nvSpPr>
        <p:spPr>
          <a:xfrm>
            <a:off x="8915400" y="3072384"/>
            <a:ext cx="2377440" cy="274320"/>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어긴 원칙 P07 · P08 · P10</a:t>
            </a:r>
            <a:endParaRPr lang="ko-KR" altLang="en-US" sz="1050" dirty="0"/>
          </a:p>
        </p:txBody>
      </p:sp>
      <p:sp>
        <p:nvSpPr>
          <p:cNvPr id="12" name="Text 9"/>
          <p:cNvSpPr txBox="1"/>
          <p:nvPr/>
        </p:nvSpPr>
        <p:spPr>
          <a:xfrm>
            <a:off x="548640" y="3721608"/>
            <a:ext cx="1371600" cy="329184"/>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피쉬본 6시각</a:t>
            </a:r>
            <a:endParaRPr lang="ko-KR" altLang="en-US" sz="1200" dirty="0"/>
          </a:p>
        </p:txBody>
      </p:sp>
      <p:sp>
        <p:nvSpPr>
          <p:cNvPr id="13" name="Shape 10"/>
          <p:cNvSpPr/>
          <p:nvPr/>
        </p:nvSpPr>
        <p:spPr>
          <a:xfrm>
            <a:off x="1920240" y="3721608"/>
            <a:ext cx="1371600" cy="329184"/>
          </a:xfrm>
          <a:prstGeom prst="roundRect">
            <a:avLst>
              <a:gd name="adj" fmla="val 50000"/>
            </a:avLst>
          </a:prstGeom>
          <a:solidFill>
            <a:srgbClr val="F4F5F7"/>
          </a:solidFill>
          <a:ln/>
        </p:spPr>
      </p:sp>
      <p:sp>
        <p:nvSpPr>
          <p:cNvPr id="14" name="Text 11"/>
          <p:cNvSpPr txBox="1"/>
          <p:nvPr/>
        </p:nvSpPr>
        <p:spPr>
          <a:xfrm>
            <a:off x="192024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p>
        </p:txBody>
      </p:sp>
      <p:sp>
        <p:nvSpPr>
          <p:cNvPr id="15" name="Shape 12"/>
          <p:cNvSpPr/>
          <p:nvPr/>
        </p:nvSpPr>
        <p:spPr>
          <a:xfrm>
            <a:off x="3383280" y="3721608"/>
            <a:ext cx="1965960" cy="329184"/>
          </a:xfrm>
          <a:prstGeom prst="roundRect">
            <a:avLst>
              <a:gd name="adj" fmla="val 50000"/>
            </a:avLst>
          </a:prstGeom>
          <a:solidFill>
            <a:srgbClr val="1C86D9"/>
          </a:solidFill>
          <a:ln/>
        </p:spPr>
      </p:sp>
      <p:sp>
        <p:nvSpPr>
          <p:cNvPr id="16" name="Text 13"/>
          <p:cNvSpPr txBox="1"/>
          <p:nvPr/>
        </p:nvSpPr>
        <p:spPr>
          <a:xfrm>
            <a:off x="3383280" y="3721608"/>
            <a:ext cx="1965960" cy="329184"/>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사용성 ← 우선순위</a:t>
            </a:r>
            <a:endParaRPr lang="ko-KR" altLang="en-US" sz="1100" dirty="0"/>
          </a:p>
        </p:txBody>
      </p:sp>
      <p:sp>
        <p:nvSpPr>
          <p:cNvPr id="17" name="Shape 14"/>
          <p:cNvSpPr/>
          <p:nvPr/>
        </p:nvSpPr>
        <p:spPr>
          <a:xfrm>
            <a:off x="5440680" y="3721608"/>
            <a:ext cx="1371600" cy="329184"/>
          </a:xfrm>
          <a:prstGeom prst="roundRect">
            <a:avLst>
              <a:gd name="adj" fmla="val 50000"/>
            </a:avLst>
          </a:prstGeom>
          <a:solidFill>
            <a:srgbClr val="F4F5F7"/>
          </a:solidFill>
          <a:ln/>
        </p:spPr>
      </p:sp>
      <p:sp>
        <p:nvSpPr>
          <p:cNvPr id="18" name="Text 15"/>
          <p:cNvSpPr txBox="1"/>
          <p:nvPr/>
        </p:nvSpPr>
        <p:spPr>
          <a:xfrm>
            <a:off x="544068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p>
        </p:txBody>
      </p:sp>
      <p:sp>
        <p:nvSpPr>
          <p:cNvPr id="19" name="Shape 16"/>
          <p:cNvSpPr/>
          <p:nvPr/>
        </p:nvSpPr>
        <p:spPr>
          <a:xfrm>
            <a:off x="6903720" y="3721608"/>
            <a:ext cx="1371600" cy="329184"/>
          </a:xfrm>
          <a:prstGeom prst="roundRect">
            <a:avLst>
              <a:gd name="adj" fmla="val 50000"/>
            </a:avLst>
          </a:prstGeom>
          <a:solidFill>
            <a:srgbClr val="F4F5F7"/>
          </a:solidFill>
          <a:ln/>
        </p:spPr>
      </p:sp>
      <p:sp>
        <p:nvSpPr>
          <p:cNvPr id="20" name="Text 17"/>
          <p:cNvSpPr txBox="1"/>
          <p:nvPr/>
        </p:nvSpPr>
        <p:spPr>
          <a:xfrm>
            <a:off x="690372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p>
        </p:txBody>
      </p:sp>
      <p:sp>
        <p:nvSpPr>
          <p:cNvPr id="21" name="Shape 18"/>
          <p:cNvSpPr/>
          <p:nvPr/>
        </p:nvSpPr>
        <p:spPr>
          <a:xfrm>
            <a:off x="8366760" y="3721608"/>
            <a:ext cx="1371600" cy="329184"/>
          </a:xfrm>
          <a:prstGeom prst="roundRect">
            <a:avLst>
              <a:gd name="adj" fmla="val 50000"/>
            </a:avLst>
          </a:prstGeom>
          <a:solidFill>
            <a:srgbClr val="F4F5F7"/>
          </a:solidFill>
          <a:ln/>
        </p:spPr>
      </p:sp>
      <p:sp>
        <p:nvSpPr>
          <p:cNvPr id="22" name="Text 19"/>
          <p:cNvSpPr txBox="1"/>
          <p:nvPr/>
        </p:nvSpPr>
        <p:spPr>
          <a:xfrm>
            <a:off x="836676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p>
        </p:txBody>
      </p:sp>
      <p:sp>
        <p:nvSpPr>
          <p:cNvPr id="23" name="Shape 20"/>
          <p:cNvSpPr/>
          <p:nvPr/>
        </p:nvSpPr>
        <p:spPr>
          <a:xfrm>
            <a:off x="9829800" y="3721608"/>
            <a:ext cx="1371600" cy="329184"/>
          </a:xfrm>
          <a:prstGeom prst="roundRect">
            <a:avLst>
              <a:gd name="adj" fmla="val 50000"/>
            </a:avLst>
          </a:prstGeom>
          <a:solidFill>
            <a:srgbClr val="F4F5F7"/>
          </a:solidFill>
          <a:ln/>
        </p:spPr>
      </p:sp>
      <p:sp>
        <p:nvSpPr>
          <p:cNvPr id="24" name="Text 21"/>
          <p:cNvSpPr txBox="1"/>
          <p:nvPr/>
        </p:nvSpPr>
        <p:spPr>
          <a:xfrm>
            <a:off x="9829800" y="3721608"/>
            <a:ext cx="1371600" cy="329184"/>
          </a:xfrm>
          <a:prstGeom prst="rect">
            <a:avLst/>
          </a:prstGeom>
          <a:noFill/>
          <a:ln/>
        </p:spPr>
        <p:txBody>
          <a:bodyPr wrap="square" lIns="0" tIns="0" rIns="0" bIns="0" rtlCol="0" anchor="ctr"/>
          <a:lstStyle/>
          <a:p>
            <a:pPr algn="ct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p>
        </p:txBody>
      </p:sp>
      <p:sp>
        <p:nvSpPr>
          <p:cNvPr id="25" name="Text 22"/>
          <p:cNvSpPr txBox="1"/>
          <p:nvPr/>
        </p:nvSpPr>
        <p:spPr>
          <a:xfrm>
            <a:off x="548640" y="4160520"/>
            <a:ext cx="109728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우선순위 “쓰기 불편하다”에서 출발</a:t>
            </a:r>
            <a:endParaRPr lang="ko-KR" altLang="en-US" sz="1300" dirty="0"/>
          </a:p>
        </p:txBody>
      </p:sp>
      <p:sp>
        <p:nvSpPr>
          <p:cNvPr id="26" name="Shape 23"/>
          <p:cNvSpPr/>
          <p:nvPr/>
        </p:nvSpPr>
        <p:spPr>
          <a:xfrm>
            <a:off x="548640" y="4462272"/>
            <a:ext cx="2578608" cy="868680"/>
          </a:xfrm>
          <a:prstGeom prst="roundRect">
            <a:avLst>
              <a:gd name="adj" fmla="val 10526"/>
            </a:avLst>
          </a:prstGeom>
          <a:solidFill>
            <a:srgbClr val="F4F5F7"/>
          </a:solidFill>
          <a:ln/>
        </p:spPr>
      </p:sp>
      <p:sp>
        <p:nvSpPr>
          <p:cNvPr id="27" name="Text 24"/>
          <p:cNvSpPr txBox="1"/>
          <p:nvPr/>
        </p:nvSpPr>
        <p:spPr>
          <a:xfrm>
            <a:off x="713232"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1</a:t>
            </a:r>
            <a:endParaRPr lang="ko-KR" altLang="en-US" sz="1050" dirty="0"/>
          </a:p>
        </p:txBody>
      </p:sp>
      <p:sp>
        <p:nvSpPr>
          <p:cNvPr id="28" name="Text 25"/>
          <p:cNvSpPr txBox="1"/>
          <p:nvPr/>
        </p:nvSpPr>
        <p:spPr>
          <a:xfrm>
            <a:off x="713232"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메뉴가 많고, 누를 때마다 다른 창이 열린다</a:t>
            </a:r>
            <a:endParaRPr lang="ko-KR" altLang="en-US" sz="1200" dirty="0"/>
          </a:p>
        </p:txBody>
      </p:sp>
      <p:sp>
        <p:nvSpPr>
          <p:cNvPr id="29" name="Shape 26"/>
          <p:cNvSpPr/>
          <p:nvPr/>
        </p:nvSpPr>
        <p:spPr>
          <a:xfrm>
            <a:off x="3163824" y="4892040"/>
            <a:ext cx="164592" cy="0"/>
          </a:xfrm>
          <a:prstGeom prst="line">
            <a:avLst/>
          </a:prstGeom>
          <a:noFill/>
          <a:ln w="19050">
            <a:solidFill>
              <a:srgbClr val="9AA0A6"/>
            </a:solidFill>
            <a:prstDash val="solid"/>
            <a:tailEnd type="triangle"/>
          </a:ln>
        </p:spPr>
      </p:sp>
      <p:sp>
        <p:nvSpPr>
          <p:cNvPr id="30" name="Shape 27"/>
          <p:cNvSpPr/>
          <p:nvPr/>
        </p:nvSpPr>
        <p:spPr>
          <a:xfrm>
            <a:off x="3364992" y="4462272"/>
            <a:ext cx="2578608" cy="868680"/>
          </a:xfrm>
          <a:prstGeom prst="roundRect">
            <a:avLst>
              <a:gd name="adj" fmla="val 10526"/>
            </a:avLst>
          </a:prstGeom>
          <a:solidFill>
            <a:srgbClr val="F4F5F7"/>
          </a:solidFill>
          <a:ln/>
        </p:spPr>
      </p:sp>
      <p:sp>
        <p:nvSpPr>
          <p:cNvPr id="31" name="Text 28"/>
          <p:cNvSpPr txBox="1"/>
          <p:nvPr/>
        </p:nvSpPr>
        <p:spPr>
          <a:xfrm>
            <a:off x="3529584"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2</a:t>
            </a:r>
            <a:endParaRPr lang="ko-KR" altLang="en-US" sz="1050" dirty="0"/>
          </a:p>
        </p:txBody>
      </p:sp>
      <p:sp>
        <p:nvSpPr>
          <p:cNvPr id="32" name="Text 29"/>
          <p:cNvSpPr txBox="1"/>
          <p:nvPr/>
        </p:nvSpPr>
        <p:spPr>
          <a:xfrm>
            <a:off x="3529584"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웹사이트 정보 구조를 앱에 그대로 넣었다</a:t>
            </a:r>
            <a:endParaRPr lang="ko-KR" altLang="en-US" sz="1200" dirty="0"/>
          </a:p>
        </p:txBody>
      </p:sp>
      <p:sp>
        <p:nvSpPr>
          <p:cNvPr id="33" name="Shape 30"/>
          <p:cNvSpPr/>
          <p:nvPr/>
        </p:nvSpPr>
        <p:spPr>
          <a:xfrm>
            <a:off x="5980176" y="4892040"/>
            <a:ext cx="164592" cy="0"/>
          </a:xfrm>
          <a:prstGeom prst="line">
            <a:avLst/>
          </a:prstGeom>
          <a:noFill/>
          <a:ln w="19050">
            <a:solidFill>
              <a:srgbClr val="9AA0A6"/>
            </a:solidFill>
            <a:prstDash val="solid"/>
            <a:tailEnd type="triangle"/>
          </a:ln>
        </p:spPr>
      </p:sp>
      <p:sp>
        <p:nvSpPr>
          <p:cNvPr id="34" name="Shape 31"/>
          <p:cNvSpPr/>
          <p:nvPr/>
        </p:nvSpPr>
        <p:spPr>
          <a:xfrm>
            <a:off x="6181344" y="4462272"/>
            <a:ext cx="2578608" cy="868680"/>
          </a:xfrm>
          <a:prstGeom prst="roundRect">
            <a:avLst>
              <a:gd name="adj" fmla="val 10526"/>
            </a:avLst>
          </a:prstGeom>
          <a:solidFill>
            <a:srgbClr val="F4F5F7"/>
          </a:solidFill>
          <a:ln/>
        </p:spPr>
      </p:sp>
      <p:sp>
        <p:nvSpPr>
          <p:cNvPr id="35" name="Text 32"/>
          <p:cNvSpPr txBox="1"/>
          <p:nvPr/>
        </p:nvSpPr>
        <p:spPr>
          <a:xfrm>
            <a:off x="6345936"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3</a:t>
            </a:r>
            <a:endParaRPr lang="ko-KR" altLang="en-US" sz="1050" dirty="0"/>
          </a:p>
        </p:txBody>
      </p:sp>
      <p:sp>
        <p:nvSpPr>
          <p:cNvPr id="36" name="Text 33"/>
          <p:cNvSpPr txBox="1"/>
          <p:nvPr/>
        </p:nvSpPr>
        <p:spPr>
          <a:xfrm>
            <a:off x="6345936"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하는 일이 아니라 데이터 종류로 화면을 나눴다</a:t>
            </a:r>
            <a:endParaRPr lang="ko-KR" altLang="en-US" sz="1200" dirty="0"/>
          </a:p>
        </p:txBody>
      </p:sp>
      <p:sp>
        <p:nvSpPr>
          <p:cNvPr id="37" name="Shape 34"/>
          <p:cNvSpPr/>
          <p:nvPr/>
        </p:nvSpPr>
        <p:spPr>
          <a:xfrm>
            <a:off x="8796528" y="4892040"/>
            <a:ext cx="164592" cy="0"/>
          </a:xfrm>
          <a:prstGeom prst="line">
            <a:avLst/>
          </a:prstGeom>
          <a:noFill/>
          <a:ln w="19050">
            <a:solidFill>
              <a:srgbClr val="9AA0A6"/>
            </a:solidFill>
            <a:prstDash val="solid"/>
            <a:tailEnd type="triangle"/>
          </a:ln>
        </p:spPr>
      </p:sp>
      <p:sp>
        <p:nvSpPr>
          <p:cNvPr id="38" name="Shape 35"/>
          <p:cNvSpPr/>
          <p:nvPr/>
        </p:nvSpPr>
        <p:spPr>
          <a:xfrm>
            <a:off x="8997696" y="4462272"/>
            <a:ext cx="2578608" cy="868680"/>
          </a:xfrm>
          <a:prstGeom prst="roundRect">
            <a:avLst>
              <a:gd name="adj" fmla="val 10526"/>
            </a:avLst>
          </a:prstGeom>
          <a:solidFill>
            <a:srgbClr val="F4F5F7"/>
          </a:solidFill>
          <a:ln/>
        </p:spPr>
      </p:sp>
      <p:sp>
        <p:nvSpPr>
          <p:cNvPr id="39" name="Text 36"/>
          <p:cNvSpPr txBox="1"/>
          <p:nvPr/>
        </p:nvSpPr>
        <p:spPr>
          <a:xfrm>
            <a:off x="9162288" y="4535424"/>
            <a:ext cx="228600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Why 4</a:t>
            </a:r>
            <a:endParaRPr lang="ko-KR" altLang="en-US" sz="1050" dirty="0"/>
          </a:p>
        </p:txBody>
      </p:sp>
      <p:sp>
        <p:nvSpPr>
          <p:cNvPr id="40" name="Text 37"/>
          <p:cNvSpPr txBox="1"/>
          <p:nvPr/>
        </p:nvSpPr>
        <p:spPr>
          <a:xfrm>
            <a:off x="9162288" y="4773168"/>
            <a:ext cx="2286000" cy="502920"/>
          </a:xfrm>
          <a:prstGeom prst="rect">
            <a:avLst/>
          </a:prstGeom>
          <a:noFill/>
          <a:ln/>
        </p:spPr>
        <p:txBody>
          <a:bodyPr wrap="square" lIns="0" tIns="0" rIns="0" bIns="0" rtlCol="0" anchor="t"/>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모든 분야를 한 메뉴로 — 내 관심 분야가 없다</a:t>
            </a:r>
            <a:endParaRPr lang="ko-KR" altLang="en-US" sz="1200" dirty="0"/>
          </a:p>
        </p:txBody>
      </p:sp>
      <p:sp>
        <p:nvSpPr>
          <p:cNvPr id="41" name="Shape 38"/>
          <p:cNvSpPr/>
          <p:nvPr/>
        </p:nvSpPr>
        <p:spPr>
          <a:xfrm>
            <a:off x="548640" y="5440680"/>
            <a:ext cx="11091672" cy="841248"/>
          </a:xfrm>
          <a:prstGeom prst="roundRect">
            <a:avLst>
              <a:gd name="adj" fmla="val 13043"/>
            </a:avLst>
          </a:prstGeom>
          <a:solidFill>
            <a:srgbClr val="EAF4FC"/>
          </a:solidFill>
          <a:ln/>
        </p:spPr>
      </p:sp>
      <p:sp>
        <p:nvSpPr>
          <p:cNvPr id="42" name="Text 39"/>
          <p:cNvSpPr txBox="1"/>
          <p:nvPr/>
        </p:nvSpPr>
        <p:spPr>
          <a:xfrm>
            <a:off x="777240" y="5522976"/>
            <a:ext cx="6766560" cy="237744"/>
          </a:xfrm>
          <a:prstGeom prst="rect">
            <a:avLst/>
          </a:prstGeom>
          <a:noFill/>
          <a:ln/>
        </p:spPr>
        <p:txBody>
          <a:bodyPr wrap="square" lIns="0" tIns="0" rIns="0" bIns="0" rtlCol="0" anchor="t"/>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근본 원인 (Why 5)</a:t>
            </a:r>
            <a:endParaRPr lang="ko-KR" altLang="en-US" sz="1050" dirty="0"/>
          </a:p>
        </p:txBody>
      </p:sp>
      <p:sp>
        <p:nvSpPr>
          <p:cNvPr id="43" name="Text 40"/>
          <p:cNvSpPr txBox="1"/>
          <p:nvPr/>
        </p:nvSpPr>
        <p:spPr>
          <a:xfrm>
            <a:off x="777240" y="5760720"/>
            <a:ext cx="6766560" cy="438912"/>
          </a:xfrm>
          <a:prstGeom prst="rect">
            <a:avLst/>
          </a:prstGeom>
          <a:noFill/>
          <a:ln/>
        </p:spPr>
        <p:txBody>
          <a:bodyPr wrap="square" lIns="0" tIns="0" rIns="0" bIns="0" rtlCol="0" anchor="ctr"/>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450" dirty="0"/>
          </a:p>
        </p:txBody>
      </p:sp>
      <p:sp>
        <p:nvSpPr>
          <p:cNvPr id="44" name="Text 41"/>
          <p:cNvSpPr txBox="1"/>
          <p:nvPr/>
        </p:nvSpPr>
        <p:spPr>
          <a:xfrm>
            <a:off x="7863840" y="5522976"/>
            <a:ext cx="3611880" cy="685800"/>
          </a:xfrm>
          <a:prstGeom prst="rect">
            <a:avLst/>
          </a:prstGeom>
          <a:noFill/>
          <a:ln/>
        </p:spPr>
        <p:txBody>
          <a:bodyPr wrap="square" lIns="0" tIns="0" rIns="0" bIns="0" rtlCol="0" anchor="ctr"/>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 v2  </a:t>
            </a:r>
            <a:pPr indent="0" marL="0">
              <a:buNone/>
            </a:pPr>
            <a:r>
              <a:rPr lang="ko-KR" altLang="en-US" sz="1200" dirty="0">
                <a:solidFill>
                  <a:srgbClr val="111111"/>
                </a:solidFill>
                <a:latin typeface="Malgun Gothic" pitchFamily="34" charset="0"/>
                <a:ea typeface="Malgun Gothic" pitchFamily="34" charset="-122"/>
                <a:cs typeface="Malgun Gothic" pitchFamily="34" charset="-120"/>
              </a:rPr>
              <a:t>위 = 내 채널 바 하나</a:t>
            </a:r>
            <a:endParaRPr lang="ko-KR" altLang="en-US" sz="1200" dirty="0"/>
          </a:p>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아래 탭 = 소식 · 찾기 · 발매 · 기록 순서</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1/4 · 홈 · 전체 목록</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 AI가 만든 목록 → 내가 다시 설계한 ‘내 채널 새 소식’</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hobbyDB를 따라 만든 키트 목록 → "내가 다시 설계할게"</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hom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상품 목록뿐</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“위아래로 나열하지 말고, 처음 시안 A 매거진이 좋아”</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5adf83d_hom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매거진형 — 큰 사진 + 태그</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5adf83d</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“옆으로 넘기는 사진 줄, 날짜 · 가격은 빼고 위엔 예고 그림”</a:t>
            </a:r>
            <a:endParaRPr lang="ko-KR" altLang="en-US" sz="1100" dirty="0"/>
          </a:p>
        </p:txBody>
      </p:sp>
      <p:sp>
        <p:nvSpPr>
          <p:cNvPr id="23" name="Shape 19"/>
          <p:cNvSpPr/>
          <p:nvPr/>
        </p:nvSpPr>
        <p:spPr>
          <a:xfrm>
            <a:off x="560206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b20d76f_home.png">    </p:cNvPr>
          <p:cNvPicPr>
            <a:picLocks noChangeAspect="1"/>
          </p:cNvPicPr>
          <p:nvPr/>
        </p:nvPicPr>
        <p:blipFill>
          <a:blip r:embed="rId3"/>
          <a:stretch>
            <a:fillRect/>
          </a:stretch>
        </p:blipFill>
        <p:spPr>
          <a:xfrm>
            <a:off x="5583777" y="2542032"/>
            <a:ext cx="1521111" cy="3291840"/>
          </a:xfrm>
          <a:prstGeom prst="rect">
            <a:avLst/>
          </a:prstGeom>
        </p:spPr>
      </p:pic>
      <p:sp>
        <p:nvSpPr>
          <p:cNvPr id="25" name="Shape 20"/>
          <p:cNvSpPr/>
          <p:nvPr/>
        </p:nvSpPr>
        <p:spPr>
          <a:xfrm>
            <a:off x="5047488" y="4151376"/>
            <a:ext cx="633794" cy="1609344"/>
          </a:xfrm>
          <a:prstGeom prst="roundRect">
            <a:avLst>
              <a:gd name="adj" fmla="val 6346"/>
            </a:avLst>
          </a:prstGeom>
          <a:solidFill>
            <a:srgbClr val="FFFFFF"/>
          </a:solidFill>
          <a:ln/>
          <a:effectLst>
            <a:outerShdw sx="100000" sy="100000" kx="0" ky="0" algn="bl" rotWithShape="0" blurRad="228600" dist="76200" dir="5400000">
              <a:srgbClr val="000000">
                <a:alpha val="18000"/>
              </a:srgbClr>
            </a:outerShdw>
          </a:effectLst>
        </p:spPr>
      </p:sp>
      <p:pic>
        <p:nvPicPr>
          <p:cNvPr id="26" name="Image 3" descr="C:\Users\Windows11\AppData\Local\Temp\claude\C--Users-Windows11-Desktop-New-folder--2-\a0c8a1d0-32ba-4ae6-9843-b5ebc69d925f\scratchpad\deck2/img/ref_psstore.png">    </p:cNvPr>
          <p:cNvPicPr>
            <a:picLocks noChangeAspect="1"/>
          </p:cNvPicPr>
          <p:nvPr/>
        </p:nvPicPr>
        <p:blipFill>
          <a:blip r:embed="rId4"/>
          <a:stretch>
            <a:fillRect/>
          </a:stretch>
        </p:blipFill>
        <p:spPr>
          <a:xfrm>
            <a:off x="5029200" y="4133088"/>
            <a:ext cx="670370" cy="1645920"/>
          </a:xfrm>
          <a:prstGeom prst="rect">
            <a:avLst/>
          </a:prstGeom>
        </p:spPr>
      </p:pic>
      <p:sp>
        <p:nvSpPr>
          <p:cNvPr id="27" name="Shape 21"/>
          <p:cNvSpPr/>
          <p:nvPr/>
        </p:nvSpPr>
        <p:spPr>
          <a:xfrm>
            <a:off x="5010912" y="3858768"/>
            <a:ext cx="1188720" cy="228600"/>
          </a:xfrm>
          <a:prstGeom prst="roundRect">
            <a:avLst>
              <a:gd name="adj" fmla="val 50000"/>
            </a:avLst>
          </a:prstGeom>
          <a:solidFill>
            <a:srgbClr val="111111"/>
          </a:solidFill>
          <a:ln/>
        </p:spPr>
      </p:sp>
      <p:sp>
        <p:nvSpPr>
          <p:cNvPr id="28" name="Text 22"/>
          <p:cNvSpPr txBox="1"/>
          <p:nvPr/>
        </p:nvSpPr>
        <p:spPr>
          <a:xfrm>
            <a:off x="5010912" y="3858768"/>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PS Store</a:t>
            </a:r>
            <a:endParaRPr lang="ko-KR" altLang="en-US" sz="850" dirty="0"/>
          </a:p>
        </p:txBody>
      </p:sp>
      <p:sp>
        <p:nvSpPr>
          <p:cNvPr id="29" name="Text 23"/>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가로 줄</a:t>
            </a:r>
            <a:endParaRPr lang="ko-KR" altLang="en-US" sz="1200" dirty="0"/>
          </a:p>
        </p:txBody>
      </p:sp>
      <p:sp>
        <p:nvSpPr>
          <p:cNvPr id="30" name="Text 24"/>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b20d76f</a:t>
            </a:r>
            <a:endParaRPr lang="ko-KR" altLang="en-US" sz="900" dirty="0"/>
          </a:p>
        </p:txBody>
      </p:sp>
      <p:sp>
        <p:nvSpPr>
          <p:cNvPr id="31" name="Shape 25"/>
          <p:cNvSpPr/>
          <p:nvPr/>
        </p:nvSpPr>
        <p:spPr>
          <a:xfrm>
            <a:off x="7132320" y="4160520"/>
            <a:ext cx="182880" cy="0"/>
          </a:xfrm>
          <a:prstGeom prst="line">
            <a:avLst/>
          </a:prstGeom>
          <a:noFill/>
          <a:ln w="19050">
            <a:solidFill>
              <a:srgbClr val="1C86D9"/>
            </a:solidFill>
            <a:prstDash val="solid"/>
            <a:tailEnd type="triangle"/>
          </a:ln>
        </p:spPr>
      </p:sp>
      <p:sp>
        <p:nvSpPr>
          <p:cNvPr id="32" name="Shape 26"/>
          <p:cNvSpPr/>
          <p:nvPr/>
        </p:nvSpPr>
        <p:spPr>
          <a:xfrm>
            <a:off x="7324344" y="1463040"/>
            <a:ext cx="2057400" cy="932688"/>
          </a:xfrm>
          <a:prstGeom prst="roundRect">
            <a:avLst>
              <a:gd name="adj" fmla="val 9804"/>
            </a:avLst>
          </a:prstGeom>
          <a:solidFill>
            <a:srgbClr val="FFF4E2"/>
          </a:solidFill>
          <a:ln/>
        </p:spPr>
      </p:sp>
      <p:sp>
        <p:nvSpPr>
          <p:cNvPr id="33" name="Text 27"/>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4" name="Text 28"/>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“목록은 이 화면 아래에, 작품별로 · 알약은 너무 못생겼어”</a:t>
            </a:r>
            <a:endParaRPr lang="ko-KR" altLang="en-US" sz="1100" dirty="0"/>
          </a:p>
        </p:txBody>
      </p:sp>
      <p:sp>
        <p:nvSpPr>
          <p:cNvPr id="35" name="Shape 29"/>
          <p:cNvSpPr/>
          <p:nvPr/>
        </p:nvSpPr>
        <p:spPr>
          <a:xfrm>
            <a:off x="7324344" y="2468880"/>
            <a:ext cx="2057400" cy="512064"/>
          </a:xfrm>
          <a:prstGeom prst="roundRect">
            <a:avLst>
              <a:gd name="adj" fmla="val 14286"/>
            </a:avLst>
          </a:prstGeom>
          <a:solidFill>
            <a:srgbClr val="FCEDED"/>
          </a:solidFill>
          <a:ln/>
        </p:spPr>
      </p:sp>
      <p:sp>
        <p:nvSpPr>
          <p:cNvPr id="36" name="Text 30"/>
          <p:cNvSpPr txBox="1"/>
          <p:nvPr/>
        </p:nvSpPr>
        <p:spPr>
          <a:xfrm>
            <a:off x="7415784" y="2496312"/>
            <a:ext cx="1874520" cy="182880"/>
          </a:xfrm>
          <a:prstGeom prst="rect">
            <a:avLst/>
          </a:prstGeom>
          <a:noFill/>
          <a:ln/>
        </p:spPr>
        <p:txBody>
          <a:bodyPr wrap="square" lIns="0" tIns="0" rIns="0" bIns="0" rtlCol="0" anchor="t"/>
          <a:lstStyle/>
          <a:p>
            <a:pPr indent="0" marL="0">
              <a:buNone/>
            </a:pPr>
            <a:r>
              <a:rPr lang="ko-KR" altLang="en-US" sz="850" b="1" dirty="0">
                <a:solidFill>
                  <a:srgbClr val="D93F44"/>
                </a:solidFill>
                <a:latin typeface="Malgun Gothic" pitchFamily="34" charset="0"/>
                <a:ea typeface="Malgun Gothic" pitchFamily="34" charset="-122"/>
                <a:cs typeface="Malgun Gothic" pitchFamily="34" charset="-120"/>
              </a:rPr>
              <a:t>✕ AI가 만든 알약 줄 — 못생김</a:t>
            </a:r>
            <a:endParaRPr lang="ko-KR" altLang="en-US" sz="850" dirty="0"/>
          </a:p>
        </p:txBody>
      </p:sp>
      <p:pic>
        <p:nvPicPr>
          <p:cNvPr id="37" name="Image 4" descr="C:\Users\Windows11\AppData\Local\Temp\claude\C--Users-Windows11-Desktop-New-folder--2-\a0c8a1d0-32ba-4ae6-9843-b5ebc69d925f\scratchpad\deck2/img/strip_chips.png">    </p:cNvPr>
          <p:cNvPicPr>
            <a:picLocks noChangeAspect="1"/>
          </p:cNvPicPr>
          <p:nvPr/>
        </p:nvPicPr>
        <p:blipFill>
          <a:blip r:embed="rId5"/>
          <a:stretch>
            <a:fillRect/>
          </a:stretch>
        </p:blipFill>
        <p:spPr>
          <a:xfrm>
            <a:off x="7415784" y="2730669"/>
            <a:ext cx="1874520" cy="180509"/>
          </a:xfrm>
          <a:prstGeom prst="rect">
            <a:avLst/>
          </a:prstGeom>
        </p:spPr>
      </p:pic>
      <p:sp>
        <p:nvSpPr>
          <p:cNvPr id="38" name="Shape 31"/>
          <p:cNvSpPr/>
          <p:nvPr/>
        </p:nvSpPr>
        <p:spPr>
          <a:xfrm>
            <a:off x="8097250" y="3072384"/>
            <a:ext cx="1247918" cy="2743200"/>
          </a:xfrm>
          <a:prstGeom prst="roundRect">
            <a:avLst>
              <a:gd name="adj" fmla="val 7720"/>
            </a:avLst>
          </a:prstGeom>
          <a:solidFill>
            <a:srgbClr val="FFFFFF"/>
          </a:solidFill>
          <a:ln/>
          <a:effectLst>
            <a:outerShdw sx="100000" sy="100000" kx="0" ky="0" algn="bl" rotWithShape="0" blurRad="228600" dist="76200" dir="5400000">
              <a:srgbClr val="000000">
                <a:alpha val="18000"/>
              </a:srgbClr>
            </a:outerShdw>
          </a:effectLst>
        </p:spPr>
      </p:sp>
      <p:pic>
        <p:nvPicPr>
          <p:cNvPr id="39" name="Image 5" descr="C:\Users\Windows11\AppData\Local\Temp\claude\C--Users-Windows11-Desktop-New-folder--2-\a0c8a1d0-32ba-4ae6-9843-b5ebc69d925f\scratchpad\deck2/img/evo_a44d4b5_seeall.png">    </p:cNvPr>
          <p:cNvPicPr>
            <a:picLocks noChangeAspect="1"/>
          </p:cNvPicPr>
          <p:nvPr/>
        </p:nvPicPr>
        <p:blipFill>
          <a:blip r:embed="rId6"/>
          <a:stretch>
            <a:fillRect/>
          </a:stretch>
        </p:blipFill>
        <p:spPr>
          <a:xfrm>
            <a:off x="8078962" y="3054096"/>
            <a:ext cx="1284494" cy="2779776"/>
          </a:xfrm>
          <a:prstGeom prst="rect">
            <a:avLst/>
          </a:prstGeom>
        </p:spPr>
      </p:pic>
      <p:sp>
        <p:nvSpPr>
          <p:cNvPr id="40" name="Shape 32"/>
          <p:cNvSpPr/>
          <p:nvPr/>
        </p:nvSpPr>
        <p:spPr>
          <a:xfrm>
            <a:off x="7306056" y="4443533"/>
            <a:ext cx="713232" cy="1317187"/>
          </a:xfrm>
          <a:prstGeom prst="roundRect">
            <a:avLst>
              <a:gd name="adj" fmla="val 6308"/>
            </a:avLst>
          </a:prstGeom>
          <a:solidFill>
            <a:srgbClr val="FFFFFF"/>
          </a:solidFill>
          <a:ln/>
          <a:effectLst>
            <a:outerShdw sx="100000" sy="100000" kx="0" ky="0" algn="bl" rotWithShape="0" blurRad="228600" dist="76200" dir="5400000">
              <a:srgbClr val="000000">
                <a:alpha val="18000"/>
              </a:srgbClr>
            </a:outerShdw>
          </a:effectLst>
        </p:spPr>
      </p:sp>
      <p:pic>
        <p:nvPicPr>
          <p:cNvPr id="41" name="Image 6" descr="C:\Users\Windows11\AppData\Local\Temp\claude\C--Users-Windows11-Desktop-New-folder--2-\a0c8a1d0-32ba-4ae6-9843-b5ebc69d925f\scratchpad\deck2/img/ref_toysrus.png">    </p:cNvPr>
          <p:cNvPicPr>
            <a:picLocks noChangeAspect="1"/>
          </p:cNvPicPr>
          <p:nvPr/>
        </p:nvPicPr>
        <p:blipFill>
          <a:blip r:embed="rId7"/>
          <a:stretch>
            <a:fillRect/>
          </a:stretch>
        </p:blipFill>
        <p:spPr>
          <a:xfrm>
            <a:off x="7287768" y="4425245"/>
            <a:ext cx="749808" cy="1353763"/>
          </a:xfrm>
          <a:prstGeom prst="rect">
            <a:avLst/>
          </a:prstGeom>
        </p:spPr>
      </p:pic>
      <p:sp>
        <p:nvSpPr>
          <p:cNvPr id="42" name="Shape 33"/>
          <p:cNvSpPr/>
          <p:nvPr/>
        </p:nvSpPr>
        <p:spPr>
          <a:xfrm>
            <a:off x="7269480" y="4150925"/>
            <a:ext cx="1188720" cy="228600"/>
          </a:xfrm>
          <a:prstGeom prst="roundRect">
            <a:avLst>
              <a:gd name="adj" fmla="val 50000"/>
            </a:avLst>
          </a:prstGeom>
          <a:solidFill>
            <a:srgbClr val="111111"/>
          </a:solidFill>
          <a:ln/>
        </p:spPr>
      </p:sp>
      <p:sp>
        <p:nvSpPr>
          <p:cNvPr id="43" name="Text 34"/>
          <p:cNvSpPr txBox="1"/>
          <p:nvPr/>
        </p:nvSpPr>
        <p:spPr>
          <a:xfrm>
            <a:off x="7269480" y="4150925"/>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토이저러스 필터</a:t>
            </a:r>
            <a:endParaRPr lang="ko-KR" altLang="en-US" sz="850" dirty="0"/>
          </a:p>
        </p:txBody>
      </p:sp>
      <p:sp>
        <p:nvSpPr>
          <p:cNvPr id="44" name="Text 35"/>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홈 안 전체 목록 + 필터 패널</a:t>
            </a:r>
            <a:endParaRPr lang="ko-KR" altLang="en-US" sz="1200" dirty="0"/>
          </a:p>
        </p:txBody>
      </p:sp>
      <p:sp>
        <p:nvSpPr>
          <p:cNvPr id="45" name="Text 36"/>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d8dd566 · a44d4b5</a:t>
            </a:r>
            <a:endParaRPr lang="ko-KR" altLang="en-US" sz="900" dirty="0"/>
          </a:p>
        </p:txBody>
      </p:sp>
      <p:sp>
        <p:nvSpPr>
          <p:cNvPr id="46" name="Shape 37"/>
          <p:cNvSpPr/>
          <p:nvPr/>
        </p:nvSpPr>
        <p:spPr>
          <a:xfrm>
            <a:off x="9390888" y="4160520"/>
            <a:ext cx="182880" cy="0"/>
          </a:xfrm>
          <a:prstGeom prst="line">
            <a:avLst/>
          </a:prstGeom>
          <a:noFill/>
          <a:ln w="19050">
            <a:solidFill>
              <a:srgbClr val="1C86D9"/>
            </a:solidFill>
            <a:prstDash val="solid"/>
            <a:tailEnd type="triangle"/>
          </a:ln>
        </p:spPr>
      </p:sp>
      <p:sp>
        <p:nvSpPr>
          <p:cNvPr id="47" name="Shape 38"/>
          <p:cNvSpPr/>
          <p:nvPr/>
        </p:nvSpPr>
        <p:spPr>
          <a:xfrm>
            <a:off x="9582912" y="1463040"/>
            <a:ext cx="2057400" cy="932688"/>
          </a:xfrm>
          <a:prstGeom prst="roundRect">
            <a:avLst>
              <a:gd name="adj" fmla="val 9804"/>
            </a:avLst>
          </a:prstGeom>
          <a:solidFill>
            <a:srgbClr val="FFF4E2"/>
          </a:solidFill>
          <a:ln/>
        </p:spPr>
      </p:sp>
      <p:sp>
        <p:nvSpPr>
          <p:cNvPr id="48" name="Text 39"/>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49" name="Text 40"/>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발표는 몇 초마다 자동으로 다음 장으로”</a:t>
            </a:r>
            <a:endParaRPr lang="ko-KR" altLang="en-US" sz="1100" dirty="0"/>
          </a:p>
        </p:txBody>
      </p:sp>
      <p:sp>
        <p:nvSpPr>
          <p:cNvPr id="50" name="Shape 41"/>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51" name="Image 7" descr="C:\Users\Windows11\AppData\Local\Temp\claude\C--Users-Windows11-Desktop-New-folder--2-\a0c8a1d0-32ba-4ae6-9843-b5ebc69d925f\scratchpad\deck2/img/home.png">    </p:cNvPr>
          <p:cNvPicPr>
            <a:picLocks noChangeAspect="1"/>
          </p:cNvPicPr>
          <p:nvPr/>
        </p:nvPicPr>
        <p:blipFill>
          <a:blip r:embed="rId8"/>
          <a:stretch>
            <a:fillRect/>
          </a:stretch>
        </p:blipFill>
        <p:spPr>
          <a:xfrm>
            <a:off x="9851057" y="2542032"/>
            <a:ext cx="1521111" cy="3291840"/>
          </a:xfrm>
          <a:prstGeom prst="rect">
            <a:avLst/>
          </a:prstGeom>
        </p:spPr>
      </p:pic>
      <p:sp>
        <p:nvSpPr>
          <p:cNvPr id="52" name="Text 42"/>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배너 자동 넘김 · 지금</a:t>
            </a:r>
            <a:endParaRPr lang="ko-KR" altLang="en-US" sz="1200" dirty="0"/>
          </a:p>
        </p:txBody>
      </p:sp>
      <p:sp>
        <p:nvSpPr>
          <p:cNvPr id="53" name="Text 43"/>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a44d4b5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2/4 · 상품 상세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 크고 검은 버튼 → 정가 · 시세 한눈에</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정보 · 시세 기록 탭</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detail.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탭으로 나뉜 정보</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“상품 상세 화면을 만들자”</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78d6c50_detail.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사진 · 정가 · 검정 버튼</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78d6c50</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정보는 이 캡처처럼 작게 · 검정 바탕 흰 글자는 안 어울려 · 버튼이 너무 커”</a:t>
            </a:r>
            <a:endParaRPr lang="ko-KR" altLang="en-US" sz="1100" dirty="0"/>
          </a:p>
        </p:txBody>
      </p:sp>
      <p:sp>
        <p:nvSpPr>
          <p:cNvPr id="23" name="Shape 19"/>
          <p:cNvSpPr/>
          <p:nvPr/>
        </p:nvSpPr>
        <p:spPr>
          <a:xfrm>
            <a:off x="5065776" y="2468880"/>
            <a:ext cx="2057400" cy="512064"/>
          </a:xfrm>
          <a:prstGeom prst="roundRect">
            <a:avLst>
              <a:gd name="adj" fmla="val 14286"/>
            </a:avLst>
          </a:prstGeom>
          <a:solidFill>
            <a:srgbClr val="FCEDED"/>
          </a:solidFill>
          <a:ln/>
        </p:spPr>
      </p:sp>
      <p:sp>
        <p:nvSpPr>
          <p:cNvPr id="24" name="Text 20"/>
          <p:cNvSpPr txBox="1"/>
          <p:nvPr/>
        </p:nvSpPr>
        <p:spPr>
          <a:xfrm>
            <a:off x="5157216" y="2496312"/>
            <a:ext cx="1874520" cy="182880"/>
          </a:xfrm>
          <a:prstGeom prst="rect">
            <a:avLst/>
          </a:prstGeom>
          <a:noFill/>
          <a:ln/>
        </p:spPr>
        <p:txBody>
          <a:bodyPr wrap="square" lIns="0" tIns="0" rIns="0" bIns="0" rtlCol="0" anchor="t"/>
          <a:lstStyle/>
          <a:p>
            <a:pPr indent="0" marL="0">
              <a:buNone/>
            </a:pPr>
            <a:r>
              <a:rPr lang="ko-KR" altLang="en-US" sz="850" b="1" dirty="0">
                <a:solidFill>
                  <a:srgbClr val="D93F44"/>
                </a:solidFill>
                <a:latin typeface="Malgun Gothic" pitchFamily="34" charset="0"/>
                <a:ea typeface="Malgun Gothic" pitchFamily="34" charset="-122"/>
                <a:cs typeface="Malgun Gothic" pitchFamily="34" charset="-120"/>
              </a:rPr>
              <a:t>✕ AI가 만든 검정 토스트</a:t>
            </a:r>
            <a:endParaRPr lang="ko-KR" altLang="en-US" sz="850" dirty="0"/>
          </a:p>
        </p:txBody>
      </p:sp>
      <p:pic>
        <p:nvPicPr>
          <p:cNvPr id="25" name="Image 2" descr="C:\Users\Windows11\AppData\Local\Temp\claude\C--Users-Windows11-Desktop-New-folder--2-\a0c8a1d0-32ba-4ae6-9843-b5ebc69d925f\scratchpad\deck2/img/strip_toast.png">    </p:cNvPr>
          <p:cNvPicPr>
            <a:picLocks noChangeAspect="1"/>
          </p:cNvPicPr>
          <p:nvPr/>
        </p:nvPicPr>
        <p:blipFill>
          <a:blip r:embed="rId3"/>
          <a:stretch>
            <a:fillRect/>
          </a:stretch>
        </p:blipFill>
        <p:spPr>
          <a:xfrm>
            <a:off x="5157216" y="2706011"/>
            <a:ext cx="1874520" cy="229826"/>
          </a:xfrm>
          <a:prstGeom prst="rect">
            <a:avLst/>
          </a:prstGeom>
        </p:spPr>
      </p:pic>
      <p:sp>
        <p:nvSpPr>
          <p:cNvPr id="26" name="Shape 21"/>
          <p:cNvSpPr/>
          <p:nvPr/>
        </p:nvSpPr>
        <p:spPr>
          <a:xfrm>
            <a:off x="5838682" y="3072384"/>
            <a:ext cx="1247918" cy="2743200"/>
          </a:xfrm>
          <a:prstGeom prst="roundRect">
            <a:avLst>
              <a:gd name="adj" fmla="val 7720"/>
            </a:avLst>
          </a:prstGeom>
          <a:solidFill>
            <a:srgbClr val="FFFFFF"/>
          </a:solidFill>
          <a:ln/>
          <a:effectLst>
            <a:outerShdw sx="100000" sy="100000" kx="0" ky="0" algn="bl" rotWithShape="0" blurRad="228600" dist="76200" dir="5400000">
              <a:srgbClr val="000000">
                <a:alpha val="18000"/>
              </a:srgbClr>
            </a:outerShdw>
          </a:effectLst>
        </p:spPr>
      </p:sp>
      <p:pic>
        <p:nvPicPr>
          <p:cNvPr id="27" name="Image 3" descr="C:\Users\Windows11\AppData\Local\Temp\claude\C--Users-Windows11-Desktop-New-folder--2-\a0c8a1d0-32ba-4ae6-9843-b5ebc69d925f\scratchpad\deck2/img/evo_d4d2774_detail.png">    </p:cNvPr>
          <p:cNvPicPr>
            <a:picLocks noChangeAspect="1"/>
          </p:cNvPicPr>
          <p:nvPr/>
        </p:nvPicPr>
        <p:blipFill>
          <a:blip r:embed="rId4"/>
          <a:stretch>
            <a:fillRect/>
          </a:stretch>
        </p:blipFill>
        <p:spPr>
          <a:xfrm>
            <a:off x="5820394" y="3054096"/>
            <a:ext cx="1284494" cy="2779776"/>
          </a:xfrm>
          <a:prstGeom prst="rect">
            <a:avLst/>
          </a:prstGeom>
        </p:spPr>
      </p:pic>
      <p:sp>
        <p:nvSpPr>
          <p:cNvPr id="28" name="Shape 22"/>
          <p:cNvSpPr/>
          <p:nvPr/>
        </p:nvSpPr>
        <p:spPr>
          <a:xfrm>
            <a:off x="5047488" y="4656484"/>
            <a:ext cx="713232" cy="1104236"/>
          </a:xfrm>
          <a:prstGeom prst="roundRect">
            <a:avLst>
              <a:gd name="adj" fmla="val 6308"/>
            </a:avLst>
          </a:prstGeom>
          <a:solidFill>
            <a:srgbClr val="FFFFFF"/>
          </a:solidFill>
          <a:ln/>
          <a:effectLst>
            <a:outerShdw sx="100000" sy="100000" kx="0" ky="0" algn="bl" rotWithShape="0" blurRad="228600" dist="76200" dir="5400000">
              <a:srgbClr val="000000">
                <a:alpha val="18000"/>
              </a:srgbClr>
            </a:outerShdw>
          </a:effectLst>
        </p:spPr>
      </p:sp>
      <p:pic>
        <p:nvPicPr>
          <p:cNvPr id="29" name="Image 4" descr="C:\Users\Windows11\AppData\Local\Temp\claude\C--Users-Windows11-Desktop-New-folder--2-\a0c8a1d0-32ba-4ae6-9843-b5ebc69d925f\scratchpad\deck2/img/ref_taobao.png">    </p:cNvPr>
          <p:cNvPicPr>
            <a:picLocks noChangeAspect="1"/>
          </p:cNvPicPr>
          <p:nvPr/>
        </p:nvPicPr>
        <p:blipFill>
          <a:blip r:embed="rId5"/>
          <a:stretch>
            <a:fillRect/>
          </a:stretch>
        </p:blipFill>
        <p:spPr>
          <a:xfrm>
            <a:off x="5029200" y="4638196"/>
            <a:ext cx="749808" cy="1140812"/>
          </a:xfrm>
          <a:prstGeom prst="rect">
            <a:avLst/>
          </a:prstGeom>
        </p:spPr>
      </p:pic>
      <p:sp>
        <p:nvSpPr>
          <p:cNvPr id="30" name="Shape 23"/>
          <p:cNvSpPr/>
          <p:nvPr/>
        </p:nvSpPr>
        <p:spPr>
          <a:xfrm>
            <a:off x="5010912" y="4363876"/>
            <a:ext cx="1188720" cy="228600"/>
          </a:xfrm>
          <a:prstGeom prst="roundRect">
            <a:avLst>
              <a:gd name="adj" fmla="val 50000"/>
            </a:avLst>
          </a:prstGeom>
          <a:solidFill>
            <a:srgbClr val="111111"/>
          </a:solidFill>
          <a:ln/>
        </p:spPr>
      </p:sp>
      <p:sp>
        <p:nvSpPr>
          <p:cNvPr id="31" name="Text 24"/>
          <p:cNvSpPr txBox="1"/>
          <p:nvPr/>
        </p:nvSpPr>
        <p:spPr>
          <a:xfrm>
            <a:off x="5010912" y="4363876"/>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타오바오</a:t>
            </a:r>
            <a:endParaRPr lang="ko-KR" altLang="en-US" sz="850" dirty="0"/>
          </a:p>
        </p:txBody>
      </p:sp>
      <p:sp>
        <p:nvSpPr>
          <p:cNvPr id="32" name="Text 25"/>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작은 알약 · 시세 카드 한 장</a:t>
            </a:r>
            <a:endParaRPr lang="ko-KR" altLang="en-US" sz="1200" dirty="0"/>
          </a:p>
        </p:txBody>
      </p:sp>
      <p:sp>
        <p:nvSpPr>
          <p:cNvPr id="33" name="Text 26"/>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0b65ac4 · d4d2774</a:t>
            </a:r>
            <a:endParaRPr lang="ko-KR" altLang="en-US" sz="900" dirty="0"/>
          </a:p>
        </p:txBody>
      </p:sp>
      <p:sp>
        <p:nvSpPr>
          <p:cNvPr id="34" name="Shape 27"/>
          <p:cNvSpPr/>
          <p:nvPr/>
        </p:nvSpPr>
        <p:spPr>
          <a:xfrm>
            <a:off x="7132320" y="4160520"/>
            <a:ext cx="182880" cy="0"/>
          </a:xfrm>
          <a:prstGeom prst="line">
            <a:avLst/>
          </a:prstGeom>
          <a:noFill/>
          <a:ln w="19050">
            <a:solidFill>
              <a:srgbClr val="1C86D9"/>
            </a:solidFill>
            <a:prstDash val="solid"/>
            <a:tailEnd type="triangle"/>
          </a:ln>
        </p:spPr>
      </p:sp>
      <p:sp>
        <p:nvSpPr>
          <p:cNvPr id="35" name="Shape 28"/>
          <p:cNvSpPr/>
          <p:nvPr/>
        </p:nvSpPr>
        <p:spPr>
          <a:xfrm>
            <a:off x="7324344" y="1463040"/>
            <a:ext cx="2057400" cy="932688"/>
          </a:xfrm>
          <a:prstGeom prst="roundRect">
            <a:avLst>
              <a:gd name="adj" fmla="val 9804"/>
            </a:avLst>
          </a:prstGeom>
          <a:solidFill>
            <a:srgbClr val="FFF4E2"/>
          </a:solidFill>
          <a:ln/>
        </p:spPr>
      </p:sp>
      <p:sp>
        <p:nvSpPr>
          <p:cNvPr id="36" name="Text 29"/>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7" name="Text 30"/>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 화면 더 좋게 할 제안 있어? → 1 · 2 · 3번만 고쳐”</a:t>
            </a:r>
            <a:endParaRPr lang="ko-KR" altLang="en-US" sz="1100" dirty="0"/>
          </a:p>
        </p:txBody>
      </p:sp>
      <p:sp>
        <p:nvSpPr>
          <p:cNvPr id="38" name="Shape 31"/>
          <p:cNvSpPr/>
          <p:nvPr/>
        </p:nvSpPr>
        <p:spPr>
          <a:xfrm>
            <a:off x="7610777"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9" name="Image 5" descr="C:\Users\Windows11\AppData\Local\Temp\claude\C--Users-Windows11-Desktop-New-folder--2-\a0c8a1d0-32ba-4ae6-9843-b5ebc69d925f\scratchpad\deck2/img/evo_80b665e_detail.png">    </p:cNvPr>
          <p:cNvPicPr>
            <a:picLocks noChangeAspect="1"/>
          </p:cNvPicPr>
          <p:nvPr/>
        </p:nvPicPr>
        <p:blipFill>
          <a:blip r:embed="rId6"/>
          <a:stretch>
            <a:fillRect/>
          </a:stretch>
        </p:blipFill>
        <p:spPr>
          <a:xfrm>
            <a:off x="7592489" y="2542032"/>
            <a:ext cx="1521111" cy="3291840"/>
          </a:xfrm>
          <a:prstGeom prst="rect">
            <a:avLst/>
          </a:prstGeom>
        </p:spPr>
      </p:pic>
      <p:sp>
        <p:nvSpPr>
          <p:cNvPr id="40" name="Text 32"/>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아래 고정 버튼 · 시세 한 줄</a:t>
            </a:r>
            <a:endParaRPr lang="ko-KR" altLang="en-US" sz="1200" dirty="0"/>
          </a:p>
        </p:txBody>
      </p:sp>
      <p:sp>
        <p:nvSpPr>
          <p:cNvPr id="41" name="Text 33"/>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80b665e</a:t>
            </a:r>
            <a:endParaRPr lang="ko-KR" altLang="en-US" sz="900" dirty="0"/>
          </a:p>
        </p:txBody>
      </p:sp>
      <p:sp>
        <p:nvSpPr>
          <p:cNvPr id="42" name="Shape 34"/>
          <p:cNvSpPr/>
          <p:nvPr/>
        </p:nvSpPr>
        <p:spPr>
          <a:xfrm>
            <a:off x="9390888" y="4160520"/>
            <a:ext cx="182880" cy="0"/>
          </a:xfrm>
          <a:prstGeom prst="line">
            <a:avLst/>
          </a:prstGeom>
          <a:noFill/>
          <a:ln w="19050">
            <a:solidFill>
              <a:srgbClr val="1C86D9"/>
            </a:solidFill>
            <a:prstDash val="solid"/>
            <a:tailEnd type="triangle"/>
          </a:ln>
        </p:spPr>
      </p:sp>
      <p:sp>
        <p:nvSpPr>
          <p:cNvPr id="43" name="Shape 35"/>
          <p:cNvSpPr/>
          <p:nvPr/>
        </p:nvSpPr>
        <p:spPr>
          <a:xfrm>
            <a:off x="9582912" y="1463040"/>
            <a:ext cx="2057400" cy="932688"/>
          </a:xfrm>
          <a:prstGeom prst="roundRect">
            <a:avLst>
              <a:gd name="adj" fmla="val 9804"/>
            </a:avLst>
          </a:prstGeom>
          <a:solidFill>
            <a:srgbClr val="FFF4E2"/>
          </a:solidFill>
          <a:ln/>
        </p:spPr>
      </p:sp>
      <p:sp>
        <p:nvSpPr>
          <p:cNvPr id="44" name="Text 36"/>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45" name="Text 37"/>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“시장가 · 국내 시세가 아직 겹쳐 · 구매함엔 내가 쓴 돈도”</a:t>
            </a:r>
            <a:endParaRPr lang="ko-KR" altLang="en-US" sz="1100" dirty="0"/>
          </a:p>
        </p:txBody>
      </p:sp>
      <p:sp>
        <p:nvSpPr>
          <p:cNvPr id="46" name="Shape 38"/>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47" name="Image 6" descr="C:\Users\Windows11\AppData\Local\Temp\claude\C--Users-Windows11-Desktop-New-folder--2-\a0c8a1d0-32ba-4ae6-9843-b5ebc69d925f\scratchpad\deck2/img/detail.png">    </p:cNvPr>
          <p:cNvPicPr>
            <a:picLocks noChangeAspect="1"/>
          </p:cNvPicPr>
          <p:nvPr/>
        </p:nvPicPr>
        <p:blipFill>
          <a:blip r:embed="rId7"/>
          <a:stretch>
            <a:fillRect/>
          </a:stretch>
        </p:blipFill>
        <p:spPr>
          <a:xfrm>
            <a:off x="9851057" y="2542032"/>
            <a:ext cx="1521111" cy="3291840"/>
          </a:xfrm>
          <a:prstGeom prst="rect">
            <a:avLst/>
          </a:prstGeom>
        </p:spPr>
      </p:pic>
      <p:sp>
        <p:nvSpPr>
          <p:cNvPr id="48" name="Text 39"/>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내 구매가 · 지금</a:t>
            </a:r>
            <a:endParaRPr lang="ko-KR" altLang="en-US" sz="1200" dirty="0"/>
          </a:p>
        </p:txBody>
      </p:sp>
      <p:sp>
        <p:nvSpPr>
          <p:cNvPr id="49" name="Text 40"/>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18b0f10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3/4 · 좋아요 · 구매함 · 도감</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좋아요 · 구매함 · 도감: 사진 위에서 바로, 모을수록 레벨업</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4F5F7"/>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시작 · 10/24 · AI 첫 버전</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소장 · 위시 배지로 상태 표시</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99dd2b9_guid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배지로 상태 표시</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99dd2b9</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“아래 사진에서 바로 하트와 + 를 눌러 좋아요 · 구매함에”</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8040d86_hom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 바로 담기</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065f9b2 · 8040d86</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“구매함은 색 + 테두리, 좋아요는 색만 · 모을수록 레벨업”</a:t>
            </a:r>
            <a:endParaRPr lang="ko-KR" altLang="en-US" sz="1100" dirty="0"/>
          </a:p>
        </p:txBody>
      </p:sp>
      <p:sp>
        <p:nvSpPr>
          <p:cNvPr id="23" name="Shape 19"/>
          <p:cNvSpPr/>
          <p:nvPr/>
        </p:nvSpPr>
        <p:spPr>
          <a:xfrm>
            <a:off x="5065776" y="2468880"/>
            <a:ext cx="2057400" cy="512064"/>
          </a:xfrm>
          <a:prstGeom prst="roundRect">
            <a:avLst>
              <a:gd name="adj" fmla="val 14286"/>
            </a:avLst>
          </a:prstGeom>
          <a:solidFill>
            <a:srgbClr val="FCEDED"/>
          </a:solidFill>
          <a:ln/>
        </p:spPr>
      </p:sp>
      <p:sp>
        <p:nvSpPr>
          <p:cNvPr id="24" name="Text 20"/>
          <p:cNvSpPr txBox="1"/>
          <p:nvPr/>
        </p:nvSpPr>
        <p:spPr>
          <a:xfrm>
            <a:off x="5157216" y="2496312"/>
            <a:ext cx="1874520" cy="182880"/>
          </a:xfrm>
          <a:prstGeom prst="rect">
            <a:avLst/>
          </a:prstGeom>
          <a:noFill/>
          <a:ln/>
        </p:spPr>
        <p:txBody>
          <a:bodyPr wrap="square" lIns="0" tIns="0" rIns="0" bIns="0" rtlCol="0" anchor="t"/>
          <a:lstStyle/>
          <a:p>
            <a:pPr indent="0" marL="0">
              <a:buNone/>
            </a:pPr>
            <a:r>
              <a:rPr lang="ko-KR" altLang="en-US" sz="850" b="1" dirty="0">
                <a:solidFill>
                  <a:srgbClr val="D93F44"/>
                </a:solidFill>
                <a:latin typeface="Malgun Gothic" pitchFamily="34" charset="0"/>
                <a:ea typeface="Malgun Gothic" pitchFamily="34" charset="-122"/>
                <a:cs typeface="Malgun Gothic" pitchFamily="34" charset="-120"/>
              </a:rPr>
              <a:t>✕ AI가 만든 긴 범례 줄</a:t>
            </a:r>
            <a:endParaRPr lang="ko-KR" altLang="en-US" sz="850" dirty="0"/>
          </a:p>
        </p:txBody>
      </p:sp>
      <p:pic>
        <p:nvPicPr>
          <p:cNvPr id="25" name="Image 2" descr="C:\Users\Windows11\AppData\Local\Temp\claude\C--Users-Windows11-Desktop-New-folder--2-\a0c8a1d0-32ba-4ae6-9843-b5ebc69d925f\scratchpad\deck2/img/strip_legend.png">    </p:cNvPr>
          <p:cNvPicPr>
            <a:picLocks noChangeAspect="1"/>
          </p:cNvPicPr>
          <p:nvPr/>
        </p:nvPicPr>
        <p:blipFill>
          <a:blip r:embed="rId3"/>
          <a:stretch>
            <a:fillRect/>
          </a:stretch>
        </p:blipFill>
        <p:spPr>
          <a:xfrm>
            <a:off x="5157216" y="2739670"/>
            <a:ext cx="1874520" cy="162509"/>
          </a:xfrm>
          <a:prstGeom prst="rect">
            <a:avLst/>
          </a:prstGeom>
        </p:spPr>
      </p:pic>
      <p:sp>
        <p:nvSpPr>
          <p:cNvPr id="26" name="Shape 21"/>
          <p:cNvSpPr/>
          <p:nvPr/>
        </p:nvSpPr>
        <p:spPr>
          <a:xfrm>
            <a:off x="5470517" y="3072384"/>
            <a:ext cx="1247918" cy="2743200"/>
          </a:xfrm>
          <a:prstGeom prst="roundRect">
            <a:avLst>
              <a:gd name="adj" fmla="val 7720"/>
            </a:avLst>
          </a:prstGeom>
          <a:solidFill>
            <a:srgbClr val="FFFFFF"/>
          </a:solidFill>
          <a:ln/>
          <a:effectLst>
            <a:outerShdw sx="100000" sy="100000" kx="0" ky="0" algn="bl" rotWithShape="0" blurRad="228600" dist="76200" dir="5400000">
              <a:srgbClr val="000000">
                <a:alpha val="18000"/>
              </a:srgbClr>
            </a:outerShdw>
          </a:effectLst>
        </p:spPr>
      </p:sp>
      <p:pic>
        <p:nvPicPr>
          <p:cNvPr id="27" name="Image 3" descr="C:\Users\Windows11\AppData\Local\Temp\claude\C--Users-Windows11-Desktop-New-folder--2-\a0c8a1d0-32ba-4ae6-9843-b5ebc69d925f\scratchpad\deck2/img/evo_46a4b56_guide.png">    </p:cNvPr>
          <p:cNvPicPr>
            <a:picLocks noChangeAspect="1"/>
          </p:cNvPicPr>
          <p:nvPr/>
        </p:nvPicPr>
        <p:blipFill>
          <a:blip r:embed="rId4"/>
          <a:stretch>
            <a:fillRect/>
          </a:stretch>
        </p:blipFill>
        <p:spPr>
          <a:xfrm>
            <a:off x="5452229" y="3054096"/>
            <a:ext cx="1284494" cy="2779776"/>
          </a:xfrm>
          <a:prstGeom prst="rect">
            <a:avLst/>
          </a:prstGeom>
        </p:spPr>
      </p:pic>
      <p:sp>
        <p:nvSpPr>
          <p:cNvPr id="28" name="Text 22"/>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도감 4단계 + Lv · ? 읽는 법</a:t>
            </a:r>
            <a:endParaRPr lang="ko-KR" altLang="en-US" sz="1200" dirty="0"/>
          </a:p>
        </p:txBody>
      </p:sp>
      <p:sp>
        <p:nvSpPr>
          <p:cNvPr id="29" name="Text 23"/>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46a4b56</a:t>
            </a:r>
            <a:endParaRPr lang="ko-KR" altLang="en-US" sz="900" dirty="0"/>
          </a:p>
        </p:txBody>
      </p:sp>
      <p:sp>
        <p:nvSpPr>
          <p:cNvPr id="30" name="Shape 24"/>
          <p:cNvSpPr/>
          <p:nvPr/>
        </p:nvSpPr>
        <p:spPr>
          <a:xfrm>
            <a:off x="7132320" y="4160520"/>
            <a:ext cx="182880" cy="0"/>
          </a:xfrm>
          <a:prstGeom prst="line">
            <a:avLst/>
          </a:prstGeom>
          <a:noFill/>
          <a:ln w="19050">
            <a:solidFill>
              <a:srgbClr val="1C86D9"/>
            </a:solidFill>
            <a:prstDash val="solid"/>
            <a:tailEnd type="triangle"/>
          </a:ln>
        </p:spPr>
      </p:sp>
      <p:sp>
        <p:nvSpPr>
          <p:cNvPr id="31" name="Shape 25"/>
          <p:cNvSpPr/>
          <p:nvPr/>
        </p:nvSpPr>
        <p:spPr>
          <a:xfrm>
            <a:off x="7324344" y="1463040"/>
            <a:ext cx="2057400" cy="932688"/>
          </a:xfrm>
          <a:prstGeom prst="roundRect">
            <a:avLst>
              <a:gd name="adj" fmla="val 9804"/>
            </a:avLst>
          </a:prstGeom>
          <a:solidFill>
            <a:srgbClr val="FFF4E2"/>
          </a:solidFill>
          <a:ln/>
        </p:spPr>
      </p:sp>
      <p:sp>
        <p:nvSpPr>
          <p:cNvPr id="32" name="Text 26"/>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3" name="Text 27"/>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 사진의 하트 · 담기를 IMDb 캡처처럼 · 3점은 배지로”</a:t>
            </a:r>
            <a:endParaRPr lang="ko-KR" altLang="en-US" sz="1100" dirty="0"/>
          </a:p>
        </p:txBody>
      </p:sp>
      <p:sp>
        <p:nvSpPr>
          <p:cNvPr id="34" name="Shape 28"/>
          <p:cNvSpPr/>
          <p:nvPr/>
        </p:nvSpPr>
        <p:spPr>
          <a:xfrm>
            <a:off x="786063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5" name="Image 4" descr="C:\Users\Windows11\AppData\Local\Temp\claude\C--Users-Windows11-Desktop-New-folder--2-\a0c8a1d0-32ba-4ae6-9843-b5ebc69d925f\scratchpad\deck2/img/evo_f85eb66_home.png">    </p:cNvPr>
          <p:cNvPicPr>
            <a:picLocks noChangeAspect="1"/>
          </p:cNvPicPr>
          <p:nvPr/>
        </p:nvPicPr>
        <p:blipFill>
          <a:blip r:embed="rId5"/>
          <a:stretch>
            <a:fillRect/>
          </a:stretch>
        </p:blipFill>
        <p:spPr>
          <a:xfrm>
            <a:off x="7842345" y="2542032"/>
            <a:ext cx="1521111" cy="3291840"/>
          </a:xfrm>
          <a:prstGeom prst="rect">
            <a:avLst/>
          </a:prstGeom>
        </p:spPr>
      </p:pic>
      <p:sp>
        <p:nvSpPr>
          <p:cNvPr id="36" name="Shape 29"/>
          <p:cNvSpPr/>
          <p:nvPr/>
        </p:nvSpPr>
        <p:spPr>
          <a:xfrm>
            <a:off x="7306056" y="4151376"/>
            <a:ext cx="675601" cy="1609344"/>
          </a:xfrm>
          <a:prstGeom prst="roundRect">
            <a:avLst>
              <a:gd name="adj" fmla="val 6325"/>
            </a:avLst>
          </a:prstGeom>
          <a:solidFill>
            <a:srgbClr val="FFFFFF"/>
          </a:solidFill>
          <a:ln/>
          <a:effectLst>
            <a:outerShdw sx="100000" sy="100000" kx="0" ky="0" algn="bl" rotWithShape="0" blurRad="228600" dist="76200" dir="5400000">
              <a:srgbClr val="000000">
                <a:alpha val="18000"/>
              </a:srgbClr>
            </a:outerShdw>
          </a:effectLst>
        </p:spPr>
      </p:sp>
      <p:pic>
        <p:nvPicPr>
          <p:cNvPr id="37" name="Image 5" descr="C:\Users\Windows11\AppData\Local\Temp\claude\C--Users-Windows11-Desktop-New-folder--2-\a0c8a1d0-32ba-4ae6-9843-b5ebc69d925f\scratchpad\deck2/img/ref_imdb.png">    </p:cNvPr>
          <p:cNvPicPr>
            <a:picLocks noChangeAspect="1"/>
          </p:cNvPicPr>
          <p:nvPr/>
        </p:nvPicPr>
        <p:blipFill>
          <a:blip r:embed="rId6"/>
          <a:stretch>
            <a:fillRect/>
          </a:stretch>
        </p:blipFill>
        <p:spPr>
          <a:xfrm>
            <a:off x="7287768" y="4133088"/>
            <a:ext cx="712177" cy="1645920"/>
          </a:xfrm>
          <a:prstGeom prst="rect">
            <a:avLst/>
          </a:prstGeom>
        </p:spPr>
      </p:pic>
      <p:sp>
        <p:nvSpPr>
          <p:cNvPr id="38" name="Shape 30"/>
          <p:cNvSpPr/>
          <p:nvPr/>
        </p:nvSpPr>
        <p:spPr>
          <a:xfrm>
            <a:off x="7269480" y="3858768"/>
            <a:ext cx="1188720" cy="228600"/>
          </a:xfrm>
          <a:prstGeom prst="roundRect">
            <a:avLst>
              <a:gd name="adj" fmla="val 50000"/>
            </a:avLst>
          </a:prstGeom>
          <a:solidFill>
            <a:srgbClr val="111111"/>
          </a:solidFill>
          <a:ln/>
        </p:spPr>
      </p:sp>
      <p:sp>
        <p:nvSpPr>
          <p:cNvPr id="39" name="Text 31"/>
          <p:cNvSpPr txBox="1"/>
          <p:nvPr/>
        </p:nvSpPr>
        <p:spPr>
          <a:xfrm>
            <a:off x="7269480" y="3858768"/>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IMDb</a:t>
            </a:r>
            <a:endParaRPr lang="ko-KR" altLang="en-US" sz="850" dirty="0"/>
          </a:p>
        </p:txBody>
      </p:sp>
      <p:sp>
        <p:nvSpPr>
          <p:cNvPr id="40" name="Text 32"/>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IMDb 식 리본 + · ♡</a:t>
            </a:r>
            <a:endParaRPr lang="ko-KR" altLang="en-US" sz="1200" dirty="0"/>
          </a:p>
        </p:txBody>
      </p:sp>
      <p:sp>
        <p:nvSpPr>
          <p:cNvPr id="41" name="Text 33"/>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f85eb66</a:t>
            </a:r>
            <a:endParaRPr lang="ko-KR" altLang="en-US" sz="900" dirty="0"/>
          </a:p>
        </p:txBody>
      </p:sp>
      <p:sp>
        <p:nvSpPr>
          <p:cNvPr id="42" name="Shape 34"/>
          <p:cNvSpPr/>
          <p:nvPr/>
        </p:nvSpPr>
        <p:spPr>
          <a:xfrm>
            <a:off x="9390888" y="4160520"/>
            <a:ext cx="182880" cy="0"/>
          </a:xfrm>
          <a:prstGeom prst="line">
            <a:avLst/>
          </a:prstGeom>
          <a:noFill/>
          <a:ln w="19050">
            <a:solidFill>
              <a:srgbClr val="1C86D9"/>
            </a:solidFill>
            <a:prstDash val="solid"/>
            <a:tailEnd type="triangle"/>
          </a:ln>
        </p:spPr>
      </p:sp>
      <p:sp>
        <p:nvSpPr>
          <p:cNvPr id="43" name="Shape 35"/>
          <p:cNvSpPr/>
          <p:nvPr/>
        </p:nvSpPr>
        <p:spPr>
          <a:xfrm>
            <a:off x="9582912" y="1463040"/>
            <a:ext cx="2057400" cy="932688"/>
          </a:xfrm>
          <a:prstGeom prst="roundRect">
            <a:avLst>
              <a:gd name="adj" fmla="val 9804"/>
            </a:avLst>
          </a:prstGeom>
          <a:solidFill>
            <a:srgbClr val="FFF4E2"/>
          </a:solidFill>
          <a:ln/>
        </p:spPr>
      </p:sp>
      <p:sp>
        <p:nvSpPr>
          <p:cNvPr id="44" name="Text 36"/>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45" name="Text 37"/>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“로고 빼고 AI 지적대로 다 고쳐 — AI: 구매함 모양이 3–4가지”</a:t>
            </a:r>
            <a:endParaRPr lang="ko-KR" altLang="en-US" sz="1100" dirty="0"/>
          </a:p>
        </p:txBody>
      </p:sp>
      <p:sp>
        <p:nvSpPr>
          <p:cNvPr id="46" name="Shape 38"/>
          <p:cNvSpPr/>
          <p:nvPr/>
        </p:nvSpPr>
        <p:spPr>
          <a:xfrm>
            <a:off x="986934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47" name="Image 6" descr="C:\Users\Windows11\AppData\Local\Temp\claude\C--Users-Windows11-Desktop-New-folder--2-\a0c8a1d0-32ba-4ae6-9843-b5ebc69d925f\scratchpad\deck2/img/guide.png">    </p:cNvPr>
          <p:cNvPicPr>
            <a:picLocks noChangeAspect="1"/>
          </p:cNvPicPr>
          <p:nvPr/>
        </p:nvPicPr>
        <p:blipFill>
          <a:blip r:embed="rId7"/>
          <a:stretch>
            <a:fillRect/>
          </a:stretch>
        </p:blipFill>
        <p:spPr>
          <a:xfrm>
            <a:off x="9851057" y="2542032"/>
            <a:ext cx="1521111" cy="3291840"/>
          </a:xfrm>
          <a:prstGeom prst="rect">
            <a:avLst/>
          </a:prstGeom>
        </p:spPr>
      </p:pic>
      <p:sp>
        <p:nvSpPr>
          <p:cNvPr id="48" name="Text 39"/>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 좋아요 · 리본 구매함 통일</a:t>
            </a:r>
            <a:endParaRPr lang="ko-KR" altLang="en-US" sz="1200" dirty="0"/>
          </a:p>
        </p:txBody>
      </p:sp>
      <p:sp>
        <p:nvSpPr>
          <p:cNvPr id="49" name="Text 40"/>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AI 반론 수용 · b29785b</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4/4 · 친구 · 내 정보 · 넓은 화면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친구 · 내 정보 · 넓은 창: QQ처럼 옆 서랍과 반반 화면</a:t>
            </a:r>
            <a:endParaRPr lang="ko-KR" altLang="en-US" sz="2800" dirty="0"/>
          </a:p>
        </p:txBody>
      </p:sp>
      <p:sp>
        <p:nvSpPr>
          <p:cNvPr id="4" name="Shape 2"/>
          <p:cNvSpPr/>
          <p:nvPr/>
        </p:nvSpPr>
        <p:spPr>
          <a:xfrm>
            <a:off x="548640" y="1463040"/>
            <a:ext cx="2057400" cy="932688"/>
          </a:xfrm>
          <a:prstGeom prst="roundRect">
            <a:avLst>
              <a:gd name="adj" fmla="val 9804"/>
            </a:avLst>
          </a:prstGeom>
          <a:solidFill>
            <a:srgbClr val="FFF4E2"/>
          </a:solidFill>
          <a:ln/>
        </p:spPr>
      </p:sp>
      <p:sp>
        <p:nvSpPr>
          <p:cNvPr id="5" name="Text 3"/>
          <p:cNvSpPr txBox="1"/>
          <p:nvPr/>
        </p:nvSpPr>
        <p:spPr>
          <a:xfrm>
            <a:off x="676656"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6" name="Text 4"/>
          <p:cNvSpPr txBox="1"/>
          <p:nvPr/>
        </p:nvSpPr>
        <p:spPr>
          <a:xfrm>
            <a:off x="676656"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“개인 · 예고를 눌렀을 때 화면이 아직 없어”</a:t>
            </a:r>
            <a:endParaRPr lang="ko-KR" altLang="en-US" sz="1100" dirty="0"/>
          </a:p>
        </p:txBody>
      </p:sp>
      <p:sp>
        <p:nvSpPr>
          <p:cNvPr id="7" name="Shape 5"/>
          <p:cNvSpPr/>
          <p:nvPr/>
        </p:nvSpPr>
        <p:spPr>
          <a:xfrm>
            <a:off x="835073"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8" name="Image 0" descr="C:\Users\Windows11\AppData\Local\Temp\claude\C--Users-Windows11-Desktop-New-folder--2-\a0c8a1d0-32ba-4ae6-9843-b5ebc69d925f\scratchpad\deck2/img/evo_fcd86a8_profile.png">    </p:cNvPr>
          <p:cNvPicPr>
            <a:picLocks noChangeAspect="1"/>
          </p:cNvPicPr>
          <p:nvPr/>
        </p:nvPicPr>
        <p:blipFill>
          <a:blip r:embed="rId1"/>
          <a:stretch>
            <a:fillRect/>
          </a:stretch>
        </p:blipFill>
        <p:spPr>
          <a:xfrm>
            <a:off x="816785" y="2542032"/>
            <a:ext cx="1521111" cy="3291840"/>
          </a:xfrm>
          <a:prstGeom prst="rect">
            <a:avLst/>
          </a:prstGeom>
        </p:spPr>
      </p:pic>
      <p:sp>
        <p:nvSpPr>
          <p:cNvPr id="9" name="Text 6"/>
          <p:cNvSpPr txBox="1"/>
          <p:nvPr/>
        </p:nvSpPr>
        <p:spPr>
          <a:xfrm>
            <a:off x="548640"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첫 내 정보</a:t>
            </a:r>
            <a:endParaRPr lang="ko-KR" altLang="en-US" sz="1200" dirty="0"/>
          </a:p>
        </p:txBody>
      </p:sp>
      <p:sp>
        <p:nvSpPr>
          <p:cNvPr id="10" name="Text 7"/>
          <p:cNvSpPr txBox="1"/>
          <p:nvPr/>
        </p:nvSpPr>
        <p:spPr>
          <a:xfrm>
            <a:off x="548640"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fcd86a8</a:t>
            </a:r>
            <a:endParaRPr lang="ko-KR" altLang="en-US" sz="900" dirty="0"/>
          </a:p>
        </p:txBody>
      </p:sp>
      <p:sp>
        <p:nvSpPr>
          <p:cNvPr id="11" name="Shape 8"/>
          <p:cNvSpPr/>
          <p:nvPr/>
        </p:nvSpPr>
        <p:spPr>
          <a:xfrm>
            <a:off x="2615184" y="4160520"/>
            <a:ext cx="182880" cy="0"/>
          </a:xfrm>
          <a:prstGeom prst="line">
            <a:avLst/>
          </a:prstGeom>
          <a:noFill/>
          <a:ln w="19050">
            <a:solidFill>
              <a:srgbClr val="1C86D9"/>
            </a:solidFill>
            <a:prstDash val="solid"/>
            <a:tailEnd type="triangle"/>
          </a:ln>
        </p:spPr>
      </p:sp>
      <p:sp>
        <p:nvSpPr>
          <p:cNvPr id="12" name="Shape 9"/>
          <p:cNvSpPr/>
          <p:nvPr/>
        </p:nvSpPr>
        <p:spPr>
          <a:xfrm>
            <a:off x="2807208" y="1463040"/>
            <a:ext cx="2057400" cy="932688"/>
          </a:xfrm>
          <a:prstGeom prst="roundRect">
            <a:avLst>
              <a:gd name="adj" fmla="val 9804"/>
            </a:avLst>
          </a:prstGeom>
          <a:solidFill>
            <a:srgbClr val="FFF4E2"/>
          </a:solidFill>
          <a:ln/>
        </p:spPr>
      </p:sp>
      <p:sp>
        <p:nvSpPr>
          <p:cNvPr id="13" name="Text 10"/>
          <p:cNvSpPr txBox="1"/>
          <p:nvPr/>
        </p:nvSpPr>
        <p:spPr>
          <a:xfrm>
            <a:off x="2935224"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14" name="Text 11"/>
          <p:cNvSpPr txBox="1"/>
          <p:nvPr/>
        </p:nvSpPr>
        <p:spPr>
          <a:xfrm>
            <a:off x="2935224"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“좋아요 · 도감 · 구매함 수, 누르면 이동 · 사진 벽 · 워터마크”</a:t>
            </a:r>
            <a:endParaRPr lang="ko-KR" altLang="en-US" sz="1100" dirty="0"/>
          </a:p>
        </p:txBody>
      </p:sp>
      <p:sp>
        <p:nvSpPr>
          <p:cNvPr id="15" name="Shape 12"/>
          <p:cNvSpPr/>
          <p:nvPr/>
        </p:nvSpPr>
        <p:spPr>
          <a:xfrm>
            <a:off x="3093641"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6" name="Image 1" descr="C:\Users\Windows11\AppData\Local\Temp\claude\C--Users-Windows11-Desktop-New-folder--2-\a0c8a1d0-32ba-4ae6-9843-b5ebc69d925f\scratchpad\deck2/img/evo_ba7a5de_profile.png">    </p:cNvPr>
          <p:cNvPicPr>
            <a:picLocks noChangeAspect="1"/>
          </p:cNvPicPr>
          <p:nvPr/>
        </p:nvPicPr>
        <p:blipFill>
          <a:blip r:embed="rId2"/>
          <a:stretch>
            <a:fillRect/>
          </a:stretch>
        </p:blipFill>
        <p:spPr>
          <a:xfrm>
            <a:off x="3075353" y="2542032"/>
            <a:ext cx="1521111" cy="3291840"/>
          </a:xfrm>
          <a:prstGeom prst="rect">
            <a:avLst/>
          </a:prstGeom>
        </p:spPr>
      </p:pic>
      <p:sp>
        <p:nvSpPr>
          <p:cNvPr id="17" name="Text 13"/>
          <p:cNvSpPr txBox="1"/>
          <p:nvPr/>
        </p:nvSpPr>
        <p:spPr>
          <a:xfrm>
            <a:off x="2807208"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숫자 → 이동 · 사진 벽</a:t>
            </a:r>
            <a:endParaRPr lang="ko-KR" altLang="en-US" sz="1200" dirty="0"/>
          </a:p>
        </p:txBody>
      </p:sp>
      <p:sp>
        <p:nvSpPr>
          <p:cNvPr id="18" name="Text 14"/>
          <p:cNvSpPr txBox="1"/>
          <p:nvPr/>
        </p:nvSpPr>
        <p:spPr>
          <a:xfrm>
            <a:off x="2807208"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ba7a5de</a:t>
            </a:r>
            <a:endParaRPr lang="ko-KR" altLang="en-US" sz="900" dirty="0"/>
          </a:p>
        </p:txBody>
      </p:sp>
      <p:sp>
        <p:nvSpPr>
          <p:cNvPr id="19" name="Shape 15"/>
          <p:cNvSpPr/>
          <p:nvPr/>
        </p:nvSpPr>
        <p:spPr>
          <a:xfrm>
            <a:off x="4873752" y="4160520"/>
            <a:ext cx="182880" cy="0"/>
          </a:xfrm>
          <a:prstGeom prst="line">
            <a:avLst/>
          </a:prstGeom>
          <a:noFill/>
          <a:ln w="19050">
            <a:solidFill>
              <a:srgbClr val="1C86D9"/>
            </a:solidFill>
            <a:prstDash val="solid"/>
            <a:tailEnd type="triangle"/>
          </a:ln>
        </p:spPr>
      </p:sp>
      <p:sp>
        <p:nvSpPr>
          <p:cNvPr id="20" name="Shape 16"/>
          <p:cNvSpPr/>
          <p:nvPr/>
        </p:nvSpPr>
        <p:spPr>
          <a:xfrm>
            <a:off x="5065776" y="1463040"/>
            <a:ext cx="2057400" cy="932688"/>
          </a:xfrm>
          <a:prstGeom prst="roundRect">
            <a:avLst>
              <a:gd name="adj" fmla="val 9804"/>
            </a:avLst>
          </a:prstGeom>
          <a:solidFill>
            <a:srgbClr val="FFF4E2"/>
          </a:solidFill>
          <a:ln/>
        </p:spPr>
      </p:sp>
      <p:sp>
        <p:nvSpPr>
          <p:cNvPr id="21" name="Text 17"/>
          <p:cNvSpPr txBox="1"/>
          <p:nvPr/>
        </p:nvSpPr>
        <p:spPr>
          <a:xfrm>
            <a:off x="5193792"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22" name="Text 18"/>
          <p:cNvSpPr txBox="1"/>
          <p:nvPr/>
        </p:nvSpPr>
        <p:spPr>
          <a:xfrm>
            <a:off x="5193792"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“홈에서 왼쪽으로 밀면 친구 화면, 아바타를 또 누르면 내 정보”</a:t>
            </a:r>
            <a:endParaRPr lang="ko-KR" altLang="en-US" sz="1100" dirty="0"/>
          </a:p>
        </p:txBody>
      </p:sp>
      <p:sp>
        <p:nvSpPr>
          <p:cNvPr id="23" name="Shape 19"/>
          <p:cNvSpPr/>
          <p:nvPr/>
        </p:nvSpPr>
        <p:spPr>
          <a:xfrm>
            <a:off x="5602065" y="2560320"/>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4" name="Image 2" descr="C:\Users\Windows11\AppData\Local\Temp\claude\C--Users-Windows11-Desktop-New-folder--2-\a0c8a1d0-32ba-4ae6-9843-b5ebc69d925f\scratchpad\deck2/img/evo_ad41d69_drawer.png">    </p:cNvPr>
          <p:cNvPicPr>
            <a:picLocks noChangeAspect="1"/>
          </p:cNvPicPr>
          <p:nvPr/>
        </p:nvPicPr>
        <p:blipFill>
          <a:blip r:embed="rId3"/>
          <a:stretch>
            <a:fillRect/>
          </a:stretch>
        </p:blipFill>
        <p:spPr>
          <a:xfrm>
            <a:off x="5583777" y="2542032"/>
            <a:ext cx="1521111" cy="3291840"/>
          </a:xfrm>
          <a:prstGeom prst="rect">
            <a:avLst/>
          </a:prstGeom>
        </p:spPr>
      </p:pic>
      <p:sp>
        <p:nvSpPr>
          <p:cNvPr id="25" name="Shape 20"/>
          <p:cNvSpPr/>
          <p:nvPr/>
        </p:nvSpPr>
        <p:spPr>
          <a:xfrm>
            <a:off x="5047488" y="4207703"/>
            <a:ext cx="713232" cy="1553017"/>
          </a:xfrm>
          <a:prstGeom prst="roundRect">
            <a:avLst>
              <a:gd name="adj" fmla="val 6308"/>
            </a:avLst>
          </a:prstGeom>
          <a:solidFill>
            <a:srgbClr val="FFFFFF"/>
          </a:solidFill>
          <a:ln/>
          <a:effectLst>
            <a:outerShdw sx="100000" sy="100000" kx="0" ky="0" algn="bl" rotWithShape="0" blurRad="228600" dist="76200" dir="5400000">
              <a:srgbClr val="000000">
                <a:alpha val="18000"/>
              </a:srgbClr>
            </a:outerShdw>
          </a:effectLst>
        </p:spPr>
      </p:sp>
      <p:pic>
        <p:nvPicPr>
          <p:cNvPr id="26" name="Image 3" descr="C:\Users\Windows11\AppData\Local\Temp\claude\C--Users-Windows11-Desktop-New-folder--2-\a0c8a1d0-32ba-4ae6-9843-b5ebc69d925f\scratchpad\deck2/img/ref_qq.png">    </p:cNvPr>
          <p:cNvPicPr>
            <a:picLocks noChangeAspect="1"/>
          </p:cNvPicPr>
          <p:nvPr/>
        </p:nvPicPr>
        <p:blipFill>
          <a:blip r:embed="rId4"/>
          <a:stretch>
            <a:fillRect/>
          </a:stretch>
        </p:blipFill>
        <p:spPr>
          <a:xfrm>
            <a:off x="5029200" y="4189415"/>
            <a:ext cx="749808" cy="1589593"/>
          </a:xfrm>
          <a:prstGeom prst="rect">
            <a:avLst/>
          </a:prstGeom>
        </p:spPr>
      </p:pic>
      <p:sp>
        <p:nvSpPr>
          <p:cNvPr id="27" name="Shape 21"/>
          <p:cNvSpPr/>
          <p:nvPr/>
        </p:nvSpPr>
        <p:spPr>
          <a:xfrm>
            <a:off x="5010912" y="3915095"/>
            <a:ext cx="1188720" cy="228600"/>
          </a:xfrm>
          <a:prstGeom prst="roundRect">
            <a:avLst>
              <a:gd name="adj" fmla="val 50000"/>
            </a:avLst>
          </a:prstGeom>
          <a:solidFill>
            <a:srgbClr val="111111"/>
          </a:solidFill>
          <a:ln/>
        </p:spPr>
      </p:sp>
      <p:sp>
        <p:nvSpPr>
          <p:cNvPr id="28" name="Text 22"/>
          <p:cNvSpPr txBox="1"/>
          <p:nvPr/>
        </p:nvSpPr>
        <p:spPr>
          <a:xfrm>
            <a:off x="5010912" y="3915095"/>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QQ 친구</a:t>
            </a:r>
            <a:endParaRPr lang="ko-KR" altLang="en-US" sz="850" dirty="0"/>
          </a:p>
        </p:txBody>
      </p:sp>
      <p:sp>
        <p:nvSpPr>
          <p:cNvPr id="29" name="Text 23"/>
          <p:cNvSpPr txBox="1"/>
          <p:nvPr/>
        </p:nvSpPr>
        <p:spPr>
          <a:xfrm>
            <a:off x="5065776"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QQ 식 친구 서랍</a:t>
            </a:r>
            <a:endParaRPr lang="ko-KR" altLang="en-US" sz="1200" dirty="0"/>
          </a:p>
        </p:txBody>
      </p:sp>
      <p:sp>
        <p:nvSpPr>
          <p:cNvPr id="30" name="Text 24"/>
          <p:cNvSpPr txBox="1"/>
          <p:nvPr/>
        </p:nvSpPr>
        <p:spPr>
          <a:xfrm>
            <a:off x="5065776"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fbfbb2c · ad41d69</a:t>
            </a:r>
            <a:endParaRPr lang="ko-KR" altLang="en-US" sz="900" dirty="0"/>
          </a:p>
        </p:txBody>
      </p:sp>
      <p:sp>
        <p:nvSpPr>
          <p:cNvPr id="31" name="Shape 25"/>
          <p:cNvSpPr/>
          <p:nvPr/>
        </p:nvSpPr>
        <p:spPr>
          <a:xfrm>
            <a:off x="7132320" y="4160520"/>
            <a:ext cx="182880" cy="0"/>
          </a:xfrm>
          <a:prstGeom prst="line">
            <a:avLst/>
          </a:prstGeom>
          <a:noFill/>
          <a:ln w="19050">
            <a:solidFill>
              <a:srgbClr val="1C86D9"/>
            </a:solidFill>
            <a:prstDash val="solid"/>
            <a:tailEnd type="triangle"/>
          </a:ln>
        </p:spPr>
      </p:sp>
      <p:sp>
        <p:nvSpPr>
          <p:cNvPr id="32" name="Shape 26"/>
          <p:cNvSpPr/>
          <p:nvPr/>
        </p:nvSpPr>
        <p:spPr>
          <a:xfrm>
            <a:off x="7324344" y="1463040"/>
            <a:ext cx="2057400" cy="932688"/>
          </a:xfrm>
          <a:prstGeom prst="roundRect">
            <a:avLst>
              <a:gd name="adj" fmla="val 9804"/>
            </a:avLst>
          </a:prstGeom>
          <a:solidFill>
            <a:srgbClr val="FFF4E2"/>
          </a:solidFill>
          <a:ln/>
        </p:spPr>
      </p:sp>
      <p:sp>
        <p:nvSpPr>
          <p:cNvPr id="33" name="Text 27"/>
          <p:cNvSpPr txBox="1"/>
          <p:nvPr/>
        </p:nvSpPr>
        <p:spPr>
          <a:xfrm>
            <a:off x="7452360"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34" name="Text 28"/>
          <p:cNvSpPr txBox="1"/>
          <p:nvPr/>
        </p:nvSpPr>
        <p:spPr>
          <a:xfrm>
            <a:off x="7452360"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“화면 비율마다 표시가 깨져”</a:t>
            </a:r>
            <a:endParaRPr lang="ko-KR" altLang="en-US" sz="1100" dirty="0"/>
          </a:p>
        </p:txBody>
      </p:sp>
      <p:sp>
        <p:nvSpPr>
          <p:cNvPr id="35" name="Shape 29"/>
          <p:cNvSpPr/>
          <p:nvPr/>
        </p:nvSpPr>
        <p:spPr>
          <a:xfrm>
            <a:off x="7388352" y="3591878"/>
            <a:ext cx="1929384" cy="1192149"/>
          </a:xfrm>
          <a:prstGeom prst="roundRect">
            <a:avLst>
              <a:gd name="adj" fmla="val 3607"/>
            </a:avLst>
          </a:prstGeom>
          <a:solidFill>
            <a:srgbClr val="FFFFFF"/>
          </a:solidFill>
          <a:ln/>
          <a:effectLst>
            <a:outerShdw sx="100000" sy="100000" kx="0" ky="0" algn="bl" rotWithShape="0" blurRad="228600" dist="76200" dir="5400000">
              <a:srgbClr val="000000">
                <a:alpha val="18000"/>
              </a:srgbClr>
            </a:outerShdw>
          </a:effectLst>
        </p:spPr>
      </p:sp>
      <p:pic>
        <p:nvPicPr>
          <p:cNvPr id="36" name="Image 4" descr="C:\Users\Windows11\AppData\Local\Temp\claude\C--Users-Windows11-Desktop-New-folder--2-\a0c8a1d0-32ba-4ae6-9843-b5ebc69d925f\scratchpad\deck2/img/evo_f08fffb_wide.png">    </p:cNvPr>
          <p:cNvPicPr>
            <a:picLocks noChangeAspect="1"/>
          </p:cNvPicPr>
          <p:nvPr/>
        </p:nvPicPr>
        <p:blipFill>
          <a:blip r:embed="rId5"/>
          <a:stretch>
            <a:fillRect/>
          </a:stretch>
        </p:blipFill>
        <p:spPr>
          <a:xfrm>
            <a:off x="7370064" y="3573590"/>
            <a:ext cx="1965960" cy="1228725"/>
          </a:xfrm>
          <a:prstGeom prst="rect">
            <a:avLst/>
          </a:prstGeom>
        </p:spPr>
      </p:pic>
      <p:sp>
        <p:nvSpPr>
          <p:cNvPr id="37" name="Text 30"/>
          <p:cNvSpPr txBox="1"/>
          <p:nvPr/>
        </p:nvSpPr>
        <p:spPr>
          <a:xfrm>
            <a:off x="7324344"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11111"/>
                </a:solidFill>
                <a:latin typeface="Malgun Gothic" pitchFamily="34" charset="0"/>
                <a:ea typeface="Malgun Gothic" pitchFamily="34" charset="-122"/>
                <a:cs typeface="Malgun Gothic" pitchFamily="34" charset="-120"/>
              </a:rPr>
              <a:t>넓은 창: 늘린 폰 화면</a:t>
            </a:r>
            <a:endParaRPr lang="ko-KR" altLang="en-US" sz="1200" dirty="0"/>
          </a:p>
        </p:txBody>
      </p:sp>
      <p:sp>
        <p:nvSpPr>
          <p:cNvPr id="38" name="Text 31"/>
          <p:cNvSpPr txBox="1"/>
          <p:nvPr/>
        </p:nvSpPr>
        <p:spPr>
          <a:xfrm>
            <a:off x="7324344"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f08fffb</a:t>
            </a:r>
            <a:endParaRPr lang="ko-KR" altLang="en-US" sz="900" dirty="0"/>
          </a:p>
        </p:txBody>
      </p:sp>
      <p:sp>
        <p:nvSpPr>
          <p:cNvPr id="39" name="Shape 32"/>
          <p:cNvSpPr/>
          <p:nvPr/>
        </p:nvSpPr>
        <p:spPr>
          <a:xfrm>
            <a:off x="9390888" y="4160520"/>
            <a:ext cx="182880" cy="0"/>
          </a:xfrm>
          <a:prstGeom prst="line">
            <a:avLst/>
          </a:prstGeom>
          <a:noFill/>
          <a:ln w="19050">
            <a:solidFill>
              <a:srgbClr val="1C86D9"/>
            </a:solidFill>
            <a:prstDash val="solid"/>
            <a:tailEnd type="triangle"/>
          </a:ln>
        </p:spPr>
      </p:sp>
      <p:sp>
        <p:nvSpPr>
          <p:cNvPr id="40" name="Shape 33"/>
          <p:cNvSpPr/>
          <p:nvPr/>
        </p:nvSpPr>
        <p:spPr>
          <a:xfrm>
            <a:off x="9582912" y="1463040"/>
            <a:ext cx="2057400" cy="932688"/>
          </a:xfrm>
          <a:prstGeom prst="roundRect">
            <a:avLst>
              <a:gd name="adj" fmla="val 9804"/>
            </a:avLst>
          </a:prstGeom>
          <a:solidFill>
            <a:srgbClr val="FFF4E2"/>
          </a:solidFill>
          <a:ln/>
        </p:spPr>
      </p:sp>
      <p:sp>
        <p:nvSpPr>
          <p:cNvPr id="41" name="Text 34"/>
          <p:cNvSpPr txBox="1"/>
          <p:nvPr/>
        </p:nvSpPr>
        <p:spPr>
          <a:xfrm>
            <a:off x="9710928" y="1517904"/>
            <a:ext cx="1801368" cy="219456"/>
          </a:xfrm>
          <a:prstGeom prst="rect">
            <a:avLst/>
          </a:prstGeom>
          <a:noFill/>
          <a:ln/>
        </p:spPr>
        <p:txBody>
          <a:bodyPr wrap="square" lIns="0" tIns="0" rIns="0" bIns="0" rtlCol="0" anchor="t"/>
          <a:lstStyle/>
          <a:p>
            <a:pPr indent="0" marL="0">
              <a:buNone/>
            </a:pPr>
            <a:r>
              <a:rPr lang="ko-KR" altLang="en-US" sz="950" b="1" dirty="0">
                <a:solidFill>
                  <a:srgbClr val="B86E00"/>
                </a:solidFill>
                <a:latin typeface="Malgun Gothic" pitchFamily="34" charset="0"/>
                <a:ea typeface="Malgun Gothic" pitchFamily="34" charset="-122"/>
                <a:cs typeface="Malgun Gothic" pitchFamily="34" charset="-120"/>
              </a:rPr>
              <a:t>내 요청 · 10/25</a:t>
            </a:r>
            <a:endParaRPr lang="ko-KR" altLang="en-US" sz="950" dirty="0"/>
          </a:p>
        </p:txBody>
      </p:sp>
      <p:sp>
        <p:nvSpPr>
          <p:cNvPr id="42" name="Text 35"/>
          <p:cNvSpPr txBox="1"/>
          <p:nvPr/>
        </p:nvSpPr>
        <p:spPr>
          <a:xfrm>
            <a:off x="9710928" y="1737360"/>
            <a:ext cx="1801368" cy="621792"/>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“삼성 폴드처럼 반반 — QQ처럼, 분할부터 해 줘”</a:t>
            </a:r>
            <a:endParaRPr lang="ko-KR" altLang="en-US" sz="1100" dirty="0"/>
          </a:p>
        </p:txBody>
      </p:sp>
      <p:sp>
        <p:nvSpPr>
          <p:cNvPr id="43" name="Shape 36"/>
          <p:cNvSpPr/>
          <p:nvPr/>
        </p:nvSpPr>
        <p:spPr>
          <a:xfrm>
            <a:off x="9674352" y="3389064"/>
            <a:ext cx="1929384" cy="1597776"/>
          </a:xfrm>
          <a:prstGeom prst="roundRect">
            <a:avLst>
              <a:gd name="adj" fmla="val 3580"/>
            </a:avLst>
          </a:prstGeom>
          <a:solidFill>
            <a:srgbClr val="FFFFFF"/>
          </a:solidFill>
          <a:ln/>
          <a:effectLst>
            <a:outerShdw sx="100000" sy="100000" kx="0" ky="0" algn="bl" rotWithShape="0" blurRad="228600" dist="76200" dir="5400000">
              <a:srgbClr val="000000">
                <a:alpha val="18000"/>
              </a:srgbClr>
            </a:outerShdw>
          </a:effectLst>
        </p:spPr>
      </p:sp>
      <p:pic>
        <p:nvPicPr>
          <p:cNvPr id="44" name="Image 5" descr="C:\Users\Windows11\AppData\Local\Temp\claude\C--Users-Windows11-Desktop-New-folder--2-\a0c8a1d0-32ba-4ae6-9843-b5ebc69d925f\scratchpad\deck2/img/fold.png">    </p:cNvPr>
          <p:cNvPicPr>
            <a:picLocks noChangeAspect="1"/>
          </p:cNvPicPr>
          <p:nvPr/>
        </p:nvPicPr>
        <p:blipFill>
          <a:blip r:embed="rId6"/>
          <a:stretch>
            <a:fillRect/>
          </a:stretch>
        </p:blipFill>
        <p:spPr>
          <a:xfrm>
            <a:off x="9656064" y="3370776"/>
            <a:ext cx="1965960" cy="1634352"/>
          </a:xfrm>
          <a:prstGeom prst="rect">
            <a:avLst/>
          </a:prstGeom>
        </p:spPr>
      </p:pic>
      <p:sp>
        <p:nvSpPr>
          <p:cNvPr id="45" name="Shape 37"/>
          <p:cNvSpPr/>
          <p:nvPr/>
        </p:nvSpPr>
        <p:spPr>
          <a:xfrm>
            <a:off x="9564624" y="3285408"/>
            <a:ext cx="713232" cy="817825"/>
          </a:xfrm>
          <a:prstGeom prst="roundRect">
            <a:avLst>
              <a:gd name="adj" fmla="val 6308"/>
            </a:avLst>
          </a:prstGeom>
          <a:solidFill>
            <a:srgbClr val="FFFFFF"/>
          </a:solidFill>
          <a:ln/>
          <a:effectLst>
            <a:outerShdw sx="100000" sy="100000" kx="0" ky="0" algn="bl" rotWithShape="0" blurRad="228600" dist="76200" dir="5400000">
              <a:srgbClr val="000000">
                <a:alpha val="18000"/>
              </a:srgbClr>
            </a:outerShdw>
          </a:effectLst>
        </p:spPr>
      </p:sp>
      <p:pic>
        <p:nvPicPr>
          <p:cNvPr id="46" name="Image 6" descr="C:\Users\Windows11\AppData\Local\Temp\claude\C--Users-Windows11-Desktop-New-folder--2-\a0c8a1d0-32ba-4ae6-9843-b5ebc69d925f\scratchpad\deck2/img/ref_qqfold.png">    </p:cNvPr>
          <p:cNvPicPr>
            <a:picLocks noChangeAspect="1"/>
          </p:cNvPicPr>
          <p:nvPr/>
        </p:nvPicPr>
        <p:blipFill>
          <a:blip r:embed="rId7"/>
          <a:stretch>
            <a:fillRect/>
          </a:stretch>
        </p:blipFill>
        <p:spPr>
          <a:xfrm>
            <a:off x="9546336" y="3267120"/>
            <a:ext cx="749808" cy="854401"/>
          </a:xfrm>
          <a:prstGeom prst="rect">
            <a:avLst/>
          </a:prstGeom>
        </p:spPr>
      </p:pic>
      <p:sp>
        <p:nvSpPr>
          <p:cNvPr id="47" name="Shape 38"/>
          <p:cNvSpPr/>
          <p:nvPr/>
        </p:nvSpPr>
        <p:spPr>
          <a:xfrm>
            <a:off x="9528048" y="2992800"/>
            <a:ext cx="1188720" cy="228600"/>
          </a:xfrm>
          <a:prstGeom prst="roundRect">
            <a:avLst>
              <a:gd name="adj" fmla="val 50000"/>
            </a:avLst>
          </a:prstGeom>
          <a:solidFill>
            <a:srgbClr val="111111"/>
          </a:solidFill>
          <a:ln/>
        </p:spPr>
      </p:sp>
      <p:sp>
        <p:nvSpPr>
          <p:cNvPr id="48" name="Text 39"/>
          <p:cNvSpPr txBox="1"/>
          <p:nvPr/>
        </p:nvSpPr>
        <p:spPr>
          <a:xfrm>
            <a:off x="9528048" y="2992800"/>
            <a:ext cx="1188720" cy="228600"/>
          </a:xfrm>
          <a:prstGeom prst="rect">
            <a:avLst/>
          </a:prstGeom>
          <a:noFill/>
          <a:ln/>
        </p:spPr>
        <p:txBody>
          <a:bodyPr wrap="square" lIns="0" tIns="0" rIns="0" bIns="0" rtlCol="0" anchor="ctr"/>
          <a:lstStyle/>
          <a:p>
            <a:pPr algn="ctr" indent="0" marL="0">
              <a:buNone/>
            </a:pPr>
            <a:r>
              <a:rPr lang="ko-KR" altLang="en-US" sz="850" b="1" dirty="0">
                <a:solidFill>
                  <a:srgbClr val="FFFFFF"/>
                </a:solidFill>
                <a:latin typeface="Malgun Gothic" pitchFamily="34" charset="0"/>
                <a:ea typeface="Malgun Gothic" pitchFamily="34" charset="-122"/>
                <a:cs typeface="Malgun Gothic" pitchFamily="34" charset="-120"/>
              </a:rPr>
              <a:t>참고 · QQ 폴드</a:t>
            </a:r>
            <a:endParaRPr lang="ko-KR" altLang="en-US" sz="850" dirty="0"/>
          </a:p>
        </p:txBody>
      </p:sp>
      <p:sp>
        <p:nvSpPr>
          <p:cNvPr id="49" name="Text 40"/>
          <p:cNvSpPr txBox="1"/>
          <p:nvPr/>
        </p:nvSpPr>
        <p:spPr>
          <a:xfrm>
            <a:off x="9582912" y="5907024"/>
            <a:ext cx="2057400" cy="274320"/>
          </a:xfrm>
          <a:prstGeom prst="rect">
            <a:avLst/>
          </a:prstGeom>
          <a:noFill/>
          <a:ln/>
        </p:spPr>
        <p:txBody>
          <a:bodyPr wrap="square" lIns="0" tIns="0" rIns="0" bIns="0" rtlCol="0" anchor="t"/>
          <a:lstStyle/>
          <a:p>
            <a:pPr algn="ctr" indent="0" marL="0">
              <a:buNone/>
            </a:pPr>
            <a:r>
              <a:rPr lang="ko-KR" altLang="en-US" sz="1200" b="1" dirty="0">
                <a:solidFill>
                  <a:srgbClr val="1C86D9"/>
                </a:solidFill>
                <a:latin typeface="Malgun Gothic" pitchFamily="34" charset="0"/>
                <a:ea typeface="Malgun Gothic" pitchFamily="34" charset="-122"/>
                <a:cs typeface="Malgun Gothic" pitchFamily="34" charset="-120"/>
              </a:rPr>
              <a:t>반반 화면 · 지금</a:t>
            </a:r>
            <a:endParaRPr lang="ko-KR" altLang="en-US" sz="1200" dirty="0"/>
          </a:p>
        </p:txBody>
      </p:sp>
      <p:sp>
        <p:nvSpPr>
          <p:cNvPr id="50" name="Text 41"/>
          <p:cNvSpPr txBox="1"/>
          <p:nvPr/>
        </p:nvSpPr>
        <p:spPr>
          <a:xfrm>
            <a:off x="9582912" y="6163056"/>
            <a:ext cx="20574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f7ed455 → 최종</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 AI 반론으로 다진 UX/UI 결정</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반론을 요청하고, 받아들이거나 버렸다</a:t>
            </a:r>
            <a:endParaRPr lang="ko-KR" altLang="en-US" sz="2800" dirty="0"/>
          </a:p>
        </p:txBody>
      </p:sp>
      <p:sp>
        <p:nvSpPr>
          <p:cNvPr id="4" name="Shape 2"/>
          <p:cNvSpPr/>
          <p:nvPr/>
        </p:nvSpPr>
        <p:spPr>
          <a:xfrm>
            <a:off x="548640" y="1481328"/>
            <a:ext cx="5440680" cy="4617720"/>
          </a:xfrm>
          <a:prstGeom prst="roundRect">
            <a:avLst>
              <a:gd name="adj" fmla="val 3168"/>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777240" y="1664208"/>
            <a:ext cx="2377440" cy="292608"/>
          </a:xfrm>
          <a:prstGeom prst="roundRect">
            <a:avLst>
              <a:gd name="adj" fmla="val 50000"/>
            </a:avLst>
          </a:prstGeom>
          <a:solidFill>
            <a:srgbClr val="12A07F"/>
          </a:solidFill>
          <a:ln/>
        </p:spPr>
      </p:sp>
      <p:sp>
        <p:nvSpPr>
          <p:cNvPr id="6" name="Text 4"/>
          <p:cNvSpPr txBox="1"/>
          <p:nvPr/>
        </p:nvSpPr>
        <p:spPr>
          <a:xfrm>
            <a:off x="777240" y="1664208"/>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쟁점 1 · 결론: 수정</a:t>
            </a:r>
            <a:endParaRPr lang="ko-KR" altLang="en-US" sz="1050" dirty="0"/>
          </a:p>
        </p:txBody>
      </p:sp>
      <p:sp>
        <p:nvSpPr>
          <p:cNvPr id="7" name="Text 5"/>
          <p:cNvSpPr txBox="1"/>
          <p:nvPr/>
        </p:nvSpPr>
        <p:spPr>
          <a:xfrm>
            <a:off x="3291840" y="1664208"/>
            <a:ext cx="2560320" cy="292608"/>
          </a:xfrm>
          <a:prstGeom prst="rect">
            <a:avLst/>
          </a:prstGeom>
          <a:noFill/>
          <a:ln/>
        </p:spPr>
        <p:txBody>
          <a:bodyPr wrap="square" lIns="0" tIns="0" rIns="0" bIns="0" rtlCol="0" anchor="ct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좋아요 · 구매함을 어떤 모양으로?</a:t>
            </a:r>
            <a:endParaRPr lang="ko-KR" altLang="en-US" sz="1100" dirty="0"/>
          </a:p>
        </p:txBody>
      </p:sp>
      <p:sp>
        <p:nvSpPr>
          <p:cNvPr id="8" name="Shape 6"/>
          <p:cNvSpPr/>
          <p:nvPr/>
        </p:nvSpPr>
        <p:spPr>
          <a:xfrm>
            <a:off x="1783080" y="2148840"/>
            <a:ext cx="3977640" cy="868680"/>
          </a:xfrm>
          <a:prstGeom prst="roundRect">
            <a:avLst>
              <a:gd name="adj" fmla="val 14737"/>
            </a:avLst>
          </a:prstGeom>
          <a:solidFill>
            <a:srgbClr val="1C86D9"/>
          </a:solidFill>
          <a:ln/>
        </p:spPr>
      </p:sp>
      <p:sp>
        <p:nvSpPr>
          <p:cNvPr id="9" name="Text 7"/>
          <p:cNvSpPr txBox="1"/>
          <p:nvPr/>
        </p:nvSpPr>
        <p:spPr>
          <a:xfrm>
            <a:off x="1947672" y="221284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처음 주장</a:t>
            </a:r>
            <a:endParaRPr lang="ko-KR" altLang="en-US" sz="950" dirty="0"/>
          </a:p>
        </p:txBody>
      </p:sp>
      <p:sp>
        <p:nvSpPr>
          <p:cNvPr id="10" name="Text 8"/>
          <p:cNvSpPr txBox="1"/>
          <p:nvPr/>
        </p:nvSpPr>
        <p:spPr>
          <a:xfrm>
            <a:off x="1947672" y="241401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자리마다 맞는 모양 — 사진 위엔 리본, 도감엔 동그라미, 상세엔 큰 버튼</a:t>
            </a:r>
            <a:endParaRPr lang="ko-KR" altLang="en-US" sz="1200" dirty="0"/>
          </a:p>
        </p:txBody>
      </p:sp>
      <p:sp>
        <p:nvSpPr>
          <p:cNvPr id="11" name="Shape 9"/>
          <p:cNvSpPr/>
          <p:nvPr/>
        </p:nvSpPr>
        <p:spPr>
          <a:xfrm>
            <a:off x="777240" y="3154680"/>
            <a:ext cx="3977640" cy="868680"/>
          </a:xfrm>
          <a:prstGeom prst="roundRect">
            <a:avLst>
              <a:gd name="adj" fmla="val 14737"/>
            </a:avLst>
          </a:prstGeom>
          <a:solidFill>
            <a:srgbClr val="F4F5F7"/>
          </a:solidFill>
          <a:ln/>
        </p:spPr>
      </p:sp>
      <p:sp>
        <p:nvSpPr>
          <p:cNvPr id="12" name="Text 10"/>
          <p:cNvSpPr txBox="1"/>
          <p:nvPr/>
        </p:nvSpPr>
        <p:spPr>
          <a:xfrm>
            <a:off x="941832" y="321868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AI — 내 질문 "UI 설계에 아직 어떤 문제가 있다고 생각해?"</a:t>
            </a:r>
            <a:endParaRPr lang="ko-KR" altLang="en-US" sz="950" dirty="0"/>
          </a:p>
        </p:txBody>
      </p:sp>
      <p:sp>
        <p:nvSpPr>
          <p:cNvPr id="13" name="Text 11"/>
          <p:cNvSpPr txBox="1"/>
          <p:nvPr/>
        </p:nvSpPr>
        <p:spPr>
          <a:xfrm>
            <a:off x="941832" y="3419856"/>
            <a:ext cx="3648456" cy="55778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같은 "구매함"이 3–4가지 모양 → 일관성(P04) 위반</a:t>
            </a:r>
            <a:endParaRPr lang="ko-KR" altLang="en-US" sz="1200" dirty="0"/>
          </a:p>
        </p:txBody>
      </p:sp>
      <p:sp>
        <p:nvSpPr>
          <p:cNvPr id="14" name="Shape 12"/>
          <p:cNvSpPr/>
          <p:nvPr/>
        </p:nvSpPr>
        <p:spPr>
          <a:xfrm>
            <a:off x="1783080" y="4160520"/>
            <a:ext cx="3977640" cy="868680"/>
          </a:xfrm>
          <a:prstGeom prst="roundRect">
            <a:avLst>
              <a:gd name="adj" fmla="val 14737"/>
            </a:avLst>
          </a:prstGeom>
          <a:solidFill>
            <a:srgbClr val="1C86D9"/>
          </a:solidFill>
          <a:ln/>
        </p:spPr>
      </p:sp>
      <p:sp>
        <p:nvSpPr>
          <p:cNvPr id="15" name="Text 13"/>
          <p:cNvSpPr txBox="1"/>
          <p:nvPr/>
        </p:nvSpPr>
        <p:spPr>
          <a:xfrm>
            <a:off x="1947672" y="422452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결정</a:t>
            </a:r>
            <a:endParaRPr lang="ko-KR" altLang="en-US" sz="950" dirty="0"/>
          </a:p>
        </p:txBody>
      </p:sp>
      <p:sp>
        <p:nvSpPr>
          <p:cNvPr id="16" name="Text 14"/>
          <p:cNvSpPr txBox="1"/>
          <p:nvPr/>
        </p:nvSpPr>
        <p:spPr>
          <a:xfrm>
            <a:off x="1947672" y="442569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"로고만 빼고 나머지는 네 말대로" → ♡ = 좋아요, 리본 = 구매함 하나로</a:t>
            </a:r>
            <a:endParaRPr lang="ko-KR" altLang="en-US" sz="1200" dirty="0"/>
          </a:p>
        </p:txBody>
      </p:sp>
      <p:sp>
        <p:nvSpPr>
          <p:cNvPr id="17" name="Text 15"/>
          <p:cNvSpPr txBox="1"/>
          <p:nvPr/>
        </p:nvSpPr>
        <p:spPr>
          <a:xfrm>
            <a:off x="777240" y="5166360"/>
            <a:ext cx="5029200" cy="822960"/>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근거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P04 일관성 · 리뷰 "쇼케이스와 컬렉션 차이를 모르겠다"</a:t>
            </a:r>
            <a:endParaRPr lang="ko-KR" altLang="en-US" sz="1100" dirty="0"/>
          </a:p>
          <a:p>
            <a:pPr indent="0" marL="0">
              <a:buNone/>
            </a:pPr>
            <a:r>
              <a:rPr lang="ko-KR" altLang="en-US" sz="1100" dirty="0">
                <a:solidFill>
                  <a:srgbClr val="1C86D9"/>
                </a:solidFill>
                <a:latin typeface="Malgun Gothic" pitchFamily="34" charset="0"/>
                <a:ea typeface="Malgun Gothic" pitchFamily="34" charset="-122"/>
                <a:cs typeface="Malgun Gothic" pitchFamily="34" charset="-120"/>
              </a:rPr>
              <a:t>화면 변화 → 10장</a:t>
            </a:r>
            <a:endParaRPr lang="ko-KR" altLang="en-US" sz="1100" dirty="0"/>
          </a:p>
        </p:txBody>
      </p:sp>
      <p:sp>
        <p:nvSpPr>
          <p:cNvPr id="18" name="Shape 16"/>
          <p:cNvSpPr/>
          <p:nvPr/>
        </p:nvSpPr>
        <p:spPr>
          <a:xfrm>
            <a:off x="6199632" y="1481328"/>
            <a:ext cx="5440680" cy="4617720"/>
          </a:xfrm>
          <a:prstGeom prst="roundRect">
            <a:avLst>
              <a:gd name="adj" fmla="val 3168"/>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9" name="Shape 17"/>
          <p:cNvSpPr/>
          <p:nvPr/>
        </p:nvSpPr>
        <p:spPr>
          <a:xfrm>
            <a:off x="6428232" y="1664208"/>
            <a:ext cx="2377440" cy="292608"/>
          </a:xfrm>
          <a:prstGeom prst="roundRect">
            <a:avLst>
              <a:gd name="adj" fmla="val 50000"/>
            </a:avLst>
          </a:prstGeom>
          <a:solidFill>
            <a:srgbClr val="D93F44"/>
          </a:solidFill>
          <a:ln/>
        </p:spPr>
      </p:sp>
      <p:sp>
        <p:nvSpPr>
          <p:cNvPr id="20" name="Text 18"/>
          <p:cNvSpPr txBox="1"/>
          <p:nvPr/>
        </p:nvSpPr>
        <p:spPr>
          <a:xfrm>
            <a:off x="6428232" y="1664208"/>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쟁점 6 · AI 제안을 폐기</a:t>
            </a:r>
            <a:endParaRPr lang="ko-KR" altLang="en-US" sz="1050" dirty="0"/>
          </a:p>
        </p:txBody>
      </p:sp>
      <p:sp>
        <p:nvSpPr>
          <p:cNvPr id="21" name="Shape 19"/>
          <p:cNvSpPr/>
          <p:nvPr/>
        </p:nvSpPr>
        <p:spPr>
          <a:xfrm>
            <a:off x="6428232" y="2148840"/>
            <a:ext cx="3977640" cy="731520"/>
          </a:xfrm>
          <a:prstGeom prst="roundRect">
            <a:avLst>
              <a:gd name="adj" fmla="val 17500"/>
            </a:avLst>
          </a:prstGeom>
          <a:solidFill>
            <a:srgbClr val="F4F5F7"/>
          </a:solidFill>
          <a:ln/>
        </p:spPr>
      </p:sp>
      <p:sp>
        <p:nvSpPr>
          <p:cNvPr id="22" name="Text 20"/>
          <p:cNvSpPr txBox="1"/>
          <p:nvPr/>
        </p:nvSpPr>
        <p:spPr>
          <a:xfrm>
            <a:off x="6592824" y="221284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AI — 제안</a:t>
            </a:r>
            <a:endParaRPr lang="ko-KR" altLang="en-US" sz="950" dirty="0"/>
          </a:p>
        </p:txBody>
      </p:sp>
      <p:sp>
        <p:nvSpPr>
          <p:cNvPr id="23" name="Text 21"/>
          <p:cNvSpPr txBox="1"/>
          <p:nvPr/>
        </p:nvSpPr>
        <p:spPr>
          <a:xfrm>
            <a:off x="6592824" y="2414016"/>
            <a:ext cx="3648456" cy="42062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전체 목록은 새 화면으로, 좋아요 · 구매함 상태로 거르자</a:t>
            </a:r>
            <a:endParaRPr lang="ko-KR" altLang="en-US" sz="1200" dirty="0"/>
          </a:p>
        </p:txBody>
      </p:sp>
      <p:sp>
        <p:nvSpPr>
          <p:cNvPr id="24" name="Shape 22"/>
          <p:cNvSpPr/>
          <p:nvPr/>
        </p:nvSpPr>
        <p:spPr>
          <a:xfrm>
            <a:off x="7434072" y="3017520"/>
            <a:ext cx="3977640" cy="868680"/>
          </a:xfrm>
          <a:prstGeom prst="roundRect">
            <a:avLst>
              <a:gd name="adj" fmla="val 14737"/>
            </a:avLst>
          </a:prstGeom>
          <a:solidFill>
            <a:srgbClr val="1C86D9"/>
          </a:solidFill>
          <a:ln/>
        </p:spPr>
      </p:sp>
      <p:sp>
        <p:nvSpPr>
          <p:cNvPr id="25" name="Text 23"/>
          <p:cNvSpPr txBox="1"/>
          <p:nvPr/>
        </p:nvSpPr>
        <p:spPr>
          <a:xfrm>
            <a:off x="7598664" y="3081528"/>
            <a:ext cx="3648456" cy="201168"/>
          </a:xfrm>
          <a:prstGeom prst="rect">
            <a:avLst/>
          </a:prstGeom>
          <a:noFill/>
          <a:ln/>
        </p:spPr>
        <p:txBody>
          <a:bodyPr wrap="square" lIns="0" tIns="0" rIns="0" bIns="0" rtlCol="0" anchor="t"/>
          <a:lstStyle/>
          <a:p>
            <a:pPr indent="0" marL="0">
              <a:buNone/>
            </a:pPr>
            <a:r>
              <a:rPr lang="ko-KR" altLang="en-US" sz="950" b="1" dirty="0">
                <a:solidFill>
                  <a:srgbClr val="CFE5F7"/>
                </a:solidFill>
                <a:latin typeface="Malgun Gothic" pitchFamily="34" charset="0"/>
                <a:ea typeface="Malgun Gothic" pitchFamily="34" charset="-122"/>
                <a:cs typeface="Malgun Gothic" pitchFamily="34" charset="-120"/>
              </a:rPr>
              <a:t>나 — 반론</a:t>
            </a:r>
            <a:endParaRPr lang="ko-KR" altLang="en-US" sz="950" dirty="0"/>
          </a:p>
        </p:txBody>
      </p:sp>
      <p:sp>
        <p:nvSpPr>
          <p:cNvPr id="26" name="Text 24"/>
          <p:cNvSpPr txBox="1"/>
          <p:nvPr/>
        </p:nvSpPr>
        <p:spPr>
          <a:xfrm>
            <a:off x="7598664" y="3282696"/>
            <a:ext cx="3648456" cy="557784"/>
          </a:xfrm>
          <a:prstGeom prst="rect">
            <a:avLst/>
          </a:prstGeom>
          <a:noFill/>
          <a:ln/>
        </p:spPr>
        <p:txBody>
          <a:bodyPr wrap="square" lIns="0" tIns="0" rIns="0" bIns="0" rtlCol="0" anchor="t"/>
          <a:lstStyle/>
          <a:p>
            <a:pPr indent="0" marL="0">
              <a:buNone/>
            </a:pPr>
            <a:r>
              <a:rPr lang="ko-KR" altLang="en-US" sz="1200" b="1" dirty="0">
                <a:solidFill>
                  <a:srgbClr val="FFFFFF"/>
                </a:solidFill>
                <a:latin typeface="Malgun Gothic" pitchFamily="34" charset="0"/>
                <a:ea typeface="Malgun Gothic" pitchFamily="34" charset="-122"/>
                <a:cs typeface="Malgun Gothic" pitchFamily="34" charset="-120"/>
              </a:rPr>
              <a:t>"아니, 이 화면 아래에. 분류는 좋아요 · 원함이 아니라 작품별로" · "알약은 너무 못생겼어"</a:t>
            </a:r>
            <a:endParaRPr lang="ko-KR" altLang="en-US" sz="1200" dirty="0"/>
          </a:p>
        </p:txBody>
      </p:sp>
      <p:sp>
        <p:nvSpPr>
          <p:cNvPr id="27" name="Shape 25"/>
          <p:cNvSpPr/>
          <p:nvPr/>
        </p:nvSpPr>
        <p:spPr>
          <a:xfrm>
            <a:off x="6428232" y="4023360"/>
            <a:ext cx="3977640" cy="731520"/>
          </a:xfrm>
          <a:prstGeom prst="roundRect">
            <a:avLst>
              <a:gd name="adj" fmla="val 17500"/>
            </a:avLst>
          </a:prstGeom>
          <a:solidFill>
            <a:srgbClr val="F4F5F7"/>
          </a:solidFill>
          <a:ln/>
        </p:spPr>
      </p:sp>
      <p:sp>
        <p:nvSpPr>
          <p:cNvPr id="28" name="Text 26"/>
          <p:cNvSpPr txBox="1"/>
          <p:nvPr/>
        </p:nvSpPr>
        <p:spPr>
          <a:xfrm>
            <a:off x="6592824" y="4087368"/>
            <a:ext cx="3648456" cy="201168"/>
          </a:xfrm>
          <a:prstGeom prst="rect">
            <a:avLst/>
          </a:prstGeom>
          <a:noFill/>
          <a:ln/>
        </p:spPr>
        <p:txBody>
          <a:bodyPr wrap="square" lIns="0" tIns="0" rIns="0" bIns="0" rtlCol="0" anchor="t"/>
          <a:lstStyle/>
          <a:p>
            <a:pPr indent="0" marL="0">
              <a:buNone/>
            </a:pPr>
            <a:r>
              <a:rPr lang="ko-KR" altLang="en-US" sz="950" b="1" dirty="0">
                <a:solidFill>
                  <a:srgbClr val="6B7078"/>
                </a:solidFill>
                <a:latin typeface="Malgun Gothic" pitchFamily="34" charset="0"/>
                <a:ea typeface="Malgun Gothic" pitchFamily="34" charset="-122"/>
                <a:cs typeface="Malgun Gothic" pitchFamily="34" charset="-120"/>
              </a:rPr>
              <a:t>결과</a:t>
            </a:r>
            <a:endParaRPr lang="ko-KR" altLang="en-US" sz="950" dirty="0"/>
          </a:p>
        </p:txBody>
      </p:sp>
      <p:sp>
        <p:nvSpPr>
          <p:cNvPr id="29" name="Text 27"/>
          <p:cNvSpPr txBox="1"/>
          <p:nvPr/>
        </p:nvSpPr>
        <p:spPr>
          <a:xfrm>
            <a:off x="6592824" y="4288536"/>
            <a:ext cx="3648456" cy="420624"/>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오른쪽 필터 패널 — 작품 · 종류 · 라인, 고르는 동안 개수 표시</a:t>
            </a:r>
            <a:endParaRPr lang="ko-KR" altLang="en-US" sz="1200" dirty="0"/>
          </a:p>
        </p:txBody>
      </p:sp>
      <p:sp>
        <p:nvSpPr>
          <p:cNvPr id="30" name="Text 28"/>
          <p:cNvSpPr txBox="1"/>
          <p:nvPr/>
        </p:nvSpPr>
        <p:spPr>
          <a:xfrm>
            <a:off x="6428232" y="4937760"/>
            <a:ext cx="5029200" cy="105156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그 밖에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AI가 처음 만든 화면 → "내가 다시 설계할게" · 로고 시안 → "다 별로"</a:t>
            </a:r>
            <a:endParaRPr lang="ko-KR" altLang="en-US" sz="1100" dirty="0"/>
          </a:p>
          <a:p>
            <a:pPr indent="0" marL="0">
              <a:buNone/>
            </a:pPr>
            <a:r>
              <a:rPr lang="ko-KR" altLang="en-US" sz="1100" b="1" dirty="0">
                <a:solidFill>
                  <a:srgbClr val="6B7078"/>
                </a:solidFill>
                <a:latin typeface="Malgun Gothic" pitchFamily="34" charset="0"/>
                <a:ea typeface="Malgun Gothic" pitchFamily="34" charset="-122"/>
                <a:cs typeface="Malgun Gothic" pitchFamily="34" charset="-120"/>
              </a:rPr>
              <a:t>기록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prompt-log ★ 줄 (부록 B3) · docs/셀프논증.md 쟁점 7개</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폴드까지</a:t>
            </a:r>
            <a:endParaRPr lang="ko-KR" altLang="en-US" sz="2800" dirty="0"/>
          </a:p>
        </p:txBody>
      </p:sp>
      <p:sp>
        <p:nvSpPr>
          <p:cNvPr id="4" name="Shape 2"/>
          <p:cNvSpPr/>
          <p:nvPr/>
        </p:nvSpPr>
        <p:spPr>
          <a:xfrm>
            <a:off x="548640" y="1481328"/>
            <a:ext cx="3840480" cy="4617720"/>
          </a:xfrm>
          <a:prstGeom prst="roundRect">
            <a:avLst>
              <a:gd name="adj" fmla="val 3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347472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6" name="Shape 4"/>
          <p:cNvSpPr/>
          <p:nvPr/>
        </p:nvSpPr>
        <p:spPr>
          <a:xfrm>
            <a:off x="777240" y="2057400"/>
            <a:ext cx="3383280" cy="457200"/>
          </a:xfrm>
          <a:prstGeom prst="roundRect">
            <a:avLst>
              <a:gd name="adj" fmla="val 20000"/>
            </a:avLst>
          </a:prstGeom>
          <a:solidFill>
            <a:srgbClr val="FFFFFF"/>
          </a:solidFill>
          <a:ln w="9525">
            <a:solidFill>
              <a:srgbClr val="E3E5E8"/>
            </a:solidFill>
            <a:prstDash val="solid"/>
          </a:ln>
        </p:spPr>
      </p:sp>
      <p:sp>
        <p:nvSpPr>
          <p:cNvPr id="7" name="Text 5"/>
          <p:cNvSpPr txBox="1"/>
          <p:nvPr/>
        </p:nvSpPr>
        <p:spPr>
          <a:xfrm>
            <a:off x="886968" y="2093976"/>
            <a:ext cx="3200400"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MaterialApp</a:t>
            </a:r>
            <a:endParaRPr lang="ko-KR" altLang="en-US" sz="1100" dirty="0"/>
          </a:p>
        </p:txBody>
      </p:sp>
      <p:sp>
        <p:nvSpPr>
          <p:cNvPr id="8" name="Text 6"/>
          <p:cNvSpPr txBox="1"/>
          <p:nvPr/>
        </p:nvSpPr>
        <p:spPr>
          <a:xfrm>
            <a:off x="886968" y="2295144"/>
            <a:ext cx="3200400"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쌓기: CupertinoPageRoute</a:t>
            </a:r>
            <a:endParaRPr lang="ko-KR" altLang="en-US" sz="950" dirty="0"/>
          </a:p>
        </p:txBody>
      </p:sp>
      <p:sp>
        <p:nvSpPr>
          <p:cNvPr id="9" name="Shape 7"/>
          <p:cNvSpPr/>
          <p:nvPr/>
        </p:nvSpPr>
        <p:spPr>
          <a:xfrm>
            <a:off x="877824" y="2514600"/>
            <a:ext cx="0" cy="320040"/>
          </a:xfrm>
          <a:prstGeom prst="line">
            <a:avLst/>
          </a:prstGeom>
          <a:noFill/>
          <a:ln w="12700">
            <a:solidFill>
              <a:srgbClr val="C9CDD2"/>
            </a:solidFill>
            <a:prstDash val="solid"/>
          </a:ln>
        </p:spPr>
      </p:sp>
      <p:sp>
        <p:nvSpPr>
          <p:cNvPr id="10" name="Shape 8"/>
          <p:cNvSpPr/>
          <p:nvPr/>
        </p:nvSpPr>
        <p:spPr>
          <a:xfrm>
            <a:off x="877824" y="2834640"/>
            <a:ext cx="118872" cy="0"/>
          </a:xfrm>
          <a:prstGeom prst="line">
            <a:avLst/>
          </a:prstGeom>
          <a:noFill/>
          <a:ln w="12700">
            <a:solidFill>
              <a:srgbClr val="C9CDD2"/>
            </a:solidFill>
            <a:prstDash val="solid"/>
          </a:ln>
        </p:spPr>
      </p:sp>
      <p:sp>
        <p:nvSpPr>
          <p:cNvPr id="11" name="Shape 9"/>
          <p:cNvSpPr/>
          <p:nvPr/>
        </p:nvSpPr>
        <p:spPr>
          <a:xfrm>
            <a:off x="996696" y="2606040"/>
            <a:ext cx="3163824" cy="457200"/>
          </a:xfrm>
          <a:prstGeom prst="roundRect">
            <a:avLst>
              <a:gd name="adj" fmla="val 20000"/>
            </a:avLst>
          </a:prstGeom>
          <a:solidFill>
            <a:srgbClr val="E8F6F1"/>
          </a:solidFill>
          <a:ln/>
        </p:spPr>
      </p:sp>
      <p:sp>
        <p:nvSpPr>
          <p:cNvPr id="12" name="Text 10"/>
          <p:cNvSpPr txBox="1"/>
          <p:nvPr/>
        </p:nvSpPr>
        <p:spPr>
          <a:xfrm>
            <a:off x="1106424" y="2642616"/>
            <a:ext cx="2980944" cy="201168"/>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MarksHost · PaneHost</a:t>
            </a:r>
            <a:endParaRPr lang="ko-KR" altLang="en-US" sz="1100" dirty="0"/>
          </a:p>
        </p:txBody>
      </p:sp>
      <p:sp>
        <p:nvSpPr>
          <p:cNvPr id="13" name="Text 11"/>
          <p:cNvSpPr txBox="1"/>
          <p:nvPr/>
        </p:nvSpPr>
        <p:spPr>
          <a:xfrm>
            <a:off x="1106424" y="2843784"/>
            <a:ext cx="2980944"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setState + InheritedWidget</a:t>
            </a:r>
            <a:endParaRPr lang="ko-KR" altLang="en-US" sz="950" dirty="0"/>
          </a:p>
        </p:txBody>
      </p:sp>
      <p:sp>
        <p:nvSpPr>
          <p:cNvPr id="14" name="Shape 12"/>
          <p:cNvSpPr/>
          <p:nvPr/>
        </p:nvSpPr>
        <p:spPr>
          <a:xfrm>
            <a:off x="1097280" y="3063240"/>
            <a:ext cx="0" cy="320040"/>
          </a:xfrm>
          <a:prstGeom prst="line">
            <a:avLst/>
          </a:prstGeom>
          <a:noFill/>
          <a:ln w="12700">
            <a:solidFill>
              <a:srgbClr val="C9CDD2"/>
            </a:solidFill>
            <a:prstDash val="solid"/>
          </a:ln>
        </p:spPr>
      </p:sp>
      <p:sp>
        <p:nvSpPr>
          <p:cNvPr id="15" name="Shape 13"/>
          <p:cNvSpPr/>
          <p:nvPr/>
        </p:nvSpPr>
        <p:spPr>
          <a:xfrm>
            <a:off x="1097280" y="3383280"/>
            <a:ext cx="118872" cy="0"/>
          </a:xfrm>
          <a:prstGeom prst="line">
            <a:avLst/>
          </a:prstGeom>
          <a:noFill/>
          <a:ln w="12700">
            <a:solidFill>
              <a:srgbClr val="C9CDD2"/>
            </a:solidFill>
            <a:prstDash val="solid"/>
          </a:ln>
        </p:spPr>
      </p:sp>
      <p:sp>
        <p:nvSpPr>
          <p:cNvPr id="16" name="Shape 14"/>
          <p:cNvSpPr/>
          <p:nvPr/>
        </p:nvSpPr>
        <p:spPr>
          <a:xfrm>
            <a:off x="1216152" y="3154680"/>
            <a:ext cx="2944368" cy="457200"/>
          </a:xfrm>
          <a:prstGeom prst="roundRect">
            <a:avLst>
              <a:gd name="adj" fmla="val 20000"/>
            </a:avLst>
          </a:prstGeom>
          <a:solidFill>
            <a:srgbClr val="EAF4FC"/>
          </a:solidFill>
          <a:ln/>
        </p:spPr>
      </p:sp>
      <p:sp>
        <p:nvSpPr>
          <p:cNvPr id="17" name="Text 15"/>
          <p:cNvSpPr txBox="1"/>
          <p:nvPr/>
        </p:nvSpPr>
        <p:spPr>
          <a:xfrm>
            <a:off x="1325880" y="3191256"/>
            <a:ext cx="2761488" cy="201168"/>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AppShell (LayoutBuilder)</a:t>
            </a:r>
            <a:endParaRPr lang="ko-KR" altLang="en-US" sz="1100" dirty="0"/>
          </a:p>
        </p:txBody>
      </p:sp>
      <p:sp>
        <p:nvSpPr>
          <p:cNvPr id="18" name="Text 16"/>
          <p:cNvSpPr txBox="1"/>
          <p:nvPr/>
        </p:nvSpPr>
        <p:spPr>
          <a:xfrm>
            <a:off x="1325880" y="3392424"/>
            <a:ext cx="2761488"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50" dirty="0"/>
          </a:p>
        </p:txBody>
      </p:sp>
      <p:sp>
        <p:nvSpPr>
          <p:cNvPr id="19" name="Shape 17"/>
          <p:cNvSpPr/>
          <p:nvPr/>
        </p:nvSpPr>
        <p:spPr>
          <a:xfrm>
            <a:off x="1316736" y="3611880"/>
            <a:ext cx="0" cy="320040"/>
          </a:xfrm>
          <a:prstGeom prst="line">
            <a:avLst/>
          </a:prstGeom>
          <a:noFill/>
          <a:ln w="12700">
            <a:solidFill>
              <a:srgbClr val="C9CDD2"/>
            </a:solidFill>
            <a:prstDash val="solid"/>
          </a:ln>
        </p:spPr>
      </p:sp>
      <p:sp>
        <p:nvSpPr>
          <p:cNvPr id="20" name="Shape 18"/>
          <p:cNvSpPr/>
          <p:nvPr/>
        </p:nvSpPr>
        <p:spPr>
          <a:xfrm>
            <a:off x="1316736" y="3931920"/>
            <a:ext cx="118872" cy="0"/>
          </a:xfrm>
          <a:prstGeom prst="line">
            <a:avLst/>
          </a:prstGeom>
          <a:noFill/>
          <a:ln w="12700">
            <a:solidFill>
              <a:srgbClr val="C9CDD2"/>
            </a:solidFill>
            <a:prstDash val="solid"/>
          </a:ln>
        </p:spPr>
      </p:sp>
      <p:sp>
        <p:nvSpPr>
          <p:cNvPr id="21" name="Shape 19"/>
          <p:cNvSpPr/>
          <p:nvPr/>
        </p:nvSpPr>
        <p:spPr>
          <a:xfrm>
            <a:off x="1435608" y="3703320"/>
            <a:ext cx="2724912" cy="457200"/>
          </a:xfrm>
          <a:prstGeom prst="roundRect">
            <a:avLst>
              <a:gd name="adj" fmla="val 20000"/>
            </a:avLst>
          </a:prstGeom>
          <a:solidFill>
            <a:srgbClr val="FFFFFF"/>
          </a:solidFill>
          <a:ln w="9525">
            <a:solidFill>
              <a:srgbClr val="E3E5E8"/>
            </a:solidFill>
            <a:prstDash val="solid"/>
          </a:ln>
        </p:spPr>
      </p:sp>
      <p:sp>
        <p:nvSpPr>
          <p:cNvPr id="22" name="Text 20"/>
          <p:cNvSpPr txBox="1"/>
          <p:nvPr/>
        </p:nvSpPr>
        <p:spPr>
          <a:xfrm>
            <a:off x="1545336" y="373989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IndexedStack</a:t>
            </a:r>
            <a:endParaRPr lang="ko-KR" altLang="en-US" sz="1100" dirty="0"/>
          </a:p>
        </p:txBody>
      </p:sp>
      <p:sp>
        <p:nvSpPr>
          <p:cNvPr id="23" name="Text 21"/>
          <p:cNvSpPr txBox="1"/>
          <p:nvPr/>
        </p:nvSpPr>
        <p:spPr>
          <a:xfrm>
            <a:off x="1545336" y="394106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탭 4개 — 옆으로</a:t>
            </a:r>
            <a:endParaRPr lang="ko-KR" altLang="en-US" sz="950" dirty="0"/>
          </a:p>
        </p:txBody>
      </p:sp>
      <p:sp>
        <p:nvSpPr>
          <p:cNvPr id="24" name="Shape 22"/>
          <p:cNvSpPr/>
          <p:nvPr/>
        </p:nvSpPr>
        <p:spPr>
          <a:xfrm>
            <a:off x="1536192" y="4160520"/>
            <a:ext cx="0" cy="320040"/>
          </a:xfrm>
          <a:prstGeom prst="line">
            <a:avLst/>
          </a:prstGeom>
          <a:noFill/>
          <a:ln w="12700">
            <a:solidFill>
              <a:srgbClr val="C9CDD2"/>
            </a:solidFill>
            <a:prstDash val="solid"/>
          </a:ln>
        </p:spPr>
      </p:sp>
      <p:sp>
        <p:nvSpPr>
          <p:cNvPr id="25" name="Shape 23"/>
          <p:cNvSpPr/>
          <p:nvPr/>
        </p:nvSpPr>
        <p:spPr>
          <a:xfrm>
            <a:off x="1536192" y="4480560"/>
            <a:ext cx="118872" cy="0"/>
          </a:xfrm>
          <a:prstGeom prst="line">
            <a:avLst/>
          </a:prstGeom>
          <a:noFill/>
          <a:ln w="12700">
            <a:solidFill>
              <a:srgbClr val="C9CDD2"/>
            </a:solidFill>
            <a:prstDash val="solid"/>
          </a:ln>
        </p:spPr>
      </p:sp>
      <p:sp>
        <p:nvSpPr>
          <p:cNvPr id="26" name="Shape 24"/>
          <p:cNvSpPr/>
          <p:nvPr/>
        </p:nvSpPr>
        <p:spPr>
          <a:xfrm>
            <a:off x="1655064" y="4251960"/>
            <a:ext cx="2505456" cy="457200"/>
          </a:xfrm>
          <a:prstGeom prst="roundRect">
            <a:avLst>
              <a:gd name="adj" fmla="val 20000"/>
            </a:avLst>
          </a:prstGeom>
          <a:solidFill>
            <a:srgbClr val="FFFFFF"/>
          </a:solidFill>
          <a:ln w="9525">
            <a:solidFill>
              <a:srgbClr val="E3E5E8"/>
            </a:solidFill>
            <a:prstDash val="solid"/>
          </a:ln>
        </p:spPr>
      </p:sp>
      <p:sp>
        <p:nvSpPr>
          <p:cNvPr id="27" name="Text 25"/>
          <p:cNvSpPr txBox="1"/>
          <p:nvPr/>
        </p:nvSpPr>
        <p:spPr>
          <a:xfrm>
            <a:off x="1764792" y="4288536"/>
            <a:ext cx="2322576"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FutureBuilder</a:t>
            </a:r>
            <a:endParaRPr lang="ko-KR" altLang="en-US" sz="1100" dirty="0"/>
          </a:p>
        </p:txBody>
      </p:sp>
      <p:sp>
        <p:nvSpPr>
          <p:cNvPr id="28" name="Text 26"/>
          <p:cNvSpPr txBox="1"/>
          <p:nvPr/>
        </p:nvSpPr>
        <p:spPr>
          <a:xfrm>
            <a:off x="1764792" y="4489704"/>
            <a:ext cx="2322576"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GET → 로딩 · 오류 · 빈</a:t>
            </a:r>
            <a:endParaRPr lang="ko-KR" altLang="en-US" sz="950" dirty="0"/>
          </a:p>
        </p:txBody>
      </p:sp>
      <p:sp>
        <p:nvSpPr>
          <p:cNvPr id="29" name="Shape 27"/>
          <p:cNvSpPr/>
          <p:nvPr/>
        </p:nvSpPr>
        <p:spPr>
          <a:xfrm>
            <a:off x="1316736" y="3611880"/>
            <a:ext cx="0" cy="1417320"/>
          </a:xfrm>
          <a:prstGeom prst="line">
            <a:avLst/>
          </a:prstGeom>
          <a:noFill/>
          <a:ln w="12700">
            <a:solidFill>
              <a:srgbClr val="C9CDD2"/>
            </a:solidFill>
            <a:prstDash val="solid"/>
          </a:ln>
        </p:spPr>
      </p:sp>
      <p:sp>
        <p:nvSpPr>
          <p:cNvPr id="30" name="Shape 28"/>
          <p:cNvSpPr/>
          <p:nvPr/>
        </p:nvSpPr>
        <p:spPr>
          <a:xfrm>
            <a:off x="1316736" y="5029200"/>
            <a:ext cx="118872" cy="0"/>
          </a:xfrm>
          <a:prstGeom prst="line">
            <a:avLst/>
          </a:prstGeom>
          <a:noFill/>
          <a:ln w="12700">
            <a:solidFill>
              <a:srgbClr val="C9CDD2"/>
            </a:solidFill>
            <a:prstDash val="solid"/>
          </a:ln>
        </p:spPr>
      </p:sp>
      <p:sp>
        <p:nvSpPr>
          <p:cNvPr id="31" name="Shape 29"/>
          <p:cNvSpPr/>
          <p:nvPr/>
        </p:nvSpPr>
        <p:spPr>
          <a:xfrm>
            <a:off x="1435608" y="4800600"/>
            <a:ext cx="2724912" cy="457200"/>
          </a:xfrm>
          <a:prstGeom prst="roundRect">
            <a:avLst>
              <a:gd name="adj" fmla="val 20000"/>
            </a:avLst>
          </a:prstGeom>
          <a:solidFill>
            <a:srgbClr val="FFFFFF"/>
          </a:solidFill>
          <a:ln w="9525">
            <a:solidFill>
              <a:srgbClr val="E3E5E8"/>
            </a:solidFill>
            <a:prstDash val="solid"/>
          </a:ln>
        </p:spPr>
      </p:sp>
      <p:sp>
        <p:nvSpPr>
          <p:cNvPr id="32" name="Text 30"/>
          <p:cNvSpPr txBox="1"/>
          <p:nvPr/>
        </p:nvSpPr>
        <p:spPr>
          <a:xfrm>
            <a:off x="1545336" y="483717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Navigator (오른쪽 칸)</a:t>
            </a:r>
            <a:endParaRPr lang="ko-KR" altLang="en-US" sz="1100" dirty="0"/>
          </a:p>
        </p:txBody>
      </p:sp>
      <p:sp>
        <p:nvSpPr>
          <p:cNvPr id="33" name="Text 31"/>
          <p:cNvSpPr txBox="1"/>
          <p:nvPr/>
        </p:nvSpPr>
        <p:spPr>
          <a:xfrm>
            <a:off x="1545336" y="503834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반반 화면에서 쌓기</a:t>
            </a:r>
            <a:endParaRPr lang="ko-KR" altLang="en-US" sz="950" dirty="0"/>
          </a:p>
        </p:txBody>
      </p:sp>
      <p:sp>
        <p:nvSpPr>
          <p:cNvPr id="34" name="Shape 32"/>
          <p:cNvSpPr/>
          <p:nvPr/>
        </p:nvSpPr>
        <p:spPr>
          <a:xfrm>
            <a:off x="1316736" y="3611880"/>
            <a:ext cx="0" cy="1965960"/>
          </a:xfrm>
          <a:prstGeom prst="line">
            <a:avLst/>
          </a:prstGeom>
          <a:noFill/>
          <a:ln w="12700">
            <a:solidFill>
              <a:srgbClr val="C9CDD2"/>
            </a:solidFill>
            <a:prstDash val="solid"/>
          </a:ln>
        </p:spPr>
      </p:sp>
      <p:sp>
        <p:nvSpPr>
          <p:cNvPr id="35" name="Shape 33"/>
          <p:cNvSpPr/>
          <p:nvPr/>
        </p:nvSpPr>
        <p:spPr>
          <a:xfrm>
            <a:off x="1316736" y="5577840"/>
            <a:ext cx="118872" cy="0"/>
          </a:xfrm>
          <a:prstGeom prst="line">
            <a:avLst/>
          </a:prstGeom>
          <a:noFill/>
          <a:ln w="12700">
            <a:solidFill>
              <a:srgbClr val="C9CDD2"/>
            </a:solidFill>
            <a:prstDash val="solid"/>
          </a:ln>
        </p:spPr>
      </p:sp>
      <p:sp>
        <p:nvSpPr>
          <p:cNvPr id="36" name="Shape 34"/>
          <p:cNvSpPr/>
          <p:nvPr/>
        </p:nvSpPr>
        <p:spPr>
          <a:xfrm>
            <a:off x="1435608" y="5349240"/>
            <a:ext cx="2724912" cy="457200"/>
          </a:xfrm>
          <a:prstGeom prst="roundRect">
            <a:avLst>
              <a:gd name="adj" fmla="val 20000"/>
            </a:avLst>
          </a:prstGeom>
          <a:solidFill>
            <a:srgbClr val="FFFFFF"/>
          </a:solidFill>
          <a:ln w="9525">
            <a:solidFill>
              <a:srgbClr val="E3E5E8"/>
            </a:solidFill>
            <a:prstDash val="solid"/>
          </a:ln>
        </p:spPr>
      </p:sp>
      <p:sp>
        <p:nvSpPr>
          <p:cNvPr id="37" name="Text 35"/>
          <p:cNvSpPr txBox="1"/>
          <p:nvPr/>
        </p:nvSpPr>
        <p:spPr>
          <a:xfrm>
            <a:off x="1545336" y="538581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Sheet · Dialog · Drawer</a:t>
            </a:r>
            <a:endParaRPr lang="ko-KR" altLang="en-US" sz="1100" dirty="0"/>
          </a:p>
        </p:txBody>
      </p:sp>
      <p:sp>
        <p:nvSpPr>
          <p:cNvPr id="38" name="Text 36"/>
          <p:cNvSpPr txBox="1"/>
          <p:nvPr/>
        </p:nvSpPr>
        <p:spPr>
          <a:xfrm>
            <a:off x="1545336" y="558698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덮기</a:t>
            </a:r>
            <a:endParaRPr lang="ko-KR" altLang="en-US" sz="950" dirty="0"/>
          </a:p>
        </p:txBody>
      </p:sp>
      <p:sp>
        <p:nvSpPr>
          <p:cNvPr id="39" name="Shape 37"/>
          <p:cNvSpPr/>
          <p:nvPr/>
        </p:nvSpPr>
        <p:spPr>
          <a:xfrm>
            <a:off x="4617720"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Shape 38"/>
          <p:cNvSpPr/>
          <p:nvPr/>
        </p:nvSpPr>
        <p:spPr>
          <a:xfrm>
            <a:off x="4818888" y="1682496"/>
            <a:ext cx="329184" cy="329184"/>
          </a:xfrm>
          <a:prstGeom prst="ellipse">
            <a:avLst/>
          </a:prstGeom>
          <a:solidFill>
            <a:srgbClr val="1C86D9"/>
          </a:solidFill>
          <a:ln/>
        </p:spPr>
      </p:sp>
      <p:sp>
        <p:nvSpPr>
          <p:cNvPr id="41" name="Text 39"/>
          <p:cNvSpPr txBox="1"/>
          <p:nvPr/>
        </p:nvSpPr>
        <p:spPr>
          <a:xfrm>
            <a:off x="481888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2" name="Text 40"/>
          <p:cNvSpPr txBox="1"/>
          <p:nvPr/>
        </p:nvSpPr>
        <p:spPr>
          <a:xfrm>
            <a:off x="5257800"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화면 이동 3방식</a:t>
            </a:r>
            <a:endParaRPr lang="ko-KR" altLang="en-US" sz="1450" dirty="0"/>
          </a:p>
        </p:txBody>
      </p:sp>
      <p:sp>
        <p:nvSpPr>
          <p:cNvPr id="43" name="Text 41"/>
          <p:cNvSpPr txBox="1"/>
          <p:nvPr/>
        </p:nvSpPr>
        <p:spPr>
          <a:xfrm>
            <a:off x="4846320"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쌓기 · 옆으로 · 덮기</a:t>
            </a:r>
            <a:endParaRPr lang="ko-KR" altLang="en-US" sz="1500" dirty="0"/>
          </a:p>
        </p:txBody>
      </p:sp>
      <p:sp>
        <p:nvSpPr>
          <p:cNvPr id="44" name="Text 42"/>
          <p:cNvSpPr txBox="1"/>
          <p:nvPr/>
        </p:nvSpPr>
        <p:spPr>
          <a:xfrm>
            <a:off x="4846320"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1000" dirty="0"/>
          </a:p>
        </p:txBody>
      </p:sp>
      <p:sp>
        <p:nvSpPr>
          <p:cNvPr id="45" name="Shape 43"/>
          <p:cNvSpPr/>
          <p:nvPr/>
        </p:nvSpPr>
        <p:spPr>
          <a:xfrm>
            <a:off x="8174736"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6" name="Shape 44"/>
          <p:cNvSpPr/>
          <p:nvPr/>
        </p:nvSpPr>
        <p:spPr>
          <a:xfrm>
            <a:off x="8375904" y="1682496"/>
            <a:ext cx="329184" cy="329184"/>
          </a:xfrm>
          <a:prstGeom prst="ellipse">
            <a:avLst/>
          </a:prstGeom>
          <a:solidFill>
            <a:srgbClr val="1C86D9"/>
          </a:solidFill>
          <a:ln/>
        </p:spPr>
      </p:sp>
      <p:sp>
        <p:nvSpPr>
          <p:cNvPr id="47" name="Text 45"/>
          <p:cNvSpPr txBox="1"/>
          <p:nvPr/>
        </p:nvSpPr>
        <p:spPr>
          <a:xfrm>
            <a:off x="837590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48" name="Text 46"/>
          <p:cNvSpPr txBox="1"/>
          <p:nvPr/>
        </p:nvSpPr>
        <p:spPr>
          <a:xfrm>
            <a:off x="8814816"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FutureBuilder 3상태</a:t>
            </a:r>
            <a:endParaRPr lang="ko-KR" altLang="en-US" sz="1450" dirty="0"/>
          </a:p>
        </p:txBody>
      </p:sp>
      <p:sp>
        <p:nvSpPr>
          <p:cNvPr id="49" name="Text 47"/>
          <p:cNvSpPr txBox="1"/>
          <p:nvPr/>
        </p:nvSpPr>
        <p:spPr>
          <a:xfrm>
            <a:off x="8403336"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로딩 · 오류(다시 시도) · 빈 상태</a:t>
            </a:r>
            <a:endParaRPr lang="ko-KR" altLang="en-US" sz="1500" dirty="0"/>
          </a:p>
        </p:txBody>
      </p:sp>
      <p:sp>
        <p:nvSpPr>
          <p:cNvPr id="50" name="Text 48"/>
          <p:cNvSpPr txBox="1"/>
          <p:nvPr/>
        </p:nvSpPr>
        <p:spPr>
          <a:xfrm>
            <a:off x="8403336"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GET 하는 화면 전부</a:t>
            </a:r>
            <a:endParaRPr lang="ko-KR" altLang="en-US" sz="1000" dirty="0"/>
          </a:p>
        </p:txBody>
      </p:sp>
      <p:sp>
        <p:nvSpPr>
          <p:cNvPr id="51" name="Shape 49"/>
          <p:cNvSpPr/>
          <p:nvPr/>
        </p:nvSpPr>
        <p:spPr>
          <a:xfrm>
            <a:off x="4617720"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2" name="Shape 50"/>
          <p:cNvSpPr/>
          <p:nvPr/>
        </p:nvSpPr>
        <p:spPr>
          <a:xfrm>
            <a:off x="4818888" y="3584448"/>
            <a:ext cx="329184" cy="329184"/>
          </a:xfrm>
          <a:prstGeom prst="ellipse">
            <a:avLst/>
          </a:prstGeom>
          <a:solidFill>
            <a:srgbClr val="1C86D9"/>
          </a:solidFill>
          <a:ln/>
        </p:spPr>
      </p:sp>
      <p:sp>
        <p:nvSpPr>
          <p:cNvPr id="53" name="Text 51"/>
          <p:cNvSpPr txBox="1"/>
          <p:nvPr/>
        </p:nvSpPr>
        <p:spPr>
          <a:xfrm>
            <a:off x="4818888"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54" name="Text 52"/>
          <p:cNvSpPr txBox="1"/>
          <p:nvPr/>
        </p:nvSpPr>
        <p:spPr>
          <a:xfrm>
            <a:off x="5257800"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json-server GET만</a:t>
            </a:r>
            <a:endParaRPr lang="ko-KR" altLang="en-US" sz="1450" dirty="0"/>
          </a:p>
        </p:txBody>
      </p:sp>
      <p:sp>
        <p:nvSpPr>
          <p:cNvPr id="55" name="Text 53"/>
          <p:cNvSpPr txBox="1"/>
          <p:nvPr/>
        </p:nvSpPr>
        <p:spPr>
          <a:xfrm>
            <a:off x="4846320"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저장 · 전송 없음</a:t>
            </a:r>
            <a:endParaRPr lang="ko-KR" altLang="en-US" sz="1500" dirty="0"/>
          </a:p>
        </p:txBody>
      </p:sp>
      <p:sp>
        <p:nvSpPr>
          <p:cNvPr id="56" name="Text 54"/>
          <p:cNvSpPr txBox="1"/>
          <p:nvPr/>
        </p:nvSpPr>
        <p:spPr>
          <a:xfrm>
            <a:off x="4846320"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http.get 하나 — lib/api.dart</a:t>
            </a:r>
            <a:endParaRPr lang="ko-KR" altLang="en-US" sz="1000" dirty="0"/>
          </a:p>
        </p:txBody>
      </p:sp>
      <p:sp>
        <p:nvSpPr>
          <p:cNvPr id="57" name="Shape 55"/>
          <p:cNvSpPr/>
          <p:nvPr/>
        </p:nvSpPr>
        <p:spPr>
          <a:xfrm>
            <a:off x="8174736"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8" name="Shape 56"/>
          <p:cNvSpPr/>
          <p:nvPr/>
        </p:nvSpPr>
        <p:spPr>
          <a:xfrm>
            <a:off x="8375904" y="3584448"/>
            <a:ext cx="329184" cy="329184"/>
          </a:xfrm>
          <a:prstGeom prst="ellipse">
            <a:avLst/>
          </a:prstGeom>
          <a:solidFill>
            <a:srgbClr val="1C86D9"/>
          </a:solidFill>
          <a:ln/>
        </p:spPr>
      </p:sp>
      <p:sp>
        <p:nvSpPr>
          <p:cNvPr id="59" name="Text 57"/>
          <p:cNvSpPr txBox="1"/>
          <p:nvPr/>
        </p:nvSpPr>
        <p:spPr>
          <a:xfrm>
            <a:off x="8375904"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60" name="Text 58"/>
          <p:cNvSpPr txBox="1"/>
          <p:nvPr/>
        </p:nvSpPr>
        <p:spPr>
          <a:xfrm>
            <a:off x="8814816"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적응형</a:t>
            </a:r>
            <a:endParaRPr lang="ko-KR" altLang="en-US" sz="1450" dirty="0"/>
          </a:p>
        </p:txBody>
      </p:sp>
      <p:sp>
        <p:nvSpPr>
          <p:cNvPr id="61" name="Text 59"/>
          <p:cNvSpPr txBox="1"/>
          <p:nvPr/>
        </p:nvSpPr>
        <p:spPr>
          <a:xfrm>
            <a:off x="8403336"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창 너비로 폰 · 가로 폰 · 반반</a:t>
            </a:r>
            <a:endParaRPr lang="ko-KR" altLang="en-US" sz="1500" dirty="0"/>
          </a:p>
        </p:txBody>
      </p:sp>
      <p:sp>
        <p:nvSpPr>
          <p:cNvPr id="62" name="Text 60"/>
          <p:cNvSpPr txBox="1"/>
          <p:nvPr/>
        </p:nvSpPr>
        <p:spPr>
          <a:xfrm>
            <a:off x="8403336"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LayoutBuilder · MediaQuery · 폴드 접힘선 · 테스트 53개</a:t>
            </a:r>
            <a:endParaRPr lang="ko-KR" altLang="en-US" sz="1000" dirty="0"/>
          </a:p>
        </p:txBody>
      </p:sp>
      <p:sp>
        <p:nvSpPr>
          <p:cNvPr id="63" name="Shape 61"/>
          <p:cNvSpPr/>
          <p:nvPr/>
        </p:nvSpPr>
        <p:spPr>
          <a:xfrm>
            <a:off x="4617720" y="5349240"/>
            <a:ext cx="7022592" cy="749808"/>
          </a:xfrm>
          <a:prstGeom prst="roundRect">
            <a:avLst>
              <a:gd name="adj" fmla="val 14634"/>
            </a:avLst>
          </a:prstGeom>
          <a:solidFill>
            <a:srgbClr val="E8F6F1"/>
          </a:solidFill>
          <a:ln/>
        </p:spPr>
      </p:sp>
      <p:sp>
        <p:nvSpPr>
          <p:cNvPr id="64" name="Text 62"/>
          <p:cNvSpPr txBox="1"/>
          <p:nvPr/>
        </p:nvSpPr>
        <p:spPr>
          <a:xfrm>
            <a:off x="4846320" y="5349240"/>
            <a:ext cx="6675120" cy="749808"/>
          </a:xfrm>
          <a:prstGeom prst="rect">
            <a:avLst/>
          </a:prstGeom>
          <a:noFill/>
          <a:ln/>
        </p:spPr>
        <p:txBody>
          <a:bodyPr wrap="square" lIns="0" tIns="0" rIns="0" bIns="0" rtlCol="0" anchor="ctr"/>
          <a:lstStyle/>
          <a:p>
            <a:pPr indent="0" marL="0">
              <a:buNone/>
            </a:pPr>
            <a:r>
              <a:rPr lang="ko-KR" altLang="en-US" sz="1150" b="1" dirty="0">
                <a:solidFill>
                  <a:srgbClr val="12A07F"/>
                </a:solidFill>
                <a:latin typeface="Malgun Gothic" pitchFamily="34" charset="0"/>
                <a:ea typeface="Malgun Gothic" pitchFamily="34" charset="-122"/>
                <a:cs typeface="Malgun Gothic" pitchFamily="34" charset="-120"/>
              </a:rPr>
              <a:t>상태관리 패키지 0</a:t>
            </a:r>
            <a:endParaRPr lang="ko-KR" altLang="en-US" sz="1150" dirty="0"/>
          </a:p>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좋아요 · 구매함은 맨 위 setState + InheritedWidget — 홈에서 누르면 컬렉션 · 내 정보 숫자가 같이 바뀐다</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배포된 앱으로 시연 — 서버 없이 브라우저만 있으면 된다</a:t>
            </a:r>
            <a:endParaRPr lang="ko-KR" altLang="en-US" sz="1150" dirty="0"/>
          </a:p>
        </p:txBody>
      </p:sp>
      <p:sp>
        <p:nvSpPr>
          <p:cNvPr id="5" name="Shape 3"/>
          <p:cNvSpPr/>
          <p:nvPr/>
        </p:nvSpPr>
        <p:spPr>
          <a:xfrm>
            <a:off x="548640"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 name="Text 4"/>
          <p:cNvSpPr txBox="1"/>
          <p:nvPr/>
        </p:nvSpPr>
        <p:spPr>
          <a:xfrm>
            <a:off x="768096"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1</a:t>
            </a:r>
            <a:endParaRPr lang="ko-KR" altLang="en-US" sz="3200" dirty="0"/>
          </a:p>
        </p:txBody>
      </p:sp>
      <p:sp>
        <p:nvSpPr>
          <p:cNvPr id="7" name="Text 5"/>
          <p:cNvSpPr txBox="1"/>
          <p:nvPr/>
        </p:nvSpPr>
        <p:spPr>
          <a:xfrm>
            <a:off x="1371600"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홈</a:t>
            </a:r>
            <a:endParaRPr lang="ko-KR" altLang="en-US" sz="1600" dirty="0"/>
          </a:p>
        </p:txBody>
      </p:sp>
      <p:sp>
        <p:nvSpPr>
          <p:cNvPr id="8" name="Text 6"/>
          <p:cNvSpPr txBox="1"/>
          <p:nvPr/>
        </p:nvSpPr>
        <p:spPr>
          <a:xfrm>
            <a:off x="768096"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배너가 넘어간다 · 카드 리본 한 번 → ✓</a:t>
            </a:r>
            <a:endParaRPr lang="ko-KR" altLang="en-US" sz="1200" dirty="0"/>
          </a:p>
        </p:txBody>
      </p:sp>
      <p:sp>
        <p:nvSpPr>
          <p:cNvPr id="9" name="Shape 7"/>
          <p:cNvSpPr/>
          <p:nvPr/>
        </p:nvSpPr>
        <p:spPr>
          <a:xfrm>
            <a:off x="768096" y="3337560"/>
            <a:ext cx="1600200" cy="274320"/>
          </a:xfrm>
          <a:prstGeom prst="roundRect">
            <a:avLst>
              <a:gd name="adj" fmla="val 50000"/>
            </a:avLst>
          </a:prstGeom>
          <a:solidFill>
            <a:srgbClr val="EAF4FC"/>
          </a:solidFill>
          <a:ln/>
        </p:spPr>
      </p:sp>
      <p:sp>
        <p:nvSpPr>
          <p:cNvPr id="10" name="Text 8"/>
          <p:cNvSpPr txBox="1"/>
          <p:nvPr/>
        </p:nvSpPr>
        <p:spPr>
          <a:xfrm>
            <a:off x="768096"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11" name="Shape 9"/>
          <p:cNvSpPr/>
          <p:nvPr/>
        </p:nvSpPr>
        <p:spPr>
          <a:xfrm>
            <a:off x="3310128"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3529584"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2</a:t>
            </a:r>
            <a:endParaRPr lang="ko-KR" altLang="en-US" sz="3200" dirty="0"/>
          </a:p>
        </p:txBody>
      </p:sp>
      <p:sp>
        <p:nvSpPr>
          <p:cNvPr id="13" name="Text 11"/>
          <p:cNvSpPr txBox="1"/>
          <p:nvPr/>
        </p:nvSpPr>
        <p:spPr>
          <a:xfrm>
            <a:off x="4133088"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찍어서 찾기</a:t>
            </a:r>
            <a:endParaRPr lang="ko-KR" altLang="en-US" sz="1600" dirty="0"/>
          </a:p>
        </p:txBody>
      </p:sp>
      <p:sp>
        <p:nvSpPr>
          <p:cNvPr id="14" name="Text 12"/>
          <p:cNvSpPr txBox="1"/>
          <p:nvPr/>
        </p:nvSpPr>
        <p:spPr>
          <a:xfrm>
            <a:off x="3529584"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"AI가 비교하는 중…" → 후보 · 일치도</a:t>
            </a:r>
            <a:endParaRPr lang="ko-KR" altLang="en-US" sz="1200" dirty="0"/>
          </a:p>
        </p:txBody>
      </p:sp>
      <p:sp>
        <p:nvSpPr>
          <p:cNvPr id="15" name="Shape 13"/>
          <p:cNvSpPr/>
          <p:nvPr/>
        </p:nvSpPr>
        <p:spPr>
          <a:xfrm>
            <a:off x="3529584" y="3337560"/>
            <a:ext cx="1600200" cy="274320"/>
          </a:xfrm>
          <a:prstGeom prst="roundRect">
            <a:avLst>
              <a:gd name="adj" fmla="val 50000"/>
            </a:avLst>
          </a:prstGeom>
          <a:solidFill>
            <a:srgbClr val="EAF4FC"/>
          </a:solidFill>
          <a:ln/>
        </p:spPr>
      </p:sp>
      <p:sp>
        <p:nvSpPr>
          <p:cNvPr id="16" name="Text 14"/>
          <p:cNvSpPr txBox="1"/>
          <p:nvPr/>
        </p:nvSpPr>
        <p:spPr>
          <a:xfrm>
            <a:off x="3529584"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17" name="Shape 15"/>
          <p:cNvSpPr/>
          <p:nvPr/>
        </p:nvSpPr>
        <p:spPr>
          <a:xfrm>
            <a:off x="6071616"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6291072"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3</a:t>
            </a:r>
            <a:endParaRPr lang="ko-KR" altLang="en-US" sz="3200" dirty="0"/>
          </a:p>
        </p:txBody>
      </p:sp>
      <p:sp>
        <p:nvSpPr>
          <p:cNvPr id="19" name="Text 17"/>
          <p:cNvSpPr txBox="1"/>
          <p:nvPr/>
        </p:nvSpPr>
        <p:spPr>
          <a:xfrm>
            <a:off x="6894576"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컬렉션</a:t>
            </a:r>
            <a:endParaRPr lang="ko-KR" altLang="en-US" sz="1600" dirty="0"/>
          </a:p>
        </p:txBody>
      </p:sp>
      <p:sp>
        <p:nvSpPr>
          <p:cNvPr id="20" name="Text 18"/>
          <p:cNvSpPr txBox="1"/>
          <p:nvPr/>
        </p:nvSpPr>
        <p:spPr>
          <a:xfrm>
            <a:off x="6291072"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200" dirty="0"/>
          </a:p>
        </p:txBody>
      </p:sp>
      <p:sp>
        <p:nvSpPr>
          <p:cNvPr id="21" name="Shape 19"/>
          <p:cNvSpPr/>
          <p:nvPr/>
        </p:nvSpPr>
        <p:spPr>
          <a:xfrm>
            <a:off x="6291072" y="3337560"/>
            <a:ext cx="1600200" cy="274320"/>
          </a:xfrm>
          <a:prstGeom prst="roundRect">
            <a:avLst>
              <a:gd name="adj" fmla="val 50000"/>
            </a:avLst>
          </a:prstGeom>
          <a:solidFill>
            <a:srgbClr val="EAF4FC"/>
          </a:solidFill>
          <a:ln/>
        </p:spPr>
      </p:sp>
      <p:sp>
        <p:nvSpPr>
          <p:cNvPr id="22" name="Text 20"/>
          <p:cNvSpPr txBox="1"/>
          <p:nvPr/>
        </p:nvSpPr>
        <p:spPr>
          <a:xfrm>
            <a:off x="6291072"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23" name="Shape 21"/>
          <p:cNvSpPr/>
          <p:nvPr/>
        </p:nvSpPr>
        <p:spPr>
          <a:xfrm>
            <a:off x="548640"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22"/>
          <p:cNvSpPr txBox="1"/>
          <p:nvPr/>
        </p:nvSpPr>
        <p:spPr>
          <a:xfrm>
            <a:off x="768096"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4</a:t>
            </a:r>
            <a:endParaRPr lang="ko-KR" altLang="en-US" sz="3200" dirty="0"/>
          </a:p>
        </p:txBody>
      </p:sp>
      <p:sp>
        <p:nvSpPr>
          <p:cNvPr id="25" name="Text 23"/>
          <p:cNvSpPr txBox="1"/>
          <p:nvPr/>
        </p:nvSpPr>
        <p:spPr>
          <a:xfrm>
            <a:off x="1371600"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도감</a:t>
            </a:r>
            <a:endParaRPr lang="ko-KR" altLang="en-US" sz="1600" dirty="0"/>
          </a:p>
        </p:txBody>
      </p:sp>
      <p:sp>
        <p:nvSpPr>
          <p:cNvPr id="26" name="Text 24"/>
          <p:cNvSpPr txBox="1"/>
          <p:nvPr/>
        </p:nvSpPr>
        <p:spPr>
          <a:xfrm>
            <a:off x="768096"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칸이 켜지고 Lv 막대가 오른다</a:t>
            </a:r>
            <a:endParaRPr lang="ko-KR" altLang="en-US" sz="1200" dirty="0"/>
          </a:p>
        </p:txBody>
      </p:sp>
      <p:sp>
        <p:nvSpPr>
          <p:cNvPr id="27" name="Shape 25"/>
          <p:cNvSpPr/>
          <p:nvPr/>
        </p:nvSpPr>
        <p:spPr>
          <a:xfrm>
            <a:off x="768096" y="5532120"/>
            <a:ext cx="1600200" cy="274320"/>
          </a:xfrm>
          <a:prstGeom prst="roundRect">
            <a:avLst>
              <a:gd name="adj" fmla="val 50000"/>
            </a:avLst>
          </a:prstGeom>
          <a:solidFill>
            <a:srgbClr val="EAF4FC"/>
          </a:solidFill>
          <a:ln/>
        </p:spPr>
      </p:sp>
      <p:sp>
        <p:nvSpPr>
          <p:cNvPr id="28" name="Text 26"/>
          <p:cNvSpPr txBox="1"/>
          <p:nvPr/>
        </p:nvSpPr>
        <p:spPr>
          <a:xfrm>
            <a:off x="768096"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상태 표시</a:t>
            </a:r>
            <a:endParaRPr lang="ko-KR" altLang="en-US" sz="1050" dirty="0"/>
          </a:p>
        </p:txBody>
      </p:sp>
      <p:sp>
        <p:nvSpPr>
          <p:cNvPr id="29" name="Shape 27"/>
          <p:cNvSpPr/>
          <p:nvPr/>
        </p:nvSpPr>
        <p:spPr>
          <a:xfrm>
            <a:off x="3310128"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3529584"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5</a:t>
            </a:r>
            <a:endParaRPr lang="ko-KR" altLang="en-US" sz="3200" dirty="0"/>
          </a:p>
        </p:txBody>
      </p:sp>
      <p:sp>
        <p:nvSpPr>
          <p:cNvPr id="31" name="Text 29"/>
          <p:cNvSpPr txBox="1"/>
          <p:nvPr/>
        </p:nvSpPr>
        <p:spPr>
          <a:xfrm>
            <a:off x="4133088"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창 넓히기</a:t>
            </a:r>
            <a:endParaRPr lang="ko-KR" altLang="en-US" sz="1600" dirty="0"/>
          </a:p>
        </p:txBody>
      </p:sp>
      <p:sp>
        <p:nvSpPr>
          <p:cNvPr id="32" name="Text 30"/>
          <p:cNvSpPr txBox="1"/>
          <p:nvPr/>
        </p:nvSpPr>
        <p:spPr>
          <a:xfrm>
            <a:off x="3529584"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왼쪽 앱 · 오른쪽 상세 (반반 화면)</a:t>
            </a:r>
            <a:endParaRPr lang="ko-KR" altLang="en-US" sz="1200" dirty="0"/>
          </a:p>
        </p:txBody>
      </p:sp>
      <p:sp>
        <p:nvSpPr>
          <p:cNvPr id="33" name="Shape 31"/>
          <p:cNvSpPr/>
          <p:nvPr/>
        </p:nvSpPr>
        <p:spPr>
          <a:xfrm>
            <a:off x="3529584" y="5532120"/>
            <a:ext cx="1600200" cy="274320"/>
          </a:xfrm>
          <a:prstGeom prst="roundRect">
            <a:avLst>
              <a:gd name="adj" fmla="val 50000"/>
            </a:avLst>
          </a:prstGeom>
          <a:solidFill>
            <a:srgbClr val="EAF4FC"/>
          </a:solidFill>
          <a:ln/>
        </p:spPr>
      </p:sp>
      <p:sp>
        <p:nvSpPr>
          <p:cNvPr id="34" name="Text 32"/>
          <p:cNvSpPr txBox="1"/>
          <p:nvPr/>
        </p:nvSpPr>
        <p:spPr>
          <a:xfrm>
            <a:off x="3529584"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35" name="Shape 33"/>
          <p:cNvSpPr/>
          <p:nvPr/>
        </p:nvSpPr>
        <p:spPr>
          <a:xfrm>
            <a:off x="6071616"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6" name="Text 34"/>
          <p:cNvSpPr txBox="1"/>
          <p:nvPr/>
        </p:nvSpPr>
        <p:spPr>
          <a:xfrm>
            <a:off x="6291072" y="4160520"/>
            <a:ext cx="640080" cy="640080"/>
          </a:xfrm>
          <a:prstGeom prst="rect">
            <a:avLst/>
          </a:prstGeom>
          <a:noFill/>
          <a:ln/>
        </p:spPr>
        <p:txBody>
          <a:bodyPr wrap="square" lIns="0" tIns="0" rIns="0" bIns="0" rtlCol="0" anchor="t"/>
          <a:lstStyle/>
          <a:p>
            <a:pPr indent="0" marL="0">
              <a:buNone/>
            </a:pPr>
            <a:r>
              <a:rPr lang="ko-KR" altLang="en-US" sz="3200" b="1" dirty="0">
                <a:solidFill>
                  <a:srgbClr val="D93F44"/>
                </a:solidFill>
                <a:latin typeface="Malgun Gothic" pitchFamily="34" charset="0"/>
                <a:ea typeface="Malgun Gothic" pitchFamily="34" charset="-122"/>
                <a:cs typeface="Malgun Gothic" pitchFamily="34" charset="-120"/>
              </a:rPr>
              <a:t>6</a:t>
            </a:r>
            <a:endParaRPr lang="ko-KR" altLang="en-US" sz="3200" dirty="0"/>
          </a:p>
        </p:txBody>
      </p:sp>
      <p:sp>
        <p:nvSpPr>
          <p:cNvPr id="37" name="Text 35"/>
          <p:cNvSpPr txBox="1"/>
          <p:nvPr/>
        </p:nvSpPr>
        <p:spPr>
          <a:xfrm>
            <a:off x="6894576"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인터넷 끄기</a:t>
            </a:r>
            <a:endParaRPr lang="ko-KR" altLang="en-US" sz="1600" dirty="0"/>
          </a:p>
        </p:txBody>
      </p:sp>
      <p:sp>
        <p:nvSpPr>
          <p:cNvPr id="38" name="Text 36"/>
          <p:cNvSpPr txBox="1"/>
          <p:nvPr/>
        </p:nvSpPr>
        <p:spPr>
          <a:xfrm>
            <a:off x="6291072"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채널을 바꾸면 오류 + 다시 시도</a:t>
            </a:r>
            <a:endParaRPr lang="ko-KR" altLang="en-US" sz="1200" dirty="0"/>
          </a:p>
        </p:txBody>
      </p:sp>
      <p:sp>
        <p:nvSpPr>
          <p:cNvPr id="39" name="Shape 37"/>
          <p:cNvSpPr/>
          <p:nvPr/>
        </p:nvSpPr>
        <p:spPr>
          <a:xfrm>
            <a:off x="6291072" y="5532120"/>
            <a:ext cx="1600200" cy="274320"/>
          </a:xfrm>
          <a:prstGeom prst="roundRect">
            <a:avLst>
              <a:gd name="adj" fmla="val 50000"/>
            </a:avLst>
          </a:prstGeom>
          <a:solidFill>
            <a:srgbClr val="EAF4FC"/>
          </a:solidFill>
          <a:ln/>
        </p:spPr>
      </p:sp>
      <p:sp>
        <p:nvSpPr>
          <p:cNvPr id="40" name="Text 38"/>
          <p:cNvSpPr txBox="1"/>
          <p:nvPr/>
        </p:nvSpPr>
        <p:spPr>
          <a:xfrm>
            <a:off x="6291072"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41" name="Shape 39"/>
          <p:cNvSpPr/>
          <p:nvPr/>
        </p:nvSpPr>
        <p:spPr>
          <a:xfrm>
            <a:off x="8915400" y="1783080"/>
            <a:ext cx="2724912" cy="4206240"/>
          </a:xfrm>
          <a:prstGeom prst="roundRect">
            <a:avLst>
              <a:gd name="adj" fmla="val 5369"/>
            </a:avLst>
          </a:prstGeom>
          <a:solidFill>
            <a:srgbClr val="F4F5F7"/>
          </a:solidFill>
          <a:ln/>
        </p:spPr>
      </p:sp>
      <p:sp>
        <p:nvSpPr>
          <p:cNvPr id="42" name="Text 40"/>
          <p:cNvSpPr txBox="1"/>
          <p:nvPr/>
        </p:nvSpPr>
        <p:spPr>
          <a:xfrm>
            <a:off x="9125712" y="1938528"/>
            <a:ext cx="23774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직접 열어 보기</a:t>
            </a:r>
            <a:endParaRPr lang="ko-KR" altLang="en-US" sz="1400" dirty="0"/>
          </a:p>
        </p:txBody>
      </p:sp>
      <p:sp>
        <p:nvSpPr>
          <p:cNvPr id="43" name="Shape 41"/>
          <p:cNvSpPr/>
          <p:nvPr/>
        </p:nvSpPr>
        <p:spPr>
          <a:xfrm>
            <a:off x="9326880" y="2331720"/>
            <a:ext cx="1901952" cy="1901952"/>
          </a:xfrm>
          <a:prstGeom prst="roundRect">
            <a:avLst>
              <a:gd name="adj" fmla="val 4808"/>
            </a:avLst>
          </a:prstGeom>
          <a:solidFill>
            <a:srgbClr val="FFFFFF"/>
          </a:solidFill>
          <a:ln/>
        </p:spPr>
      </p:sp>
      <p:pic>
        <p:nvPicPr>
          <p:cNvPr id="44" name="Image 0" descr="C:\Users\Windows11\AppData\Local\Temp\claude\C--Users-Windows11-Desktop-New-folder--2-\a0c8a1d0-32ba-4ae6-9843-b5ebc69d925f\scratchpad\deck2/img/qr.png">    </p:cNvPr>
          <p:cNvPicPr>
            <a:picLocks noChangeAspect="1"/>
          </p:cNvPicPr>
          <p:nvPr/>
        </p:nvPicPr>
        <p:blipFill>
          <a:blip r:embed="rId1"/>
          <a:stretch>
            <a:fillRect/>
          </a:stretch>
        </p:blipFill>
        <p:spPr>
          <a:xfrm>
            <a:off x="9418320" y="2423160"/>
            <a:ext cx="1719072" cy="1719072"/>
          </a:xfrm>
          <a:prstGeom prst="rect">
            <a:avLst/>
          </a:prstGeom>
        </p:spPr>
      </p:pic>
      <p:sp>
        <p:nvSpPr>
          <p:cNvPr id="45" name="Text 42"/>
          <p:cNvSpPr txBox="1"/>
          <p:nvPr/>
        </p:nvSpPr>
        <p:spPr>
          <a:xfrm>
            <a:off x="9125712" y="4370832"/>
            <a:ext cx="2377440" cy="457200"/>
          </a:xfrm>
          <a:prstGeom prst="rect">
            <a:avLst/>
          </a:prstGeom>
          <a:noFill/>
          <a:ln/>
        </p:spPr>
        <p:txBody>
          <a:bodyPr wrap="square" lIns="0" tIns="0" rIns="0" bIns="0" rtlCol="0" anchor="t"/>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050" dirty="0"/>
          </a:p>
        </p:txBody>
      </p:sp>
      <p:sp>
        <p:nvSpPr>
          <p:cNvPr id="46" name="Text 43"/>
          <p:cNvSpPr txBox="1"/>
          <p:nvPr/>
        </p:nvSpPr>
        <p:spPr>
          <a:xfrm>
            <a:off x="9125712" y="4846320"/>
            <a:ext cx="2377440" cy="1005840"/>
          </a:xfrm>
          <a:prstGeom prst="rect">
            <a:avLst/>
          </a:prstGeom>
          <a:noFill/>
          <a:ln/>
        </p:spPr>
        <p:txBody>
          <a:bodyPr wrap="square" lIns="0" tIns="0" rIns="0" bIns="0" rtlCol="0" anchor="t"/>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화면</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GitHub Pages</a:t>
            </a:r>
            <a:endParaRPr lang="ko-KR" altLang="en-US" sz="1000" dirty="0"/>
          </a:p>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데이터</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Vercel 목업 서버 (GET만)</a:t>
            </a:r>
            <a:endParaRPr lang="ko-KR" altLang="en-US" sz="1000" dirty="0"/>
          </a:p>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창을 넓히면 반반 화면</a:t>
            </a:r>
            <a:endParaRPr lang="ko-KR" altLang="en-US" sz="10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배운 것: 화면은 ‘사용자가 하는 일의 순서’로 나눈다</a:t>
            </a:r>
            <a:endParaRPr lang="ko-KR" altLang="en-US" sz="2800" dirty="0"/>
          </a:p>
        </p:txBody>
      </p:sp>
      <p:sp>
        <p:nvSpPr>
          <p:cNvPr id="4" name="Shape 2"/>
          <p:cNvSpPr/>
          <p:nvPr/>
        </p:nvSpPr>
        <p:spPr>
          <a:xfrm>
            <a:off x="548640"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810512"/>
            <a:ext cx="914400" cy="731520"/>
          </a:xfrm>
          <a:prstGeom prst="rect">
            <a:avLst/>
          </a:prstGeom>
          <a:noFill/>
          <a:ln/>
        </p:spPr>
        <p:txBody>
          <a:bodyPr wrap="square" lIns="0" tIns="0" rIns="0" bIns="0" rtlCol="0" anchor="t"/>
          <a:lstStyle/>
          <a:p>
            <a:pPr indent="0" marL="0">
              <a:buNone/>
            </a:pPr>
            <a:r>
              <a:rPr lang="ko-KR" altLang="en-US" sz="4000" b="1" dirty="0">
                <a:solidFill>
                  <a:srgbClr val="1C86D9"/>
                </a:solidFill>
                <a:latin typeface="Malgun Gothic" pitchFamily="34" charset="0"/>
                <a:ea typeface="Malgun Gothic" pitchFamily="34" charset="-122"/>
                <a:cs typeface="Malgun Gothic" pitchFamily="34" charset="-120"/>
              </a:rPr>
              <a:t>1</a:t>
            </a:r>
            <a:endParaRPr lang="ko-KR" altLang="en-US" sz="4000" dirty="0"/>
          </a:p>
        </p:txBody>
      </p:sp>
      <p:sp>
        <p:nvSpPr>
          <p:cNvPr id="6" name="Text 4"/>
          <p:cNvSpPr txBox="1"/>
          <p:nvPr/>
        </p:nvSpPr>
        <p:spPr>
          <a:xfrm>
            <a:off x="822960" y="2606040"/>
            <a:ext cx="3017520" cy="274320"/>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배운 것</a:t>
            </a:r>
            <a:endParaRPr lang="ko-KR" altLang="en-US" sz="1250" dirty="0"/>
          </a:p>
        </p:txBody>
      </p:sp>
      <p:sp>
        <p:nvSpPr>
          <p:cNvPr id="7" name="Text 5"/>
          <p:cNvSpPr txBox="1"/>
          <p:nvPr/>
        </p:nvSpPr>
        <p:spPr>
          <a:xfrm>
            <a:off x="822960"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화면은 하는 일의 순서로</a:t>
            </a:r>
            <a:endParaRPr lang="ko-KR" altLang="en-US" sz="1900" dirty="0"/>
          </a:p>
        </p:txBody>
      </p:sp>
      <p:sp>
        <p:nvSpPr>
          <p:cNvPr id="8" name="Text 6"/>
          <p:cNvSpPr txBox="1"/>
          <p:nvPr/>
        </p:nvSpPr>
        <p:spPr>
          <a:xfrm>
            <a:off x="822960"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5 Why를 내려가 보니 문제는 기능이 아니라 구조였다</a:t>
            </a:r>
            <a:endParaRPr lang="ko-KR" altLang="en-US" sz="1300" dirty="0"/>
          </a:p>
        </p:txBody>
      </p:sp>
      <p:sp>
        <p:nvSpPr>
          <p:cNvPr id="9" name="Shape 7"/>
          <p:cNvSpPr/>
          <p:nvPr/>
        </p:nvSpPr>
        <p:spPr>
          <a:xfrm>
            <a:off x="4315968"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0" name="Text 8"/>
          <p:cNvSpPr txBox="1"/>
          <p:nvPr/>
        </p:nvSpPr>
        <p:spPr>
          <a:xfrm>
            <a:off x="4590288" y="1810512"/>
            <a:ext cx="914400" cy="731520"/>
          </a:xfrm>
          <a:prstGeom prst="rect">
            <a:avLst/>
          </a:prstGeom>
          <a:noFill/>
          <a:ln/>
        </p:spPr>
        <p:txBody>
          <a:bodyPr wrap="square" lIns="0" tIns="0" rIns="0" bIns="0" rtlCol="0" anchor="t"/>
          <a:lstStyle/>
          <a:p>
            <a:pPr indent="0" marL="0">
              <a:buNone/>
            </a:pPr>
            <a:r>
              <a:rPr lang="ko-KR" altLang="en-US" sz="4000" b="1" dirty="0">
                <a:solidFill>
                  <a:srgbClr val="B86E00"/>
                </a:solidFill>
                <a:latin typeface="Malgun Gothic" pitchFamily="34" charset="0"/>
                <a:ea typeface="Malgun Gothic" pitchFamily="34" charset="-122"/>
                <a:cs typeface="Malgun Gothic" pitchFamily="34" charset="-120"/>
              </a:rPr>
              <a:t>2</a:t>
            </a:r>
            <a:endParaRPr lang="ko-KR" altLang="en-US" sz="4000" dirty="0"/>
          </a:p>
        </p:txBody>
      </p:sp>
      <p:sp>
        <p:nvSpPr>
          <p:cNvPr id="11" name="Text 9"/>
          <p:cNvSpPr txBox="1"/>
          <p:nvPr/>
        </p:nvSpPr>
        <p:spPr>
          <a:xfrm>
            <a:off x="4590288" y="2606040"/>
            <a:ext cx="3017520" cy="274320"/>
          </a:xfrm>
          <a:prstGeom prst="rect">
            <a:avLst/>
          </a:prstGeom>
          <a:noFill/>
          <a:ln/>
        </p:spPr>
        <p:txBody>
          <a:bodyPr wrap="square" lIns="0" tIns="0" rIns="0" bIns="0" rtlCol="0" anchor="t"/>
          <a:lstStyle/>
          <a:p>
            <a:pPr indent="0" marL="0">
              <a:buNone/>
            </a:pPr>
            <a:r>
              <a:rPr lang="ko-KR" altLang="en-US" sz="1250" b="1" dirty="0">
                <a:solidFill>
                  <a:srgbClr val="B86E00"/>
                </a:solidFill>
                <a:latin typeface="Malgun Gothic" pitchFamily="34" charset="0"/>
                <a:ea typeface="Malgun Gothic" pitchFamily="34" charset="-122"/>
                <a:cs typeface="Malgun Gothic" pitchFamily="34" charset="-120"/>
              </a:rPr>
              <a:t>셀프 논증 회고</a:t>
            </a:r>
            <a:endParaRPr lang="ko-KR" altLang="en-US" sz="1250" dirty="0"/>
          </a:p>
        </p:txBody>
      </p:sp>
      <p:sp>
        <p:nvSpPr>
          <p:cNvPr id="12" name="Text 10"/>
          <p:cNvSpPr txBox="1"/>
          <p:nvPr/>
        </p:nvSpPr>
        <p:spPr>
          <a:xfrm>
            <a:off x="4590288"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반론은 받아들이기도, 버리기도</a:t>
            </a:r>
            <a:endParaRPr lang="ko-KR" altLang="en-US" sz="1900" dirty="0"/>
          </a:p>
        </p:txBody>
      </p:sp>
      <p:sp>
        <p:nvSpPr>
          <p:cNvPr id="13" name="Text 11"/>
          <p:cNvSpPr txBox="1"/>
          <p:nvPr/>
        </p:nvSpPr>
        <p:spPr>
          <a:xfrm>
            <a:off x="4590288"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AI 반론으로 모양을 하나로 · AI 알약 필터는 폐기</a:t>
            </a:r>
            <a:endParaRPr lang="ko-KR" altLang="en-US" sz="1300" dirty="0"/>
          </a:p>
        </p:txBody>
      </p:sp>
      <p:sp>
        <p:nvSpPr>
          <p:cNvPr id="14" name="Shape 12"/>
          <p:cNvSpPr/>
          <p:nvPr/>
        </p:nvSpPr>
        <p:spPr>
          <a:xfrm>
            <a:off x="8083296"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5" name="Text 13"/>
          <p:cNvSpPr txBox="1"/>
          <p:nvPr/>
        </p:nvSpPr>
        <p:spPr>
          <a:xfrm>
            <a:off x="8357616" y="1810512"/>
            <a:ext cx="914400" cy="731520"/>
          </a:xfrm>
          <a:prstGeom prst="rect">
            <a:avLst/>
          </a:prstGeom>
          <a:noFill/>
          <a:ln/>
        </p:spPr>
        <p:txBody>
          <a:bodyPr wrap="square" lIns="0" tIns="0" rIns="0" bIns="0" rtlCol="0" anchor="t"/>
          <a:lstStyle/>
          <a:p>
            <a:pPr indent="0" marL="0">
              <a:buNone/>
            </a:pPr>
            <a:r>
              <a:rPr lang="ko-KR" altLang="en-US" sz="4000" b="1" dirty="0">
                <a:solidFill>
                  <a:srgbClr val="12A07F"/>
                </a:solidFill>
                <a:latin typeface="Malgun Gothic" pitchFamily="34" charset="0"/>
                <a:ea typeface="Malgun Gothic" pitchFamily="34" charset="-122"/>
                <a:cs typeface="Malgun Gothic" pitchFamily="34" charset="-120"/>
              </a:rPr>
              <a:t>3</a:t>
            </a:r>
            <a:endParaRPr lang="ko-KR" altLang="en-US" sz="4000" dirty="0"/>
          </a:p>
        </p:txBody>
      </p:sp>
      <p:sp>
        <p:nvSpPr>
          <p:cNvPr id="16" name="Text 14"/>
          <p:cNvSpPr txBox="1"/>
          <p:nvPr/>
        </p:nvSpPr>
        <p:spPr>
          <a:xfrm>
            <a:off x="8357616" y="2606040"/>
            <a:ext cx="3017520" cy="274320"/>
          </a:xfrm>
          <a:prstGeom prst="rect">
            <a:avLst/>
          </a:prstGeom>
          <a:noFill/>
          <a:ln/>
        </p:spPr>
        <p:txBody>
          <a:bodyPr wrap="square" lIns="0" tIns="0" rIns="0" bIns="0" rtlCol="0" anchor="t"/>
          <a:lstStyle/>
          <a:p>
            <a:pPr indent="0" marL="0">
              <a:buNone/>
            </a:pPr>
            <a:r>
              <a:rPr lang="ko-KR" altLang="en-US" sz="1250" b="1" dirty="0">
                <a:solidFill>
                  <a:srgbClr val="12A07F"/>
                </a:solidFill>
                <a:latin typeface="Malgun Gothic" pitchFamily="34" charset="0"/>
                <a:ea typeface="Malgun Gothic" pitchFamily="34" charset="-122"/>
                <a:cs typeface="Malgun Gothic" pitchFamily="34" charset="-120"/>
              </a:rPr>
              <a:t>다음 v3</a:t>
            </a:r>
            <a:endParaRPr lang="ko-KR" altLang="en-US" sz="1250" dirty="0"/>
          </a:p>
        </p:txBody>
      </p:sp>
      <p:sp>
        <p:nvSpPr>
          <p:cNvPr id="17" name="Text 15"/>
          <p:cNvSpPr txBox="1"/>
          <p:nvPr/>
        </p:nvSpPr>
        <p:spPr>
          <a:xfrm>
            <a:off x="8357616"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남는 기록과 로고</a:t>
            </a:r>
            <a:endParaRPr lang="ko-KR" altLang="en-US" sz="1900" dirty="0"/>
          </a:p>
        </p:txBody>
      </p:sp>
      <p:sp>
        <p:nvSpPr>
          <p:cNvPr id="18" name="Text 16"/>
          <p:cNvSpPr txBox="1"/>
          <p:nvPr/>
        </p:nvSpPr>
        <p:spPr>
          <a:xfrm>
            <a:off x="8357616"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상태관리 수업에서 좋아요 · 도감 저장 · 로고 확정</a:t>
            </a:r>
            <a:endParaRPr lang="ko-KR" altLang="en-US" sz="13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4" name="Shape 2"/>
          <p:cNvSpPr/>
          <p:nvPr/>
        </p:nvSpPr>
        <p:spPr>
          <a:xfrm>
            <a:off x="548640" y="160020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04672" y="180136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Q1</a:t>
            </a:r>
            <a:endParaRPr lang="ko-KR" altLang="en-US" sz="1800" dirty="0"/>
          </a:p>
        </p:txBody>
      </p:sp>
      <p:sp>
        <p:nvSpPr>
          <p:cNvPr id="6" name="Text 4"/>
          <p:cNvSpPr txBox="1"/>
          <p:nvPr/>
        </p:nvSpPr>
        <p:spPr>
          <a:xfrm>
            <a:off x="1371600" y="180136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왜 하필 hobbyDB를 바탕으로 골랐나요?</a:t>
            </a:r>
            <a:endParaRPr lang="ko-KR" altLang="en-US" sz="1600" dirty="0"/>
          </a:p>
        </p:txBody>
      </p:sp>
      <p:sp>
        <p:nvSpPr>
          <p:cNvPr id="7" name="Text 5"/>
          <p:cNvSpPr txBox="1"/>
          <p:nvPr/>
        </p:nvSpPr>
        <p:spPr>
          <a:xfrm>
            <a:off x="1371600" y="233172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여러 브랜드의 수집품을 한 앱에 모으는 거의 유일한 앱이라, 브랜드마다 흩어진 정보라는 제 문제에 가장 가깝습니다. 하지만 웹사이트 메뉴를 그대로 옮긴 구조라 "없는 기능 · 불편" 리뷰가 많아 다시 설계할 가치가 있었습니다.</a:t>
            </a:r>
            <a:endParaRPr lang="ko-KR" altLang="en-US" sz="1300" dirty="0"/>
          </a:p>
        </p:txBody>
      </p:sp>
      <p:sp>
        <p:nvSpPr>
          <p:cNvPr id="8" name="Shape 6"/>
          <p:cNvSpPr/>
          <p:nvPr/>
        </p:nvSpPr>
        <p:spPr>
          <a:xfrm>
            <a:off x="548640" y="384048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9" name="Text 7"/>
          <p:cNvSpPr txBox="1"/>
          <p:nvPr/>
        </p:nvSpPr>
        <p:spPr>
          <a:xfrm>
            <a:off x="804672" y="404164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Q2</a:t>
            </a:r>
            <a:endParaRPr lang="ko-KR" altLang="en-US" sz="1800" dirty="0"/>
          </a:p>
        </p:txBody>
      </p:sp>
      <p:sp>
        <p:nvSpPr>
          <p:cNvPr id="10" name="Text 8"/>
          <p:cNvSpPr txBox="1"/>
          <p:nvPr/>
        </p:nvSpPr>
        <p:spPr>
          <a:xfrm>
            <a:off x="1371600" y="404164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다음 버전(v3)에서 가장 먼저 추가할 기능은?</a:t>
            </a:r>
            <a:endParaRPr lang="ko-KR" altLang="en-US" sz="1600" dirty="0"/>
          </a:p>
        </p:txBody>
      </p:sp>
      <p:sp>
        <p:nvSpPr>
          <p:cNvPr id="11" name="Text 9"/>
          <p:cNvSpPr txBox="1"/>
          <p:nvPr/>
        </p:nvSpPr>
        <p:spPr>
          <a:xfrm>
            <a:off x="1371600" y="457200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① 좋아요 · 구매함 · 도감 기록 저장 (상태관리 수업에서)</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② 브랜드마다 흩어진 공식 예고를 자동으로 모으기</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③ 실제 사진 인식 · 로고와 앱 아이콘 확정</a:t>
            </a:r>
            <a:endParaRPr lang="ko-KR" altLang="en-US" sz="1300" dirty="0"/>
          </a:p>
        </p:txBody>
      </p:sp>
      <p:sp>
        <p:nvSpPr>
          <p:cNvPr id="12" name="Shape 10"/>
          <p:cNvSpPr/>
          <p:nvPr/>
        </p:nvSpPr>
        <p:spPr>
          <a:xfrm>
            <a:off x="8001000" y="1600200"/>
            <a:ext cx="3639312" cy="4389120"/>
          </a:xfrm>
          <a:prstGeom prst="roundRect">
            <a:avLst>
              <a:gd name="adj" fmla="val 4020"/>
            </a:avLst>
          </a:prstGeom>
          <a:solidFill>
            <a:srgbClr val="F4F5F7"/>
          </a:solidFill>
          <a:ln/>
        </p:spPr>
      </p:sp>
      <p:sp>
        <p:nvSpPr>
          <p:cNvPr id="13" name="Text 11"/>
          <p:cNvSpPr txBox="1"/>
          <p:nvPr/>
        </p:nvSpPr>
        <p:spPr>
          <a:xfrm>
            <a:off x="8275320" y="1810512"/>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14" name="Text 12"/>
          <p:cNvSpPr txBox="1"/>
          <p:nvPr/>
        </p:nvSpPr>
        <p:spPr>
          <a:xfrm>
            <a:off x="8275320" y="2084832"/>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15" name="Shape 13"/>
          <p:cNvSpPr/>
          <p:nvPr/>
        </p:nvSpPr>
        <p:spPr>
          <a:xfrm>
            <a:off x="8275320" y="2487168"/>
            <a:ext cx="3090672" cy="548640"/>
          </a:xfrm>
          <a:prstGeom prst="roundRect">
            <a:avLst>
              <a:gd name="adj" fmla="val 16667"/>
            </a:avLst>
          </a:prstGeom>
          <a:solidFill>
            <a:srgbClr val="FFFFFF"/>
          </a:solidFill>
          <a:ln/>
        </p:spPr>
      </p:sp>
      <p:sp>
        <p:nvSpPr>
          <p:cNvPr id="16" name="Text 14"/>
          <p:cNvSpPr txBox="1"/>
          <p:nvPr/>
        </p:nvSpPr>
        <p:spPr>
          <a:xfrm>
            <a:off x="8458200" y="2487168"/>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17" name="Text 15"/>
          <p:cNvSpPr txBox="1"/>
          <p:nvPr/>
        </p:nvSpPr>
        <p:spPr>
          <a:xfrm>
            <a:off x="9006840" y="2487168"/>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18" name="Text 16"/>
          <p:cNvSpPr txBox="1"/>
          <p:nvPr/>
        </p:nvSpPr>
        <p:spPr>
          <a:xfrm>
            <a:off x="10607040" y="2487168"/>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18장</a:t>
            </a:r>
            <a:endParaRPr lang="ko-KR" altLang="en-US" sz="1100" dirty="0"/>
          </a:p>
        </p:txBody>
      </p:sp>
      <p:sp>
        <p:nvSpPr>
          <p:cNvPr id="19" name="Shape 17"/>
          <p:cNvSpPr/>
          <p:nvPr/>
        </p:nvSpPr>
        <p:spPr>
          <a:xfrm>
            <a:off x="8275320" y="3163824"/>
            <a:ext cx="3090672" cy="548640"/>
          </a:xfrm>
          <a:prstGeom prst="roundRect">
            <a:avLst>
              <a:gd name="adj" fmla="val 16667"/>
            </a:avLst>
          </a:prstGeom>
          <a:solidFill>
            <a:srgbClr val="FFFFFF"/>
          </a:solidFill>
          <a:ln/>
        </p:spPr>
      </p:sp>
      <p:sp>
        <p:nvSpPr>
          <p:cNvPr id="20" name="Text 18"/>
          <p:cNvSpPr txBox="1"/>
          <p:nvPr/>
        </p:nvSpPr>
        <p:spPr>
          <a:xfrm>
            <a:off x="8458200" y="3163824"/>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21" name="Text 19"/>
          <p:cNvSpPr txBox="1"/>
          <p:nvPr/>
        </p:nvSpPr>
        <p:spPr>
          <a:xfrm>
            <a:off x="9006840" y="3163824"/>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22" name="Text 20"/>
          <p:cNvSpPr txBox="1"/>
          <p:nvPr/>
        </p:nvSpPr>
        <p:spPr>
          <a:xfrm>
            <a:off x="10607040" y="3163824"/>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21장</a:t>
            </a:r>
            <a:endParaRPr lang="ko-KR" altLang="en-US" sz="1100" dirty="0"/>
          </a:p>
        </p:txBody>
      </p:sp>
      <p:sp>
        <p:nvSpPr>
          <p:cNvPr id="23" name="Shape 21"/>
          <p:cNvSpPr/>
          <p:nvPr/>
        </p:nvSpPr>
        <p:spPr>
          <a:xfrm>
            <a:off x="8275320" y="3840480"/>
            <a:ext cx="3090672" cy="548640"/>
          </a:xfrm>
          <a:prstGeom prst="roundRect">
            <a:avLst>
              <a:gd name="adj" fmla="val 16667"/>
            </a:avLst>
          </a:prstGeom>
          <a:solidFill>
            <a:srgbClr val="FFFFFF"/>
          </a:solidFill>
          <a:ln/>
        </p:spPr>
      </p:sp>
      <p:sp>
        <p:nvSpPr>
          <p:cNvPr id="24" name="Text 22"/>
          <p:cNvSpPr txBox="1"/>
          <p:nvPr/>
        </p:nvSpPr>
        <p:spPr>
          <a:xfrm>
            <a:off x="8458200" y="3840480"/>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25" name="Text 23"/>
          <p:cNvSpPr txBox="1"/>
          <p:nvPr/>
        </p:nvSpPr>
        <p:spPr>
          <a:xfrm>
            <a:off x="9006840" y="3840480"/>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26" name="Text 24"/>
          <p:cNvSpPr txBox="1"/>
          <p:nvPr/>
        </p:nvSpPr>
        <p:spPr>
          <a:xfrm>
            <a:off x="10607040" y="3840480"/>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31장</a:t>
            </a:r>
            <a:endParaRPr lang="ko-KR" altLang="en-US" sz="1100" dirty="0"/>
          </a:p>
        </p:txBody>
      </p:sp>
      <p:sp>
        <p:nvSpPr>
          <p:cNvPr id="27" name="Shape 25"/>
          <p:cNvSpPr/>
          <p:nvPr/>
        </p:nvSpPr>
        <p:spPr>
          <a:xfrm>
            <a:off x="8275320" y="4517136"/>
            <a:ext cx="3090672" cy="548640"/>
          </a:xfrm>
          <a:prstGeom prst="roundRect">
            <a:avLst>
              <a:gd name="adj" fmla="val 16667"/>
            </a:avLst>
          </a:prstGeom>
          <a:solidFill>
            <a:srgbClr val="FFFFFF"/>
          </a:solidFill>
          <a:ln/>
        </p:spPr>
      </p:sp>
      <p:sp>
        <p:nvSpPr>
          <p:cNvPr id="28" name="Text 26"/>
          <p:cNvSpPr txBox="1"/>
          <p:nvPr/>
        </p:nvSpPr>
        <p:spPr>
          <a:xfrm>
            <a:off x="8458200" y="4517136"/>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29" name="Text 27"/>
          <p:cNvSpPr txBox="1"/>
          <p:nvPr/>
        </p:nvSpPr>
        <p:spPr>
          <a:xfrm>
            <a:off x="9006840" y="4517136"/>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30" name="Text 28"/>
          <p:cNvSpPr txBox="1"/>
          <p:nvPr/>
        </p:nvSpPr>
        <p:spPr>
          <a:xfrm>
            <a:off x="10607040" y="4517136"/>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33장</a:t>
            </a:r>
            <a:endParaRPr lang="ko-KR" altLang="en-US" sz="1100" dirty="0"/>
          </a:p>
        </p:txBody>
      </p:sp>
      <p:sp>
        <p:nvSpPr>
          <p:cNvPr id="31" name="Shape 29"/>
          <p:cNvSpPr/>
          <p:nvPr/>
        </p:nvSpPr>
        <p:spPr>
          <a:xfrm>
            <a:off x="8275320" y="5193792"/>
            <a:ext cx="3090672" cy="548640"/>
          </a:xfrm>
          <a:prstGeom prst="roundRect">
            <a:avLst>
              <a:gd name="adj" fmla="val 16667"/>
            </a:avLst>
          </a:prstGeom>
          <a:solidFill>
            <a:srgbClr val="FFFFFF"/>
          </a:solidFill>
          <a:ln/>
        </p:spPr>
      </p:sp>
      <p:sp>
        <p:nvSpPr>
          <p:cNvPr id="32" name="Text 30"/>
          <p:cNvSpPr txBox="1"/>
          <p:nvPr/>
        </p:nvSpPr>
        <p:spPr>
          <a:xfrm>
            <a:off x="8458200" y="5193792"/>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33" name="Text 31"/>
          <p:cNvSpPr txBox="1"/>
          <p:nvPr/>
        </p:nvSpPr>
        <p:spPr>
          <a:xfrm>
            <a:off x="9006840" y="5193792"/>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34" name="Text 32"/>
          <p:cNvSpPr txBox="1"/>
          <p:nvPr/>
        </p:nvSpPr>
        <p:spPr>
          <a:xfrm>
            <a:off x="10607040" y="5193792"/>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34장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18장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21장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31장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33장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34장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b_search · o_see_all</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f_collection_screen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h_calendar_screen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친구 · 내 정보 · 알림 · 설정 · 카메라</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rawer.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M 친구 서랍</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m_friends_drawer</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profile.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I 내 정보</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i_profile_screen</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friend.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L 친구 컬렉션</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l_friend_collection</a:t>
            </a:r>
            <a:endParaRPr lang="ko-KR" altLang="en-US" sz="95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notif.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N 알림</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n_notifications_screen</a:t>
            </a:r>
            <a:endParaRPr lang="ko-KR" altLang="en-US" sz="95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settings.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K 설정</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k_settings_screen</a:t>
            </a:r>
            <a:endParaRPr lang="ko-KR" altLang="en-US" sz="95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mera.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E 찍어서 찾기</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e_camera_screen</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DEMO_STATE=loading</a:t>
            </a:r>
            <a:endParaRPr lang="ko-KR" altLang="en-US" sz="95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DEMO_STATE=error</a:t>
            </a:r>
            <a:endParaRPr lang="ko-KR" altLang="en-US" sz="95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DEMO_STATE=empty</a:t>
            </a:r>
            <a:endParaRPr lang="ko-KR" altLang="en-US" sz="95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05–06장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05장 · B5-1 (34장)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B5-2 (35장)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07장 · B5-3 (36장)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08–11장 · B5-4 (37–39장)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13장 · B5-5 (40장)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12장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13–14장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GitHub Pages + Vercel 목업 서버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+5 −0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갤럭시 폴드 — 밖에선 접고 집에선 펼친다</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③ 살지 판단 — 시세 제한 · 광고</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③ 살지 판단 · 어긴 원칙 P07 P08 P10</a:t>
            </a:r>
            <a:endParaRPr lang="ko-KR" altLang="en-US" sz="12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폴드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감정 곡선은 07장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40</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2026-10-29T04:35:29Z</dcterms:created>
  <dcterms:modified xsi:type="dcterms:W3CDTF">2026-10-29T04:35:29Z</dcterms:modified>
</cp:coreProperties>
</file>