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본문" id="{9941e2ca-3b5a-e4d7-76f5-9dfd1b271573}">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부록" id="{227bad78-5146-a6a6-8a35-f20924e0740e}">
          <p14:sldIdLst>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1장 · 표지
안녕하세요. 수집가를 위한 앱, Hobby Atlas를 발표할 ZHENG BOWEN입니다.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2장 · 목차
개요, 문제 정의, 해결 방법, 셀프 논증, 구현, 데모 순서로 말씀드리겠습니다.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3장 · 프로젝트 개요
Hobby Atlas는 피규어와 프라모델 수집가를 위한 앱입니다. 관심 있는 IP만 채널로 골라 새 소식을 먼저 보고, 사진 위의 하트와 리본으로 한 번에 기록합니다. 모을수록 도감 칸이 켜집니다.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4장 · 문제 정의 — 기존 앱 hobbyDB
바탕이 된 기존 앱은 hobbyDB입니다. 웹사이트 메뉴가 그대로 있고, 공식 예고나 발매일 같은 새 소식은 없습니다.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5장 · 문제 정의 — 리뷰
리뷰를 보면 버그보다 없는 기능과 불편함이 많았습니다. 라인별로 정리할 수 없고, 신상품이 늦게 올라오고, 넣고 빼기가 번거롭습니다. 오른쪽이 Hobby Atlas의 답입니다.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6장 · 문제 정의 — 왜 만들었나
그런데 더 큰 문제는 정보가 흩어져 있다는 것입니다. 건담 하나만 봐도 프라모델, 완성품, 한정판, 경품을 파는 곳이 다 다릅니다. 공식 사이트끼리 연결되지 않아서, 지난 상품은 찾기도 어렵습니다.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7장 · 문제 정의 — 퍼소나
이 앱을 쓸 사람은 수집 4년차 대학생 민준입니다. 민준의 가장 큰 문제는 좋아하는 작품에 무엇이 나오는지 다 모른다는 것입니다. 새 상품을 놓치고, 한정판은 예약이 끝난 뒤에야 압니다.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8장 · 문제 정의 — 저니 · 근본 원인
그래서 가장 막히는 곳은 첫 단계, 소식을 아는 순간입니다. 5 Why로 내려가 보니 근본 원인은, 화면이 내 관심 IP와 내가 하는 일의 순서로 짜여 있지 않다는 것이었습니다.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9장 · 해결 방법 — 홈 시안
이제 해결 방법입니다. 홈을 위아래로 나열하지 말자고 했더니, AI가 세 가지 시안을 보여 줬습니다. AI는 B를 추천했지만, 저는 A를 골랐습니다. 수집가는 사진으로 상품을 알아보는데, A가 사진이 가장 크기 때문입니다.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10장 · 해결 방법 — 홈
여기부터는 화면이 바뀐 과정입니다. 노란 칸이 제 요청, 아래가 제가 보여 준 참고 앱과 바뀐 화면입니다. PS Store 같은 앱을 보여 주고 배너와 가로 줄을 만들었고, IMDb처럼 세로 막대와 앱 색을 넣었습니다.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11장 · 해결 방법 — 전체 목록 · 필터
AI는 전체 목록을 상태로 거르게 만들었지만, 저는 작품별로 거르게 했습니다. 알약 줄은 너무 못생겨서, 토이저러스 필터를 보여 주고 오른쪽 패널로 바꿨습니다.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12장 · 해결 방법 — 상품 상세
상품 상세는 타오바오처럼 공식 정보를 작은 줄로 접었습니다. 검정 바탕 흰 글자는 앱과 안 어울려서 모두 뺐습니다.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13장 · 해결 방법 — 좋아요 · 구매함 · 도감
좋아요와 구매함은 사진에서 바로 누르게 했고, IMDb처럼 리본 모양으로 바꿨습니다. 같은 구매함이 서너 가지 모양이라는 AI의 지적도 받아들여 하나로 맞췄습니다.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14장 · 해결 방법 — 친구 · 넓은 창
친구 화면은 QQ처럼 옆으로 여는 서랍으로 만들었고, 넓은 창에서는 왼쪽은 앱, 오른쪽은 상세가 나오는 반반 화면으로 바꿨습니다.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15장 · 셀프 논증 — 내가 AI를 반박
셀프 논증은 제 설계를 반론으로 다져 보는 과정입니다. 여기서는 제가 AI를 반박한 경우를 보여 드리겠습니다. AI는 매번 코드를 새로 만들고, 같은 뜻에 다른 아이콘을 쓰고, 모든 걸 나열하고, 같은 내용을 여러 곳에 반복했습니다. 그때마다 지적해서 공용 위젯, 가로 줄, 한 곳 표시로 고쳤습니다.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16장 · Flutter 구현
구현은 Flutter입니다. 화면 이동은 쌓기, 옆으로, 덮기 세 가지이고, 데이터는 json-server에서 GET만 합니다. 모든 화면에 로딩, 오류, 빈 상태가 있고, 상태관리 패키지 없이 setState로만 만들었습니다.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17장 · 데모
그럼 배포된 앱으로 보여 드리겠습니다. QR로 여셔도 됩니다. [홈] 배너가 자동으로 넘어갑니다. 이 상품의 리본을 누르면 구매함에 들어갑니다. [카메라] 찍으면 후보가 나옵니다. 미리 정해 둔 결과입니다. [컬렉션] 방금 담은 상품이 여기 있습니다. [도감] 칸이 켜지고 레벨이 오릅니다. [창 넓히기] 왼쪽은 앱, 오른쪽은 상세입니다. [오류] 인터넷을 끄면 다시 시도 버튼이 나옵니다.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18장 · Personal Learnings
이번 과제에서 가장 크게 배운 것은, 요구는 말보다 참고 화면으로 보여 줘야 한다는 것입니다. 셀프 논증에서는 근거가 있는 AI 반론만 받아들였습니다. 구매함 모양은 고쳤고, 알약 필터는 버렸습니다. 다음 v3에서는 기록 저장과 브랜드 소식 자동 수집을 넣겠습니다. 감사합니다.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19장 · Q&amp;A
질문 받겠습니다.
Q1. 왜 하필 hobbyDB를 바탕으로 골랐나요?
A. 여러 브랜드의 수집품을 한 앱에 모으는 거의 유일한 앱이라, 브랜드마다 정보가 흩어져 있다는 제 문제에 가장 가깝기 때문입니다. 하지만 웹사이트 메뉴를 그대로 옮긴 구조라서 없는 기능과 불편하다는 리뷰가 많았고, 그래서 다시 설계할 가치가 있다고 봤습니다.
Q2. 다음 버전(v3)에서 가장 먼저 추가할 기능은?
A. 첫째, 지금은 앱을 끄면 사라지는 좋아요, 구매함, 도감 기록을 저장하겠습니다. 둘째, 브랜드마다 흩어진 공식 예고를 자동으로 모으고, 셋째, 실제 사진 인식을 넣겠습니다.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본문에서는 넘기지 않는다. 질문에 맞는 부록 장으로 바로 이동(장 번호 + Enter).</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'다른 화면은요?' — 화면 16개 목록은 README 3장 · 디자인 가이드 1장.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나머지 화면. 카메라 결과 · AI 후보는 미리 쓴 임의 결과(디자인 가이드 4장).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같은 홈 화면을 --dart-define=DEMO_STATE 로 실행한 3상태. 서버를 끄고 채널을 바꿔도 오류 + 다시 시도가 나온다.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비율별 모습. 같은 홈 화면을 7가지 크기로 실행한 캡처 (docs/screenshots/30_size_*).</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P01 시스템 상태의 가시성 — 원칙 → 근거(리뷰) → 적용(요소 번호) → 시연 → 판단(버린 대안) 순서로. 원본 docs/원칙카드.md, 코드 grep -rn "P01"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P02 시스템과 실세계의 일치 — 원칙 → 근거(리뷰) → 적용(요소 번호) → 시연 → 판단(버린 대안) 순서로. 원본 docs/원칙카드.md, 코드 grep -rn "P02"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P03 사용자 통제와 자유 — 원칙 → 근거(리뷰) → 적용(요소 번호) → 시연 → 판단(버린 대안) 순서로. 원본 docs/원칙카드.md, 코드 grep -rn "P03"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P04 일관성과 표준 — 원칙 → 근거(리뷰) → 적용(요소 번호) → 시연 → 판단(버린 대안) 순서로. 원본 docs/원칙카드.md, 코드 grep -rn "P04"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P05 오류 예방 — 원칙 → 근거(리뷰) → 적용(요소 번호) → 시연 → 판단(버린 대안) 순서로. 원본 docs/원칙카드.md, 코드 grep -rn "P05"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P06 기억보다 재인 — 원칙 → 근거(리뷰) → 적용(요소 번호) → 시연 → 판단(버린 대안) 순서로. 원본 docs/원칙카드.md, 코드 grep -rn "P06"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P07 사용의 유연성과 효율성 — 원칙 → 근거(리뷰) → 적용(요소 번호) → 시연 → 판단(버린 대안) 순서로. 원본 docs/원칙카드.md, 코드 grep -rn "P07"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P08 미학적이고 미니멀한 디자인 — 원칙 → 근거(리뷰) → 적용(요소 번호) → 시연 → 판단(버린 대안) 순서로. 원본 docs/원칙카드.md, 코드 grep -rn "P08"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P09 오류 인식 · 진단 · 복구 돕기 — 원칙 → 근거(리뷰) → 적용(요소 번호) → 시연 → 판단(버린 대안) 순서로. 원본 docs/원칙카드.md, 코드 grep -rn "P09"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P10 도움말과 문서 — 원칙 → 근거(리뷰) → 적용(요소 번호) → 시연 → 판단(버린 대안) 순서로. 원본 docs/원칙카드.md, 코드 grep -rn "P10"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발표 때 넘기지 않는다 — 제출 전 자가 칸을 직접 채운다. 감점 grep 결과 없음(2026.10.26).</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'누구를 위해 왜 고치나요?' — 목표 → 퍼소나 → 문제 4가지 → 핵심 가치. 범위는 UI만(저장 · 로그인 · 결제 · 실제 인식 없음). 원본 docs/기획.md 2장.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목표에서 출발해 단계별 리뷰와 감정을 짚고, 최저점 ③ 살지 판단과 어긴 원칙 P07 · P08 · P10. 필요한 데이터 = json-server GET 필드.</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피쉬본 머리 → 여섯 시각 → 우선순위 "익히기 어렵다" → 5 Why → 근본 원인 → v2 C-1 · S-3. 원본 docs/기획.md 4 ·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A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D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G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'어떤 데이터가 바뀌고 어느 위젯이 보여 주나'를 S번호로. 패키지 없음 · 저장 안 함. 원본 docs/디자인가이드.md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D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GAI3008-01 응용모바일프로그래밍 · 중간고사 · Hobby Atlas · ZHENG BOWEN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X">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부록 — 질의 응답 때만 · Hobby Atlas</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1004</a:t>
            </a:fld>
            <a:endParaRPr lang="ko-KR"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4F5F7"/>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1005</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lang="ko-K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lang="ko-K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lang="ko-K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lang="ko-K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lang="ko-KR" sz="1800" kern="1200">
          <a:solidFill>
            <a:schemeClr val="tx1"/>
          </a:solidFill>
          <a:latin typeface="+mn-lt"/>
          <a:ea typeface="+mn-ea"/>
          <a:cs typeface="+mn-cs"/>
        </a:defRPr>
      </a:lvl1pPr>
      <a:lvl2pPr marL="457200" algn="l" defTabSz="914400" rtl="0" eaLnBrk="1" latinLnBrk="0" hangingPunct="1">
        <a:defRPr lang="ko-KR" sz="1800" kern="1200">
          <a:solidFill>
            <a:schemeClr val="tx1"/>
          </a:solidFill>
          <a:latin typeface="+mn-lt"/>
          <a:ea typeface="+mn-ea"/>
          <a:cs typeface="+mn-cs"/>
        </a:defRPr>
      </a:lvl2pPr>
      <a:lvl3pPr marL="914400" algn="l" defTabSz="914400" rtl="0" eaLnBrk="1" latinLnBrk="0" hangingPunct="1">
        <a:defRPr lang="ko-KR" sz="1800" kern="1200">
          <a:solidFill>
            <a:schemeClr val="tx1"/>
          </a:solidFill>
          <a:latin typeface="+mn-lt"/>
          <a:ea typeface="+mn-ea"/>
          <a:cs typeface="+mn-cs"/>
        </a:defRPr>
      </a:lvl3pPr>
      <a:lvl4pPr marL="1371600" algn="l" defTabSz="914400" rtl="0" eaLnBrk="1" latinLnBrk="0" hangingPunct="1">
        <a:defRPr lang="ko-KR" sz="1800" kern="1200">
          <a:solidFill>
            <a:schemeClr val="tx1"/>
          </a:solidFill>
          <a:latin typeface="+mn-lt"/>
          <a:ea typeface="+mn-ea"/>
          <a:cs typeface="+mn-cs"/>
        </a:defRPr>
      </a:lvl4pPr>
      <a:lvl5pPr marL="1828800" algn="l" defTabSz="914400" rtl="0" eaLnBrk="1" latinLnBrk="0" hangingPunct="1">
        <a:defRPr lang="ko-KR" sz="1800" kern="1200">
          <a:solidFill>
            <a:schemeClr val="tx1"/>
          </a:solidFill>
          <a:latin typeface="+mn-lt"/>
          <a:ea typeface="+mn-ea"/>
          <a:cs typeface="+mn-cs"/>
        </a:defRPr>
      </a:lvl5pPr>
      <a:lvl6pPr marL="2286000" algn="l" defTabSz="914400" rtl="0" eaLnBrk="1" latinLnBrk="0" hangingPunct="1">
        <a:defRPr lang="ko-KR" sz="1800" kern="1200">
          <a:solidFill>
            <a:schemeClr val="tx1"/>
          </a:solidFill>
          <a:latin typeface="+mn-lt"/>
          <a:ea typeface="+mn-ea"/>
          <a:cs typeface="+mn-cs"/>
        </a:defRPr>
      </a:lvl6pPr>
      <a:lvl7pPr marL="2743200" algn="l" defTabSz="914400" rtl="0" eaLnBrk="1" latinLnBrk="0" hangingPunct="1">
        <a:defRPr lang="ko-KR" sz="1800" kern="1200">
          <a:solidFill>
            <a:schemeClr val="tx1"/>
          </a:solidFill>
          <a:latin typeface="+mn-lt"/>
          <a:ea typeface="+mn-ea"/>
          <a:cs typeface="+mn-cs"/>
        </a:defRPr>
      </a:lvl7pPr>
      <a:lvl8pPr marL="3200400" algn="l" defTabSz="914400" rtl="0" eaLnBrk="1" latinLnBrk="0" hangingPunct="1">
        <a:defRPr lang="ko-KR" sz="1800" kern="1200">
          <a:solidFill>
            <a:schemeClr val="tx1"/>
          </a:solidFill>
          <a:latin typeface="+mn-lt"/>
          <a:ea typeface="+mn-ea"/>
          <a:cs typeface="+mn-cs"/>
        </a:defRPr>
      </a:lvl8pPr>
      <a:lvl9pPr marL="3657600" algn="l" defTabSz="914400" rtl="0" eaLnBrk="1" latinLnBrk="0" hangingPunct="1">
        <a:defRPr lang="ko-K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3.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3.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3.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3.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4.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4.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4.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4.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64008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GAI3008-01 응용모바일프로그래밍 · 중간고사 발표</a:t>
            </a:r>
            <a:endParaRPr lang="ko-KR" altLang="en-US" sz="1300" dirty="0"/>
          </a:p>
        </p:txBody>
      </p:sp>
      <p:sp>
        <p:nvSpPr>
          <p:cNvPr id="3" name="Text 1"/>
          <p:cNvSpPr txBox="1"/>
          <p:nvPr/>
        </p:nvSpPr>
        <p:spPr>
          <a:xfrm>
            <a:off x="731520" y="91440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2026. 10. 29</a:t>
            </a:r>
            <a:endParaRPr lang="ko-KR" altLang="en-US" sz="1300" dirty="0"/>
          </a:p>
        </p:txBody>
      </p:sp>
      <p:sp>
        <p:nvSpPr>
          <p:cNvPr id="4" name="Text 2"/>
          <p:cNvSpPr txBox="1"/>
          <p:nvPr/>
        </p:nvSpPr>
        <p:spPr>
          <a:xfrm>
            <a:off x="731520" y="2148840"/>
            <a:ext cx="6035040" cy="310896"/>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hobbyDB v2 재설계 · UX/UI 기획 + Flutter UI 프로토타입</a:t>
            </a:r>
            <a:endParaRPr lang="ko-KR" altLang="en-US" sz="1400" dirty="0"/>
          </a:p>
        </p:txBody>
      </p:sp>
      <p:pic>
        <p:nvPicPr>
          <p:cNvPr id="5" name="Image 0" descr="C:\Users\Windows11\AppData\Local\Temp\claude\C--Users-Windows11-Desktop-New-folder--2-\a0c8a1d0-32ba-4ae6-9843-b5ebc69d925f\scratchpad\deck2/img/appicon_r.png">    </p:cNvPr>
          <p:cNvPicPr>
            <a:picLocks noChangeAspect="1"/>
          </p:cNvPicPr>
          <p:nvPr/>
        </p:nvPicPr>
        <p:blipFill>
          <a:blip r:embed="rId1"/>
          <a:stretch>
            <a:fillRect/>
          </a:stretch>
        </p:blipFill>
        <p:spPr>
          <a:xfrm>
            <a:off x="731520" y="1325880"/>
            <a:ext cx="749808" cy="749808"/>
          </a:xfrm>
          <a:prstGeom prst="rect">
            <a:avLst/>
          </a:prstGeom>
        </p:spPr>
      </p:pic>
      <p:sp>
        <p:nvSpPr>
          <p:cNvPr id="6" name="Text 3"/>
          <p:cNvSpPr txBox="1"/>
          <p:nvPr/>
        </p:nvSpPr>
        <p:spPr>
          <a:xfrm>
            <a:off x="731520" y="2514600"/>
            <a:ext cx="6035040" cy="96012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Hobby Atlas</a:t>
            </a:r>
            <a:endParaRPr lang="ko-KR" altLang="en-US" sz="6000" dirty="0"/>
          </a:p>
        </p:txBody>
      </p:sp>
      <p:sp>
        <p:nvSpPr>
          <p:cNvPr id="7" name="Text 4"/>
          <p:cNvSpPr txBox="1"/>
          <p:nvPr/>
        </p:nvSpPr>
        <p:spPr>
          <a:xfrm>
            <a:off x="731520" y="3547872"/>
            <a:ext cx="6035040" cy="457200"/>
          </a:xfrm>
          <a:prstGeom prst="rect">
            <a:avLst/>
          </a:prstGeom>
          <a:noFill/>
          <a:ln/>
        </p:spPr>
        <p:txBody>
          <a:bodyPr wrap="square" lIns="0" tIns="0" rIns="0" bIns="0" rtlCol="0" anchor="t"/>
          <a:lstStyle/>
          <a:p>
            <a:pPr indent="0" marL="0">
              <a:buNone/>
            </a:pPr>
            <a:r>
              <a:rPr lang="ko-KR" altLang="en-US" sz="24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2400" dirty="0"/>
          </a:p>
        </p:txBody>
      </p:sp>
      <p:sp>
        <p:nvSpPr>
          <p:cNvPr id="8" name="Text 5"/>
          <p:cNvSpPr txBox="1"/>
          <p:nvPr/>
        </p:nvSpPr>
        <p:spPr>
          <a:xfrm>
            <a:off x="731520" y="5074920"/>
            <a:ext cx="5486400" cy="329184"/>
          </a:xfrm>
          <a:prstGeom prst="rect">
            <a:avLst/>
          </a:prstGeom>
          <a:noFill/>
          <a:ln/>
        </p:spPr>
        <p:txBody>
          <a:bodyPr wrap="square" lIns="0" tIns="0" rIns="0" bIns="0" rtlCol="0" anchor="t"/>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ZHENG BOWEN</a:t>
            </a:r>
            <a:endParaRPr lang="ko-KR" altLang="en-US" sz="1800" dirty="0"/>
          </a:p>
        </p:txBody>
      </p:sp>
      <p:sp>
        <p:nvSpPr>
          <p:cNvPr id="9" name="Text 6"/>
          <p:cNvSpPr txBox="1"/>
          <p:nvPr/>
        </p:nvSpPr>
        <p:spPr>
          <a:xfrm>
            <a:off x="731520" y="5422392"/>
            <a:ext cx="548640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2023106124 · 1인 1팀</a:t>
            </a:r>
            <a:endParaRPr lang="ko-KR" altLang="en-US" sz="1300" dirty="0"/>
          </a:p>
        </p:txBody>
      </p:sp>
      <p:sp>
        <p:nvSpPr>
          <p:cNvPr id="10" name="Text 7"/>
          <p:cNvSpPr txBox="1"/>
          <p:nvPr/>
        </p:nvSpPr>
        <p:spPr>
          <a:xfrm>
            <a:off x="731520" y="5852160"/>
            <a:ext cx="6035040" cy="274320"/>
          </a:xfrm>
          <a:prstGeom prst="rect">
            <a:avLst/>
          </a:prstGeom>
          <a:noFill/>
          <a:ln/>
        </p:spPr>
        <p:txBody>
          <a:bodyPr wrap="square" lIns="0" tIns="0" rIns="0" bIns="0" rtlCol="0" anchor="t"/>
          <a:lstStyle/>
          <a:p>
            <a:pPr indent="0" marL="0">
              <a:buNone/>
            </a:pPr>
            <a:r>
              <a:rPr lang="ko-KR" altLang="en-US" sz="1200" dirty="0">
                <a:solidFill>
                  <a:srgbClr val="1C86D9"/>
                </a:solidFill>
                <a:latin typeface="Malgun Gothic" pitchFamily="34" charset="0"/>
                <a:ea typeface="Malgun Gothic" pitchFamily="34" charset="-122"/>
                <a:cs typeface="Malgun Gothic" pitchFamily="34" charset="-120"/>
              </a:rPr>
              <a:t>▶ </a:t>
            </a:r>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mdefitko777.github.io/gunpula-flutter</a:t>
            </a:r>
            <a:endParaRPr lang="ko-KR" altLang="en-US" sz="1200" dirty="0"/>
          </a:p>
        </p:txBody>
      </p:sp>
      <p:sp>
        <p:nvSpPr>
          <p:cNvPr id="11" name="Shape 8"/>
          <p:cNvSpPr/>
          <p:nvPr/>
        </p:nvSpPr>
        <p:spPr>
          <a:xfrm>
            <a:off x="7086600" y="548640"/>
            <a:ext cx="4553712" cy="5760720"/>
          </a:xfrm>
          <a:prstGeom prst="roundRect">
            <a:avLst>
              <a:gd name="adj" fmla="val 6024"/>
            </a:avLst>
          </a:prstGeom>
          <a:solidFill>
            <a:srgbClr val="F4F5F7"/>
          </a:solidFill>
          <a:ln/>
        </p:spPr>
      </p:sp>
      <p:sp>
        <p:nvSpPr>
          <p:cNvPr id="12" name="Shape 9"/>
          <p:cNvSpPr/>
          <p:nvPr/>
        </p:nvSpPr>
        <p:spPr>
          <a:xfrm>
            <a:off x="8219784" y="932688"/>
            <a:ext cx="2287343" cy="4992624"/>
          </a:xfrm>
          <a:prstGeom prst="roundRect">
            <a:avLst>
              <a:gd name="adj" fmla="val 7620"/>
            </a:avLst>
          </a:prstGeom>
          <a:solidFill>
            <a:srgbClr val="FFFFFF"/>
          </a:solidFill>
          <a:ln/>
          <a:effectLst>
            <a:outerShdw sx="100000" sy="100000" kx="0" ky="0" algn="bl" rotWithShape="0" blurRad="228600" dist="76200" dir="5400000">
              <a:srgbClr val="000000">
                <a:alpha val="18000"/>
              </a:srgbClr>
            </a:outerShdw>
          </a:effectLst>
        </p:spPr>
      </p:sp>
      <p:pic>
        <p:nvPicPr>
          <p:cNvPr id="13" name="Image 1" descr="C:\Users\Windows11\AppData\Local\Temp\claude\C--Users-Windows11-Desktop-New-folder--2-\a0c8a1d0-32ba-4ae6-9843-b5ebc69d925f\scratchpad\deck2/img/home.png">    </p:cNvPr>
          <p:cNvPicPr>
            <a:picLocks noChangeAspect="1"/>
          </p:cNvPicPr>
          <p:nvPr/>
        </p:nvPicPr>
        <p:blipFill>
          <a:blip r:embed="rId2"/>
          <a:stretch>
            <a:fillRect/>
          </a:stretch>
        </p:blipFill>
        <p:spPr>
          <a:xfrm>
            <a:off x="8201496" y="914400"/>
            <a:ext cx="2323919" cy="5029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1  목차</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오늘 말씀드릴 순서</a:t>
            </a:r>
            <a:endParaRPr lang="ko-KR" altLang="en-US" sz="2800" dirty="0"/>
          </a:p>
        </p:txBody>
      </p:sp>
      <p:sp>
        <p:nvSpPr>
          <p:cNvPr id="4" name="Shape 2"/>
          <p:cNvSpPr/>
          <p:nvPr/>
        </p:nvSpPr>
        <p:spPr>
          <a:xfrm>
            <a:off x="548640" y="1673352"/>
            <a:ext cx="347472" cy="347472"/>
          </a:xfrm>
          <a:prstGeom prst="ellipse">
            <a:avLst/>
          </a:prstGeom>
          <a:solidFill>
            <a:srgbClr val="1C86D9"/>
          </a:solidFill>
          <a:ln/>
        </p:spPr>
      </p:sp>
      <p:sp>
        <p:nvSpPr>
          <p:cNvPr id="5" name="Text 3"/>
          <p:cNvSpPr txBox="1"/>
          <p:nvPr/>
        </p:nvSpPr>
        <p:spPr>
          <a:xfrm>
            <a:off x="548640" y="167335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6" name="Text 4"/>
          <p:cNvSpPr txBox="1"/>
          <p:nvPr/>
        </p:nvSpPr>
        <p:spPr>
          <a:xfrm>
            <a:off x="1097280" y="165506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프로젝트 개요</a:t>
            </a:r>
            <a:endParaRPr lang="ko-KR" altLang="en-US" sz="1700" dirty="0"/>
          </a:p>
        </p:txBody>
      </p:sp>
      <p:sp>
        <p:nvSpPr>
          <p:cNvPr id="7" name="Text 5"/>
          <p:cNvSpPr txBox="1"/>
          <p:nvPr/>
        </p:nvSpPr>
        <p:spPr>
          <a:xfrm>
            <a:off x="3931920" y="165506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어떤 앱인가</a:t>
            </a:r>
            <a:endParaRPr lang="ko-KR" altLang="en-US" sz="1300" dirty="0"/>
          </a:p>
        </p:txBody>
      </p:sp>
      <p:sp>
        <p:nvSpPr>
          <p:cNvPr id="8" name="Shape 6"/>
          <p:cNvSpPr/>
          <p:nvPr/>
        </p:nvSpPr>
        <p:spPr>
          <a:xfrm>
            <a:off x="1097280" y="2121408"/>
            <a:ext cx="6858000" cy="0"/>
          </a:xfrm>
          <a:prstGeom prst="line">
            <a:avLst/>
          </a:prstGeom>
          <a:noFill/>
          <a:ln w="9525">
            <a:solidFill>
              <a:srgbClr val="E3E5E8"/>
            </a:solidFill>
            <a:prstDash val="solid"/>
          </a:ln>
        </p:spPr>
      </p:sp>
      <p:sp>
        <p:nvSpPr>
          <p:cNvPr id="9" name="Shape 7"/>
          <p:cNvSpPr/>
          <p:nvPr/>
        </p:nvSpPr>
        <p:spPr>
          <a:xfrm>
            <a:off x="548640" y="2221992"/>
            <a:ext cx="347472" cy="347472"/>
          </a:xfrm>
          <a:prstGeom prst="ellipse">
            <a:avLst/>
          </a:prstGeom>
          <a:solidFill>
            <a:srgbClr val="1C86D9"/>
          </a:solidFill>
          <a:ln/>
        </p:spPr>
      </p:sp>
      <p:sp>
        <p:nvSpPr>
          <p:cNvPr id="10" name="Text 8"/>
          <p:cNvSpPr txBox="1"/>
          <p:nvPr/>
        </p:nvSpPr>
        <p:spPr>
          <a:xfrm>
            <a:off x="548640" y="222199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11" name="Text 9"/>
          <p:cNvSpPr txBox="1"/>
          <p:nvPr/>
        </p:nvSpPr>
        <p:spPr>
          <a:xfrm>
            <a:off x="1097280" y="220370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문제 정의</a:t>
            </a:r>
            <a:endParaRPr lang="ko-KR" altLang="en-US" sz="1700" dirty="0"/>
          </a:p>
        </p:txBody>
      </p:sp>
      <p:sp>
        <p:nvSpPr>
          <p:cNvPr id="12" name="Text 10"/>
          <p:cNvSpPr txBox="1"/>
          <p:nvPr/>
        </p:nvSpPr>
        <p:spPr>
          <a:xfrm>
            <a:off x="3931920" y="220370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기존 앱 · 리뷰 · 왜 만들었나 · 근본 원인</a:t>
            </a:r>
            <a:endParaRPr lang="ko-KR" altLang="en-US" sz="1300" dirty="0"/>
          </a:p>
        </p:txBody>
      </p:sp>
      <p:sp>
        <p:nvSpPr>
          <p:cNvPr id="13" name="Shape 11"/>
          <p:cNvSpPr/>
          <p:nvPr/>
        </p:nvSpPr>
        <p:spPr>
          <a:xfrm>
            <a:off x="1097280" y="2670048"/>
            <a:ext cx="6858000" cy="0"/>
          </a:xfrm>
          <a:prstGeom prst="line">
            <a:avLst/>
          </a:prstGeom>
          <a:noFill/>
          <a:ln w="9525">
            <a:solidFill>
              <a:srgbClr val="E3E5E8"/>
            </a:solidFill>
            <a:prstDash val="solid"/>
          </a:ln>
        </p:spPr>
      </p:sp>
      <p:sp>
        <p:nvSpPr>
          <p:cNvPr id="14" name="Shape 12"/>
          <p:cNvSpPr/>
          <p:nvPr/>
        </p:nvSpPr>
        <p:spPr>
          <a:xfrm>
            <a:off x="548640" y="2770632"/>
            <a:ext cx="347472" cy="347472"/>
          </a:xfrm>
          <a:prstGeom prst="ellipse">
            <a:avLst/>
          </a:prstGeom>
          <a:solidFill>
            <a:srgbClr val="1C86D9"/>
          </a:solidFill>
          <a:ln/>
        </p:spPr>
      </p:sp>
      <p:sp>
        <p:nvSpPr>
          <p:cNvPr id="15" name="Text 13"/>
          <p:cNvSpPr txBox="1"/>
          <p:nvPr/>
        </p:nvSpPr>
        <p:spPr>
          <a:xfrm>
            <a:off x="548640" y="277063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16" name="Text 14"/>
          <p:cNvSpPr txBox="1"/>
          <p:nvPr/>
        </p:nvSpPr>
        <p:spPr>
          <a:xfrm>
            <a:off x="1097280" y="275234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해결 방법</a:t>
            </a:r>
            <a:endParaRPr lang="ko-KR" altLang="en-US" sz="1700" dirty="0"/>
          </a:p>
        </p:txBody>
      </p:sp>
      <p:sp>
        <p:nvSpPr>
          <p:cNvPr id="17" name="Text 15"/>
          <p:cNvSpPr txBox="1"/>
          <p:nvPr/>
        </p:nvSpPr>
        <p:spPr>
          <a:xfrm>
            <a:off x="3931920" y="275234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화면이 바뀐 과정 — 내 요청 → 바뀐 화면</a:t>
            </a:r>
            <a:endParaRPr lang="ko-KR" altLang="en-US" sz="1300" dirty="0"/>
          </a:p>
        </p:txBody>
      </p:sp>
      <p:sp>
        <p:nvSpPr>
          <p:cNvPr id="18" name="Shape 16"/>
          <p:cNvSpPr/>
          <p:nvPr/>
        </p:nvSpPr>
        <p:spPr>
          <a:xfrm>
            <a:off x="1097280" y="3218688"/>
            <a:ext cx="6858000" cy="0"/>
          </a:xfrm>
          <a:prstGeom prst="line">
            <a:avLst/>
          </a:prstGeom>
          <a:noFill/>
          <a:ln w="9525">
            <a:solidFill>
              <a:srgbClr val="E3E5E8"/>
            </a:solidFill>
            <a:prstDash val="solid"/>
          </a:ln>
        </p:spPr>
      </p:sp>
      <p:sp>
        <p:nvSpPr>
          <p:cNvPr id="19" name="Shape 17"/>
          <p:cNvSpPr/>
          <p:nvPr/>
        </p:nvSpPr>
        <p:spPr>
          <a:xfrm>
            <a:off x="548640" y="3319272"/>
            <a:ext cx="347472" cy="347472"/>
          </a:xfrm>
          <a:prstGeom prst="ellipse">
            <a:avLst/>
          </a:prstGeom>
          <a:solidFill>
            <a:srgbClr val="1C86D9"/>
          </a:solidFill>
          <a:ln/>
        </p:spPr>
      </p:sp>
      <p:sp>
        <p:nvSpPr>
          <p:cNvPr id="20" name="Text 18"/>
          <p:cNvSpPr txBox="1"/>
          <p:nvPr/>
        </p:nvSpPr>
        <p:spPr>
          <a:xfrm>
            <a:off x="548640" y="331927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5</a:t>
            </a:r>
            <a:endParaRPr lang="ko-KR" altLang="en-US" sz="1200" dirty="0"/>
          </a:p>
        </p:txBody>
      </p:sp>
      <p:sp>
        <p:nvSpPr>
          <p:cNvPr id="21" name="Text 19"/>
          <p:cNvSpPr txBox="1"/>
          <p:nvPr/>
        </p:nvSpPr>
        <p:spPr>
          <a:xfrm>
            <a:off x="1097280" y="330098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셀프 논증</a:t>
            </a:r>
            <a:endParaRPr lang="ko-KR" altLang="en-US" sz="1700" dirty="0"/>
          </a:p>
        </p:txBody>
      </p:sp>
      <p:sp>
        <p:nvSpPr>
          <p:cNvPr id="22" name="Text 20"/>
          <p:cNvSpPr txBox="1"/>
          <p:nvPr/>
        </p:nvSpPr>
        <p:spPr>
          <a:xfrm>
            <a:off x="3931920" y="330098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내가 AI를 반박한 것</a:t>
            </a:r>
            <a:endParaRPr lang="ko-KR" altLang="en-US" sz="1300" dirty="0"/>
          </a:p>
        </p:txBody>
      </p:sp>
      <p:sp>
        <p:nvSpPr>
          <p:cNvPr id="23" name="Shape 21"/>
          <p:cNvSpPr/>
          <p:nvPr/>
        </p:nvSpPr>
        <p:spPr>
          <a:xfrm>
            <a:off x="1097280" y="3767328"/>
            <a:ext cx="6858000" cy="0"/>
          </a:xfrm>
          <a:prstGeom prst="line">
            <a:avLst/>
          </a:prstGeom>
          <a:noFill/>
          <a:ln w="9525">
            <a:solidFill>
              <a:srgbClr val="E3E5E8"/>
            </a:solidFill>
            <a:prstDash val="solid"/>
          </a:ln>
        </p:spPr>
      </p:sp>
      <p:sp>
        <p:nvSpPr>
          <p:cNvPr id="24" name="Shape 22"/>
          <p:cNvSpPr/>
          <p:nvPr/>
        </p:nvSpPr>
        <p:spPr>
          <a:xfrm>
            <a:off x="548640" y="3867912"/>
            <a:ext cx="347472" cy="347472"/>
          </a:xfrm>
          <a:prstGeom prst="ellipse">
            <a:avLst/>
          </a:prstGeom>
          <a:solidFill>
            <a:srgbClr val="1C86D9"/>
          </a:solidFill>
          <a:ln/>
        </p:spPr>
      </p:sp>
      <p:sp>
        <p:nvSpPr>
          <p:cNvPr id="25" name="Text 23"/>
          <p:cNvSpPr txBox="1"/>
          <p:nvPr/>
        </p:nvSpPr>
        <p:spPr>
          <a:xfrm>
            <a:off x="548640" y="386791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6</a:t>
            </a:r>
            <a:endParaRPr lang="ko-KR" altLang="en-US" sz="1200" dirty="0"/>
          </a:p>
        </p:txBody>
      </p:sp>
      <p:sp>
        <p:nvSpPr>
          <p:cNvPr id="26" name="Text 24"/>
          <p:cNvSpPr txBox="1"/>
          <p:nvPr/>
        </p:nvSpPr>
        <p:spPr>
          <a:xfrm>
            <a:off x="1097280" y="384962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Flutter 구현</a:t>
            </a:r>
            <a:endParaRPr lang="ko-KR" altLang="en-US" sz="1700" dirty="0"/>
          </a:p>
        </p:txBody>
      </p:sp>
      <p:sp>
        <p:nvSpPr>
          <p:cNvPr id="27" name="Text 25"/>
          <p:cNvSpPr txBox="1"/>
          <p:nvPr/>
        </p:nvSpPr>
        <p:spPr>
          <a:xfrm>
            <a:off x="3931920" y="384962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위젯 트리 · 화면 이동 · 3상태 · 적응형</a:t>
            </a:r>
            <a:endParaRPr lang="ko-KR" altLang="en-US" sz="1300" dirty="0"/>
          </a:p>
        </p:txBody>
      </p:sp>
      <p:sp>
        <p:nvSpPr>
          <p:cNvPr id="28" name="Shape 26"/>
          <p:cNvSpPr/>
          <p:nvPr/>
        </p:nvSpPr>
        <p:spPr>
          <a:xfrm>
            <a:off x="1097280" y="4315968"/>
            <a:ext cx="6858000" cy="0"/>
          </a:xfrm>
          <a:prstGeom prst="line">
            <a:avLst/>
          </a:prstGeom>
          <a:noFill/>
          <a:ln w="9525">
            <a:solidFill>
              <a:srgbClr val="E3E5E8"/>
            </a:solidFill>
            <a:prstDash val="solid"/>
          </a:ln>
        </p:spPr>
      </p:sp>
      <p:sp>
        <p:nvSpPr>
          <p:cNvPr id="29" name="Shape 27"/>
          <p:cNvSpPr/>
          <p:nvPr/>
        </p:nvSpPr>
        <p:spPr>
          <a:xfrm>
            <a:off x="548640" y="4416552"/>
            <a:ext cx="347472" cy="347472"/>
          </a:xfrm>
          <a:prstGeom prst="ellipse">
            <a:avLst/>
          </a:prstGeom>
          <a:solidFill>
            <a:srgbClr val="1C86D9"/>
          </a:solidFill>
          <a:ln/>
        </p:spPr>
      </p:sp>
      <p:sp>
        <p:nvSpPr>
          <p:cNvPr id="30" name="Text 28"/>
          <p:cNvSpPr txBox="1"/>
          <p:nvPr/>
        </p:nvSpPr>
        <p:spPr>
          <a:xfrm>
            <a:off x="548640" y="441655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7</a:t>
            </a:r>
            <a:endParaRPr lang="ko-KR" altLang="en-US" sz="1200" dirty="0"/>
          </a:p>
        </p:txBody>
      </p:sp>
      <p:sp>
        <p:nvSpPr>
          <p:cNvPr id="31" name="Text 29"/>
          <p:cNvSpPr txBox="1"/>
          <p:nvPr/>
        </p:nvSpPr>
        <p:spPr>
          <a:xfrm>
            <a:off x="1097280" y="439826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데모</a:t>
            </a:r>
            <a:endParaRPr lang="ko-KR" altLang="en-US" sz="1700" dirty="0"/>
          </a:p>
        </p:txBody>
      </p:sp>
      <p:sp>
        <p:nvSpPr>
          <p:cNvPr id="32" name="Text 30"/>
          <p:cNvSpPr txBox="1"/>
          <p:nvPr/>
        </p:nvSpPr>
        <p:spPr>
          <a:xfrm>
            <a:off x="3931920" y="439826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라이브 시연</a:t>
            </a:r>
            <a:endParaRPr lang="ko-KR" altLang="en-US" sz="1300" dirty="0"/>
          </a:p>
        </p:txBody>
      </p:sp>
      <p:sp>
        <p:nvSpPr>
          <p:cNvPr id="33" name="Shape 31"/>
          <p:cNvSpPr/>
          <p:nvPr/>
        </p:nvSpPr>
        <p:spPr>
          <a:xfrm>
            <a:off x="1097280" y="4864608"/>
            <a:ext cx="6858000" cy="0"/>
          </a:xfrm>
          <a:prstGeom prst="line">
            <a:avLst/>
          </a:prstGeom>
          <a:noFill/>
          <a:ln w="9525">
            <a:solidFill>
              <a:srgbClr val="E3E5E8"/>
            </a:solidFill>
            <a:prstDash val="solid"/>
          </a:ln>
        </p:spPr>
      </p:sp>
      <p:sp>
        <p:nvSpPr>
          <p:cNvPr id="34" name="Shape 32"/>
          <p:cNvSpPr/>
          <p:nvPr/>
        </p:nvSpPr>
        <p:spPr>
          <a:xfrm>
            <a:off x="548640" y="4965192"/>
            <a:ext cx="347472" cy="347472"/>
          </a:xfrm>
          <a:prstGeom prst="ellipse">
            <a:avLst/>
          </a:prstGeom>
          <a:solidFill>
            <a:srgbClr val="1C86D9"/>
          </a:solidFill>
          <a:ln/>
        </p:spPr>
      </p:sp>
      <p:sp>
        <p:nvSpPr>
          <p:cNvPr id="35" name="Text 33"/>
          <p:cNvSpPr txBox="1"/>
          <p:nvPr/>
        </p:nvSpPr>
        <p:spPr>
          <a:xfrm>
            <a:off x="548640" y="496519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8</a:t>
            </a:r>
            <a:endParaRPr lang="ko-KR" altLang="en-US" sz="1200" dirty="0"/>
          </a:p>
        </p:txBody>
      </p:sp>
      <p:sp>
        <p:nvSpPr>
          <p:cNvPr id="36" name="Text 34"/>
          <p:cNvSpPr txBox="1"/>
          <p:nvPr/>
        </p:nvSpPr>
        <p:spPr>
          <a:xfrm>
            <a:off x="1097280" y="494690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Personal Learnings</a:t>
            </a:r>
            <a:endParaRPr lang="ko-KR" altLang="en-US" sz="1700" dirty="0"/>
          </a:p>
        </p:txBody>
      </p:sp>
      <p:sp>
        <p:nvSpPr>
          <p:cNvPr id="37" name="Text 35"/>
          <p:cNvSpPr txBox="1"/>
          <p:nvPr/>
        </p:nvSpPr>
        <p:spPr>
          <a:xfrm>
            <a:off x="3931920" y="494690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배운 점 · 다음 v3</a:t>
            </a:r>
            <a:endParaRPr lang="ko-KR" altLang="en-US" sz="1300" dirty="0"/>
          </a:p>
        </p:txBody>
      </p:sp>
      <p:sp>
        <p:nvSpPr>
          <p:cNvPr id="38" name="Shape 36"/>
          <p:cNvSpPr/>
          <p:nvPr/>
        </p:nvSpPr>
        <p:spPr>
          <a:xfrm>
            <a:off x="1097280" y="5413248"/>
            <a:ext cx="6858000" cy="0"/>
          </a:xfrm>
          <a:prstGeom prst="line">
            <a:avLst/>
          </a:prstGeom>
          <a:noFill/>
          <a:ln w="9525">
            <a:solidFill>
              <a:srgbClr val="E3E5E8"/>
            </a:solidFill>
            <a:prstDash val="solid"/>
          </a:ln>
        </p:spPr>
      </p:sp>
      <p:sp>
        <p:nvSpPr>
          <p:cNvPr id="39" name="Shape 37"/>
          <p:cNvSpPr/>
          <p:nvPr/>
        </p:nvSpPr>
        <p:spPr>
          <a:xfrm>
            <a:off x="548640" y="5513832"/>
            <a:ext cx="347472" cy="347472"/>
          </a:xfrm>
          <a:prstGeom prst="ellipse">
            <a:avLst/>
          </a:prstGeom>
          <a:solidFill>
            <a:srgbClr val="9AA0A6"/>
          </a:solidFill>
          <a:ln/>
        </p:spPr>
      </p:sp>
      <p:sp>
        <p:nvSpPr>
          <p:cNvPr id="40" name="Text 38"/>
          <p:cNvSpPr txBox="1"/>
          <p:nvPr/>
        </p:nvSpPr>
        <p:spPr>
          <a:xfrm>
            <a:off x="548640" y="551383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9</a:t>
            </a:r>
            <a:endParaRPr lang="ko-KR" altLang="en-US" sz="1200" dirty="0"/>
          </a:p>
        </p:txBody>
      </p:sp>
      <p:sp>
        <p:nvSpPr>
          <p:cNvPr id="41" name="Text 39"/>
          <p:cNvSpPr txBox="1"/>
          <p:nvPr/>
        </p:nvSpPr>
        <p:spPr>
          <a:xfrm>
            <a:off x="1097280" y="549554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Q&amp;A</a:t>
            </a:r>
            <a:endParaRPr lang="ko-KR" altLang="en-US" sz="1700" dirty="0"/>
          </a:p>
        </p:txBody>
      </p:sp>
      <p:sp>
        <p:nvSpPr>
          <p:cNvPr id="42" name="Text 40"/>
          <p:cNvSpPr txBox="1"/>
          <p:nvPr/>
        </p:nvSpPr>
        <p:spPr>
          <a:xfrm>
            <a:off x="3931920" y="549554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부록으로 바로 답하기</a:t>
            </a:r>
            <a:endParaRPr lang="ko-KR" altLang="en-US" sz="1300" dirty="0"/>
          </a:p>
        </p:txBody>
      </p:sp>
      <p:sp>
        <p:nvSpPr>
          <p:cNvPr id="43" name="Shape 41"/>
          <p:cNvSpPr/>
          <p:nvPr/>
        </p:nvSpPr>
        <p:spPr>
          <a:xfrm>
            <a:off x="8321040" y="1600200"/>
            <a:ext cx="3319272" cy="4389120"/>
          </a:xfrm>
          <a:prstGeom prst="roundRect">
            <a:avLst>
              <a:gd name="adj" fmla="val 4408"/>
            </a:avLst>
          </a:prstGeom>
          <a:solidFill>
            <a:srgbClr val="F4F5F7"/>
          </a:solidFill>
          <a:ln/>
        </p:spPr>
      </p:sp>
      <p:sp>
        <p:nvSpPr>
          <p:cNvPr id="44" name="Text 42"/>
          <p:cNvSpPr txBox="1"/>
          <p:nvPr/>
        </p:nvSpPr>
        <p:spPr>
          <a:xfrm>
            <a:off x="8595360" y="1810512"/>
            <a:ext cx="283464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 — 질의 때만</a:t>
            </a:r>
            <a:endParaRPr lang="ko-KR" altLang="en-US" sz="1400" dirty="0"/>
          </a:p>
        </p:txBody>
      </p:sp>
      <p:sp>
        <p:nvSpPr>
          <p:cNvPr id="45" name="Text 43"/>
          <p:cNvSpPr txBox="1"/>
          <p:nvPr/>
        </p:nvSpPr>
        <p:spPr>
          <a:xfrm>
            <a:off x="8595360" y="2286000"/>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46" name="Text 44"/>
          <p:cNvSpPr txBox="1"/>
          <p:nvPr/>
        </p:nvSpPr>
        <p:spPr>
          <a:xfrm>
            <a:off x="9098280" y="2286000"/>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300" dirty="0"/>
          </a:p>
        </p:txBody>
      </p:sp>
      <p:sp>
        <p:nvSpPr>
          <p:cNvPr id="47" name="Text 45"/>
          <p:cNvSpPr txBox="1"/>
          <p:nvPr/>
        </p:nvSpPr>
        <p:spPr>
          <a:xfrm>
            <a:off x="9098280" y="2560320"/>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21장</a:t>
            </a:r>
            <a:endParaRPr lang="ko-KR" altLang="en-US" sz="1050" dirty="0"/>
          </a:p>
        </p:txBody>
      </p:sp>
      <p:sp>
        <p:nvSpPr>
          <p:cNvPr id="48" name="Text 46"/>
          <p:cNvSpPr txBox="1"/>
          <p:nvPr/>
        </p:nvSpPr>
        <p:spPr>
          <a:xfrm>
            <a:off x="8595360" y="2999232"/>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49" name="Text 47"/>
          <p:cNvSpPr txBox="1"/>
          <p:nvPr/>
        </p:nvSpPr>
        <p:spPr>
          <a:xfrm>
            <a:off x="9098280" y="2999232"/>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원칙 카드 P01–P10</a:t>
            </a:r>
            <a:endParaRPr lang="ko-KR" altLang="en-US" sz="1300" dirty="0"/>
          </a:p>
        </p:txBody>
      </p:sp>
      <p:sp>
        <p:nvSpPr>
          <p:cNvPr id="50" name="Text 48"/>
          <p:cNvSpPr txBox="1"/>
          <p:nvPr/>
        </p:nvSpPr>
        <p:spPr>
          <a:xfrm>
            <a:off x="9098280" y="3273552"/>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25장</a:t>
            </a:r>
            <a:endParaRPr lang="ko-KR" altLang="en-US" sz="1050" dirty="0"/>
          </a:p>
        </p:txBody>
      </p:sp>
      <p:sp>
        <p:nvSpPr>
          <p:cNvPr id="51" name="Text 49"/>
          <p:cNvSpPr txBox="1"/>
          <p:nvPr/>
        </p:nvSpPr>
        <p:spPr>
          <a:xfrm>
            <a:off x="8595360" y="3712464"/>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52" name="Text 50"/>
          <p:cNvSpPr txBox="1"/>
          <p:nvPr/>
        </p:nvSpPr>
        <p:spPr>
          <a:xfrm>
            <a:off x="9098280" y="3712464"/>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prompt-log</a:t>
            </a:r>
            <a:endParaRPr lang="ko-KR" altLang="en-US" sz="1300" dirty="0"/>
          </a:p>
        </p:txBody>
      </p:sp>
      <p:sp>
        <p:nvSpPr>
          <p:cNvPr id="53" name="Text 51"/>
          <p:cNvSpPr txBox="1"/>
          <p:nvPr/>
        </p:nvSpPr>
        <p:spPr>
          <a:xfrm>
            <a:off x="9098280" y="3986784"/>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35장</a:t>
            </a:r>
            <a:endParaRPr lang="ko-KR" altLang="en-US" sz="1050" dirty="0"/>
          </a:p>
        </p:txBody>
      </p:sp>
      <p:sp>
        <p:nvSpPr>
          <p:cNvPr id="54" name="Text 52"/>
          <p:cNvSpPr txBox="1"/>
          <p:nvPr/>
        </p:nvSpPr>
        <p:spPr>
          <a:xfrm>
            <a:off x="8595360" y="4425696"/>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55" name="Text 53"/>
          <p:cNvSpPr txBox="1"/>
          <p:nvPr/>
        </p:nvSpPr>
        <p:spPr>
          <a:xfrm>
            <a:off x="9098280" y="4425696"/>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자가평가 요약</a:t>
            </a:r>
            <a:endParaRPr lang="ko-KR" altLang="en-US" sz="1300" dirty="0"/>
          </a:p>
        </p:txBody>
      </p:sp>
      <p:sp>
        <p:nvSpPr>
          <p:cNvPr id="56" name="Text 54"/>
          <p:cNvSpPr txBox="1"/>
          <p:nvPr/>
        </p:nvSpPr>
        <p:spPr>
          <a:xfrm>
            <a:off x="9098280" y="4700016"/>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37장</a:t>
            </a:r>
            <a:endParaRPr lang="ko-KR" altLang="en-US" sz="1050" dirty="0"/>
          </a:p>
        </p:txBody>
      </p:sp>
      <p:sp>
        <p:nvSpPr>
          <p:cNvPr id="57" name="Text 55"/>
          <p:cNvSpPr txBox="1"/>
          <p:nvPr/>
        </p:nvSpPr>
        <p:spPr>
          <a:xfrm>
            <a:off x="8595360" y="5138928"/>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58" name="Text 56"/>
          <p:cNvSpPr txBox="1"/>
          <p:nvPr/>
        </p:nvSpPr>
        <p:spPr>
          <a:xfrm>
            <a:off x="9098280" y="5138928"/>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기획 상세</a:t>
            </a:r>
            <a:endParaRPr lang="ko-KR" altLang="en-US" sz="1300" dirty="0"/>
          </a:p>
        </p:txBody>
      </p:sp>
      <p:sp>
        <p:nvSpPr>
          <p:cNvPr id="59" name="Text 57"/>
          <p:cNvSpPr txBox="1"/>
          <p:nvPr/>
        </p:nvSpPr>
        <p:spPr>
          <a:xfrm>
            <a:off x="9098280" y="5413248"/>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38장</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  프로젝트 개요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Hobby Atlas는 어떤 앱인가요?</a:t>
            </a:r>
            <a:endParaRPr lang="ko-KR" altLang="en-US" sz="2800" dirty="0"/>
          </a:p>
        </p:txBody>
      </p:sp>
      <p:sp>
        <p:nvSpPr>
          <p:cNvPr id="4" name="Text 2"/>
          <p:cNvSpPr txBox="1"/>
          <p:nvPr/>
        </p:nvSpPr>
        <p:spPr>
          <a:xfrm>
            <a:off x="548640" y="1572768"/>
            <a:ext cx="63093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앱 이름 · 부제</a:t>
            </a:r>
            <a:endParaRPr lang="ko-KR" altLang="en-US" sz="1050" dirty="0"/>
          </a:p>
        </p:txBody>
      </p:sp>
      <p:pic>
        <p:nvPicPr>
          <p:cNvPr id="5" name="Image 0" descr="C:\Users\Windows11\AppData\Local\Temp\claude\C--Users-Windows11-Desktop-New-folder--2-\a0c8a1d0-32ba-4ae6-9843-b5ebc69d925f\scratchpad\deck2/img/appicon_r.png">    </p:cNvPr>
          <p:cNvPicPr>
            <a:picLocks noChangeAspect="1"/>
          </p:cNvPicPr>
          <p:nvPr/>
        </p:nvPicPr>
        <p:blipFill>
          <a:blip r:embed="rId1"/>
          <a:stretch>
            <a:fillRect/>
          </a:stretch>
        </p:blipFill>
        <p:spPr>
          <a:xfrm>
            <a:off x="5806440" y="1572768"/>
            <a:ext cx="1097280" cy="1097280"/>
          </a:xfrm>
          <a:prstGeom prst="rect">
            <a:avLst/>
          </a:prstGeom>
        </p:spPr>
      </p:pic>
      <p:sp>
        <p:nvSpPr>
          <p:cNvPr id="6" name="Text 3"/>
          <p:cNvSpPr txBox="1"/>
          <p:nvPr/>
        </p:nvSpPr>
        <p:spPr>
          <a:xfrm>
            <a:off x="5669280" y="2697480"/>
            <a:ext cx="13716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앱 아이콘</a:t>
            </a:r>
            <a:endParaRPr lang="ko-KR" altLang="en-US" sz="900" dirty="0"/>
          </a:p>
        </p:txBody>
      </p:sp>
      <p:sp>
        <p:nvSpPr>
          <p:cNvPr id="7" name="Text 4"/>
          <p:cNvSpPr txBox="1"/>
          <p:nvPr/>
        </p:nvSpPr>
        <p:spPr>
          <a:xfrm>
            <a:off x="548640" y="1810512"/>
            <a:ext cx="6309360" cy="512064"/>
          </a:xfrm>
          <a:prstGeom prst="rect">
            <a:avLst/>
          </a:prstGeom>
          <a:noFill/>
          <a:ln/>
        </p:spPr>
        <p:txBody>
          <a:bodyPr wrap="square" lIns="0" tIns="0" rIns="0" bIns="0" rtlCol="0" anchor="ctr"/>
          <a:lstStyle/>
          <a:p>
            <a:pPr indent="0" marL="0">
              <a:buNone/>
            </a:pPr>
            <a:r>
              <a:rPr lang="ko-KR" altLang="en-US" sz="3000" b="1" dirty="0">
                <a:solidFill>
                  <a:srgbClr val="111111"/>
                </a:solidFill>
                <a:latin typeface="Malgun Gothic" pitchFamily="34" charset="0"/>
                <a:ea typeface="Malgun Gothic" pitchFamily="34" charset="-122"/>
                <a:cs typeface="Malgun Gothic" pitchFamily="34" charset="-120"/>
              </a:rPr>
              <a:t>Hobby Atlas</a:t>
            </a:r>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   약칭 HA</a:t>
            </a:r>
            <a:endParaRPr lang="ko-KR" altLang="en-US" sz="3000" dirty="0"/>
          </a:p>
        </p:txBody>
      </p:sp>
      <p:sp>
        <p:nvSpPr>
          <p:cNvPr id="8" name="Text 5"/>
          <p:cNvSpPr txBox="1"/>
          <p:nvPr/>
        </p:nvSpPr>
        <p:spPr>
          <a:xfrm>
            <a:off x="548640" y="2359152"/>
            <a:ext cx="6309360" cy="384048"/>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1800" dirty="0"/>
          </a:p>
        </p:txBody>
      </p:sp>
      <p:sp>
        <p:nvSpPr>
          <p:cNvPr id="9" name="Shape 6"/>
          <p:cNvSpPr/>
          <p:nvPr/>
        </p:nvSpPr>
        <p:spPr>
          <a:xfrm>
            <a:off x="548640" y="2926080"/>
            <a:ext cx="2514600" cy="329184"/>
          </a:xfrm>
          <a:prstGeom prst="roundRect">
            <a:avLst>
              <a:gd name="adj" fmla="val 50000"/>
            </a:avLst>
          </a:prstGeom>
          <a:solidFill>
            <a:srgbClr val="F4F5F7"/>
          </a:solidFill>
          <a:ln/>
        </p:spPr>
      </p:sp>
      <p:sp>
        <p:nvSpPr>
          <p:cNvPr id="10" name="Text 7"/>
          <p:cNvSpPr txBox="1"/>
          <p:nvPr/>
        </p:nvSpPr>
        <p:spPr>
          <a:xfrm>
            <a:off x="548640" y="2926080"/>
            <a:ext cx="251460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카테고리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라이프스타일 · 수집</a:t>
            </a:r>
            <a:endParaRPr lang="ko-KR" altLang="en-US" sz="1100" dirty="0"/>
          </a:p>
        </p:txBody>
      </p:sp>
      <p:sp>
        <p:nvSpPr>
          <p:cNvPr id="11" name="Shape 8"/>
          <p:cNvSpPr/>
          <p:nvPr/>
        </p:nvSpPr>
        <p:spPr>
          <a:xfrm>
            <a:off x="3172968" y="2926080"/>
            <a:ext cx="3291840" cy="329184"/>
          </a:xfrm>
          <a:prstGeom prst="roundRect">
            <a:avLst>
              <a:gd name="adj" fmla="val 50000"/>
            </a:avLst>
          </a:prstGeom>
          <a:solidFill>
            <a:srgbClr val="F4F5F7"/>
          </a:solidFill>
          <a:ln/>
        </p:spPr>
      </p:sp>
      <p:sp>
        <p:nvSpPr>
          <p:cNvPr id="12" name="Text 9"/>
          <p:cNvSpPr txBox="1"/>
          <p:nvPr/>
        </p:nvSpPr>
        <p:spPr>
          <a:xfrm>
            <a:off x="3172968" y="2926080"/>
            <a:ext cx="329184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대상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20대 피규어 · 프라모델 수집가</a:t>
            </a:r>
            <a:endParaRPr lang="ko-KR" altLang="en-US" sz="1100" dirty="0"/>
          </a:p>
        </p:txBody>
      </p:sp>
      <p:sp>
        <p:nvSpPr>
          <p:cNvPr id="13" name="Shape 10"/>
          <p:cNvSpPr/>
          <p:nvPr/>
        </p:nvSpPr>
        <p:spPr>
          <a:xfrm>
            <a:off x="548640" y="3346704"/>
            <a:ext cx="5916168" cy="329184"/>
          </a:xfrm>
          <a:prstGeom prst="roundRect">
            <a:avLst>
              <a:gd name="adj" fmla="val 50000"/>
            </a:avLst>
          </a:prstGeom>
          <a:solidFill>
            <a:srgbClr val="F4F5F7"/>
          </a:solidFill>
          <a:ln/>
        </p:spPr>
      </p:sp>
      <p:sp>
        <p:nvSpPr>
          <p:cNvPr id="14" name="Text 11"/>
          <p:cNvSpPr txBox="1"/>
          <p:nvPr/>
        </p:nvSpPr>
        <p:spPr>
          <a:xfrm>
            <a:off x="548640" y="3346704"/>
            <a:ext cx="5916168"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사용 상황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이동 중엔 소식 → 매장에선 카메라 → 집에선 컬렉션 정리</a:t>
            </a:r>
            <a:endParaRPr lang="ko-KR" altLang="en-US" sz="1100" dirty="0"/>
          </a:p>
        </p:txBody>
      </p:sp>
      <p:sp>
        <p:nvSpPr>
          <p:cNvPr id="15" name="Shape 12"/>
          <p:cNvSpPr/>
          <p:nvPr/>
        </p:nvSpPr>
        <p:spPr>
          <a:xfrm>
            <a:off x="548640" y="4014216"/>
            <a:ext cx="384048" cy="384048"/>
          </a:xfrm>
          <a:prstGeom prst="ellipse">
            <a:avLst/>
          </a:prstGeom>
          <a:solidFill>
            <a:srgbClr val="1C86D9"/>
          </a:solidFill>
          <a:ln/>
        </p:spPr>
      </p:sp>
      <p:sp>
        <p:nvSpPr>
          <p:cNvPr id="16" name="Text 13"/>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1</a:t>
            </a:r>
            <a:endParaRPr lang="ko-KR" altLang="en-US" sz="1400" dirty="0"/>
          </a:p>
        </p:txBody>
      </p:sp>
      <p:sp>
        <p:nvSpPr>
          <p:cNvPr id="17" name="Text 14"/>
          <p:cNvSpPr txBox="1"/>
          <p:nvPr/>
        </p:nvSpPr>
        <p:spPr>
          <a:xfrm>
            <a:off x="1115568" y="3977640"/>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내 채널 새 소식</a:t>
            </a:r>
            <a:endParaRPr lang="ko-KR" altLang="en-US" sz="1600" dirty="0"/>
          </a:p>
        </p:txBody>
      </p:sp>
      <p:sp>
        <p:nvSpPr>
          <p:cNvPr id="18" name="Text 15"/>
          <p:cNvSpPr txBox="1"/>
          <p:nvPr/>
        </p:nvSpPr>
        <p:spPr>
          <a:xfrm>
            <a:off x="1115568" y="4288536"/>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관심 IP만 골라 공식 예고 · 발매일을 먼저</a:t>
            </a:r>
            <a:endParaRPr lang="ko-KR" altLang="en-US" sz="1300" dirty="0"/>
          </a:p>
        </p:txBody>
      </p:sp>
      <p:sp>
        <p:nvSpPr>
          <p:cNvPr id="19" name="Shape 16"/>
          <p:cNvSpPr/>
          <p:nvPr/>
        </p:nvSpPr>
        <p:spPr>
          <a:xfrm>
            <a:off x="548640" y="4727448"/>
            <a:ext cx="384048" cy="384048"/>
          </a:xfrm>
          <a:prstGeom prst="ellipse">
            <a:avLst/>
          </a:prstGeom>
          <a:solidFill>
            <a:srgbClr val="1C86D9"/>
          </a:solidFill>
          <a:ln/>
        </p:spPr>
      </p:sp>
      <p:sp>
        <p:nvSpPr>
          <p:cNvPr id="20" name="Text 17"/>
          <p:cNvSpPr txBox="1"/>
          <p:nvPr/>
        </p:nvSpPr>
        <p:spPr>
          <a:xfrm>
            <a:off x="548640" y="472744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2</a:t>
            </a:r>
            <a:endParaRPr lang="ko-KR" altLang="en-US" sz="1400" dirty="0"/>
          </a:p>
        </p:txBody>
      </p:sp>
      <p:sp>
        <p:nvSpPr>
          <p:cNvPr id="21" name="Text 18"/>
          <p:cNvSpPr txBox="1"/>
          <p:nvPr/>
        </p:nvSpPr>
        <p:spPr>
          <a:xfrm>
            <a:off x="1115568" y="4690872"/>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한 번에 기록</a:t>
            </a:r>
            <a:endParaRPr lang="ko-KR" altLang="en-US" sz="1600" dirty="0"/>
          </a:p>
        </p:txBody>
      </p:sp>
      <p:sp>
        <p:nvSpPr>
          <p:cNvPr id="22" name="Text 19"/>
          <p:cNvSpPr txBox="1"/>
          <p:nvPr/>
        </p:nvSpPr>
        <p:spPr>
          <a:xfrm>
            <a:off x="1115568" y="5001768"/>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사진 위 ♡ 좋아요 · 리본 구매함</a:t>
            </a:r>
            <a:endParaRPr lang="ko-KR" altLang="en-US" sz="1300" dirty="0"/>
          </a:p>
        </p:txBody>
      </p:sp>
      <p:sp>
        <p:nvSpPr>
          <p:cNvPr id="23" name="Shape 20"/>
          <p:cNvSpPr/>
          <p:nvPr/>
        </p:nvSpPr>
        <p:spPr>
          <a:xfrm>
            <a:off x="548640" y="5440680"/>
            <a:ext cx="384048" cy="384048"/>
          </a:xfrm>
          <a:prstGeom prst="ellipse">
            <a:avLst/>
          </a:prstGeom>
          <a:solidFill>
            <a:srgbClr val="1C86D9"/>
          </a:solidFill>
          <a:ln/>
        </p:spPr>
      </p:sp>
      <p:sp>
        <p:nvSpPr>
          <p:cNvPr id="24" name="Text 21"/>
          <p:cNvSpPr txBox="1"/>
          <p:nvPr/>
        </p:nvSpPr>
        <p:spPr>
          <a:xfrm>
            <a:off x="548640" y="5440680"/>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3</a:t>
            </a:r>
            <a:endParaRPr lang="ko-KR" altLang="en-US" sz="1400" dirty="0"/>
          </a:p>
        </p:txBody>
      </p:sp>
      <p:sp>
        <p:nvSpPr>
          <p:cNvPr id="25" name="Text 22"/>
          <p:cNvSpPr txBox="1"/>
          <p:nvPr/>
        </p:nvSpPr>
        <p:spPr>
          <a:xfrm>
            <a:off x="1115568" y="5404104"/>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모을수록 켜지는 도감</a:t>
            </a:r>
            <a:endParaRPr lang="ko-KR" altLang="en-US" sz="1600" dirty="0"/>
          </a:p>
        </p:txBody>
      </p:sp>
      <p:sp>
        <p:nvSpPr>
          <p:cNvPr id="26" name="Text 23"/>
          <p:cNvSpPr txBox="1"/>
          <p:nvPr/>
        </p:nvSpPr>
        <p:spPr>
          <a:xfrm>
            <a:off x="1115568" y="5715000"/>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칸이 켜지고 레벨이 오른다</a:t>
            </a:r>
            <a:endParaRPr lang="ko-KR" altLang="en-US" sz="1300" dirty="0"/>
          </a:p>
        </p:txBody>
      </p:sp>
      <p:sp>
        <p:nvSpPr>
          <p:cNvPr id="27" name="Shape 24"/>
          <p:cNvSpPr/>
          <p:nvPr/>
        </p:nvSpPr>
        <p:spPr>
          <a:xfrm>
            <a:off x="7315200" y="1572768"/>
            <a:ext cx="4325112" cy="4526280"/>
          </a:xfrm>
          <a:prstGeom prst="roundRect">
            <a:avLst>
              <a:gd name="adj" fmla="val 338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8" name="Text 25"/>
          <p:cNvSpPr txBox="1"/>
          <p:nvPr/>
        </p:nvSpPr>
        <p:spPr>
          <a:xfrm>
            <a:off x="7635240" y="1801368"/>
            <a:ext cx="3749040" cy="256032"/>
          </a:xfrm>
          <a:prstGeom prst="rect">
            <a:avLst/>
          </a:prstGeom>
          <a:noFill/>
          <a:ln/>
        </p:spPr>
        <p:txBody>
          <a:bodyPr wrap="square" lIns="0" tIns="0" rIns="0" bIns="0" rtlCol="0" anchor="t"/>
          <a:lstStyle/>
          <a:p>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평가 및 리뷰 — 바탕이 된 앱 hobbyDB</a:t>
            </a:r>
            <a:endParaRPr lang="ko-KR" altLang="en-US" sz="1200" dirty="0"/>
          </a:p>
        </p:txBody>
      </p:sp>
      <p:sp>
        <p:nvSpPr>
          <p:cNvPr id="29" name="Text 26"/>
          <p:cNvSpPr txBox="1"/>
          <p:nvPr/>
        </p:nvSpPr>
        <p:spPr>
          <a:xfrm>
            <a:off x="7635240" y="2121408"/>
            <a:ext cx="2011680" cy="731520"/>
          </a:xfrm>
          <a:prstGeom prst="rect">
            <a:avLst/>
          </a:prstGeom>
          <a:noFill/>
          <a:ln/>
        </p:spPr>
        <p:txBody>
          <a:bodyPr wrap="square" lIns="0" tIns="0" rIns="0" bIns="0" rtlCol="0" anchor="ctr"/>
          <a:lstStyle/>
          <a:p>
            <a:pPr indent="0" marL="0">
              <a:buNone/>
            </a:pPr>
            <a:r>
              <a:rPr lang="ko-KR" altLang="en-US" sz="4000" b="1" dirty="0">
                <a:solidFill>
                  <a:srgbClr val="111111"/>
                </a:solidFill>
                <a:latin typeface="Malgun Gothic" pitchFamily="34" charset="0"/>
                <a:ea typeface="Malgun Gothic" pitchFamily="34" charset="-122"/>
                <a:cs typeface="Malgun Gothic" pitchFamily="34" charset="-120"/>
              </a:rPr>
              <a:t>★ 4.8</a:t>
            </a:r>
            <a:endParaRPr lang="ko-KR" altLang="en-US" sz="4000" dirty="0"/>
          </a:p>
        </p:txBody>
      </p:sp>
      <p:sp>
        <p:nvSpPr>
          <p:cNvPr id="30" name="Text 27"/>
          <p:cNvSpPr txBox="1"/>
          <p:nvPr/>
        </p:nvSpPr>
        <p:spPr>
          <a:xfrm>
            <a:off x="9601200" y="2212848"/>
            <a:ext cx="192024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평가 8,656개</a:t>
            </a:r>
            <a:endParaRPr lang="ko-KR" altLang="en-US" sz="1400" dirty="0"/>
          </a:p>
        </p:txBody>
      </p:sp>
      <p:sp>
        <p:nvSpPr>
          <p:cNvPr id="31" name="Text 28"/>
          <p:cNvSpPr txBox="1"/>
          <p:nvPr/>
        </p:nvSpPr>
        <p:spPr>
          <a:xfrm>
            <a:off x="9601200" y="2505456"/>
            <a:ext cx="1920240" cy="27432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App Store(US) · 2026.10</a:t>
            </a:r>
            <a:endParaRPr lang="ko-KR" altLang="en-US" sz="1000" dirty="0"/>
          </a:p>
        </p:txBody>
      </p:sp>
      <p:sp>
        <p:nvSpPr>
          <p:cNvPr id="32" name="Shape 29"/>
          <p:cNvSpPr/>
          <p:nvPr/>
        </p:nvSpPr>
        <p:spPr>
          <a:xfrm>
            <a:off x="7635240" y="3108960"/>
            <a:ext cx="3685032" cy="1207008"/>
          </a:xfrm>
          <a:prstGeom prst="roundRect">
            <a:avLst>
              <a:gd name="adj" fmla="val 7576"/>
            </a:avLst>
          </a:prstGeom>
          <a:solidFill>
            <a:srgbClr val="F4F5F7"/>
          </a:solidFill>
          <a:ln/>
        </p:spPr>
      </p:sp>
      <p:sp>
        <p:nvSpPr>
          <p:cNvPr id="33" name="Text 30"/>
          <p:cNvSpPr txBox="1"/>
          <p:nvPr/>
        </p:nvSpPr>
        <p:spPr>
          <a:xfrm>
            <a:off x="7818120" y="3236976"/>
            <a:ext cx="3383280" cy="566928"/>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"Would love to be able to organize by line."</a:t>
            </a:r>
            <a:endParaRPr lang="ko-KR" altLang="en-US" sz="1250" dirty="0"/>
          </a:p>
        </p:txBody>
      </p:sp>
      <p:sp>
        <p:nvSpPr>
          <p:cNvPr id="34" name="Text 31"/>
          <p:cNvSpPr txBox="1"/>
          <p:nvPr/>
        </p:nvSpPr>
        <p:spPr>
          <a:xfrm>
            <a:off x="7818120" y="3840480"/>
            <a:ext cx="3383280" cy="237744"/>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IP(라인)별로 정리해 볼 수 없다</a:t>
            </a:r>
            <a:endParaRPr lang="ko-KR" altLang="en-US" sz="1100" dirty="0"/>
          </a:p>
        </p:txBody>
      </p:sp>
      <p:sp>
        <p:nvSpPr>
          <p:cNvPr id="35" name="Text 32"/>
          <p:cNvSpPr txBox="1"/>
          <p:nvPr/>
        </p:nvSpPr>
        <p:spPr>
          <a:xfrm>
            <a:off x="7818120" y="4059936"/>
            <a:ext cx="3383280" cy="219456"/>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★4 · 2022.11.06</a:t>
            </a:r>
            <a:endParaRPr lang="ko-KR" altLang="en-US" sz="950" dirty="0"/>
          </a:p>
        </p:txBody>
      </p:sp>
      <p:sp>
        <p:nvSpPr>
          <p:cNvPr id="36" name="Shape 33"/>
          <p:cNvSpPr/>
          <p:nvPr/>
        </p:nvSpPr>
        <p:spPr>
          <a:xfrm>
            <a:off x="7635240" y="4480560"/>
            <a:ext cx="3685032" cy="1207008"/>
          </a:xfrm>
          <a:prstGeom prst="roundRect">
            <a:avLst>
              <a:gd name="adj" fmla="val 7576"/>
            </a:avLst>
          </a:prstGeom>
          <a:solidFill>
            <a:srgbClr val="F4F5F7"/>
          </a:solidFill>
          <a:ln/>
        </p:spPr>
      </p:sp>
      <p:sp>
        <p:nvSpPr>
          <p:cNvPr id="37" name="Text 34"/>
          <p:cNvSpPr txBox="1"/>
          <p:nvPr/>
        </p:nvSpPr>
        <p:spPr>
          <a:xfrm>
            <a:off x="7818120" y="4608576"/>
            <a:ext cx="3383280" cy="566928"/>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"It takes a little for new pops to be added"</a:t>
            </a:r>
            <a:endParaRPr lang="ko-KR" altLang="en-US" sz="1250" dirty="0"/>
          </a:p>
        </p:txBody>
      </p:sp>
      <p:sp>
        <p:nvSpPr>
          <p:cNvPr id="38" name="Text 35"/>
          <p:cNvSpPr txBox="1"/>
          <p:nvPr/>
        </p:nvSpPr>
        <p:spPr>
          <a:xfrm>
            <a:off x="7818120" y="5212080"/>
            <a:ext cx="3383280" cy="237744"/>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신상품 정보가 늦게 올라온다</a:t>
            </a:r>
            <a:endParaRPr lang="ko-KR" altLang="en-US" sz="1100" dirty="0"/>
          </a:p>
        </p:txBody>
      </p:sp>
      <p:sp>
        <p:nvSpPr>
          <p:cNvPr id="39" name="Text 36"/>
          <p:cNvSpPr txBox="1"/>
          <p:nvPr/>
        </p:nvSpPr>
        <p:spPr>
          <a:xfrm>
            <a:off x="7818120" y="5431536"/>
            <a:ext cx="3383280" cy="219456"/>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★5 · 2025.01.26</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1/5 — 기존 앱 hobbyDB</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기존 앱 hobbyDB는 이렇게 생겼다</a:t>
            </a:r>
            <a:endParaRPr lang="ko-KR" altLang="en-US" sz="2800" dirty="0"/>
          </a:p>
        </p:txBody>
      </p:sp>
      <p:sp>
        <p:nvSpPr>
          <p:cNvPr id="4" name="Shape 2"/>
          <p:cNvSpPr/>
          <p:nvPr/>
        </p:nvSpPr>
        <p:spPr>
          <a:xfrm>
            <a:off x="566928"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db1.png">    </p:cNvPr>
          <p:cNvPicPr>
            <a:picLocks noChangeAspect="1"/>
          </p:cNvPicPr>
          <p:nvPr/>
        </p:nvPicPr>
        <p:blipFill>
          <a:blip r:embed="rId1"/>
          <a:stretch>
            <a:fillRect/>
          </a:stretch>
        </p:blipFill>
        <p:spPr>
          <a:xfrm>
            <a:off x="548640" y="1463040"/>
            <a:ext cx="1737360" cy="2851644"/>
          </a:xfrm>
          <a:prstGeom prst="rect">
            <a:avLst/>
          </a:prstGeom>
        </p:spPr>
      </p:pic>
      <p:sp>
        <p:nvSpPr>
          <p:cNvPr id="6" name="Text 3"/>
          <p:cNvSpPr txBox="1"/>
          <p:nvPr/>
        </p:nvSpPr>
        <p:spPr>
          <a:xfrm>
            <a:off x="502920"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탐색</a:t>
            </a:r>
            <a:endParaRPr lang="ko-KR" altLang="en-US" sz="1300" dirty="0"/>
          </a:p>
        </p:txBody>
      </p:sp>
      <p:sp>
        <p:nvSpPr>
          <p:cNvPr id="7" name="Text 4"/>
          <p:cNvSpPr txBox="1"/>
          <p:nvPr/>
        </p:nvSpPr>
        <p:spPr>
          <a:xfrm>
            <a:off x="502920"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주제 · 캐릭터 목록</a:t>
            </a:r>
            <a:endParaRPr lang="ko-KR" altLang="en-US" sz="1000" dirty="0"/>
          </a:p>
        </p:txBody>
      </p:sp>
      <p:sp>
        <p:nvSpPr>
          <p:cNvPr id="8" name="Shape 5"/>
          <p:cNvSpPr/>
          <p:nvPr/>
        </p:nvSpPr>
        <p:spPr>
          <a:xfrm>
            <a:off x="2432304"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9" name="Image 1" descr="C:\Users\Windows11\AppData\Local\Temp\claude\C--Users-Windows11-Desktop-New-folder--2-\a0c8a1d0-32ba-4ae6-9843-b5ebc69d925f\scratchpad\deck2/img/hdb3.png">    </p:cNvPr>
          <p:cNvPicPr>
            <a:picLocks noChangeAspect="1"/>
          </p:cNvPicPr>
          <p:nvPr/>
        </p:nvPicPr>
        <p:blipFill>
          <a:blip r:embed="rId2"/>
          <a:stretch>
            <a:fillRect/>
          </a:stretch>
        </p:blipFill>
        <p:spPr>
          <a:xfrm>
            <a:off x="2414016" y="1463040"/>
            <a:ext cx="1737360" cy="2851644"/>
          </a:xfrm>
          <a:prstGeom prst="rect">
            <a:avLst/>
          </a:prstGeom>
        </p:spPr>
      </p:pic>
      <p:sp>
        <p:nvSpPr>
          <p:cNvPr id="10" name="Text 6"/>
          <p:cNvSpPr txBox="1"/>
          <p:nvPr/>
        </p:nvSpPr>
        <p:spPr>
          <a:xfrm>
            <a:off x="2368296"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데이터베이스</a:t>
            </a:r>
            <a:endParaRPr lang="ko-KR" altLang="en-US" sz="1300" dirty="0"/>
          </a:p>
        </p:txBody>
      </p:sp>
      <p:sp>
        <p:nvSpPr>
          <p:cNvPr id="11" name="Text 7"/>
          <p:cNvSpPr txBox="1"/>
          <p:nvPr/>
        </p:nvSpPr>
        <p:spPr>
          <a:xfrm>
            <a:off x="2368296"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상품 상세</a:t>
            </a:r>
            <a:endParaRPr lang="ko-KR" altLang="en-US" sz="1000" dirty="0"/>
          </a:p>
        </p:txBody>
      </p:sp>
      <p:sp>
        <p:nvSpPr>
          <p:cNvPr id="12" name="Shape 8"/>
          <p:cNvSpPr/>
          <p:nvPr/>
        </p:nvSpPr>
        <p:spPr>
          <a:xfrm>
            <a:off x="4297680"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13" name="Image 2" descr="C:\Users\Windows11\AppData\Local\Temp\claude\C--Users-Windows11-Desktop-New-folder--2-\a0c8a1d0-32ba-4ae6-9843-b5ebc69d925f\scratchpad\deck2/img/hdb2.png">    </p:cNvPr>
          <p:cNvPicPr>
            <a:picLocks noChangeAspect="1"/>
          </p:cNvPicPr>
          <p:nvPr/>
        </p:nvPicPr>
        <p:blipFill>
          <a:blip r:embed="rId3"/>
          <a:stretch>
            <a:fillRect/>
          </a:stretch>
        </p:blipFill>
        <p:spPr>
          <a:xfrm>
            <a:off x="4279392" y="1463040"/>
            <a:ext cx="1737360" cy="2851644"/>
          </a:xfrm>
          <a:prstGeom prst="rect">
            <a:avLst/>
          </a:prstGeom>
        </p:spPr>
      </p:pic>
      <p:sp>
        <p:nvSpPr>
          <p:cNvPr id="14" name="Text 9"/>
          <p:cNvSpPr txBox="1"/>
          <p:nvPr/>
        </p:nvSpPr>
        <p:spPr>
          <a:xfrm>
            <a:off x="4233672"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시세</a:t>
            </a:r>
            <a:endParaRPr lang="ko-KR" altLang="en-US" sz="1300" dirty="0"/>
          </a:p>
        </p:txBody>
      </p:sp>
      <p:sp>
        <p:nvSpPr>
          <p:cNvPr id="15" name="Text 10"/>
          <p:cNvSpPr txBox="1"/>
          <p:nvPr/>
        </p:nvSpPr>
        <p:spPr>
          <a:xfrm>
            <a:off x="4233672"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가격 출처 · 경매 기록</a:t>
            </a:r>
            <a:endParaRPr lang="ko-KR" altLang="en-US" sz="1000" dirty="0"/>
          </a:p>
        </p:txBody>
      </p:sp>
      <p:sp>
        <p:nvSpPr>
          <p:cNvPr id="16" name="Shape 11"/>
          <p:cNvSpPr/>
          <p:nvPr/>
        </p:nvSpPr>
        <p:spPr>
          <a:xfrm>
            <a:off x="6163056"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17" name="Image 3" descr="C:\Users\Windows11\AppData\Local\Temp\claude\C--Users-Windows11-Desktop-New-folder--2-\a0c8a1d0-32ba-4ae6-9843-b5ebc69d925f\scratchpad\deck2/img/hdb4.png">    </p:cNvPr>
          <p:cNvPicPr>
            <a:picLocks noChangeAspect="1"/>
          </p:cNvPicPr>
          <p:nvPr/>
        </p:nvPicPr>
        <p:blipFill>
          <a:blip r:embed="rId4"/>
          <a:stretch>
            <a:fillRect/>
          </a:stretch>
        </p:blipFill>
        <p:spPr>
          <a:xfrm>
            <a:off x="6144768" y="1463040"/>
            <a:ext cx="1737360" cy="2851644"/>
          </a:xfrm>
          <a:prstGeom prst="rect">
            <a:avLst/>
          </a:prstGeom>
        </p:spPr>
      </p:pic>
      <p:sp>
        <p:nvSpPr>
          <p:cNvPr id="18" name="Text 12"/>
          <p:cNvSpPr txBox="1"/>
          <p:nvPr/>
        </p:nvSpPr>
        <p:spPr>
          <a:xfrm>
            <a:off x="6099048"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마켓</a:t>
            </a:r>
            <a:endParaRPr lang="ko-KR" altLang="en-US" sz="1300" dirty="0"/>
          </a:p>
        </p:txBody>
      </p:sp>
      <p:sp>
        <p:nvSpPr>
          <p:cNvPr id="19" name="Text 13"/>
          <p:cNvSpPr txBox="1"/>
          <p:nvPr/>
        </p:nvSpPr>
        <p:spPr>
          <a:xfrm>
            <a:off x="6099048"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중고 거래</a:t>
            </a:r>
            <a:endParaRPr lang="ko-KR" altLang="en-US" sz="1000" dirty="0"/>
          </a:p>
        </p:txBody>
      </p:sp>
      <p:sp>
        <p:nvSpPr>
          <p:cNvPr id="20" name="Shape 14"/>
          <p:cNvSpPr/>
          <p:nvPr/>
        </p:nvSpPr>
        <p:spPr>
          <a:xfrm>
            <a:off x="8028432" y="1481328"/>
            <a:ext cx="1700784" cy="2809667"/>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21" name="Image 4" descr="C:\Users\Windows11\AppData\Local\Temp\claude\C--Users-Windows11-Desktop-New-folder--2-\a0c8a1d0-32ba-4ae6-9843-b5ebc69d925f\scratchpad\deck2/img/hdb5.png">    </p:cNvPr>
          <p:cNvPicPr>
            <a:picLocks noChangeAspect="1"/>
          </p:cNvPicPr>
          <p:nvPr/>
        </p:nvPicPr>
        <p:blipFill>
          <a:blip r:embed="rId5"/>
          <a:stretch>
            <a:fillRect/>
          </a:stretch>
        </p:blipFill>
        <p:spPr>
          <a:xfrm>
            <a:off x="8010144" y="1463040"/>
            <a:ext cx="1737360" cy="2846243"/>
          </a:xfrm>
          <a:prstGeom prst="rect">
            <a:avLst/>
          </a:prstGeom>
        </p:spPr>
      </p:pic>
      <p:sp>
        <p:nvSpPr>
          <p:cNvPr id="22" name="Text 15"/>
          <p:cNvSpPr txBox="1"/>
          <p:nvPr/>
        </p:nvSpPr>
        <p:spPr>
          <a:xfrm>
            <a:off x="7964424" y="4419011"/>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내 컬렉션</a:t>
            </a:r>
            <a:endParaRPr lang="ko-KR" altLang="en-US" sz="1300" dirty="0"/>
          </a:p>
        </p:txBody>
      </p:sp>
      <p:sp>
        <p:nvSpPr>
          <p:cNvPr id="23" name="Text 16"/>
          <p:cNvSpPr txBox="1"/>
          <p:nvPr/>
        </p:nvSpPr>
        <p:spPr>
          <a:xfrm>
            <a:off x="7964424" y="4693331"/>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관리 · 수량 · 상태</a:t>
            </a:r>
            <a:endParaRPr lang="ko-KR" altLang="en-US" sz="1000" dirty="0"/>
          </a:p>
        </p:txBody>
      </p:sp>
      <p:sp>
        <p:nvSpPr>
          <p:cNvPr id="24" name="Shape 17"/>
          <p:cNvSpPr/>
          <p:nvPr/>
        </p:nvSpPr>
        <p:spPr>
          <a:xfrm>
            <a:off x="9893808"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25" name="Image 5" descr="C:\Users\Windows11\AppData\Local\Temp\claude\C--Users-Windows11-Desktop-New-folder--2-\a0c8a1d0-32ba-4ae6-9843-b5ebc69d925f\scratchpad\deck2/img/hdb7.png">    </p:cNvPr>
          <p:cNvPicPr>
            <a:picLocks noChangeAspect="1"/>
          </p:cNvPicPr>
          <p:nvPr/>
        </p:nvPicPr>
        <p:blipFill>
          <a:blip r:embed="rId6"/>
          <a:stretch>
            <a:fillRect/>
          </a:stretch>
        </p:blipFill>
        <p:spPr>
          <a:xfrm>
            <a:off x="9875520" y="1463040"/>
            <a:ext cx="1737360" cy="2851644"/>
          </a:xfrm>
          <a:prstGeom prst="rect">
            <a:avLst/>
          </a:prstGeom>
        </p:spPr>
      </p:pic>
      <p:sp>
        <p:nvSpPr>
          <p:cNvPr id="26" name="Text 18"/>
          <p:cNvSpPr txBox="1"/>
          <p:nvPr/>
        </p:nvSpPr>
        <p:spPr>
          <a:xfrm>
            <a:off x="9829800"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가치</a:t>
            </a:r>
            <a:endParaRPr lang="ko-KR" altLang="en-US" sz="1300" dirty="0"/>
          </a:p>
        </p:txBody>
      </p:sp>
      <p:sp>
        <p:nvSpPr>
          <p:cNvPr id="27" name="Text 19"/>
          <p:cNvSpPr txBox="1"/>
          <p:nvPr/>
        </p:nvSpPr>
        <p:spPr>
          <a:xfrm>
            <a:off x="9829800"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컬렉션 가치 그래프</a:t>
            </a:r>
            <a:endParaRPr lang="ko-KR" altLang="en-US" sz="1000" dirty="0"/>
          </a:p>
        </p:txBody>
      </p:sp>
      <p:sp>
        <p:nvSpPr>
          <p:cNvPr id="28" name="Shape 20"/>
          <p:cNvSpPr/>
          <p:nvPr/>
        </p:nvSpPr>
        <p:spPr>
          <a:xfrm>
            <a:off x="548640" y="5257800"/>
            <a:ext cx="11091672" cy="685800"/>
          </a:xfrm>
          <a:prstGeom prst="roundRect">
            <a:avLst>
              <a:gd name="adj" fmla="val 13333"/>
            </a:avLst>
          </a:prstGeom>
          <a:solidFill>
            <a:srgbClr val="FCEDED"/>
          </a:solidFill>
          <a:ln/>
        </p:spPr>
      </p:sp>
      <p:sp>
        <p:nvSpPr>
          <p:cNvPr id="29" name="Text 21"/>
          <p:cNvSpPr txBox="1"/>
          <p:nvPr/>
        </p:nvSpPr>
        <p:spPr>
          <a:xfrm>
            <a:off x="749808" y="5257800"/>
            <a:ext cx="10698480" cy="685800"/>
          </a:xfrm>
          <a:prstGeom prst="rect">
            <a:avLst/>
          </a:prstGeom>
          <a:noFill/>
          <a:ln/>
        </p:spPr>
        <p:txBody>
          <a:bodyPr wrap="square" lIns="0" tIns="0" rIns="0" bIns="0" rtlCol="0" anchor="ctr"/>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보이는 문제  </a:t>
            </a:r>
            <a:pPr indent="0" marL="0">
              <a:buNone/>
            </a:pPr>
            <a:r>
              <a:rPr lang="ko-KR" altLang="en-US" sz="1100" dirty="0">
                <a:solidFill>
                  <a:srgbClr val="111111"/>
                </a:solidFill>
                <a:latin typeface="Malgun Gothic" pitchFamily="34" charset="0"/>
                <a:ea typeface="Malgun Gothic" pitchFamily="34" charset="-122"/>
                <a:cs typeface="Malgun Gothic" pitchFamily="34" charset="-120"/>
              </a:rPr>
              <a:t>맨 위에 웹사이트 메뉴 6개(Database · Subjects · Market · Members · Local · Blog)가 그대로 · 화면마다 버튼 · 아이콘이 한꺼번에 · 공식 예고 · 발매일 같은 새 소식은 없다</a:t>
            </a:r>
            <a:endParaRPr lang="ko-KR" altLang="en-US" sz="1100" dirty="0"/>
          </a:p>
        </p:txBody>
      </p:sp>
      <p:sp>
        <p:nvSpPr>
          <p:cNvPr id="30" name="Text 22"/>
          <p:cNvSpPr txBox="1"/>
          <p:nvPr/>
        </p:nvSpPr>
        <p:spPr>
          <a:xfrm>
            <a:off x="548640" y="6172200"/>
            <a:ext cx="11064240" cy="182880"/>
          </a:xfrm>
          <a:prstGeom prst="rect">
            <a:avLst/>
          </a:prstGeom>
          <a:noFill/>
          <a:ln/>
        </p:spPr>
        <p:txBody>
          <a:bodyPr wrap="square" lIns="0" tIns="0" rIns="0" bIns="0" rtlCol="0" anchor="t"/>
          <a:lstStyle/>
          <a:p>
            <a:pPr indent="0" marL="0">
              <a:buNone/>
            </a:pPr>
            <a:r>
              <a:rPr lang="ko-KR" altLang="en-US" sz="850" dirty="0">
                <a:solidFill>
                  <a:srgbClr val="9AA0A6"/>
                </a:solidFill>
                <a:latin typeface="Malgun Gothic" pitchFamily="34" charset="0"/>
                <a:ea typeface="Malgun Gothic" pitchFamily="34" charset="-122"/>
                <a:cs typeface="Malgun Gothic" pitchFamily="34" charset="-120"/>
              </a:rPr>
              <a:t>App Store 공식 스크린샷 (hobbyDB: Collection Management, 2026.10 확인) — 수업 목적 인용 · 개인정보가 보이는 장은 뺐다</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2/5 — 현행 분석 · 리뷰 근거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기존 앱 hobbyDB에 없는 기능 · 쓰기 불편한 점</a:t>
            </a:r>
            <a:endParaRPr lang="ko-KR" altLang="en-US" sz="2800" dirty="0"/>
          </a:p>
        </p:txBody>
      </p:sp>
      <p:sp>
        <p:nvSpPr>
          <p:cNvPr id="4" name="Shape 2"/>
          <p:cNvSpPr/>
          <p:nvPr/>
        </p:nvSpPr>
        <p:spPr>
          <a:xfrm>
            <a:off x="548640" y="1481328"/>
            <a:ext cx="3017520" cy="4617720"/>
          </a:xfrm>
          <a:prstGeom prst="roundRect">
            <a:avLst>
              <a:gd name="adj" fmla="val 4242"/>
            </a:avLst>
          </a:prstGeom>
          <a:solidFill>
            <a:srgbClr val="F4F5F7"/>
          </a:solidFill>
          <a:ln/>
        </p:spPr>
      </p:sp>
      <p:sp>
        <p:nvSpPr>
          <p:cNvPr id="5" name="Text 3"/>
          <p:cNvSpPr txBox="1"/>
          <p:nvPr/>
        </p:nvSpPr>
        <p:spPr>
          <a:xfrm>
            <a:off x="749808" y="1627632"/>
            <a:ext cx="265176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별점 분포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8,656개</a:t>
            </a:r>
            <a:endParaRPr lang="ko-KR" altLang="en-US" sz="1200" dirty="0"/>
          </a:p>
        </p:txBody>
      </p:sp>
      <p:sp>
        <p:nvSpPr>
          <p:cNvPr id="6" name="Text 4"/>
          <p:cNvSpPr txBox="1"/>
          <p:nvPr/>
        </p:nvSpPr>
        <p:spPr>
          <a:xfrm>
            <a:off x="749808" y="196596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★5</a:t>
            </a:r>
            <a:endParaRPr lang="ko-KR" altLang="en-US" sz="1000" dirty="0"/>
          </a:p>
        </p:txBody>
      </p:sp>
      <p:sp>
        <p:nvSpPr>
          <p:cNvPr id="7" name="Shape 5"/>
          <p:cNvSpPr/>
          <p:nvPr/>
        </p:nvSpPr>
        <p:spPr>
          <a:xfrm>
            <a:off x="1143000" y="2011680"/>
            <a:ext cx="1828800" cy="128016"/>
          </a:xfrm>
          <a:prstGeom prst="rect">
            <a:avLst/>
          </a:prstGeom>
          <a:solidFill>
            <a:srgbClr val="C9CDD2"/>
          </a:solidFill>
          <a:ln/>
        </p:spPr>
      </p:sp>
      <p:sp>
        <p:nvSpPr>
          <p:cNvPr id="8" name="Text 6"/>
          <p:cNvSpPr txBox="1"/>
          <p:nvPr/>
        </p:nvSpPr>
        <p:spPr>
          <a:xfrm>
            <a:off x="3017520" y="196596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7,690</a:t>
            </a:r>
            <a:endParaRPr lang="ko-KR" altLang="en-US" sz="900" dirty="0"/>
          </a:p>
        </p:txBody>
      </p:sp>
      <p:sp>
        <p:nvSpPr>
          <p:cNvPr id="9" name="Text 7"/>
          <p:cNvSpPr txBox="1"/>
          <p:nvPr/>
        </p:nvSpPr>
        <p:spPr>
          <a:xfrm>
            <a:off x="749808" y="224028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★4</a:t>
            </a:r>
            <a:endParaRPr lang="ko-KR" altLang="en-US" sz="1000" dirty="0"/>
          </a:p>
        </p:txBody>
      </p:sp>
      <p:sp>
        <p:nvSpPr>
          <p:cNvPr id="10" name="Shape 8"/>
          <p:cNvSpPr/>
          <p:nvPr/>
        </p:nvSpPr>
        <p:spPr>
          <a:xfrm>
            <a:off x="1143000" y="2286000"/>
            <a:ext cx="109395" cy="128016"/>
          </a:xfrm>
          <a:prstGeom prst="rect">
            <a:avLst/>
          </a:prstGeom>
          <a:solidFill>
            <a:srgbClr val="C9CDD2"/>
          </a:solidFill>
          <a:ln/>
        </p:spPr>
      </p:sp>
      <p:sp>
        <p:nvSpPr>
          <p:cNvPr id="11" name="Text 9"/>
          <p:cNvSpPr txBox="1"/>
          <p:nvPr/>
        </p:nvSpPr>
        <p:spPr>
          <a:xfrm>
            <a:off x="1298115" y="224028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460</a:t>
            </a:r>
            <a:endParaRPr lang="ko-KR" altLang="en-US" sz="900" dirty="0"/>
          </a:p>
        </p:txBody>
      </p:sp>
      <p:sp>
        <p:nvSpPr>
          <p:cNvPr id="12" name="Text 10"/>
          <p:cNvSpPr txBox="1"/>
          <p:nvPr/>
        </p:nvSpPr>
        <p:spPr>
          <a:xfrm>
            <a:off x="749808" y="251460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★3</a:t>
            </a:r>
            <a:endParaRPr lang="ko-KR" altLang="en-US" sz="1000" dirty="0"/>
          </a:p>
        </p:txBody>
      </p:sp>
      <p:sp>
        <p:nvSpPr>
          <p:cNvPr id="13" name="Shape 11"/>
          <p:cNvSpPr/>
          <p:nvPr/>
        </p:nvSpPr>
        <p:spPr>
          <a:xfrm>
            <a:off x="1143000" y="2560320"/>
            <a:ext cx="37813" cy="128016"/>
          </a:xfrm>
          <a:prstGeom prst="rect">
            <a:avLst/>
          </a:prstGeom>
          <a:solidFill>
            <a:srgbClr val="C9CDD2"/>
          </a:solidFill>
          <a:ln/>
        </p:spPr>
      </p:sp>
      <p:sp>
        <p:nvSpPr>
          <p:cNvPr id="14" name="Text 12"/>
          <p:cNvSpPr txBox="1"/>
          <p:nvPr/>
        </p:nvSpPr>
        <p:spPr>
          <a:xfrm>
            <a:off x="1226533" y="251460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159</a:t>
            </a:r>
            <a:endParaRPr lang="ko-KR" altLang="en-US" sz="900" dirty="0"/>
          </a:p>
        </p:txBody>
      </p:sp>
      <p:sp>
        <p:nvSpPr>
          <p:cNvPr id="15" name="Text 13"/>
          <p:cNvSpPr txBox="1"/>
          <p:nvPr/>
        </p:nvSpPr>
        <p:spPr>
          <a:xfrm>
            <a:off x="749808" y="278892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★2</a:t>
            </a:r>
            <a:endParaRPr lang="ko-KR" altLang="en-US" sz="1000" dirty="0"/>
          </a:p>
        </p:txBody>
      </p:sp>
      <p:sp>
        <p:nvSpPr>
          <p:cNvPr id="16" name="Shape 14"/>
          <p:cNvSpPr/>
          <p:nvPr/>
        </p:nvSpPr>
        <p:spPr>
          <a:xfrm>
            <a:off x="1143000" y="2834640"/>
            <a:ext cx="36576" cy="128016"/>
          </a:xfrm>
          <a:prstGeom prst="rect">
            <a:avLst/>
          </a:prstGeom>
          <a:solidFill>
            <a:srgbClr val="C9CDD2"/>
          </a:solidFill>
          <a:ln/>
        </p:spPr>
      </p:sp>
      <p:sp>
        <p:nvSpPr>
          <p:cNvPr id="17" name="Text 15"/>
          <p:cNvSpPr txBox="1"/>
          <p:nvPr/>
        </p:nvSpPr>
        <p:spPr>
          <a:xfrm>
            <a:off x="1225296" y="278892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70</a:t>
            </a:r>
            <a:endParaRPr lang="ko-KR" altLang="en-US" sz="900" dirty="0"/>
          </a:p>
        </p:txBody>
      </p:sp>
      <p:sp>
        <p:nvSpPr>
          <p:cNvPr id="18" name="Text 16"/>
          <p:cNvSpPr txBox="1"/>
          <p:nvPr/>
        </p:nvSpPr>
        <p:spPr>
          <a:xfrm>
            <a:off x="749808" y="306324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★1</a:t>
            </a:r>
            <a:endParaRPr lang="ko-KR" altLang="en-US" sz="1000" dirty="0"/>
          </a:p>
        </p:txBody>
      </p:sp>
      <p:sp>
        <p:nvSpPr>
          <p:cNvPr id="19" name="Shape 17"/>
          <p:cNvSpPr/>
          <p:nvPr/>
        </p:nvSpPr>
        <p:spPr>
          <a:xfrm>
            <a:off x="1143000" y="3108960"/>
            <a:ext cx="65875" cy="128016"/>
          </a:xfrm>
          <a:prstGeom prst="rect">
            <a:avLst/>
          </a:prstGeom>
          <a:solidFill>
            <a:srgbClr val="D93F44"/>
          </a:solidFill>
          <a:ln/>
        </p:spPr>
      </p:sp>
      <p:sp>
        <p:nvSpPr>
          <p:cNvPr id="20" name="Text 18"/>
          <p:cNvSpPr txBox="1"/>
          <p:nvPr/>
        </p:nvSpPr>
        <p:spPr>
          <a:xfrm>
            <a:off x="1254595" y="306324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277</a:t>
            </a:r>
            <a:endParaRPr lang="ko-KR" altLang="en-US" sz="900" dirty="0"/>
          </a:p>
        </p:txBody>
      </p:sp>
      <p:sp>
        <p:nvSpPr>
          <p:cNvPr id="21" name="Text 19"/>
          <p:cNvSpPr txBox="1"/>
          <p:nvPr/>
        </p:nvSpPr>
        <p:spPr>
          <a:xfrm>
            <a:off x="749808" y="3401568"/>
            <a:ext cx="2651760" cy="457200"/>
          </a:xfrm>
          <a:prstGeom prst="rect">
            <a:avLst/>
          </a:prstGeom>
          <a:noFill/>
          <a:ln/>
        </p:spPr>
        <p:txBody>
          <a:bodyPr wrap="square" lIns="0" tIns="0" rIns="0" bIns="0" rtlCol="0" anchor="t"/>
          <a:lstStyle/>
          <a:p>
            <a:pPr indent="0" marL="0">
              <a:buNone/>
            </a:pPr>
            <a:r>
              <a:rPr lang="ko-KR" altLang="en-US" sz="1050" b="1" dirty="0">
                <a:solidFill>
                  <a:srgbClr val="D93F44"/>
                </a:solidFill>
                <a:latin typeface="Malgun Gothic" pitchFamily="34" charset="0"/>
                <a:ea typeface="Malgun Gothic" pitchFamily="34" charset="-122"/>
                <a:cs typeface="Malgun Gothic" pitchFamily="34" charset="-120"/>
              </a:rPr>
              <a:t>★1이 ★2 + ★3보다 많다 — 한 번 막히면 떠난다</a:t>
            </a:r>
            <a:endParaRPr lang="ko-KR" altLang="en-US" sz="1050" dirty="0"/>
          </a:p>
        </p:txBody>
      </p:sp>
      <p:sp>
        <p:nvSpPr>
          <p:cNvPr id="22" name="Text 20"/>
          <p:cNvSpPr txBox="1"/>
          <p:nvPr/>
        </p:nvSpPr>
        <p:spPr>
          <a:xfrm>
            <a:off x="749808" y="3931920"/>
            <a:ext cx="265176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리뷰 유형</a:t>
            </a:r>
            <a:endParaRPr lang="ko-KR" altLang="en-US" sz="1200" dirty="0"/>
          </a:p>
        </p:txBody>
      </p:sp>
      <p:sp>
        <p:nvSpPr>
          <p:cNvPr id="23" name="Text 21"/>
          <p:cNvSpPr txBox="1"/>
          <p:nvPr/>
        </p:nvSpPr>
        <p:spPr>
          <a:xfrm>
            <a:off x="749808" y="4224528"/>
            <a:ext cx="2103120" cy="237744"/>
          </a:xfrm>
          <a:prstGeom prst="rect">
            <a:avLst/>
          </a:prstGeom>
          <a:noFill/>
          <a:ln/>
        </p:spPr>
        <p:txBody>
          <a:bodyPr wrap="square" lIns="0" tIns="0" rIns="0" bIns="0" rtlCol="0" anchor="ct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없는 기능</a:t>
            </a:r>
            <a:endParaRPr lang="ko-KR" altLang="en-US" sz="1050" dirty="0"/>
          </a:p>
        </p:txBody>
      </p:sp>
      <p:sp>
        <p:nvSpPr>
          <p:cNvPr id="24" name="Text 22"/>
          <p:cNvSpPr txBox="1"/>
          <p:nvPr/>
        </p:nvSpPr>
        <p:spPr>
          <a:xfrm>
            <a:off x="2834640" y="4224528"/>
            <a:ext cx="548640" cy="237744"/>
          </a:xfrm>
          <a:prstGeom prst="rect">
            <a:avLst/>
          </a:prstGeom>
          <a:noFill/>
          <a:ln/>
        </p:spPr>
        <p:txBody>
          <a:bodyPr wrap="square" lIns="0" tIns="0" rIns="0" bIns="0" rtlCol="0" anchor="ctr"/>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6</a:t>
            </a:r>
            <a:endParaRPr lang="ko-KR" altLang="en-US" sz="1050" dirty="0"/>
          </a:p>
        </p:txBody>
      </p:sp>
      <p:sp>
        <p:nvSpPr>
          <p:cNvPr id="25" name="Text 23"/>
          <p:cNvSpPr txBox="1"/>
          <p:nvPr/>
        </p:nvSpPr>
        <p:spPr>
          <a:xfrm>
            <a:off x="749808" y="4498848"/>
            <a:ext cx="2103120" cy="237744"/>
          </a:xfrm>
          <a:prstGeom prst="rect">
            <a:avLst/>
          </a:prstGeom>
          <a:noFill/>
          <a:ln/>
        </p:spPr>
        <p:txBody>
          <a:bodyPr wrap="square" lIns="0" tIns="0" rIns="0" bIns="0" rtlCol="0" anchor="ct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쓰기 불편 (유료 잠금 포함)</a:t>
            </a:r>
            <a:endParaRPr lang="ko-KR" altLang="en-US" sz="1050" dirty="0"/>
          </a:p>
        </p:txBody>
      </p:sp>
      <p:sp>
        <p:nvSpPr>
          <p:cNvPr id="26" name="Text 24"/>
          <p:cNvSpPr txBox="1"/>
          <p:nvPr/>
        </p:nvSpPr>
        <p:spPr>
          <a:xfrm>
            <a:off x="2834640" y="4498848"/>
            <a:ext cx="548640" cy="237744"/>
          </a:xfrm>
          <a:prstGeom prst="rect">
            <a:avLst/>
          </a:prstGeom>
          <a:noFill/>
          <a:ln/>
        </p:spPr>
        <p:txBody>
          <a:bodyPr wrap="square" lIns="0" tIns="0" rIns="0" bIns="0" rtlCol="0" anchor="ctr"/>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6</a:t>
            </a:r>
            <a:endParaRPr lang="ko-KR" altLang="en-US" sz="1050" dirty="0"/>
          </a:p>
        </p:txBody>
      </p:sp>
      <p:sp>
        <p:nvSpPr>
          <p:cNvPr id="27" name="Text 25"/>
          <p:cNvSpPr txBox="1"/>
          <p:nvPr/>
        </p:nvSpPr>
        <p:spPr>
          <a:xfrm>
            <a:off x="749808" y="4773168"/>
            <a:ext cx="2103120" cy="237744"/>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버그 · 광고 · 속도 — 이번엔 제외</a:t>
            </a:r>
            <a:endParaRPr lang="ko-KR" altLang="en-US" sz="1050" dirty="0"/>
          </a:p>
        </p:txBody>
      </p:sp>
      <p:sp>
        <p:nvSpPr>
          <p:cNvPr id="28" name="Text 26"/>
          <p:cNvSpPr txBox="1"/>
          <p:nvPr/>
        </p:nvSpPr>
        <p:spPr>
          <a:xfrm>
            <a:off x="2834640" y="4773168"/>
            <a:ext cx="548640" cy="237744"/>
          </a:xfrm>
          <a:prstGeom prst="rect">
            <a:avLst/>
          </a:prstGeom>
          <a:noFill/>
          <a:ln/>
        </p:spPr>
        <p:txBody>
          <a:bodyPr wrap="square" lIns="0" tIns="0" rIns="0" bIns="0" rtlCol="0" anchor="ctr"/>
          <a:lstStyle/>
          <a:p>
            <a:pPr algn="r" indent="0" marL="0">
              <a:buNone/>
            </a:pPr>
            <a:r>
              <a:rPr lang="ko-KR" altLang="en-US" sz="1050" b="1" dirty="0">
                <a:solidFill>
                  <a:srgbClr val="6B7078"/>
                </a:solidFill>
                <a:latin typeface="Malgun Gothic" pitchFamily="34" charset="0"/>
                <a:ea typeface="Malgun Gothic" pitchFamily="34" charset="-122"/>
                <a:cs typeface="Malgun Gothic" pitchFamily="34" charset="-120"/>
              </a:rPr>
              <a:t>—</a:t>
            </a:r>
            <a:endParaRPr lang="ko-KR" altLang="en-US" sz="1050" dirty="0"/>
          </a:p>
        </p:txBody>
      </p:sp>
      <p:sp>
        <p:nvSpPr>
          <p:cNvPr id="29" name="Text 27"/>
          <p:cNvSpPr txBox="1"/>
          <p:nvPr/>
        </p:nvSpPr>
        <p:spPr>
          <a:xfrm>
            <a:off x="749808" y="5440680"/>
            <a:ext cx="2651760" cy="548640"/>
          </a:xfrm>
          <a:prstGeom prst="rect">
            <a:avLst/>
          </a:prstGeom>
          <a:noFill/>
          <a:ln/>
        </p:spPr>
        <p:txBody>
          <a:bodyPr wrap="square" lIns="0" tIns="0" rIns="0" bIns="0" rtlCol="0" anchor="t"/>
          <a:lstStyle/>
          <a:p>
            <a:pPr indent="0" marL="0">
              <a:buNone/>
            </a:pPr>
            <a:r>
              <a:rPr lang="ko-KR" altLang="en-US" sz="1000" b="1" dirty="0">
                <a:solidFill>
                  <a:srgbClr val="12A07F"/>
                </a:solidFill>
                <a:latin typeface="Malgun Gothic" pitchFamily="34" charset="0"/>
                <a:ea typeface="Malgun Gothic" pitchFamily="34" charset="-122"/>
                <a:cs typeface="Malgun Gothic" pitchFamily="34" charset="-120"/>
              </a:rPr>
              <a:t>잘된 점  </a:t>
            </a:r>
            <a:pPr indent="0" marL="0">
              <a:buNone/>
            </a:pPr>
            <a:r>
              <a:rPr lang="ko-KR" altLang="en-US" sz="1000" dirty="0">
                <a:solidFill>
                  <a:srgbClr val="3D4148"/>
                </a:solidFill>
                <a:latin typeface="Malgun Gothic" pitchFamily="34" charset="0"/>
                <a:ea typeface="Malgun Gothic" pitchFamily="34" charset="-122"/>
                <a:cs typeface="Malgun Gothic" pitchFamily="34" charset="-120"/>
              </a:rPr>
              <a:t>P02 상자 사진 · 품번, P07 바코드 — v2도 지킨다</a:t>
            </a:r>
            <a:endParaRPr lang="ko-KR" altLang="en-US" sz="1000" dirty="0"/>
          </a:p>
        </p:txBody>
      </p:sp>
      <p:sp>
        <p:nvSpPr>
          <p:cNvPr id="30" name="Text 28"/>
          <p:cNvSpPr txBox="1"/>
          <p:nvPr/>
        </p:nvSpPr>
        <p:spPr>
          <a:xfrm>
            <a:off x="3794760" y="1481328"/>
            <a:ext cx="77724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리뷰가 말하는 것</a:t>
            </a:r>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   →   Hobby Atlas가 답하는 기능</a:t>
            </a:r>
            <a:endParaRPr lang="ko-KR" altLang="en-US" sz="1300" dirty="0"/>
          </a:p>
        </p:txBody>
      </p:sp>
      <p:sp>
        <p:nvSpPr>
          <p:cNvPr id="31" name="Shape 29"/>
          <p:cNvSpPr/>
          <p:nvPr/>
        </p:nvSpPr>
        <p:spPr>
          <a:xfrm>
            <a:off x="3794760" y="1828800"/>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2" name="Shape 30"/>
          <p:cNvSpPr/>
          <p:nvPr/>
        </p:nvSpPr>
        <p:spPr>
          <a:xfrm>
            <a:off x="3950208" y="1938528"/>
            <a:ext cx="1005840" cy="219456"/>
          </a:xfrm>
          <a:prstGeom prst="roundRect">
            <a:avLst>
              <a:gd name="adj" fmla="val 50000"/>
            </a:avLst>
          </a:prstGeom>
          <a:solidFill>
            <a:srgbClr val="D93F44"/>
          </a:solidFill>
          <a:ln/>
        </p:spPr>
      </p:sp>
      <p:sp>
        <p:nvSpPr>
          <p:cNvPr id="33" name="Text 31"/>
          <p:cNvSpPr txBox="1"/>
          <p:nvPr/>
        </p:nvSpPr>
        <p:spPr>
          <a:xfrm>
            <a:off x="3950208" y="1938528"/>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없는 기능</a:t>
            </a:r>
            <a:endParaRPr lang="ko-KR" altLang="en-US" sz="950" dirty="0"/>
          </a:p>
        </p:txBody>
      </p:sp>
      <p:sp>
        <p:nvSpPr>
          <p:cNvPr id="34" name="Text 32"/>
          <p:cNvSpPr txBox="1"/>
          <p:nvPr/>
        </p:nvSpPr>
        <p:spPr>
          <a:xfrm>
            <a:off x="5047488" y="1929384"/>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 · 2022.11.06 · Google Play</a:t>
            </a:r>
            <a:endParaRPr lang="ko-KR" altLang="en-US" sz="900" dirty="0"/>
          </a:p>
        </p:txBody>
      </p:sp>
      <p:sp>
        <p:nvSpPr>
          <p:cNvPr id="35" name="Text 33"/>
          <p:cNvSpPr txBox="1"/>
          <p:nvPr/>
        </p:nvSpPr>
        <p:spPr>
          <a:xfrm>
            <a:off x="3950208" y="2212848"/>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"Would love to be able to organize by line."</a:t>
            </a:r>
            <a:endParaRPr lang="ko-KR" altLang="en-US" sz="1150" dirty="0"/>
          </a:p>
        </p:txBody>
      </p:sp>
      <p:sp>
        <p:nvSpPr>
          <p:cNvPr id="36" name="Text 34"/>
          <p:cNvSpPr txBox="1"/>
          <p:nvPr/>
        </p:nvSpPr>
        <p:spPr>
          <a:xfrm>
            <a:off x="3950208" y="2487168"/>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IP(라인)별로 정리해 볼 수 없다</a:t>
            </a:r>
            <a:endParaRPr lang="ko-KR" altLang="en-US" sz="1050" dirty="0"/>
          </a:p>
        </p:txBody>
      </p:sp>
      <p:sp>
        <p:nvSpPr>
          <p:cNvPr id="37" name="Shape 35"/>
          <p:cNvSpPr/>
          <p:nvPr/>
        </p:nvSpPr>
        <p:spPr>
          <a:xfrm>
            <a:off x="8759952" y="2313432"/>
            <a:ext cx="292608" cy="0"/>
          </a:xfrm>
          <a:prstGeom prst="line">
            <a:avLst/>
          </a:prstGeom>
          <a:noFill/>
          <a:ln w="19050">
            <a:solidFill>
              <a:srgbClr val="1C86D9"/>
            </a:solidFill>
            <a:prstDash val="solid"/>
            <a:tailEnd type="triangle"/>
          </a:ln>
        </p:spPr>
      </p:sp>
      <p:sp>
        <p:nvSpPr>
          <p:cNvPr id="38" name="Shape 36"/>
          <p:cNvSpPr/>
          <p:nvPr/>
        </p:nvSpPr>
        <p:spPr>
          <a:xfrm>
            <a:off x="9144000" y="1901952"/>
            <a:ext cx="2496312" cy="822960"/>
          </a:xfrm>
          <a:prstGeom prst="roundRect">
            <a:avLst>
              <a:gd name="adj" fmla="val 11111"/>
            </a:avLst>
          </a:prstGeom>
          <a:solidFill>
            <a:srgbClr val="EAF4FC"/>
          </a:solidFill>
          <a:ln/>
        </p:spPr>
      </p:sp>
      <p:sp>
        <p:nvSpPr>
          <p:cNvPr id="39" name="Text 37"/>
          <p:cNvSpPr txBox="1"/>
          <p:nvPr/>
        </p:nvSpPr>
        <p:spPr>
          <a:xfrm>
            <a:off x="9281160" y="1901952"/>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내 IP 채널 바 · 작품별 필터</a:t>
            </a:r>
            <a:endParaRPr lang="ko-KR" altLang="en-US" sz="1200" dirty="0"/>
          </a:p>
        </p:txBody>
      </p:sp>
      <p:sp>
        <p:nvSpPr>
          <p:cNvPr id="40" name="Shape 38"/>
          <p:cNvSpPr/>
          <p:nvPr/>
        </p:nvSpPr>
        <p:spPr>
          <a:xfrm>
            <a:off x="3794760" y="2907792"/>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1" name="Shape 39"/>
          <p:cNvSpPr/>
          <p:nvPr/>
        </p:nvSpPr>
        <p:spPr>
          <a:xfrm>
            <a:off x="3950208" y="3017520"/>
            <a:ext cx="1005840" cy="219456"/>
          </a:xfrm>
          <a:prstGeom prst="roundRect">
            <a:avLst>
              <a:gd name="adj" fmla="val 50000"/>
            </a:avLst>
          </a:prstGeom>
          <a:solidFill>
            <a:srgbClr val="B86E00"/>
          </a:solidFill>
          <a:ln/>
        </p:spPr>
      </p:sp>
      <p:sp>
        <p:nvSpPr>
          <p:cNvPr id="42" name="Text 40"/>
          <p:cNvSpPr txBox="1"/>
          <p:nvPr/>
        </p:nvSpPr>
        <p:spPr>
          <a:xfrm>
            <a:off x="3950208" y="3017520"/>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쓰기 불편</a:t>
            </a:r>
            <a:endParaRPr lang="ko-KR" altLang="en-US" sz="950" dirty="0"/>
          </a:p>
        </p:txBody>
      </p:sp>
      <p:sp>
        <p:nvSpPr>
          <p:cNvPr id="43" name="Text 41"/>
          <p:cNvSpPr txBox="1"/>
          <p:nvPr/>
        </p:nvSpPr>
        <p:spPr>
          <a:xfrm>
            <a:off x="5047488" y="3008376"/>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★5 · 2025.01.26 · Google Play</a:t>
            </a:r>
            <a:endParaRPr lang="ko-KR" altLang="en-US" sz="900" dirty="0"/>
          </a:p>
        </p:txBody>
      </p:sp>
      <p:sp>
        <p:nvSpPr>
          <p:cNvPr id="44" name="Text 42"/>
          <p:cNvSpPr txBox="1"/>
          <p:nvPr/>
        </p:nvSpPr>
        <p:spPr>
          <a:xfrm>
            <a:off x="3950208" y="3291840"/>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"It takes a little for new pops to be added"</a:t>
            </a:r>
            <a:endParaRPr lang="ko-KR" altLang="en-US" sz="1150" dirty="0"/>
          </a:p>
        </p:txBody>
      </p:sp>
      <p:sp>
        <p:nvSpPr>
          <p:cNvPr id="45" name="Text 43"/>
          <p:cNvSpPr txBox="1"/>
          <p:nvPr/>
        </p:nvSpPr>
        <p:spPr>
          <a:xfrm>
            <a:off x="3950208" y="3566160"/>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신상품 정보가 늦게 올라온다</a:t>
            </a:r>
            <a:endParaRPr lang="ko-KR" altLang="en-US" sz="1050" dirty="0"/>
          </a:p>
        </p:txBody>
      </p:sp>
      <p:sp>
        <p:nvSpPr>
          <p:cNvPr id="46" name="Shape 44"/>
          <p:cNvSpPr/>
          <p:nvPr/>
        </p:nvSpPr>
        <p:spPr>
          <a:xfrm>
            <a:off x="8759952" y="3392424"/>
            <a:ext cx="292608" cy="0"/>
          </a:xfrm>
          <a:prstGeom prst="line">
            <a:avLst/>
          </a:prstGeom>
          <a:noFill/>
          <a:ln w="19050">
            <a:solidFill>
              <a:srgbClr val="1C86D9"/>
            </a:solidFill>
            <a:prstDash val="solid"/>
            <a:tailEnd type="triangle"/>
          </a:ln>
        </p:spPr>
      </p:sp>
      <p:sp>
        <p:nvSpPr>
          <p:cNvPr id="47" name="Shape 45"/>
          <p:cNvSpPr/>
          <p:nvPr/>
        </p:nvSpPr>
        <p:spPr>
          <a:xfrm>
            <a:off x="9144000" y="2980944"/>
            <a:ext cx="2496312" cy="822960"/>
          </a:xfrm>
          <a:prstGeom prst="roundRect">
            <a:avLst>
              <a:gd name="adj" fmla="val 11111"/>
            </a:avLst>
          </a:prstGeom>
          <a:solidFill>
            <a:srgbClr val="EAF4FC"/>
          </a:solidFill>
          <a:ln/>
        </p:spPr>
      </p:sp>
      <p:sp>
        <p:nvSpPr>
          <p:cNvPr id="48" name="Text 46"/>
          <p:cNvSpPr txBox="1"/>
          <p:nvPr/>
        </p:nvSpPr>
        <p:spPr>
          <a:xfrm>
            <a:off x="9281160" y="2980944"/>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공식 예고 배너 · 발매 캘린더</a:t>
            </a:r>
            <a:endParaRPr lang="ko-KR" altLang="en-US" sz="1200" dirty="0"/>
          </a:p>
        </p:txBody>
      </p:sp>
      <p:sp>
        <p:nvSpPr>
          <p:cNvPr id="49" name="Shape 47"/>
          <p:cNvSpPr/>
          <p:nvPr/>
        </p:nvSpPr>
        <p:spPr>
          <a:xfrm>
            <a:off x="3794760" y="3986784"/>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0" name="Shape 48"/>
          <p:cNvSpPr/>
          <p:nvPr/>
        </p:nvSpPr>
        <p:spPr>
          <a:xfrm>
            <a:off x="3950208" y="4096512"/>
            <a:ext cx="1005840" cy="219456"/>
          </a:xfrm>
          <a:prstGeom prst="roundRect">
            <a:avLst>
              <a:gd name="adj" fmla="val 50000"/>
            </a:avLst>
          </a:prstGeom>
          <a:solidFill>
            <a:srgbClr val="B86E00"/>
          </a:solidFill>
          <a:ln/>
        </p:spPr>
      </p:sp>
      <p:sp>
        <p:nvSpPr>
          <p:cNvPr id="51" name="Text 49"/>
          <p:cNvSpPr txBox="1"/>
          <p:nvPr/>
        </p:nvSpPr>
        <p:spPr>
          <a:xfrm>
            <a:off x="3950208" y="4096512"/>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쓰기 불편</a:t>
            </a:r>
            <a:endParaRPr lang="ko-KR" altLang="en-US" sz="950" dirty="0"/>
          </a:p>
        </p:txBody>
      </p:sp>
      <p:sp>
        <p:nvSpPr>
          <p:cNvPr id="52" name="Text 50"/>
          <p:cNvSpPr txBox="1"/>
          <p:nvPr/>
        </p:nvSpPr>
        <p:spPr>
          <a:xfrm>
            <a:off x="5047488" y="4087368"/>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★3 · 2021.09.17 · App Store US</a:t>
            </a:r>
            <a:endParaRPr lang="ko-KR" altLang="en-US" sz="900" dirty="0"/>
          </a:p>
        </p:txBody>
      </p:sp>
      <p:sp>
        <p:nvSpPr>
          <p:cNvPr id="53" name="Text 51"/>
          <p:cNvSpPr txBox="1"/>
          <p:nvPr/>
        </p:nvSpPr>
        <p:spPr>
          <a:xfrm>
            <a:off x="3950208" y="4370832"/>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"could be made much easier to add and remove items from your collection"</a:t>
            </a:r>
            <a:endParaRPr lang="ko-KR" altLang="en-US" sz="1150" dirty="0"/>
          </a:p>
        </p:txBody>
      </p:sp>
      <p:sp>
        <p:nvSpPr>
          <p:cNvPr id="54" name="Text 52"/>
          <p:cNvSpPr txBox="1"/>
          <p:nvPr/>
        </p:nvSpPr>
        <p:spPr>
          <a:xfrm>
            <a:off x="3950208" y="4645152"/>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컬렉션에 넣고 빼기가 번거롭다</a:t>
            </a:r>
            <a:endParaRPr lang="ko-KR" altLang="en-US" sz="1050" dirty="0"/>
          </a:p>
        </p:txBody>
      </p:sp>
      <p:sp>
        <p:nvSpPr>
          <p:cNvPr id="55" name="Shape 53"/>
          <p:cNvSpPr/>
          <p:nvPr/>
        </p:nvSpPr>
        <p:spPr>
          <a:xfrm>
            <a:off x="8759952" y="4471416"/>
            <a:ext cx="292608" cy="0"/>
          </a:xfrm>
          <a:prstGeom prst="line">
            <a:avLst/>
          </a:prstGeom>
          <a:noFill/>
          <a:ln w="19050">
            <a:solidFill>
              <a:srgbClr val="1C86D9"/>
            </a:solidFill>
            <a:prstDash val="solid"/>
            <a:tailEnd type="triangle"/>
          </a:ln>
        </p:spPr>
      </p:sp>
      <p:sp>
        <p:nvSpPr>
          <p:cNvPr id="56" name="Shape 54"/>
          <p:cNvSpPr/>
          <p:nvPr/>
        </p:nvSpPr>
        <p:spPr>
          <a:xfrm>
            <a:off x="9144000" y="4059936"/>
            <a:ext cx="2496312" cy="822960"/>
          </a:xfrm>
          <a:prstGeom prst="roundRect">
            <a:avLst>
              <a:gd name="adj" fmla="val 11111"/>
            </a:avLst>
          </a:prstGeom>
          <a:solidFill>
            <a:srgbClr val="EAF4FC"/>
          </a:solidFill>
          <a:ln/>
        </p:spPr>
      </p:sp>
      <p:sp>
        <p:nvSpPr>
          <p:cNvPr id="57" name="Text 55"/>
          <p:cNvSpPr txBox="1"/>
          <p:nvPr/>
        </p:nvSpPr>
        <p:spPr>
          <a:xfrm>
            <a:off x="9281160" y="4059936"/>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사진 위 ♡ · 리본 한 번 · 휴지통</a:t>
            </a:r>
            <a:endParaRPr lang="ko-KR" altLang="en-US" sz="1200" dirty="0"/>
          </a:p>
        </p:txBody>
      </p:sp>
      <p:sp>
        <p:nvSpPr>
          <p:cNvPr id="58" name="Shape 56"/>
          <p:cNvSpPr/>
          <p:nvPr/>
        </p:nvSpPr>
        <p:spPr>
          <a:xfrm>
            <a:off x="3794760" y="5065776"/>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9" name="Shape 57"/>
          <p:cNvSpPr/>
          <p:nvPr/>
        </p:nvSpPr>
        <p:spPr>
          <a:xfrm>
            <a:off x="3950208" y="5175504"/>
            <a:ext cx="1005840" cy="219456"/>
          </a:xfrm>
          <a:prstGeom prst="roundRect">
            <a:avLst>
              <a:gd name="adj" fmla="val 50000"/>
            </a:avLst>
          </a:prstGeom>
          <a:solidFill>
            <a:srgbClr val="D93F44"/>
          </a:solidFill>
          <a:ln/>
        </p:spPr>
      </p:sp>
      <p:sp>
        <p:nvSpPr>
          <p:cNvPr id="60" name="Text 58"/>
          <p:cNvSpPr txBox="1"/>
          <p:nvPr/>
        </p:nvSpPr>
        <p:spPr>
          <a:xfrm>
            <a:off x="3950208" y="5175504"/>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없는 기능</a:t>
            </a:r>
            <a:endParaRPr lang="ko-KR" altLang="en-US" sz="950" dirty="0"/>
          </a:p>
        </p:txBody>
      </p:sp>
      <p:sp>
        <p:nvSpPr>
          <p:cNvPr id="61" name="Text 59"/>
          <p:cNvSpPr txBox="1"/>
          <p:nvPr/>
        </p:nvSpPr>
        <p:spPr>
          <a:xfrm>
            <a:off x="5047488" y="5166360"/>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 · 2021.04.29 · App Store CA</a:t>
            </a:r>
            <a:endParaRPr lang="ko-KR" altLang="en-US" sz="900" dirty="0"/>
          </a:p>
        </p:txBody>
      </p:sp>
      <p:sp>
        <p:nvSpPr>
          <p:cNvPr id="62" name="Text 60"/>
          <p:cNvSpPr txBox="1"/>
          <p:nvPr/>
        </p:nvSpPr>
        <p:spPr>
          <a:xfrm>
            <a:off x="3950208" y="5449824"/>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"I wish there was a Canadian Version showing PPG in CDN$ dollars"</a:t>
            </a:r>
            <a:endParaRPr lang="ko-KR" altLang="en-US" sz="1150" dirty="0"/>
          </a:p>
        </p:txBody>
      </p:sp>
      <p:sp>
        <p:nvSpPr>
          <p:cNvPr id="63" name="Text 61"/>
          <p:cNvSpPr txBox="1"/>
          <p:nvPr/>
        </p:nvSpPr>
        <p:spPr>
          <a:xfrm>
            <a:off x="3950208" y="5724144"/>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자기 나라 통화 시세가 없다</a:t>
            </a:r>
            <a:endParaRPr lang="ko-KR" altLang="en-US" sz="1050" dirty="0"/>
          </a:p>
        </p:txBody>
      </p:sp>
      <p:sp>
        <p:nvSpPr>
          <p:cNvPr id="64" name="Shape 62"/>
          <p:cNvSpPr/>
          <p:nvPr/>
        </p:nvSpPr>
        <p:spPr>
          <a:xfrm>
            <a:off x="8759952" y="5550408"/>
            <a:ext cx="292608" cy="0"/>
          </a:xfrm>
          <a:prstGeom prst="line">
            <a:avLst/>
          </a:prstGeom>
          <a:noFill/>
          <a:ln w="19050">
            <a:solidFill>
              <a:srgbClr val="1C86D9"/>
            </a:solidFill>
            <a:prstDash val="solid"/>
            <a:tailEnd type="triangle"/>
          </a:ln>
        </p:spPr>
      </p:sp>
      <p:sp>
        <p:nvSpPr>
          <p:cNvPr id="65" name="Shape 63"/>
          <p:cNvSpPr/>
          <p:nvPr/>
        </p:nvSpPr>
        <p:spPr>
          <a:xfrm>
            <a:off x="9144000" y="5138928"/>
            <a:ext cx="2496312" cy="822960"/>
          </a:xfrm>
          <a:prstGeom prst="roundRect">
            <a:avLst>
              <a:gd name="adj" fmla="val 11111"/>
            </a:avLst>
          </a:prstGeom>
          <a:solidFill>
            <a:srgbClr val="EAF4FC"/>
          </a:solidFill>
          <a:ln/>
        </p:spPr>
      </p:sp>
      <p:sp>
        <p:nvSpPr>
          <p:cNvPr id="66" name="Text 64"/>
          <p:cNvSpPr txBox="1"/>
          <p:nvPr/>
        </p:nvSpPr>
        <p:spPr>
          <a:xfrm>
            <a:off x="9281160" y="5138928"/>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일본 정가 + 국내 시세(원)</a:t>
            </a:r>
            <a:endParaRPr lang="ko-KR" altLang="en-US" sz="1200" dirty="0"/>
          </a:p>
        </p:txBody>
      </p:sp>
      <p:sp>
        <p:nvSpPr>
          <p:cNvPr id="67" name="Text 65"/>
          <p:cNvSpPr txBox="1"/>
          <p:nvPr/>
        </p:nvSpPr>
        <p:spPr>
          <a:xfrm>
            <a:off x="3794760" y="6172200"/>
            <a:ext cx="7772400" cy="201168"/>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리뷰는 원문 구절 · 작성자 이름 지움 · 수업 목적 인용 · 버그 · 광고 리뷰는 이번 분석에서 뺐다</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3/5 — 왜 만들었나</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좋아하는 것 하나에도, 공식 사이트는 여러 곳</a:t>
            </a:r>
            <a:endParaRPr lang="ko-KR" altLang="en-US" sz="2800" dirty="0"/>
          </a:p>
        </p:txBody>
      </p:sp>
      <p:sp>
        <p:nvSpPr>
          <p:cNvPr id="4" name="Text 2"/>
          <p:cNvSpPr txBox="1"/>
          <p:nvPr/>
        </p:nvSpPr>
        <p:spPr>
          <a:xfrm>
            <a:off x="548640" y="1481328"/>
            <a:ext cx="6949440" cy="256032"/>
          </a:xfrm>
          <a:prstGeom prst="rect">
            <a:avLst/>
          </a:prstGeom>
          <a:noFill/>
          <a:ln/>
        </p:spPr>
        <p:txBody>
          <a:bodyPr wrap="square" lIns="0" tIns="0" rIns="0" bIns="0" rtlCol="0" anchor="t"/>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BANDAI 계열만 해도 5곳</a:t>
            </a:r>
            <a:endParaRPr lang="ko-KR" altLang="en-US" sz="1250" dirty="0"/>
          </a:p>
        </p:txBody>
      </p:sp>
      <p:sp>
        <p:nvSpPr>
          <p:cNvPr id="5" name="Shape 3"/>
          <p:cNvSpPr/>
          <p:nvPr/>
        </p:nvSpPr>
        <p:spPr>
          <a:xfrm>
            <a:off x="548640"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6" name="Image 0" descr="C:\Users\Windows11\AppData\Local\Temp\claude\C--Users-Windows11-Desktop-New-folder--2-\a0c8a1d0-32ba-4ae6-9843-b5ebc69d925f\scratchpad\deck2/logos/bandai_spirits/logo_mono.png">    </p:cNvPr>
          <p:cNvPicPr>
            <a:picLocks noChangeAspect="1"/>
          </p:cNvPicPr>
          <p:nvPr/>
        </p:nvPicPr>
        <p:blipFill>
          <a:blip r:embed="rId1"/>
          <a:stretch>
            <a:fillRect/>
          </a:stretch>
        </p:blipFill>
        <p:spPr>
          <a:xfrm>
            <a:off x="685800" y="2136465"/>
            <a:ext cx="1024128" cy="88758"/>
          </a:xfrm>
          <a:prstGeom prst="rect">
            <a:avLst/>
          </a:prstGeom>
        </p:spPr>
      </p:pic>
      <p:sp>
        <p:nvSpPr>
          <p:cNvPr id="7" name="Text 4"/>
          <p:cNvSpPr txBox="1"/>
          <p:nvPr/>
        </p:nvSpPr>
        <p:spPr>
          <a:xfrm>
            <a:off x="594360"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호비 사이트 · 건프라</a:t>
            </a:r>
            <a:endParaRPr lang="ko-KR" altLang="en-US" sz="950" dirty="0"/>
          </a:p>
        </p:txBody>
      </p:sp>
      <p:sp>
        <p:nvSpPr>
          <p:cNvPr id="8" name="Shape 5"/>
          <p:cNvSpPr/>
          <p:nvPr/>
        </p:nvSpPr>
        <p:spPr>
          <a:xfrm>
            <a:off x="1947672"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9" name="Image 1" descr="C:\Users\Windows11\AppData\Local\Temp\claude\C--Users-Windows11-Desktop-New-folder--2-\a0c8a1d0-32ba-4ae6-9843-b5ebc69d925f\scratchpad\deck2/logos/tamashii_nations/logo_mono.png">    </p:cNvPr>
          <p:cNvPicPr>
            <a:picLocks noChangeAspect="1"/>
          </p:cNvPicPr>
          <p:nvPr/>
        </p:nvPicPr>
        <p:blipFill>
          <a:blip r:embed="rId2"/>
          <a:stretch>
            <a:fillRect/>
          </a:stretch>
        </p:blipFill>
        <p:spPr>
          <a:xfrm>
            <a:off x="2335832" y="1929384"/>
            <a:ext cx="522129" cy="502920"/>
          </a:xfrm>
          <a:prstGeom prst="rect">
            <a:avLst/>
          </a:prstGeom>
        </p:spPr>
      </p:pic>
      <p:sp>
        <p:nvSpPr>
          <p:cNvPr id="10" name="Text 6"/>
          <p:cNvSpPr txBox="1"/>
          <p:nvPr/>
        </p:nvSpPr>
        <p:spPr>
          <a:xfrm>
            <a:off x="1993392"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완성품 피규어</a:t>
            </a:r>
            <a:endParaRPr lang="ko-KR" altLang="en-US" sz="950" dirty="0"/>
          </a:p>
        </p:txBody>
      </p:sp>
      <p:sp>
        <p:nvSpPr>
          <p:cNvPr id="11" name="Shape 7"/>
          <p:cNvSpPr/>
          <p:nvPr/>
        </p:nvSpPr>
        <p:spPr>
          <a:xfrm>
            <a:off x="3346704"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2" name="Image 2" descr="C:\Users\Windows11\AppData\Local\Temp\claude\C--Users-Windows11-Desktop-New-folder--2-\a0c8a1d0-32ba-4ae6-9843-b5ebc69d925f\scratchpad\deck2/logos/premium_bandai/logo_mono.png">    </p:cNvPr>
          <p:cNvPicPr>
            <a:picLocks noChangeAspect="1"/>
          </p:cNvPicPr>
          <p:nvPr/>
        </p:nvPicPr>
        <p:blipFill>
          <a:blip r:embed="rId3"/>
          <a:stretch>
            <a:fillRect/>
          </a:stretch>
        </p:blipFill>
        <p:spPr>
          <a:xfrm>
            <a:off x="3483864" y="2082698"/>
            <a:ext cx="1024128" cy="196291"/>
          </a:xfrm>
          <a:prstGeom prst="rect">
            <a:avLst/>
          </a:prstGeom>
        </p:spPr>
      </p:pic>
      <p:sp>
        <p:nvSpPr>
          <p:cNvPr id="13" name="Text 8"/>
          <p:cNvSpPr txBox="1"/>
          <p:nvPr/>
        </p:nvSpPr>
        <p:spPr>
          <a:xfrm>
            <a:off x="3392424"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한정판</a:t>
            </a:r>
            <a:endParaRPr lang="ko-KR" altLang="en-US" sz="950" dirty="0"/>
          </a:p>
        </p:txBody>
      </p:sp>
      <p:sp>
        <p:nvSpPr>
          <p:cNvPr id="14" name="Shape 9"/>
          <p:cNvSpPr/>
          <p:nvPr/>
        </p:nvSpPr>
        <p:spPr>
          <a:xfrm>
            <a:off x="4745736"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5" name="Image 3" descr="C:\Users\Windows11\AppData\Local\Temp\claude\C--Users-Windows11-Desktop-New-folder--2-\a0c8a1d0-32ba-4ae6-9843-b5ebc69d925f\scratchpad\deck2/logos/banpresto/logo_mono.png">    </p:cNvPr>
          <p:cNvPicPr>
            <a:picLocks noChangeAspect="1"/>
          </p:cNvPicPr>
          <p:nvPr/>
        </p:nvPicPr>
        <p:blipFill>
          <a:blip r:embed="rId4"/>
          <a:stretch>
            <a:fillRect/>
          </a:stretch>
        </p:blipFill>
        <p:spPr>
          <a:xfrm>
            <a:off x="4882896" y="1973458"/>
            <a:ext cx="1024128" cy="414772"/>
          </a:xfrm>
          <a:prstGeom prst="rect">
            <a:avLst/>
          </a:prstGeom>
        </p:spPr>
      </p:pic>
      <p:sp>
        <p:nvSpPr>
          <p:cNvPr id="16" name="Text 10"/>
          <p:cNvSpPr txBox="1"/>
          <p:nvPr/>
        </p:nvSpPr>
        <p:spPr>
          <a:xfrm>
            <a:off x="4791456"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경품 피규어</a:t>
            </a:r>
            <a:endParaRPr lang="ko-KR" altLang="en-US" sz="950" dirty="0"/>
          </a:p>
        </p:txBody>
      </p:sp>
      <p:sp>
        <p:nvSpPr>
          <p:cNvPr id="17" name="Shape 11"/>
          <p:cNvSpPr/>
          <p:nvPr/>
        </p:nvSpPr>
        <p:spPr>
          <a:xfrm>
            <a:off x="6144768"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8" name="Image 4" descr="C:\Users\Windows11\AppData\Local\Temp\claude\C--Users-Windows11-Desktop-New-folder--2-\a0c8a1d0-32ba-4ae6-9843-b5ebc69d925f\scratchpad\deck2/logos/megahouse/logo_mono.png">    </p:cNvPr>
          <p:cNvPicPr>
            <a:picLocks noChangeAspect="1"/>
          </p:cNvPicPr>
          <p:nvPr/>
        </p:nvPicPr>
        <p:blipFill>
          <a:blip r:embed="rId5"/>
          <a:stretch>
            <a:fillRect/>
          </a:stretch>
        </p:blipFill>
        <p:spPr>
          <a:xfrm>
            <a:off x="6574423" y="1929384"/>
            <a:ext cx="439139" cy="502920"/>
          </a:xfrm>
          <a:prstGeom prst="rect">
            <a:avLst/>
          </a:prstGeom>
        </p:spPr>
      </p:pic>
      <p:sp>
        <p:nvSpPr>
          <p:cNvPr id="19" name="Text 12"/>
          <p:cNvSpPr txBox="1"/>
          <p:nvPr/>
        </p:nvSpPr>
        <p:spPr>
          <a:xfrm>
            <a:off x="6190488"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G.E.M. · 완성품</a:t>
            </a:r>
            <a:endParaRPr lang="ko-KR" altLang="en-US" sz="950" dirty="0"/>
          </a:p>
        </p:txBody>
      </p:sp>
      <p:sp>
        <p:nvSpPr>
          <p:cNvPr id="20" name="Text 13"/>
          <p:cNvSpPr txBox="1"/>
          <p:nvPr/>
        </p:nvSpPr>
        <p:spPr>
          <a:xfrm>
            <a:off x="548640" y="3054096"/>
            <a:ext cx="6949440" cy="256032"/>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IP마다 또 다른 제조사 · 공식 숍</a:t>
            </a:r>
            <a:endParaRPr lang="ko-KR" altLang="en-US" sz="1250" dirty="0"/>
          </a:p>
        </p:txBody>
      </p:sp>
      <p:sp>
        <p:nvSpPr>
          <p:cNvPr id="21" name="Shape 14"/>
          <p:cNvSpPr/>
          <p:nvPr/>
        </p:nvSpPr>
        <p:spPr>
          <a:xfrm>
            <a:off x="548640"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2" name="Image 5" descr="C:\Users\Windows11\AppData\Local\Temp\claude\C--Users-Windows11-Desktop-New-folder--2-\a0c8a1d0-32ba-4ae6-9843-b5ebc69d925f\scratchpad\deck2/logos/kotobukiya/logo_mono.png">    </p:cNvPr>
          <p:cNvPicPr>
            <a:picLocks noChangeAspect="1"/>
          </p:cNvPicPr>
          <p:nvPr/>
        </p:nvPicPr>
        <p:blipFill>
          <a:blip r:embed="rId6"/>
          <a:stretch>
            <a:fillRect/>
          </a:stretch>
        </p:blipFill>
        <p:spPr>
          <a:xfrm>
            <a:off x="685800" y="3599993"/>
            <a:ext cx="1024128" cy="307238"/>
          </a:xfrm>
          <a:prstGeom prst="rect">
            <a:avLst/>
          </a:prstGeom>
        </p:spPr>
      </p:pic>
      <p:sp>
        <p:nvSpPr>
          <p:cNvPr id="23" name="Text 15"/>
          <p:cNvSpPr txBox="1"/>
          <p:nvPr/>
        </p:nvSpPr>
        <p:spPr>
          <a:xfrm>
            <a:off x="594360"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아머드 코어 키트</a:t>
            </a:r>
            <a:endParaRPr lang="ko-KR" altLang="en-US" sz="950" dirty="0"/>
          </a:p>
        </p:txBody>
      </p:sp>
      <p:sp>
        <p:nvSpPr>
          <p:cNvPr id="24" name="Shape 16"/>
          <p:cNvSpPr/>
          <p:nvPr/>
        </p:nvSpPr>
        <p:spPr>
          <a:xfrm>
            <a:off x="1947672"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5" name="Image 6" descr="C:\Users\Windows11\AppData\Local\Temp\claude\C--Users-Windows11-Desktop-New-folder--2-\a0c8a1d0-32ba-4ae6-9843-b5ebc69d925f\scratchpad\deck2/logos/good_smile/logo_mono.png">    </p:cNvPr>
          <p:cNvPicPr>
            <a:picLocks noChangeAspect="1"/>
          </p:cNvPicPr>
          <p:nvPr/>
        </p:nvPicPr>
        <p:blipFill>
          <a:blip r:embed="rId7"/>
          <a:stretch>
            <a:fillRect/>
          </a:stretch>
        </p:blipFill>
        <p:spPr>
          <a:xfrm>
            <a:off x="2084832" y="3609381"/>
            <a:ext cx="1024128" cy="288463"/>
          </a:xfrm>
          <a:prstGeom prst="rect">
            <a:avLst/>
          </a:prstGeom>
        </p:spPr>
      </p:pic>
      <p:sp>
        <p:nvSpPr>
          <p:cNvPr id="26" name="Text 17"/>
          <p:cNvSpPr txBox="1"/>
          <p:nvPr/>
        </p:nvSpPr>
        <p:spPr>
          <a:xfrm>
            <a:off x="1993392"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넨도로이드 · figma</a:t>
            </a:r>
            <a:endParaRPr lang="ko-KR" altLang="en-US" sz="950" dirty="0"/>
          </a:p>
        </p:txBody>
      </p:sp>
      <p:sp>
        <p:nvSpPr>
          <p:cNvPr id="27" name="Shape 18"/>
          <p:cNvSpPr/>
          <p:nvPr/>
        </p:nvSpPr>
        <p:spPr>
          <a:xfrm>
            <a:off x="3346704"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8" name="Image 7" descr="C:\Users\Windows11\AppData\Local\Temp\claude\C--Users-Windows11-Desktop-New-folder--2-\a0c8a1d0-32ba-4ae6-9843-b5ebc69d925f\scratchpad\deck2/logos/takara_tomy/logo_mono.png">    </p:cNvPr>
          <p:cNvPicPr>
            <a:picLocks noChangeAspect="1"/>
          </p:cNvPicPr>
          <p:nvPr/>
        </p:nvPicPr>
        <p:blipFill>
          <a:blip r:embed="rId8"/>
          <a:stretch>
            <a:fillRect/>
          </a:stretch>
        </p:blipFill>
        <p:spPr>
          <a:xfrm>
            <a:off x="3537338" y="3502152"/>
            <a:ext cx="917179" cy="502920"/>
          </a:xfrm>
          <a:prstGeom prst="rect">
            <a:avLst/>
          </a:prstGeom>
        </p:spPr>
      </p:pic>
      <p:sp>
        <p:nvSpPr>
          <p:cNvPr id="29" name="Text 19"/>
          <p:cNvSpPr txBox="1"/>
          <p:nvPr/>
        </p:nvSpPr>
        <p:spPr>
          <a:xfrm>
            <a:off x="3392424"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베이블레이드 X</a:t>
            </a:r>
            <a:endParaRPr lang="ko-KR" altLang="en-US" sz="950" dirty="0"/>
          </a:p>
        </p:txBody>
      </p:sp>
      <p:sp>
        <p:nvSpPr>
          <p:cNvPr id="30" name="Shape 20"/>
          <p:cNvSpPr/>
          <p:nvPr/>
        </p:nvSpPr>
        <p:spPr>
          <a:xfrm>
            <a:off x="4745736"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1" name="Image 8" descr="C:\Users\Windows11\AppData\Local\Temp\claude\C--Users-Windows11-Desktop-New-folder--2-\a0c8a1d0-32ba-4ae6-9843-b5ebc69d925f\scratchpad\deck2/logos/pokemon_center/logo_mono.png">    </p:cNvPr>
          <p:cNvPicPr>
            <a:picLocks noChangeAspect="1"/>
          </p:cNvPicPr>
          <p:nvPr/>
        </p:nvPicPr>
        <p:blipFill>
          <a:blip r:embed="rId9"/>
          <a:stretch>
            <a:fillRect/>
          </a:stretch>
        </p:blipFill>
        <p:spPr>
          <a:xfrm>
            <a:off x="4882896" y="3673389"/>
            <a:ext cx="1024128" cy="160447"/>
          </a:xfrm>
          <a:prstGeom prst="rect">
            <a:avLst/>
          </a:prstGeom>
        </p:spPr>
      </p:pic>
      <p:sp>
        <p:nvSpPr>
          <p:cNvPr id="32" name="Text 21"/>
          <p:cNvSpPr txBox="1"/>
          <p:nvPr/>
        </p:nvSpPr>
        <p:spPr>
          <a:xfrm>
            <a:off x="4791456"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포켓몬 공식 굿즈</a:t>
            </a:r>
            <a:endParaRPr lang="ko-KR" altLang="en-US" sz="950" dirty="0"/>
          </a:p>
        </p:txBody>
      </p:sp>
      <p:sp>
        <p:nvSpPr>
          <p:cNvPr id="33" name="Shape 22"/>
          <p:cNvSpPr/>
          <p:nvPr/>
        </p:nvSpPr>
        <p:spPr>
          <a:xfrm>
            <a:off x="6144768"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4" name="Image 9" descr="C:\Users\Windows11\AppData\Local\Temp\claude\C--Users-Windows11-Desktop-New-folder--2-\a0c8a1d0-32ba-4ae6-9843-b5ebc69d925f\scratchpad\deck2/logos/aniplex_plus/logo_mono.png">    </p:cNvPr>
          <p:cNvPicPr>
            <a:picLocks noChangeAspect="1"/>
          </p:cNvPicPr>
          <p:nvPr/>
        </p:nvPicPr>
        <p:blipFill>
          <a:blip r:embed="rId10"/>
          <a:stretch>
            <a:fillRect/>
          </a:stretch>
        </p:blipFill>
        <p:spPr>
          <a:xfrm>
            <a:off x="6281928" y="3547080"/>
            <a:ext cx="1024128" cy="413065"/>
          </a:xfrm>
          <a:prstGeom prst="rect">
            <a:avLst/>
          </a:prstGeom>
        </p:spPr>
      </p:pic>
      <p:sp>
        <p:nvSpPr>
          <p:cNvPr id="35" name="Text 23"/>
          <p:cNvSpPr txBox="1"/>
          <p:nvPr/>
        </p:nvSpPr>
        <p:spPr>
          <a:xfrm>
            <a:off x="6190488"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Fate 등 애니 굿즈</a:t>
            </a:r>
            <a:endParaRPr lang="ko-KR" altLang="en-US" sz="950" dirty="0"/>
          </a:p>
        </p:txBody>
      </p:sp>
      <p:sp>
        <p:nvSpPr>
          <p:cNvPr id="36" name="Shape 24"/>
          <p:cNvSpPr/>
          <p:nvPr/>
        </p:nvSpPr>
        <p:spPr>
          <a:xfrm>
            <a:off x="548640" y="4754880"/>
            <a:ext cx="6949440" cy="1234440"/>
          </a:xfrm>
          <a:prstGeom prst="roundRect">
            <a:avLst>
              <a:gd name="adj" fmla="val 10370"/>
            </a:avLst>
          </a:prstGeom>
          <a:solidFill>
            <a:srgbClr val="F4F5F7"/>
          </a:solidFill>
          <a:ln/>
        </p:spPr>
      </p:sp>
      <p:sp>
        <p:nvSpPr>
          <p:cNvPr id="37" name="Text 25"/>
          <p:cNvSpPr txBox="1"/>
          <p:nvPr/>
        </p:nvSpPr>
        <p:spPr>
          <a:xfrm>
            <a:off x="777240" y="4864608"/>
            <a:ext cx="64922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건담 하나만 해도</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프라모델 · 완성품 · 한정판 · 경품 · G.E.M. 사는 곳이 다 다르다</a:t>
            </a:r>
            <a:endParaRPr lang="ko-KR" altLang="en-US" sz="1300" dirty="0"/>
          </a:p>
        </p:txBody>
      </p:sp>
      <p:sp>
        <p:nvSpPr>
          <p:cNvPr id="38" name="Text 26"/>
          <p:cNvSpPr txBox="1"/>
          <p:nvPr/>
        </p:nvSpPr>
        <p:spPr>
          <a:xfrm>
            <a:off x="777240" y="5257800"/>
            <a:ext cx="6492240" cy="548640"/>
          </a:xfrm>
          <a:prstGeom prst="rect">
            <a:avLst/>
          </a:prstGeom>
          <a:noFill/>
          <a:ln/>
        </p:spPr>
        <p:txBody>
          <a:bodyPr wrap="square" lIns="0" tIns="0" rIns="0" bIns="0" rtlCol="0" anchor="ctr"/>
          <a:lstStyle/>
          <a:p>
            <a:pPr indent="0" marL="0">
              <a:buNone/>
            </a:pPr>
            <a:r>
              <a:rPr lang="ko-KR" altLang="en-US" sz="1400" b="1" dirty="0">
                <a:solidFill>
                  <a:srgbClr val="3D4148"/>
                </a:solidFill>
                <a:latin typeface="Malgun Gothic" pitchFamily="34" charset="0"/>
                <a:ea typeface="Malgun Gothic" pitchFamily="34" charset="-122"/>
                <a:cs typeface="Malgun Gothic" pitchFamily="34" charset="-120"/>
              </a:rPr>
              <a:t>호비 사이트  ·  TAMASHII  ·  프리미엄 반다이  ·  BANPRESTO  ·  MegaHouse</a:t>
            </a:r>
            <a:endParaRPr lang="ko-KR" altLang="en-US" sz="1400" dirty="0"/>
          </a:p>
        </p:txBody>
      </p:sp>
      <p:sp>
        <p:nvSpPr>
          <p:cNvPr id="39" name="Shape 27"/>
          <p:cNvSpPr/>
          <p:nvPr/>
        </p:nvSpPr>
        <p:spPr>
          <a:xfrm>
            <a:off x="7818120" y="1481328"/>
            <a:ext cx="3822192" cy="3063240"/>
          </a:xfrm>
          <a:prstGeom prst="roundRect">
            <a:avLst>
              <a:gd name="adj" fmla="val 417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0" name="Text 28"/>
          <p:cNvSpPr txBox="1"/>
          <p:nvPr/>
        </p:nvSpPr>
        <p:spPr>
          <a:xfrm>
            <a:off x="8092440" y="1691640"/>
            <a:ext cx="32918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수집가가 겪는 일</a:t>
            </a:r>
            <a:endParaRPr lang="ko-KR" altLang="en-US" sz="1300" dirty="0"/>
          </a:p>
        </p:txBody>
      </p:sp>
      <p:sp>
        <p:nvSpPr>
          <p:cNvPr id="41" name="Shape 29"/>
          <p:cNvSpPr/>
          <p:nvPr/>
        </p:nvSpPr>
        <p:spPr>
          <a:xfrm>
            <a:off x="8092440" y="2121408"/>
            <a:ext cx="292608" cy="292608"/>
          </a:xfrm>
          <a:prstGeom prst="ellipse">
            <a:avLst/>
          </a:prstGeom>
          <a:solidFill>
            <a:srgbClr val="D93F44"/>
          </a:solidFill>
          <a:ln/>
        </p:spPr>
      </p:sp>
      <p:sp>
        <p:nvSpPr>
          <p:cNvPr id="42" name="Text 30"/>
          <p:cNvSpPr txBox="1"/>
          <p:nvPr/>
        </p:nvSpPr>
        <p:spPr>
          <a:xfrm>
            <a:off x="8092440" y="2121408"/>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1</a:t>
            </a:r>
            <a:endParaRPr lang="ko-KR" altLang="en-US" sz="1100" dirty="0"/>
          </a:p>
        </p:txBody>
      </p:sp>
      <p:sp>
        <p:nvSpPr>
          <p:cNvPr id="43" name="Text 31"/>
          <p:cNvSpPr txBox="1"/>
          <p:nvPr/>
        </p:nvSpPr>
        <p:spPr>
          <a:xfrm>
            <a:off x="8503920" y="2103120"/>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사이트끼리 연결이 없다</a:t>
            </a:r>
            <a:endParaRPr lang="ko-KR" altLang="en-US" sz="1300" dirty="0"/>
          </a:p>
        </p:txBody>
      </p:sp>
      <p:sp>
        <p:nvSpPr>
          <p:cNvPr id="44" name="Text 32"/>
          <p:cNvSpPr txBox="1"/>
          <p:nvPr/>
        </p:nvSpPr>
        <p:spPr>
          <a:xfrm>
            <a:off x="8503920" y="2395728"/>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같은 IP도 브랜드마다 따로 찾아야 한다</a:t>
            </a:r>
            <a:endParaRPr lang="ko-KR" altLang="en-US" sz="1100" dirty="0"/>
          </a:p>
        </p:txBody>
      </p:sp>
      <p:sp>
        <p:nvSpPr>
          <p:cNvPr id="45" name="Shape 33"/>
          <p:cNvSpPr/>
          <p:nvPr/>
        </p:nvSpPr>
        <p:spPr>
          <a:xfrm>
            <a:off x="8092440" y="2907792"/>
            <a:ext cx="292608" cy="292608"/>
          </a:xfrm>
          <a:prstGeom prst="ellipse">
            <a:avLst/>
          </a:prstGeom>
          <a:solidFill>
            <a:srgbClr val="D93F44"/>
          </a:solidFill>
          <a:ln/>
        </p:spPr>
      </p:sp>
      <p:sp>
        <p:nvSpPr>
          <p:cNvPr id="46" name="Text 34"/>
          <p:cNvSpPr txBox="1"/>
          <p:nvPr/>
        </p:nvSpPr>
        <p:spPr>
          <a:xfrm>
            <a:off x="8092440" y="2907792"/>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2</a:t>
            </a:r>
            <a:endParaRPr lang="ko-KR" altLang="en-US" sz="1100" dirty="0"/>
          </a:p>
        </p:txBody>
      </p:sp>
      <p:sp>
        <p:nvSpPr>
          <p:cNvPr id="47" name="Text 35"/>
          <p:cNvSpPr txBox="1"/>
          <p:nvPr/>
        </p:nvSpPr>
        <p:spPr>
          <a:xfrm>
            <a:off x="8503920" y="2889504"/>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지난 상품은 찾기 어렵다</a:t>
            </a:r>
            <a:endParaRPr lang="ko-KR" altLang="en-US" sz="1300" dirty="0"/>
          </a:p>
        </p:txBody>
      </p:sp>
      <p:sp>
        <p:nvSpPr>
          <p:cNvPr id="48" name="Text 36"/>
          <p:cNvSpPr txBox="1"/>
          <p:nvPr/>
        </p:nvSpPr>
        <p:spPr>
          <a:xfrm>
            <a:off x="8503920" y="3182112"/>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사이트마다 검색 · 분류가 달라 묻힌다</a:t>
            </a:r>
            <a:endParaRPr lang="ko-KR" altLang="en-US" sz="1100" dirty="0"/>
          </a:p>
        </p:txBody>
      </p:sp>
      <p:sp>
        <p:nvSpPr>
          <p:cNvPr id="49" name="Shape 37"/>
          <p:cNvSpPr/>
          <p:nvPr/>
        </p:nvSpPr>
        <p:spPr>
          <a:xfrm>
            <a:off x="8092440" y="3694176"/>
            <a:ext cx="292608" cy="292608"/>
          </a:xfrm>
          <a:prstGeom prst="ellipse">
            <a:avLst/>
          </a:prstGeom>
          <a:solidFill>
            <a:srgbClr val="D93F44"/>
          </a:solidFill>
          <a:ln/>
        </p:spPr>
      </p:sp>
      <p:sp>
        <p:nvSpPr>
          <p:cNvPr id="50" name="Text 38"/>
          <p:cNvSpPr txBox="1"/>
          <p:nvPr/>
        </p:nvSpPr>
        <p:spPr>
          <a:xfrm>
            <a:off x="8092440" y="3694176"/>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3</a:t>
            </a:r>
            <a:endParaRPr lang="ko-KR" altLang="en-US" sz="1100" dirty="0"/>
          </a:p>
        </p:txBody>
      </p:sp>
      <p:sp>
        <p:nvSpPr>
          <p:cNvPr id="51" name="Text 39"/>
          <p:cNvSpPr txBox="1"/>
          <p:nvPr/>
        </p:nvSpPr>
        <p:spPr>
          <a:xfrm>
            <a:off x="8503920" y="3675888"/>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새 소식도 따로 온다</a:t>
            </a:r>
            <a:endParaRPr lang="ko-KR" altLang="en-US" sz="1300" dirty="0"/>
          </a:p>
        </p:txBody>
      </p:sp>
      <p:sp>
        <p:nvSpPr>
          <p:cNvPr id="52" name="Text 40"/>
          <p:cNvSpPr txBox="1"/>
          <p:nvPr/>
        </p:nvSpPr>
        <p:spPr>
          <a:xfrm>
            <a:off x="8503920" y="3968496"/>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공식 예고 · 발매일을 여기저기 돌며 확인</a:t>
            </a:r>
            <a:endParaRPr lang="ko-KR" altLang="en-US" sz="1100" dirty="0"/>
          </a:p>
        </p:txBody>
      </p:sp>
      <p:sp>
        <p:nvSpPr>
          <p:cNvPr id="53" name="Shape 41"/>
          <p:cNvSpPr/>
          <p:nvPr/>
        </p:nvSpPr>
        <p:spPr>
          <a:xfrm>
            <a:off x="7818120" y="4681728"/>
            <a:ext cx="3822192" cy="1307592"/>
          </a:xfrm>
          <a:prstGeom prst="roundRect">
            <a:avLst>
              <a:gd name="adj" fmla="val 9790"/>
            </a:avLst>
          </a:prstGeom>
          <a:solidFill>
            <a:srgbClr val="EAF4FC"/>
          </a:solidFill>
          <a:ln/>
        </p:spPr>
      </p:sp>
      <p:sp>
        <p:nvSpPr>
          <p:cNvPr id="54" name="Text 42"/>
          <p:cNvSpPr txBox="1"/>
          <p:nvPr/>
        </p:nvSpPr>
        <p:spPr>
          <a:xfrm>
            <a:off x="8092440" y="4791456"/>
            <a:ext cx="329184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그래서 Hobby Atlas</a:t>
            </a:r>
            <a:endParaRPr lang="ko-KR" altLang="en-US" sz="1200" dirty="0"/>
          </a:p>
        </p:txBody>
      </p:sp>
      <p:sp>
        <p:nvSpPr>
          <p:cNvPr id="55" name="Text 43"/>
          <p:cNvSpPr txBox="1"/>
          <p:nvPr/>
        </p:nvSpPr>
        <p:spPr>
          <a:xfrm>
            <a:off x="8092440" y="5065776"/>
            <a:ext cx="3337560" cy="822960"/>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IP 채널 하나로, 여러 브랜드의 새 소식과 지난 상품까지 한곳에서</a:t>
            </a:r>
            <a:endParaRPr lang="ko-KR" altLang="en-US" sz="1350" dirty="0"/>
          </a:p>
        </p:txBody>
      </p:sp>
      <p:sp>
        <p:nvSpPr>
          <p:cNvPr id="56" name="Text 44"/>
          <p:cNvSpPr txBox="1"/>
          <p:nvPr/>
        </p:nvSpPr>
        <p:spPr>
          <a:xfrm>
            <a:off x="548640" y="6108192"/>
            <a:ext cx="11064240" cy="219456"/>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로고는 각 사의 상표 — 수업 목적 인용 (출처: 각 사 공식 사이트 · Wikimedia Commons, 2026.10 확인)</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4/5 — 퍼소나</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 좋아하는 작품에 뭐가 나오는지 다 모른다</a:t>
            </a:r>
            <a:endParaRPr lang="ko-KR" altLang="en-US" sz="2800" dirty="0"/>
          </a:p>
        </p:txBody>
      </p:sp>
      <p:sp>
        <p:nvSpPr>
          <p:cNvPr id="4" name="Shape 2"/>
          <p:cNvSpPr/>
          <p:nvPr/>
        </p:nvSpPr>
        <p:spPr>
          <a:xfrm>
            <a:off x="548640" y="1481328"/>
            <a:ext cx="3566160" cy="4617720"/>
          </a:xfrm>
          <a:prstGeom prst="roundRect">
            <a:avLst>
              <a:gd name="adj" fmla="val 4615"/>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Shape 3"/>
          <p:cNvSpPr/>
          <p:nvPr/>
        </p:nvSpPr>
        <p:spPr>
          <a:xfrm>
            <a:off x="1536192" y="1783080"/>
            <a:ext cx="1600200" cy="1600200"/>
          </a:xfrm>
          <a:prstGeom prst="ellipse">
            <a:avLst/>
          </a:prstGeom>
          <a:solidFill>
            <a:srgbClr val="EAF4FC"/>
          </a:solidFill>
          <a:ln w="38100">
            <a:solidFill>
              <a:srgbClr val="1C86D9"/>
            </a:solidFill>
            <a:prstDash val="solid"/>
          </a:ln>
        </p:spPr>
      </p:sp>
      <p:sp>
        <p:nvSpPr>
          <p:cNvPr id="6" name="Text 4"/>
          <p:cNvSpPr txBox="1"/>
          <p:nvPr/>
        </p:nvSpPr>
        <p:spPr>
          <a:xfrm>
            <a:off x="1536192" y="1783080"/>
            <a:ext cx="1600200" cy="1600200"/>
          </a:xfrm>
          <a:prstGeom prst="rect">
            <a:avLst/>
          </a:prstGeom>
          <a:noFill/>
          <a:ln/>
        </p:spPr>
        <p:txBody>
          <a:bodyPr wrap="square" lIns="0" tIns="0" rIns="0" bIns="0" rtlCol="0" anchor="ctr"/>
          <a:lstStyle/>
          <a:p>
            <a:pPr algn="ctr" indent="0" marL="0">
              <a:buNone/>
            </a:pPr>
            <a:r>
              <a:rPr lang="ko-KR" altLang="en-US" sz="3000" b="1" dirty="0">
                <a:solidFill>
                  <a:srgbClr val="1C86D9"/>
                </a:solidFill>
                <a:latin typeface="Malgun Gothic" pitchFamily="34" charset="0"/>
                <a:ea typeface="Malgun Gothic" pitchFamily="34" charset="-122"/>
                <a:cs typeface="Malgun Gothic" pitchFamily="34" charset="-120"/>
              </a:rPr>
              <a:t>민준</a:t>
            </a:r>
            <a:endParaRPr lang="ko-KR" altLang="en-US" sz="3000" dirty="0"/>
          </a:p>
        </p:txBody>
      </p:sp>
      <p:sp>
        <p:nvSpPr>
          <p:cNvPr id="7" name="Text 5"/>
          <p:cNvSpPr txBox="1"/>
          <p:nvPr/>
        </p:nvSpPr>
        <p:spPr>
          <a:xfrm>
            <a:off x="548640" y="3520440"/>
            <a:ext cx="3566160" cy="411480"/>
          </a:xfrm>
          <a:prstGeom prst="rect">
            <a:avLst/>
          </a:prstGeom>
          <a:noFill/>
          <a:ln/>
        </p:spPr>
        <p:txBody>
          <a:bodyPr wrap="square" lIns="0" tIns="0" rIns="0" bIns="0" rtlCol="0" anchor="t"/>
          <a:lstStyle/>
          <a:p>
            <a:pPr algn="ctr" indent="0" marL="0">
              <a:buNone/>
            </a:pPr>
            <a:r>
              <a:rPr lang="ko-KR" altLang="en-US" sz="2200" b="1" dirty="0">
                <a:solidFill>
                  <a:srgbClr val="111111"/>
                </a:solidFill>
                <a:latin typeface="Malgun Gothic" pitchFamily="34" charset="0"/>
                <a:ea typeface="Malgun Gothic" pitchFamily="34" charset="-122"/>
                <a:cs typeface="Malgun Gothic" pitchFamily="34" charset="-120"/>
              </a:rPr>
              <a:t>민준 · 23</a:t>
            </a:r>
            <a:endParaRPr lang="ko-KR" altLang="en-US" sz="2200" dirty="0"/>
          </a:p>
        </p:txBody>
      </p:sp>
      <p:sp>
        <p:nvSpPr>
          <p:cNvPr id="8" name="Text 6"/>
          <p:cNvSpPr txBox="1"/>
          <p:nvPr/>
        </p:nvSpPr>
        <p:spPr>
          <a:xfrm>
            <a:off x="548640" y="3931920"/>
            <a:ext cx="3566160" cy="292608"/>
          </a:xfrm>
          <a:prstGeom prst="rect">
            <a:avLst/>
          </a:prstGeom>
          <a:noFill/>
          <a:ln/>
        </p:spPr>
        <p:txBody>
          <a:bodyPr wrap="square" lIns="0" tIns="0" rIns="0" bIns="0" rtlCol="0" anchor="t"/>
          <a:lstStyle/>
          <a:p>
            <a:pPr algn="ctr" indent="0" marL="0">
              <a:buNone/>
            </a:pPr>
            <a:r>
              <a:rPr lang="ko-KR" altLang="en-US" sz="1300" dirty="0">
                <a:solidFill>
                  <a:srgbClr val="6B7078"/>
                </a:solidFill>
                <a:latin typeface="Malgun Gothic" pitchFamily="34" charset="0"/>
                <a:ea typeface="Malgun Gothic" pitchFamily="34" charset="-122"/>
                <a:cs typeface="Malgun Gothic" pitchFamily="34" charset="-120"/>
              </a:rPr>
              <a:t>대학생 · 수집 4년차</a:t>
            </a:r>
            <a:endParaRPr lang="ko-KR" altLang="en-US" sz="1300" dirty="0"/>
          </a:p>
        </p:txBody>
      </p:sp>
      <p:sp>
        <p:nvSpPr>
          <p:cNvPr id="9" name="Shape 7"/>
          <p:cNvSpPr/>
          <p:nvPr/>
        </p:nvSpPr>
        <p:spPr>
          <a:xfrm>
            <a:off x="777240" y="4407408"/>
            <a:ext cx="3108960" cy="438912"/>
          </a:xfrm>
          <a:prstGeom prst="roundRect">
            <a:avLst>
              <a:gd name="adj" fmla="val 20833"/>
            </a:avLst>
          </a:prstGeom>
          <a:solidFill>
            <a:srgbClr val="F4F5F7"/>
          </a:solidFill>
          <a:ln/>
        </p:spPr>
      </p:sp>
      <p:sp>
        <p:nvSpPr>
          <p:cNvPr id="10" name="Text 8"/>
          <p:cNvSpPr txBox="1"/>
          <p:nvPr/>
        </p:nvSpPr>
        <p:spPr>
          <a:xfrm>
            <a:off x="914400" y="4407408"/>
            <a:ext cx="1051560" cy="438912"/>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모으는 것</a:t>
            </a:r>
            <a:endParaRPr lang="ko-KR" altLang="en-US" sz="1050" dirty="0"/>
          </a:p>
        </p:txBody>
      </p:sp>
      <p:sp>
        <p:nvSpPr>
          <p:cNvPr id="11" name="Text 9"/>
          <p:cNvSpPr txBox="1"/>
          <p:nvPr/>
        </p:nvSpPr>
        <p:spPr>
          <a:xfrm>
            <a:off x="1920240" y="4407408"/>
            <a:ext cx="1920240" cy="438912"/>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건프라 · 베이블레이드 X · 포켓몬</a:t>
            </a:r>
            <a:endParaRPr lang="ko-KR" altLang="en-US" sz="1150" dirty="0"/>
          </a:p>
        </p:txBody>
      </p:sp>
      <p:sp>
        <p:nvSpPr>
          <p:cNvPr id="12" name="Shape 10"/>
          <p:cNvSpPr/>
          <p:nvPr/>
        </p:nvSpPr>
        <p:spPr>
          <a:xfrm>
            <a:off x="777240" y="4937760"/>
            <a:ext cx="3108960" cy="438912"/>
          </a:xfrm>
          <a:prstGeom prst="roundRect">
            <a:avLst>
              <a:gd name="adj" fmla="val 20833"/>
            </a:avLst>
          </a:prstGeom>
          <a:solidFill>
            <a:srgbClr val="F4F5F7"/>
          </a:solidFill>
          <a:ln/>
        </p:spPr>
      </p:sp>
      <p:sp>
        <p:nvSpPr>
          <p:cNvPr id="13" name="Text 11"/>
          <p:cNvSpPr txBox="1"/>
          <p:nvPr/>
        </p:nvSpPr>
        <p:spPr>
          <a:xfrm>
            <a:off x="914400" y="4937760"/>
            <a:ext cx="1051560" cy="438912"/>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쓰는 기기</a:t>
            </a:r>
            <a:endParaRPr lang="ko-KR" altLang="en-US" sz="1050" dirty="0"/>
          </a:p>
        </p:txBody>
      </p:sp>
      <p:sp>
        <p:nvSpPr>
          <p:cNvPr id="14" name="Text 12"/>
          <p:cNvSpPr txBox="1"/>
          <p:nvPr/>
        </p:nvSpPr>
        <p:spPr>
          <a:xfrm>
            <a:off x="1920240" y="4937760"/>
            <a:ext cx="1920240" cy="438912"/>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스마트폰</a:t>
            </a:r>
            <a:endParaRPr lang="ko-KR" altLang="en-US" sz="1150" dirty="0"/>
          </a:p>
        </p:txBody>
      </p:sp>
      <p:sp>
        <p:nvSpPr>
          <p:cNvPr id="15" name="Shape 13"/>
          <p:cNvSpPr/>
          <p:nvPr/>
        </p:nvSpPr>
        <p:spPr>
          <a:xfrm>
            <a:off x="777240" y="5468112"/>
            <a:ext cx="3108960" cy="438912"/>
          </a:xfrm>
          <a:prstGeom prst="roundRect">
            <a:avLst>
              <a:gd name="adj" fmla="val 20833"/>
            </a:avLst>
          </a:prstGeom>
          <a:solidFill>
            <a:srgbClr val="F4F5F7"/>
          </a:solidFill>
          <a:ln/>
        </p:spPr>
      </p:sp>
      <p:sp>
        <p:nvSpPr>
          <p:cNvPr id="16" name="Text 14"/>
          <p:cNvSpPr txBox="1"/>
          <p:nvPr/>
        </p:nvSpPr>
        <p:spPr>
          <a:xfrm>
            <a:off x="914400" y="5468112"/>
            <a:ext cx="1051560" cy="438912"/>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같이 사는 사람</a:t>
            </a:r>
            <a:endParaRPr lang="ko-KR" altLang="en-US" sz="1050" dirty="0"/>
          </a:p>
        </p:txBody>
      </p:sp>
      <p:sp>
        <p:nvSpPr>
          <p:cNvPr id="17" name="Text 15"/>
          <p:cNvSpPr txBox="1"/>
          <p:nvPr/>
        </p:nvSpPr>
        <p:spPr>
          <a:xfrm>
            <a:off x="1920240" y="5468112"/>
            <a:ext cx="1920240" cy="438912"/>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동생 — 같은 방에 컬렉션</a:t>
            </a:r>
            <a:endParaRPr lang="ko-KR" altLang="en-US" sz="1150" dirty="0"/>
          </a:p>
        </p:txBody>
      </p:sp>
      <p:sp>
        <p:nvSpPr>
          <p:cNvPr id="18" name="Text 16"/>
          <p:cNvSpPr txBox="1"/>
          <p:nvPr/>
        </p:nvSpPr>
        <p:spPr>
          <a:xfrm>
            <a:off x="4389120" y="1481328"/>
            <a:ext cx="393192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민준의 하루</a:t>
            </a:r>
            <a:endParaRPr lang="ko-KR" altLang="en-US" sz="1400" dirty="0"/>
          </a:p>
        </p:txBody>
      </p:sp>
      <p:sp>
        <p:nvSpPr>
          <p:cNvPr id="19" name="Shape 17"/>
          <p:cNvSpPr/>
          <p:nvPr/>
        </p:nvSpPr>
        <p:spPr>
          <a:xfrm>
            <a:off x="4389120" y="1847088"/>
            <a:ext cx="3931920" cy="1280160"/>
          </a:xfrm>
          <a:prstGeom prst="roundRect">
            <a:avLst>
              <a:gd name="adj" fmla="val 1000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0" name="Shape 18"/>
          <p:cNvSpPr/>
          <p:nvPr/>
        </p:nvSpPr>
        <p:spPr>
          <a:xfrm>
            <a:off x="4590288" y="2029968"/>
            <a:ext cx="384048" cy="384048"/>
          </a:xfrm>
          <a:prstGeom prst="ellipse">
            <a:avLst/>
          </a:prstGeom>
          <a:solidFill>
            <a:srgbClr val="1C86D9"/>
          </a:solidFill>
          <a:ln/>
        </p:spPr>
      </p:sp>
      <p:sp>
        <p:nvSpPr>
          <p:cNvPr id="21" name="Text 19"/>
          <p:cNvSpPr txBox="1"/>
          <p:nvPr/>
        </p:nvSpPr>
        <p:spPr>
          <a:xfrm>
            <a:off x="4590288" y="202996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1</a:t>
            </a:r>
            <a:endParaRPr lang="ko-KR" altLang="en-US" sz="1400" dirty="0"/>
          </a:p>
        </p:txBody>
      </p:sp>
      <p:sp>
        <p:nvSpPr>
          <p:cNvPr id="22" name="Text 20"/>
          <p:cNvSpPr txBox="1"/>
          <p:nvPr/>
        </p:nvSpPr>
        <p:spPr>
          <a:xfrm>
            <a:off x="5120640" y="2011680"/>
            <a:ext cx="1828800" cy="329184"/>
          </a:xfrm>
          <a:prstGeom prst="rect">
            <a:avLst/>
          </a:prstGeom>
          <a:noFill/>
          <a:ln/>
        </p:spPr>
        <p:txBody>
          <a:bodyPr wrap="square" lIns="0" tIns="0" rIns="0" bIns="0" rtlCol="0" anchor="ctr"/>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등하굣길</a:t>
            </a:r>
            <a:endParaRPr lang="ko-KR" altLang="en-US" sz="1500" dirty="0"/>
          </a:p>
        </p:txBody>
      </p:sp>
      <p:sp>
        <p:nvSpPr>
          <p:cNvPr id="23" name="Shape 21"/>
          <p:cNvSpPr/>
          <p:nvPr/>
        </p:nvSpPr>
        <p:spPr>
          <a:xfrm>
            <a:off x="6949440" y="2048256"/>
            <a:ext cx="1188720" cy="256032"/>
          </a:xfrm>
          <a:prstGeom prst="roundRect">
            <a:avLst>
              <a:gd name="adj" fmla="val 50000"/>
            </a:avLst>
          </a:prstGeom>
          <a:solidFill>
            <a:srgbClr val="F4F5F7"/>
          </a:solidFill>
          <a:ln/>
        </p:spPr>
      </p:sp>
      <p:sp>
        <p:nvSpPr>
          <p:cNvPr id="24" name="Text 22"/>
          <p:cNvSpPr txBox="1"/>
          <p:nvPr/>
        </p:nvSpPr>
        <p:spPr>
          <a:xfrm>
            <a:off x="6949440" y="2048256"/>
            <a:ext cx="1188720" cy="256032"/>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폰</a:t>
            </a:r>
            <a:endParaRPr lang="ko-KR" altLang="en-US" sz="1000" dirty="0"/>
          </a:p>
        </p:txBody>
      </p:sp>
      <p:sp>
        <p:nvSpPr>
          <p:cNvPr id="25" name="Text 23"/>
          <p:cNvSpPr txBox="1"/>
          <p:nvPr/>
        </p:nvSpPr>
        <p:spPr>
          <a:xfrm>
            <a:off x="4590288" y="2468880"/>
            <a:ext cx="3566160" cy="5943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공식 X · 유튜브 · 호비 사이트를 돌아도 새 상품을 다 못 본다</a:t>
            </a:r>
            <a:endParaRPr lang="ko-KR" altLang="en-US" sz="1200" dirty="0"/>
          </a:p>
        </p:txBody>
      </p:sp>
      <p:sp>
        <p:nvSpPr>
          <p:cNvPr id="26" name="Shape 24"/>
          <p:cNvSpPr/>
          <p:nvPr/>
        </p:nvSpPr>
        <p:spPr>
          <a:xfrm>
            <a:off x="4389120" y="3264408"/>
            <a:ext cx="3931920" cy="1280160"/>
          </a:xfrm>
          <a:prstGeom prst="roundRect">
            <a:avLst>
              <a:gd name="adj" fmla="val 1000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7" name="Shape 25"/>
          <p:cNvSpPr/>
          <p:nvPr/>
        </p:nvSpPr>
        <p:spPr>
          <a:xfrm>
            <a:off x="4590288" y="3447288"/>
            <a:ext cx="384048" cy="384048"/>
          </a:xfrm>
          <a:prstGeom prst="ellipse">
            <a:avLst/>
          </a:prstGeom>
          <a:solidFill>
            <a:srgbClr val="1C86D9"/>
          </a:solidFill>
          <a:ln/>
        </p:spPr>
      </p:sp>
      <p:sp>
        <p:nvSpPr>
          <p:cNvPr id="28" name="Text 26"/>
          <p:cNvSpPr txBox="1"/>
          <p:nvPr/>
        </p:nvSpPr>
        <p:spPr>
          <a:xfrm>
            <a:off x="4590288" y="344728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2</a:t>
            </a:r>
            <a:endParaRPr lang="ko-KR" altLang="en-US" sz="1400" dirty="0"/>
          </a:p>
        </p:txBody>
      </p:sp>
      <p:sp>
        <p:nvSpPr>
          <p:cNvPr id="29" name="Text 27"/>
          <p:cNvSpPr txBox="1"/>
          <p:nvPr/>
        </p:nvSpPr>
        <p:spPr>
          <a:xfrm>
            <a:off x="5120640" y="3429000"/>
            <a:ext cx="1828800" cy="329184"/>
          </a:xfrm>
          <a:prstGeom prst="rect">
            <a:avLst/>
          </a:prstGeom>
          <a:noFill/>
          <a:ln/>
        </p:spPr>
        <p:txBody>
          <a:bodyPr wrap="square" lIns="0" tIns="0" rIns="0" bIns="0" rtlCol="0" anchor="ctr"/>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매장</a:t>
            </a:r>
            <a:endParaRPr lang="ko-KR" altLang="en-US" sz="1500" dirty="0"/>
          </a:p>
        </p:txBody>
      </p:sp>
      <p:sp>
        <p:nvSpPr>
          <p:cNvPr id="30" name="Shape 28"/>
          <p:cNvSpPr/>
          <p:nvPr/>
        </p:nvSpPr>
        <p:spPr>
          <a:xfrm>
            <a:off x="6949440" y="3465576"/>
            <a:ext cx="1188720" cy="256032"/>
          </a:xfrm>
          <a:prstGeom prst="roundRect">
            <a:avLst>
              <a:gd name="adj" fmla="val 50000"/>
            </a:avLst>
          </a:prstGeom>
          <a:solidFill>
            <a:srgbClr val="F4F5F7"/>
          </a:solidFill>
          <a:ln/>
        </p:spPr>
      </p:sp>
      <p:sp>
        <p:nvSpPr>
          <p:cNvPr id="31" name="Text 29"/>
          <p:cNvSpPr txBox="1"/>
          <p:nvPr/>
        </p:nvSpPr>
        <p:spPr>
          <a:xfrm>
            <a:off x="6949440" y="3465576"/>
            <a:ext cx="1188720" cy="256032"/>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카메라</a:t>
            </a:r>
            <a:endParaRPr lang="ko-KR" altLang="en-US" sz="1000" dirty="0"/>
          </a:p>
        </p:txBody>
      </p:sp>
      <p:sp>
        <p:nvSpPr>
          <p:cNvPr id="32" name="Text 30"/>
          <p:cNvSpPr txBox="1"/>
          <p:nvPr/>
        </p:nvSpPr>
        <p:spPr>
          <a:xfrm>
            <a:off x="4590288" y="3886200"/>
            <a:ext cx="3566160" cy="5943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처음 보는 상품 — "이게 언제 나왔지?" 몰랐다</a:t>
            </a:r>
            <a:endParaRPr lang="ko-KR" altLang="en-US" sz="1200" dirty="0"/>
          </a:p>
        </p:txBody>
      </p:sp>
      <p:sp>
        <p:nvSpPr>
          <p:cNvPr id="33" name="Shape 31"/>
          <p:cNvSpPr/>
          <p:nvPr/>
        </p:nvSpPr>
        <p:spPr>
          <a:xfrm>
            <a:off x="4389120" y="4681728"/>
            <a:ext cx="3931920" cy="1280160"/>
          </a:xfrm>
          <a:prstGeom prst="roundRect">
            <a:avLst>
              <a:gd name="adj" fmla="val 1000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4" name="Shape 32"/>
          <p:cNvSpPr/>
          <p:nvPr/>
        </p:nvSpPr>
        <p:spPr>
          <a:xfrm>
            <a:off x="4590288" y="4864608"/>
            <a:ext cx="384048" cy="384048"/>
          </a:xfrm>
          <a:prstGeom prst="ellipse">
            <a:avLst/>
          </a:prstGeom>
          <a:solidFill>
            <a:srgbClr val="1C86D9"/>
          </a:solidFill>
          <a:ln/>
        </p:spPr>
      </p:sp>
      <p:sp>
        <p:nvSpPr>
          <p:cNvPr id="35" name="Text 33"/>
          <p:cNvSpPr txBox="1"/>
          <p:nvPr/>
        </p:nvSpPr>
        <p:spPr>
          <a:xfrm>
            <a:off x="4590288" y="486460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3</a:t>
            </a:r>
            <a:endParaRPr lang="ko-KR" altLang="en-US" sz="1400" dirty="0"/>
          </a:p>
        </p:txBody>
      </p:sp>
      <p:sp>
        <p:nvSpPr>
          <p:cNvPr id="36" name="Text 34"/>
          <p:cNvSpPr txBox="1"/>
          <p:nvPr/>
        </p:nvSpPr>
        <p:spPr>
          <a:xfrm>
            <a:off x="5120640" y="4846320"/>
            <a:ext cx="1828800" cy="329184"/>
          </a:xfrm>
          <a:prstGeom prst="rect">
            <a:avLst/>
          </a:prstGeom>
          <a:noFill/>
          <a:ln/>
        </p:spPr>
        <p:txBody>
          <a:bodyPr wrap="square" lIns="0" tIns="0" rIns="0" bIns="0" rtlCol="0" anchor="ctr"/>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집</a:t>
            </a:r>
            <a:endParaRPr lang="ko-KR" altLang="en-US" sz="1500" dirty="0"/>
          </a:p>
        </p:txBody>
      </p:sp>
      <p:sp>
        <p:nvSpPr>
          <p:cNvPr id="37" name="Shape 35"/>
          <p:cNvSpPr/>
          <p:nvPr/>
        </p:nvSpPr>
        <p:spPr>
          <a:xfrm>
            <a:off x="6949440" y="4882896"/>
            <a:ext cx="1188720" cy="256032"/>
          </a:xfrm>
          <a:prstGeom prst="roundRect">
            <a:avLst>
              <a:gd name="adj" fmla="val 50000"/>
            </a:avLst>
          </a:prstGeom>
          <a:solidFill>
            <a:srgbClr val="F4F5F7"/>
          </a:solidFill>
          <a:ln/>
        </p:spPr>
      </p:sp>
      <p:sp>
        <p:nvSpPr>
          <p:cNvPr id="38" name="Text 36"/>
          <p:cNvSpPr txBox="1"/>
          <p:nvPr/>
        </p:nvSpPr>
        <p:spPr>
          <a:xfrm>
            <a:off x="6949440" y="4882896"/>
            <a:ext cx="1188720" cy="256032"/>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폰</a:t>
            </a:r>
            <a:endParaRPr lang="ko-KR" altLang="en-US" sz="1000" dirty="0"/>
          </a:p>
        </p:txBody>
      </p:sp>
      <p:sp>
        <p:nvSpPr>
          <p:cNvPr id="39" name="Text 37"/>
          <p:cNvSpPr txBox="1"/>
          <p:nvPr/>
        </p:nvSpPr>
        <p:spPr>
          <a:xfrm>
            <a:off x="4590288" y="5303520"/>
            <a:ext cx="3566160" cy="5943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SNS에서 한정판 소식을 봤는데 예약이 이미 끝났다</a:t>
            </a:r>
            <a:endParaRPr lang="ko-KR" altLang="en-US" sz="1200" dirty="0"/>
          </a:p>
        </p:txBody>
      </p:sp>
      <p:sp>
        <p:nvSpPr>
          <p:cNvPr id="40" name="Shape 38"/>
          <p:cNvSpPr/>
          <p:nvPr/>
        </p:nvSpPr>
        <p:spPr>
          <a:xfrm>
            <a:off x="8549640" y="1481328"/>
            <a:ext cx="3090672" cy="2240280"/>
          </a:xfrm>
          <a:prstGeom prst="roundRect">
            <a:avLst>
              <a:gd name="adj" fmla="val 5714"/>
            </a:avLst>
          </a:prstGeom>
          <a:solidFill>
            <a:srgbClr val="FCEDED"/>
          </a:solidFill>
          <a:ln/>
        </p:spPr>
      </p:sp>
      <p:sp>
        <p:nvSpPr>
          <p:cNvPr id="41" name="Text 39"/>
          <p:cNvSpPr txBox="1"/>
          <p:nvPr/>
        </p:nvSpPr>
        <p:spPr>
          <a:xfrm>
            <a:off x="8759952" y="1627632"/>
            <a:ext cx="2743200" cy="274320"/>
          </a:xfrm>
          <a:prstGeom prst="rect">
            <a:avLst/>
          </a:prstGeom>
          <a:noFill/>
          <a:ln/>
        </p:spPr>
        <p:txBody>
          <a:bodyPr wrap="square" lIns="0" tIns="0" rIns="0" bIns="0" rtlCol="0" anchor="t"/>
          <a:lstStyle/>
          <a:p>
            <a:pPr indent="0" marL="0">
              <a:buNone/>
            </a:pPr>
            <a:r>
              <a:rPr lang="ko-KR" altLang="en-US" sz="1300" b="1" dirty="0">
                <a:solidFill>
                  <a:srgbClr val="D93F44"/>
                </a:solidFill>
                <a:latin typeface="Malgun Gothic" pitchFamily="34" charset="0"/>
                <a:ea typeface="Malgun Gothic" pitchFamily="34" charset="-122"/>
                <a:cs typeface="Malgun Gothic" pitchFamily="34" charset="-120"/>
              </a:rPr>
              <a:t>불편한 점</a:t>
            </a:r>
            <a:endParaRPr lang="ko-KR" altLang="en-US" sz="1300" dirty="0"/>
          </a:p>
        </p:txBody>
      </p:sp>
      <p:sp>
        <p:nvSpPr>
          <p:cNvPr id="42" name="Text 40"/>
          <p:cNvSpPr txBox="1"/>
          <p:nvPr/>
        </p:nvSpPr>
        <p:spPr>
          <a:xfrm>
            <a:off x="8759952" y="1965960"/>
            <a:ext cx="2697480" cy="1691640"/>
          </a:xfrm>
          <a:prstGeom prst="rect">
            <a:avLst/>
          </a:prstGeom>
          <a:noFill/>
          <a:ln/>
        </p:spPr>
        <p:txBody>
          <a:bodyPr wrap="square" lIns="0" tIns="0" rIns="0" bIns="0" rtlCol="0" anchor="t"/>
          <a:lstStyle/>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좋아하는 IP에 어떤 상품이 있는지 다 모른다</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예약 · 한정판을 자주 놓친다</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지난 상품은 있는 줄도 몰랐다</a:t>
            </a:r>
            <a:endParaRPr lang="ko-KR" altLang="en-US" sz="1250" dirty="0"/>
          </a:p>
        </p:txBody>
      </p:sp>
      <p:sp>
        <p:nvSpPr>
          <p:cNvPr id="43" name="Shape 41"/>
          <p:cNvSpPr/>
          <p:nvPr/>
        </p:nvSpPr>
        <p:spPr>
          <a:xfrm>
            <a:off x="8549640" y="3858768"/>
            <a:ext cx="3090672" cy="2240280"/>
          </a:xfrm>
          <a:prstGeom prst="roundRect">
            <a:avLst>
              <a:gd name="adj" fmla="val 5714"/>
            </a:avLst>
          </a:prstGeom>
          <a:solidFill>
            <a:srgbClr val="EAF4FC"/>
          </a:solidFill>
          <a:ln/>
        </p:spPr>
      </p:sp>
      <p:sp>
        <p:nvSpPr>
          <p:cNvPr id="44" name="Text 42"/>
          <p:cNvSpPr txBox="1"/>
          <p:nvPr/>
        </p:nvSpPr>
        <p:spPr>
          <a:xfrm>
            <a:off x="8759952" y="4005072"/>
            <a:ext cx="274320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바라는 것</a:t>
            </a:r>
            <a:endParaRPr lang="ko-KR" altLang="en-US" sz="1300" dirty="0"/>
          </a:p>
        </p:txBody>
      </p:sp>
      <p:sp>
        <p:nvSpPr>
          <p:cNvPr id="45" name="Text 43"/>
          <p:cNvSpPr txBox="1"/>
          <p:nvPr/>
        </p:nvSpPr>
        <p:spPr>
          <a:xfrm>
            <a:off x="8759952" y="4343400"/>
            <a:ext cx="2697480" cy="1691640"/>
          </a:xfrm>
          <a:prstGeom prst="rect">
            <a:avLst/>
          </a:prstGeom>
          <a:noFill/>
          <a:ln/>
        </p:spPr>
        <p:txBody>
          <a:bodyPr wrap="square" lIns="0" tIns="0" rIns="0" bIns="0" rtlCol="0" anchor="t"/>
          <a:lstStyle/>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내 IP의 새 상품 · 예고를 한곳에서</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발매일 · 예약을 놓치지 않기</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지난 상품까지 빠짐없이 보기</a:t>
            </a:r>
            <a:endParaRPr lang="ko-KR" altLang="en-US" sz="12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5/5 — 저니 · 근본 원인</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민준이 가장 막히는 곳과 그 이유</a:t>
            </a:r>
            <a:endParaRPr lang="ko-KR" altLang="en-US" sz="2800" dirty="0"/>
          </a:p>
        </p:txBody>
      </p:sp>
      <p:sp>
        <p:nvSpPr>
          <p:cNvPr id="4" name="Text 2"/>
          <p:cNvSpPr txBox="1"/>
          <p:nvPr/>
        </p:nvSpPr>
        <p:spPr>
          <a:xfrm>
            <a:off x="548640" y="1417320"/>
            <a:ext cx="1097280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사용자 저니</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재판 소식을 보고 → 사서 → 도감에 기록하기까지</a:t>
            </a:r>
            <a:endParaRPr lang="ko-KR" altLang="en-US" sz="1400" dirty="0"/>
          </a:p>
        </p:txBody>
      </p:sp>
      <p:sp>
        <p:nvSpPr>
          <p:cNvPr id="5" name="Shape 3"/>
          <p:cNvSpPr/>
          <p:nvPr/>
        </p:nvSpPr>
        <p:spPr>
          <a:xfrm>
            <a:off x="548640" y="1783080"/>
            <a:ext cx="1719072" cy="1143000"/>
          </a:xfrm>
          <a:prstGeom prst="roundRect">
            <a:avLst>
              <a:gd name="adj" fmla="val 9600"/>
            </a:avLst>
          </a:prstGeom>
          <a:solidFill>
            <a:srgbClr val="FCEDED"/>
          </a:solidFill>
          <a:ln w="25400">
            <a:solidFill>
              <a:srgbClr val="D93F44"/>
            </a:solidFill>
            <a:prstDash val="solid"/>
          </a:ln>
        </p:spPr>
      </p:sp>
      <p:sp>
        <p:nvSpPr>
          <p:cNvPr id="6" name="Text 4"/>
          <p:cNvSpPr txBox="1"/>
          <p:nvPr/>
        </p:nvSpPr>
        <p:spPr>
          <a:xfrm>
            <a:off x="685800" y="1874520"/>
            <a:ext cx="45720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1</a:t>
            </a:r>
            <a:endParaRPr lang="ko-KR" altLang="en-US" sz="1200" dirty="0"/>
          </a:p>
        </p:txBody>
      </p:sp>
      <p:sp>
        <p:nvSpPr>
          <p:cNvPr id="7" name="Text 5"/>
          <p:cNvSpPr txBox="1"/>
          <p:nvPr/>
        </p:nvSpPr>
        <p:spPr>
          <a:xfrm>
            <a:off x="64008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D93F44"/>
                </a:solidFill>
                <a:latin typeface="Malgun Gothic" pitchFamily="34" charset="0"/>
                <a:ea typeface="Malgun Gothic" pitchFamily="34" charset="-122"/>
                <a:cs typeface="Malgun Gothic" pitchFamily="34" charset="-120"/>
              </a:rPr>
              <a:t>소식 알기</a:t>
            </a:r>
            <a:endParaRPr lang="ko-KR" altLang="en-US" sz="1500" dirty="0"/>
          </a:p>
        </p:txBody>
      </p:sp>
      <p:sp>
        <p:nvSpPr>
          <p:cNvPr id="8" name="Shape 6"/>
          <p:cNvSpPr/>
          <p:nvPr/>
        </p:nvSpPr>
        <p:spPr>
          <a:xfrm>
            <a:off x="996696" y="2560320"/>
            <a:ext cx="822960" cy="237744"/>
          </a:xfrm>
          <a:prstGeom prst="roundRect">
            <a:avLst>
              <a:gd name="adj" fmla="val 50000"/>
            </a:avLst>
          </a:prstGeom>
          <a:solidFill>
            <a:srgbClr val="D93F44"/>
          </a:solidFill>
          <a:ln/>
        </p:spPr>
      </p:sp>
      <p:sp>
        <p:nvSpPr>
          <p:cNvPr id="9" name="Text 7"/>
          <p:cNvSpPr txBox="1"/>
          <p:nvPr/>
        </p:nvSpPr>
        <p:spPr>
          <a:xfrm>
            <a:off x="99669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최악</a:t>
            </a:r>
            <a:endParaRPr lang="ko-KR" altLang="en-US" sz="1000" dirty="0"/>
          </a:p>
        </p:txBody>
      </p:sp>
      <p:sp>
        <p:nvSpPr>
          <p:cNvPr id="10" name="Shape 8"/>
          <p:cNvSpPr/>
          <p:nvPr/>
        </p:nvSpPr>
        <p:spPr>
          <a:xfrm>
            <a:off x="2276856" y="2350008"/>
            <a:ext cx="137160" cy="0"/>
          </a:xfrm>
          <a:prstGeom prst="line">
            <a:avLst/>
          </a:prstGeom>
          <a:noFill/>
          <a:ln w="19050">
            <a:solidFill>
              <a:srgbClr val="9AA0A6"/>
            </a:solidFill>
            <a:prstDash val="solid"/>
            <a:tailEnd type="triangle"/>
          </a:ln>
        </p:spPr>
      </p:sp>
      <p:sp>
        <p:nvSpPr>
          <p:cNvPr id="11" name="Shape 9"/>
          <p:cNvSpPr/>
          <p:nvPr/>
        </p:nvSpPr>
        <p:spPr>
          <a:xfrm>
            <a:off x="2423160" y="1783080"/>
            <a:ext cx="1719072" cy="1143000"/>
          </a:xfrm>
          <a:prstGeom prst="roundRect">
            <a:avLst>
              <a:gd name="adj" fmla="val 9600"/>
            </a:avLst>
          </a:prstGeom>
          <a:solidFill>
            <a:srgbClr val="FFFFFF"/>
          </a:solidFill>
          <a:ln w="9525">
            <a:solidFill>
              <a:srgbClr val="E3E5E8"/>
            </a:solidFill>
            <a:prstDash val="solid"/>
          </a:ln>
        </p:spPr>
      </p:sp>
      <p:sp>
        <p:nvSpPr>
          <p:cNvPr id="12" name="Text 10"/>
          <p:cNvSpPr txBox="1"/>
          <p:nvPr/>
        </p:nvSpPr>
        <p:spPr>
          <a:xfrm>
            <a:off x="256032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a:t>
            </a:r>
            <a:endParaRPr lang="ko-KR" altLang="en-US" sz="1200" dirty="0"/>
          </a:p>
        </p:txBody>
      </p:sp>
      <p:sp>
        <p:nvSpPr>
          <p:cNvPr id="13" name="Text 11"/>
          <p:cNvSpPr txBox="1"/>
          <p:nvPr/>
        </p:nvSpPr>
        <p:spPr>
          <a:xfrm>
            <a:off x="251460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찾기</a:t>
            </a:r>
            <a:endParaRPr lang="ko-KR" altLang="en-US" sz="1500" dirty="0"/>
          </a:p>
        </p:txBody>
      </p:sp>
      <p:sp>
        <p:nvSpPr>
          <p:cNvPr id="14" name="Shape 12"/>
          <p:cNvSpPr/>
          <p:nvPr/>
        </p:nvSpPr>
        <p:spPr>
          <a:xfrm>
            <a:off x="2871216" y="2560320"/>
            <a:ext cx="822960" cy="237744"/>
          </a:xfrm>
          <a:prstGeom prst="roundRect">
            <a:avLst>
              <a:gd name="adj" fmla="val 50000"/>
            </a:avLst>
          </a:prstGeom>
          <a:solidFill>
            <a:srgbClr val="C9CDD2"/>
          </a:solidFill>
          <a:ln/>
        </p:spPr>
      </p:sp>
      <p:sp>
        <p:nvSpPr>
          <p:cNvPr id="15" name="Text 13"/>
          <p:cNvSpPr txBox="1"/>
          <p:nvPr/>
        </p:nvSpPr>
        <p:spPr>
          <a:xfrm>
            <a:off x="287121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불편</a:t>
            </a:r>
            <a:endParaRPr lang="ko-KR" altLang="en-US" sz="1000" dirty="0"/>
          </a:p>
        </p:txBody>
      </p:sp>
      <p:sp>
        <p:nvSpPr>
          <p:cNvPr id="16" name="Shape 14"/>
          <p:cNvSpPr/>
          <p:nvPr/>
        </p:nvSpPr>
        <p:spPr>
          <a:xfrm>
            <a:off x="4151376" y="2350008"/>
            <a:ext cx="137160" cy="0"/>
          </a:xfrm>
          <a:prstGeom prst="line">
            <a:avLst/>
          </a:prstGeom>
          <a:noFill/>
          <a:ln w="19050">
            <a:solidFill>
              <a:srgbClr val="9AA0A6"/>
            </a:solidFill>
            <a:prstDash val="solid"/>
            <a:tailEnd type="triangle"/>
          </a:ln>
        </p:spPr>
      </p:sp>
      <p:sp>
        <p:nvSpPr>
          <p:cNvPr id="17" name="Shape 15"/>
          <p:cNvSpPr/>
          <p:nvPr/>
        </p:nvSpPr>
        <p:spPr>
          <a:xfrm>
            <a:off x="4297680" y="1783080"/>
            <a:ext cx="1719072" cy="1143000"/>
          </a:xfrm>
          <a:prstGeom prst="roundRect">
            <a:avLst>
              <a:gd name="adj" fmla="val 9600"/>
            </a:avLst>
          </a:prstGeom>
          <a:solidFill>
            <a:srgbClr val="FFFFFF"/>
          </a:solidFill>
          <a:ln w="9525">
            <a:solidFill>
              <a:srgbClr val="E3E5E8"/>
            </a:solidFill>
            <a:prstDash val="solid"/>
          </a:ln>
        </p:spPr>
      </p:sp>
      <p:sp>
        <p:nvSpPr>
          <p:cNvPr id="18" name="Text 16"/>
          <p:cNvSpPr txBox="1"/>
          <p:nvPr/>
        </p:nvSpPr>
        <p:spPr>
          <a:xfrm>
            <a:off x="443484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a:t>
            </a:r>
            <a:endParaRPr lang="ko-KR" altLang="en-US" sz="1200" dirty="0"/>
          </a:p>
        </p:txBody>
      </p:sp>
      <p:sp>
        <p:nvSpPr>
          <p:cNvPr id="19" name="Text 17"/>
          <p:cNvSpPr txBox="1"/>
          <p:nvPr/>
        </p:nvSpPr>
        <p:spPr>
          <a:xfrm>
            <a:off x="438912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살지 판단</a:t>
            </a:r>
            <a:endParaRPr lang="ko-KR" altLang="en-US" sz="1500" dirty="0"/>
          </a:p>
        </p:txBody>
      </p:sp>
      <p:sp>
        <p:nvSpPr>
          <p:cNvPr id="20" name="Shape 18"/>
          <p:cNvSpPr/>
          <p:nvPr/>
        </p:nvSpPr>
        <p:spPr>
          <a:xfrm>
            <a:off x="4745736" y="2560320"/>
            <a:ext cx="822960" cy="237744"/>
          </a:xfrm>
          <a:prstGeom prst="roundRect">
            <a:avLst>
              <a:gd name="adj" fmla="val 50000"/>
            </a:avLst>
          </a:prstGeom>
          <a:solidFill>
            <a:srgbClr val="C9CDD2"/>
          </a:solidFill>
          <a:ln/>
        </p:spPr>
      </p:sp>
      <p:sp>
        <p:nvSpPr>
          <p:cNvPr id="21" name="Text 19"/>
          <p:cNvSpPr txBox="1"/>
          <p:nvPr/>
        </p:nvSpPr>
        <p:spPr>
          <a:xfrm>
            <a:off x="474573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불편</a:t>
            </a:r>
            <a:endParaRPr lang="ko-KR" altLang="en-US" sz="1000" dirty="0"/>
          </a:p>
        </p:txBody>
      </p:sp>
      <p:sp>
        <p:nvSpPr>
          <p:cNvPr id="22" name="Shape 20"/>
          <p:cNvSpPr/>
          <p:nvPr/>
        </p:nvSpPr>
        <p:spPr>
          <a:xfrm>
            <a:off x="6025896" y="2350008"/>
            <a:ext cx="137160" cy="0"/>
          </a:xfrm>
          <a:prstGeom prst="line">
            <a:avLst/>
          </a:prstGeom>
          <a:noFill/>
          <a:ln w="19050">
            <a:solidFill>
              <a:srgbClr val="9AA0A6"/>
            </a:solidFill>
            <a:prstDash val="solid"/>
            <a:tailEnd type="triangle"/>
          </a:ln>
        </p:spPr>
      </p:sp>
      <p:sp>
        <p:nvSpPr>
          <p:cNvPr id="23" name="Shape 21"/>
          <p:cNvSpPr/>
          <p:nvPr/>
        </p:nvSpPr>
        <p:spPr>
          <a:xfrm>
            <a:off x="6172200" y="1783080"/>
            <a:ext cx="1719072" cy="1143000"/>
          </a:xfrm>
          <a:prstGeom prst="roundRect">
            <a:avLst>
              <a:gd name="adj" fmla="val 9600"/>
            </a:avLst>
          </a:prstGeom>
          <a:solidFill>
            <a:srgbClr val="FFFFFF"/>
          </a:solidFill>
          <a:ln w="9525">
            <a:solidFill>
              <a:srgbClr val="E3E5E8"/>
            </a:solidFill>
            <a:prstDash val="solid"/>
          </a:ln>
        </p:spPr>
      </p:sp>
      <p:sp>
        <p:nvSpPr>
          <p:cNvPr id="24" name="Text 22"/>
          <p:cNvSpPr txBox="1"/>
          <p:nvPr/>
        </p:nvSpPr>
        <p:spPr>
          <a:xfrm>
            <a:off x="630936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a:t>
            </a:r>
            <a:endParaRPr lang="ko-KR" altLang="en-US" sz="1200" dirty="0"/>
          </a:p>
        </p:txBody>
      </p:sp>
      <p:sp>
        <p:nvSpPr>
          <p:cNvPr id="25" name="Text 23"/>
          <p:cNvSpPr txBox="1"/>
          <p:nvPr/>
        </p:nvSpPr>
        <p:spPr>
          <a:xfrm>
            <a:off x="626364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기록</a:t>
            </a:r>
            <a:endParaRPr lang="ko-KR" altLang="en-US" sz="1500" dirty="0"/>
          </a:p>
        </p:txBody>
      </p:sp>
      <p:sp>
        <p:nvSpPr>
          <p:cNvPr id="26" name="Shape 24"/>
          <p:cNvSpPr/>
          <p:nvPr/>
        </p:nvSpPr>
        <p:spPr>
          <a:xfrm>
            <a:off x="6620256" y="2560320"/>
            <a:ext cx="822960" cy="237744"/>
          </a:xfrm>
          <a:prstGeom prst="roundRect">
            <a:avLst>
              <a:gd name="adj" fmla="val 50000"/>
            </a:avLst>
          </a:prstGeom>
          <a:solidFill>
            <a:srgbClr val="F4F5F7"/>
          </a:solidFill>
          <a:ln/>
        </p:spPr>
      </p:sp>
      <p:sp>
        <p:nvSpPr>
          <p:cNvPr id="27" name="Text 25"/>
          <p:cNvSpPr txBox="1"/>
          <p:nvPr/>
        </p:nvSpPr>
        <p:spPr>
          <a:xfrm>
            <a:off x="662025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보통</a:t>
            </a:r>
            <a:endParaRPr lang="ko-KR" altLang="en-US" sz="1000" dirty="0"/>
          </a:p>
        </p:txBody>
      </p:sp>
      <p:sp>
        <p:nvSpPr>
          <p:cNvPr id="28" name="Shape 26"/>
          <p:cNvSpPr/>
          <p:nvPr/>
        </p:nvSpPr>
        <p:spPr>
          <a:xfrm>
            <a:off x="7900416" y="2350008"/>
            <a:ext cx="137160" cy="0"/>
          </a:xfrm>
          <a:prstGeom prst="line">
            <a:avLst/>
          </a:prstGeom>
          <a:noFill/>
          <a:ln w="19050">
            <a:solidFill>
              <a:srgbClr val="9AA0A6"/>
            </a:solidFill>
            <a:prstDash val="solid"/>
            <a:tailEnd type="triangle"/>
          </a:ln>
        </p:spPr>
      </p:sp>
      <p:sp>
        <p:nvSpPr>
          <p:cNvPr id="29" name="Shape 27"/>
          <p:cNvSpPr/>
          <p:nvPr/>
        </p:nvSpPr>
        <p:spPr>
          <a:xfrm>
            <a:off x="8046720" y="1783080"/>
            <a:ext cx="1719072" cy="1143000"/>
          </a:xfrm>
          <a:prstGeom prst="roundRect">
            <a:avLst>
              <a:gd name="adj" fmla="val 9600"/>
            </a:avLst>
          </a:prstGeom>
          <a:solidFill>
            <a:srgbClr val="FFFFFF"/>
          </a:solidFill>
          <a:ln w="9525">
            <a:solidFill>
              <a:srgbClr val="E3E5E8"/>
            </a:solidFill>
            <a:prstDash val="solid"/>
          </a:ln>
        </p:spPr>
      </p:sp>
      <p:sp>
        <p:nvSpPr>
          <p:cNvPr id="30" name="Text 28"/>
          <p:cNvSpPr txBox="1"/>
          <p:nvPr/>
        </p:nvSpPr>
        <p:spPr>
          <a:xfrm>
            <a:off x="818388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5</a:t>
            </a:r>
            <a:endParaRPr lang="ko-KR" altLang="en-US" sz="1200" dirty="0"/>
          </a:p>
        </p:txBody>
      </p:sp>
      <p:sp>
        <p:nvSpPr>
          <p:cNvPr id="31" name="Text 29"/>
          <p:cNvSpPr txBox="1"/>
          <p:nvPr/>
        </p:nvSpPr>
        <p:spPr>
          <a:xfrm>
            <a:off x="813816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모은 것 보기</a:t>
            </a:r>
            <a:endParaRPr lang="ko-KR" altLang="en-US" sz="1500" dirty="0"/>
          </a:p>
        </p:txBody>
      </p:sp>
      <p:sp>
        <p:nvSpPr>
          <p:cNvPr id="32" name="Shape 30"/>
          <p:cNvSpPr/>
          <p:nvPr/>
        </p:nvSpPr>
        <p:spPr>
          <a:xfrm>
            <a:off x="8494776" y="2560320"/>
            <a:ext cx="822960" cy="237744"/>
          </a:xfrm>
          <a:prstGeom prst="roundRect">
            <a:avLst>
              <a:gd name="adj" fmla="val 50000"/>
            </a:avLst>
          </a:prstGeom>
          <a:solidFill>
            <a:srgbClr val="F4F5F7"/>
          </a:solidFill>
          <a:ln/>
        </p:spPr>
      </p:sp>
      <p:sp>
        <p:nvSpPr>
          <p:cNvPr id="33" name="Text 31"/>
          <p:cNvSpPr txBox="1"/>
          <p:nvPr/>
        </p:nvSpPr>
        <p:spPr>
          <a:xfrm>
            <a:off x="849477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보통</a:t>
            </a:r>
            <a:endParaRPr lang="ko-KR" altLang="en-US" sz="1000" dirty="0"/>
          </a:p>
        </p:txBody>
      </p:sp>
      <p:sp>
        <p:nvSpPr>
          <p:cNvPr id="34" name="Shape 32"/>
          <p:cNvSpPr/>
          <p:nvPr/>
        </p:nvSpPr>
        <p:spPr>
          <a:xfrm>
            <a:off x="9774936" y="2350008"/>
            <a:ext cx="137160" cy="0"/>
          </a:xfrm>
          <a:prstGeom prst="line">
            <a:avLst/>
          </a:prstGeom>
          <a:noFill/>
          <a:ln w="19050">
            <a:solidFill>
              <a:srgbClr val="9AA0A6"/>
            </a:solidFill>
            <a:prstDash val="solid"/>
            <a:tailEnd type="triangle"/>
          </a:ln>
        </p:spPr>
      </p:sp>
      <p:sp>
        <p:nvSpPr>
          <p:cNvPr id="35" name="Shape 33"/>
          <p:cNvSpPr/>
          <p:nvPr/>
        </p:nvSpPr>
        <p:spPr>
          <a:xfrm>
            <a:off x="9921240" y="1783080"/>
            <a:ext cx="1719072" cy="1143000"/>
          </a:xfrm>
          <a:prstGeom prst="roundRect">
            <a:avLst>
              <a:gd name="adj" fmla="val 9600"/>
            </a:avLst>
          </a:prstGeom>
          <a:solidFill>
            <a:srgbClr val="FFFFFF"/>
          </a:solidFill>
          <a:ln w="9525">
            <a:solidFill>
              <a:srgbClr val="E3E5E8"/>
            </a:solidFill>
            <a:prstDash val="solid"/>
          </a:ln>
        </p:spPr>
      </p:sp>
      <p:sp>
        <p:nvSpPr>
          <p:cNvPr id="36" name="Text 34"/>
          <p:cNvSpPr txBox="1"/>
          <p:nvPr/>
        </p:nvSpPr>
        <p:spPr>
          <a:xfrm>
            <a:off x="1005840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6</a:t>
            </a:r>
            <a:endParaRPr lang="ko-KR" altLang="en-US" sz="1200" dirty="0"/>
          </a:p>
        </p:txBody>
      </p:sp>
      <p:sp>
        <p:nvSpPr>
          <p:cNvPr id="37" name="Text 35"/>
          <p:cNvSpPr txBox="1"/>
          <p:nvPr/>
        </p:nvSpPr>
        <p:spPr>
          <a:xfrm>
            <a:off x="1001268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나누기</a:t>
            </a:r>
            <a:endParaRPr lang="ko-KR" altLang="en-US" sz="1500" dirty="0"/>
          </a:p>
        </p:txBody>
      </p:sp>
      <p:sp>
        <p:nvSpPr>
          <p:cNvPr id="38" name="Shape 36"/>
          <p:cNvSpPr/>
          <p:nvPr/>
        </p:nvSpPr>
        <p:spPr>
          <a:xfrm>
            <a:off x="10369296" y="2560320"/>
            <a:ext cx="822960" cy="237744"/>
          </a:xfrm>
          <a:prstGeom prst="roundRect">
            <a:avLst>
              <a:gd name="adj" fmla="val 50000"/>
            </a:avLst>
          </a:prstGeom>
          <a:solidFill>
            <a:srgbClr val="12A07F"/>
          </a:solidFill>
          <a:ln/>
        </p:spPr>
      </p:sp>
      <p:sp>
        <p:nvSpPr>
          <p:cNvPr id="39" name="Text 37"/>
          <p:cNvSpPr txBox="1"/>
          <p:nvPr/>
        </p:nvSpPr>
        <p:spPr>
          <a:xfrm>
            <a:off x="1036929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좋음</a:t>
            </a:r>
            <a:endParaRPr lang="ko-KR" altLang="en-US" sz="1000" dirty="0"/>
          </a:p>
        </p:txBody>
      </p:sp>
      <p:sp>
        <p:nvSpPr>
          <p:cNvPr id="40" name="Shape 38"/>
          <p:cNvSpPr/>
          <p:nvPr/>
        </p:nvSpPr>
        <p:spPr>
          <a:xfrm>
            <a:off x="548640" y="3035808"/>
            <a:ext cx="5120640" cy="457200"/>
          </a:xfrm>
          <a:prstGeom prst="roundRect">
            <a:avLst>
              <a:gd name="adj" fmla="val 20000"/>
            </a:avLst>
          </a:prstGeom>
          <a:solidFill>
            <a:srgbClr val="FCEDED"/>
          </a:solidFill>
          <a:ln/>
        </p:spPr>
      </p:sp>
      <p:sp>
        <p:nvSpPr>
          <p:cNvPr id="41" name="Text 39"/>
          <p:cNvSpPr txBox="1"/>
          <p:nvPr/>
        </p:nvSpPr>
        <p:spPr>
          <a:xfrm>
            <a:off x="685800" y="3035808"/>
            <a:ext cx="4937760" cy="457200"/>
          </a:xfrm>
          <a:prstGeom prst="rect">
            <a:avLst/>
          </a:prstGeom>
          <a:noFill/>
          <a:ln/>
        </p:spPr>
        <p:txBody>
          <a:bodyPr wrap="square" lIns="0" tIns="0" rIns="0" bIns="0" rtlCol="0" anchor="ctr"/>
          <a:lstStyle/>
          <a:p>
            <a:pPr indent="0" marL="0">
              <a:buNone/>
            </a:pPr>
            <a:r>
              <a:rPr lang="ko-KR" altLang="en-US" sz="1150" b="1" dirty="0">
                <a:solidFill>
                  <a:srgbClr val="D93F44"/>
                </a:solidFill>
                <a:latin typeface="Malgun Gothic" pitchFamily="34" charset="0"/>
                <a:ea typeface="Malgun Gothic" pitchFamily="34" charset="-122"/>
                <a:cs typeface="Malgun Gothic" pitchFamily="34" charset="-120"/>
              </a:rPr>
              <a:t>새 상품 · 예고 · 한정판을 놓친다 — 정보가 브랜드마다 흩어져 있다</a:t>
            </a:r>
            <a:endParaRPr lang="ko-KR" altLang="en-US" sz="1150" dirty="0"/>
          </a:p>
        </p:txBody>
      </p:sp>
      <p:sp>
        <p:nvSpPr>
          <p:cNvPr id="42" name="Text 40"/>
          <p:cNvSpPr txBox="1"/>
          <p:nvPr/>
        </p:nvSpPr>
        <p:spPr>
          <a:xfrm>
            <a:off x="548640" y="3730752"/>
            <a:ext cx="1097280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왜 그럴까? — 5 Why</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"놓친다"에서 출발 (피쉬본 6시각 전체: 부록 B5-3)</a:t>
            </a:r>
            <a:endParaRPr lang="ko-KR" altLang="en-US" sz="1400" dirty="0"/>
          </a:p>
        </p:txBody>
      </p:sp>
      <p:sp>
        <p:nvSpPr>
          <p:cNvPr id="43" name="Shape 41"/>
          <p:cNvSpPr/>
          <p:nvPr/>
        </p:nvSpPr>
        <p:spPr>
          <a:xfrm>
            <a:off x="548640" y="4114800"/>
            <a:ext cx="1645920" cy="1051560"/>
          </a:xfrm>
          <a:prstGeom prst="roundRect">
            <a:avLst>
              <a:gd name="adj" fmla="val 10435"/>
            </a:avLst>
          </a:prstGeom>
          <a:solidFill>
            <a:srgbClr val="F4F5F7"/>
          </a:solidFill>
          <a:ln/>
        </p:spPr>
      </p:sp>
      <p:sp>
        <p:nvSpPr>
          <p:cNvPr id="44" name="Text 42"/>
          <p:cNvSpPr txBox="1"/>
          <p:nvPr/>
        </p:nvSpPr>
        <p:spPr>
          <a:xfrm>
            <a:off x="67665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1</a:t>
            </a:r>
            <a:endParaRPr lang="ko-KR" altLang="en-US" sz="1000" dirty="0"/>
          </a:p>
        </p:txBody>
      </p:sp>
      <p:sp>
        <p:nvSpPr>
          <p:cNvPr id="45" name="Text 43"/>
          <p:cNvSpPr txBox="1"/>
          <p:nvPr/>
        </p:nvSpPr>
        <p:spPr>
          <a:xfrm>
            <a:off x="67665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공식 정보가 브랜드마다 따로 있다</a:t>
            </a:r>
            <a:endParaRPr lang="ko-KR" altLang="en-US" sz="1150" dirty="0"/>
          </a:p>
        </p:txBody>
      </p:sp>
      <p:sp>
        <p:nvSpPr>
          <p:cNvPr id="46" name="Shape 44"/>
          <p:cNvSpPr/>
          <p:nvPr/>
        </p:nvSpPr>
        <p:spPr>
          <a:xfrm>
            <a:off x="2203704" y="4636008"/>
            <a:ext cx="118872" cy="0"/>
          </a:xfrm>
          <a:prstGeom prst="line">
            <a:avLst/>
          </a:prstGeom>
          <a:noFill/>
          <a:ln w="19050">
            <a:solidFill>
              <a:srgbClr val="9AA0A6"/>
            </a:solidFill>
            <a:prstDash val="solid"/>
            <a:tailEnd type="triangle"/>
          </a:ln>
        </p:spPr>
      </p:sp>
      <p:sp>
        <p:nvSpPr>
          <p:cNvPr id="47" name="Shape 45"/>
          <p:cNvSpPr/>
          <p:nvPr/>
        </p:nvSpPr>
        <p:spPr>
          <a:xfrm>
            <a:off x="2331720" y="4114800"/>
            <a:ext cx="1645920" cy="1051560"/>
          </a:xfrm>
          <a:prstGeom prst="roundRect">
            <a:avLst>
              <a:gd name="adj" fmla="val 10435"/>
            </a:avLst>
          </a:prstGeom>
          <a:solidFill>
            <a:srgbClr val="F4F5F7"/>
          </a:solidFill>
          <a:ln/>
        </p:spPr>
      </p:sp>
      <p:sp>
        <p:nvSpPr>
          <p:cNvPr id="48" name="Text 46"/>
          <p:cNvSpPr txBox="1"/>
          <p:nvPr/>
        </p:nvSpPr>
        <p:spPr>
          <a:xfrm>
            <a:off x="245973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2</a:t>
            </a:r>
            <a:endParaRPr lang="ko-KR" altLang="en-US" sz="1000" dirty="0"/>
          </a:p>
        </p:txBody>
      </p:sp>
      <p:sp>
        <p:nvSpPr>
          <p:cNvPr id="49" name="Text 47"/>
          <p:cNvSpPr txBox="1"/>
          <p:nvPr/>
        </p:nvSpPr>
        <p:spPr>
          <a:xfrm>
            <a:off x="245973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기존 앱엔 새 소식 · 예고가 없다</a:t>
            </a:r>
            <a:endParaRPr lang="ko-KR" altLang="en-US" sz="1150" dirty="0"/>
          </a:p>
        </p:txBody>
      </p:sp>
      <p:sp>
        <p:nvSpPr>
          <p:cNvPr id="50" name="Shape 48"/>
          <p:cNvSpPr/>
          <p:nvPr/>
        </p:nvSpPr>
        <p:spPr>
          <a:xfrm>
            <a:off x="3986784" y="4636008"/>
            <a:ext cx="118872" cy="0"/>
          </a:xfrm>
          <a:prstGeom prst="line">
            <a:avLst/>
          </a:prstGeom>
          <a:noFill/>
          <a:ln w="19050">
            <a:solidFill>
              <a:srgbClr val="9AA0A6"/>
            </a:solidFill>
            <a:prstDash val="solid"/>
            <a:tailEnd type="triangle"/>
          </a:ln>
        </p:spPr>
      </p:sp>
      <p:sp>
        <p:nvSpPr>
          <p:cNvPr id="51" name="Shape 49"/>
          <p:cNvSpPr/>
          <p:nvPr/>
        </p:nvSpPr>
        <p:spPr>
          <a:xfrm>
            <a:off x="4114800" y="4114800"/>
            <a:ext cx="1645920" cy="1051560"/>
          </a:xfrm>
          <a:prstGeom prst="roundRect">
            <a:avLst>
              <a:gd name="adj" fmla="val 10435"/>
            </a:avLst>
          </a:prstGeom>
          <a:solidFill>
            <a:srgbClr val="F4F5F7"/>
          </a:solidFill>
          <a:ln/>
        </p:spPr>
      </p:sp>
      <p:sp>
        <p:nvSpPr>
          <p:cNvPr id="52" name="Text 50"/>
          <p:cNvSpPr txBox="1"/>
          <p:nvPr/>
        </p:nvSpPr>
        <p:spPr>
          <a:xfrm>
            <a:off x="424281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3</a:t>
            </a:r>
            <a:endParaRPr lang="ko-KR" altLang="en-US" sz="1000" dirty="0"/>
          </a:p>
        </p:txBody>
      </p:sp>
      <p:sp>
        <p:nvSpPr>
          <p:cNvPr id="53" name="Text 51"/>
          <p:cNvSpPr txBox="1"/>
          <p:nvPr/>
        </p:nvSpPr>
        <p:spPr>
          <a:xfrm>
            <a:off x="424281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기존 앱은 데이터 종류로 화면을 나눴다</a:t>
            </a:r>
            <a:endParaRPr lang="ko-KR" altLang="en-US" sz="1150" dirty="0"/>
          </a:p>
        </p:txBody>
      </p:sp>
      <p:sp>
        <p:nvSpPr>
          <p:cNvPr id="54" name="Shape 52"/>
          <p:cNvSpPr/>
          <p:nvPr/>
        </p:nvSpPr>
        <p:spPr>
          <a:xfrm>
            <a:off x="5769864" y="4636008"/>
            <a:ext cx="118872" cy="0"/>
          </a:xfrm>
          <a:prstGeom prst="line">
            <a:avLst/>
          </a:prstGeom>
          <a:noFill/>
          <a:ln w="19050">
            <a:solidFill>
              <a:srgbClr val="9AA0A6"/>
            </a:solidFill>
            <a:prstDash val="solid"/>
            <a:tailEnd type="triangle"/>
          </a:ln>
        </p:spPr>
      </p:sp>
      <p:sp>
        <p:nvSpPr>
          <p:cNvPr id="55" name="Shape 53"/>
          <p:cNvSpPr/>
          <p:nvPr/>
        </p:nvSpPr>
        <p:spPr>
          <a:xfrm>
            <a:off x="5897880" y="4114800"/>
            <a:ext cx="1645920" cy="1051560"/>
          </a:xfrm>
          <a:prstGeom prst="roundRect">
            <a:avLst>
              <a:gd name="adj" fmla="val 10435"/>
            </a:avLst>
          </a:prstGeom>
          <a:solidFill>
            <a:srgbClr val="F4F5F7"/>
          </a:solidFill>
          <a:ln/>
        </p:spPr>
      </p:sp>
      <p:sp>
        <p:nvSpPr>
          <p:cNvPr id="56" name="Text 54"/>
          <p:cNvSpPr txBox="1"/>
          <p:nvPr/>
        </p:nvSpPr>
        <p:spPr>
          <a:xfrm>
            <a:off x="602589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4</a:t>
            </a:r>
            <a:endParaRPr lang="ko-KR" altLang="en-US" sz="1000" dirty="0"/>
          </a:p>
        </p:txBody>
      </p:sp>
      <p:sp>
        <p:nvSpPr>
          <p:cNvPr id="57" name="Text 55"/>
          <p:cNvSpPr txBox="1"/>
          <p:nvPr/>
        </p:nvSpPr>
        <p:spPr>
          <a:xfrm>
            <a:off x="602589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내 관심 IP로 모아 주는 곳이 없다</a:t>
            </a:r>
            <a:endParaRPr lang="ko-KR" altLang="en-US" sz="1150" dirty="0"/>
          </a:p>
        </p:txBody>
      </p:sp>
      <p:sp>
        <p:nvSpPr>
          <p:cNvPr id="58" name="Shape 56"/>
          <p:cNvSpPr/>
          <p:nvPr/>
        </p:nvSpPr>
        <p:spPr>
          <a:xfrm>
            <a:off x="7552944" y="4636008"/>
            <a:ext cx="118872" cy="0"/>
          </a:xfrm>
          <a:prstGeom prst="line">
            <a:avLst/>
          </a:prstGeom>
          <a:noFill/>
          <a:ln w="19050">
            <a:solidFill>
              <a:srgbClr val="9AA0A6"/>
            </a:solidFill>
            <a:prstDash val="solid"/>
            <a:tailEnd type="triangle"/>
          </a:ln>
        </p:spPr>
      </p:sp>
      <p:sp>
        <p:nvSpPr>
          <p:cNvPr id="59" name="Shape 57"/>
          <p:cNvSpPr/>
          <p:nvPr/>
        </p:nvSpPr>
        <p:spPr>
          <a:xfrm>
            <a:off x="7680960" y="4114800"/>
            <a:ext cx="3959352" cy="1984248"/>
          </a:xfrm>
          <a:prstGeom prst="roundRect">
            <a:avLst>
              <a:gd name="adj" fmla="val 7373"/>
            </a:avLst>
          </a:prstGeom>
          <a:solidFill>
            <a:srgbClr val="1C86D9"/>
          </a:solidFill>
          <a:ln/>
        </p:spPr>
      </p:sp>
      <p:sp>
        <p:nvSpPr>
          <p:cNvPr id="60" name="Text 58"/>
          <p:cNvSpPr txBox="1"/>
          <p:nvPr/>
        </p:nvSpPr>
        <p:spPr>
          <a:xfrm>
            <a:off x="7909560" y="4224528"/>
            <a:ext cx="3566160" cy="256032"/>
          </a:xfrm>
          <a:prstGeom prst="rect">
            <a:avLst/>
          </a:prstGeom>
          <a:noFill/>
          <a:ln/>
        </p:spPr>
        <p:txBody>
          <a:bodyPr wrap="square" lIns="0" tIns="0" rIns="0" bIns="0" rtlCol="0" anchor="t"/>
          <a:lstStyle/>
          <a:p>
            <a:pPr indent="0" marL="0">
              <a:buNone/>
            </a:pPr>
            <a:r>
              <a:rPr lang="ko-KR" altLang="en-US" sz="1100" b="1" dirty="0">
                <a:solidFill>
                  <a:srgbClr val="CFE5F7"/>
                </a:solidFill>
                <a:latin typeface="Malgun Gothic" pitchFamily="34" charset="0"/>
                <a:ea typeface="Malgun Gothic" pitchFamily="34" charset="-122"/>
                <a:cs typeface="Malgun Gothic" pitchFamily="34" charset="-120"/>
              </a:rPr>
              <a:t>Why 5 — 근본 원인</a:t>
            </a:r>
            <a:endParaRPr lang="ko-KR" altLang="en-US" sz="1100" dirty="0"/>
          </a:p>
        </p:txBody>
      </p:sp>
      <p:sp>
        <p:nvSpPr>
          <p:cNvPr id="61" name="Text 59"/>
          <p:cNvSpPr txBox="1"/>
          <p:nvPr/>
        </p:nvSpPr>
        <p:spPr>
          <a:xfrm>
            <a:off x="7909560" y="4498848"/>
            <a:ext cx="3566160" cy="777240"/>
          </a:xfrm>
          <a:prstGeom prst="rect">
            <a:avLst/>
          </a:prstGeom>
          <a:noFill/>
          <a:ln/>
        </p:spPr>
        <p:txBody>
          <a:bodyPr wrap="square" lIns="0" tIns="0" rIns="0" bIns="0" rtlCol="0" anchor="t"/>
          <a:lstStyle/>
          <a:p>
            <a:pPr indent="0" marL="0">
              <a:buNone/>
            </a:pPr>
            <a:r>
              <a:rPr lang="ko-KR" altLang="en-US" sz="1500" b="1" dirty="0">
                <a:solidFill>
                  <a:srgbClr val="FFFFFF"/>
                </a:solidFill>
                <a:latin typeface="Malgun Gothic" pitchFamily="34" charset="0"/>
                <a:ea typeface="Malgun Gothic" pitchFamily="34" charset="-122"/>
                <a:cs typeface="Malgun Gothic" pitchFamily="34" charset="-120"/>
              </a:rPr>
              <a:t>내 관심 IP와 내가 하는 일의 순서가 화면의 기준이 아니다</a:t>
            </a:r>
            <a:endParaRPr lang="ko-KR" altLang="en-US" sz="1500" dirty="0"/>
          </a:p>
        </p:txBody>
      </p:sp>
      <p:sp>
        <p:nvSpPr>
          <p:cNvPr id="62" name="Text 60"/>
          <p:cNvSpPr txBox="1"/>
          <p:nvPr/>
        </p:nvSpPr>
        <p:spPr>
          <a:xfrm>
            <a:off x="7909560" y="5349240"/>
            <a:ext cx="3566160" cy="685800"/>
          </a:xfrm>
          <a:prstGeom prst="rect">
            <a:avLst/>
          </a:prstGeom>
          <a:noFill/>
          <a:ln/>
        </p:spPr>
        <p:txBody>
          <a:bodyPr wrap="square" lIns="0" tIns="0" rIns="0" bIns="0" rtlCol="0" anchor="t"/>
          <a:lstStyle/>
          <a:p>
            <a:pPr indent="0" marL="0">
              <a:buNone/>
            </a:pPr>
            <a:r>
              <a:rPr lang="ko-KR" altLang="en-US" sz="1150" b="1" dirty="0">
                <a:solidFill>
                  <a:srgbClr val="FFFFFF"/>
                </a:solidFill>
                <a:latin typeface="Malgun Gothic" pitchFamily="34" charset="0"/>
                <a:ea typeface="Malgun Gothic" pitchFamily="34" charset="-122"/>
                <a:cs typeface="Malgun Gothic" pitchFamily="34" charset="-120"/>
              </a:rPr>
              <a:t>→ Hobby Atlas: </a:t>
            </a:r>
            <a:pPr indent="0" marL="0">
              <a:buNone/>
            </a:pPr>
            <a:r>
              <a:rPr lang="ko-KR" altLang="en-US" sz="1150" dirty="0">
                <a:solidFill>
                  <a:srgbClr val="FFFFFF"/>
                </a:solidFill>
                <a:latin typeface="Malgun Gothic" pitchFamily="34" charset="0"/>
                <a:ea typeface="Malgun Gothic" pitchFamily="34" charset="-122"/>
                <a:cs typeface="Malgun Gothic" pitchFamily="34" charset="-120"/>
              </a:rPr>
              <a:t>위는 내 채널 바 하나, 아래 탭은 소식 · 찾기 · 발매 · 기록 순서</a:t>
            </a:r>
            <a:endParaRPr lang="ko-KR" altLang="en-US" sz="1150" dirty="0"/>
          </a:p>
        </p:txBody>
      </p:sp>
      <p:sp>
        <p:nvSpPr>
          <p:cNvPr id="63" name="Shape 61"/>
          <p:cNvSpPr/>
          <p:nvPr/>
        </p:nvSpPr>
        <p:spPr>
          <a:xfrm>
            <a:off x="548640" y="5349240"/>
            <a:ext cx="6949440" cy="749808"/>
          </a:xfrm>
          <a:prstGeom prst="roundRect">
            <a:avLst>
              <a:gd name="adj" fmla="val 14634"/>
            </a:avLst>
          </a:prstGeom>
          <a:solidFill>
            <a:srgbClr val="FFFFFF"/>
          </a:solidFill>
          <a:ln w="9525">
            <a:solidFill>
              <a:srgbClr val="E3E5E8"/>
            </a:solidFill>
            <a:prstDash val="solid"/>
          </a:ln>
        </p:spPr>
      </p:sp>
      <p:sp>
        <p:nvSpPr>
          <p:cNvPr id="64" name="Text 62"/>
          <p:cNvSpPr txBox="1"/>
          <p:nvPr/>
        </p:nvSpPr>
        <p:spPr>
          <a:xfrm>
            <a:off x="731520" y="5349240"/>
            <a:ext cx="6675120" cy="749808"/>
          </a:xfrm>
          <a:prstGeom prst="rect">
            <a:avLst/>
          </a:prstGeom>
          <a:noFill/>
          <a:ln/>
        </p:spPr>
        <p:txBody>
          <a:bodyPr wrap="square" lIns="0" tIns="0" rIns="0" bIns="0" rtlCol="0" anchor="ctr"/>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어긴 원칙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P01 새 소식이 안 보임 · P06 직접 찾아다녀야 함 · P08 정보 과다   </a:t>
            </a:r>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필요한 데이터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announcements · kits.releaseDate</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홈 시안</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 시안 A · B · C — AI는 B를 추천했지만 나는 A를 골랐다</a:t>
            </a:r>
            <a:endParaRPr lang="ko-KR" altLang="en-US" sz="2800" dirty="0"/>
          </a:p>
        </p:txBody>
      </p:sp>
      <p:sp>
        <p:nvSpPr>
          <p:cNvPr id="4" name="Shape 2"/>
          <p:cNvSpPr/>
          <p:nvPr/>
        </p:nvSpPr>
        <p:spPr>
          <a:xfrm>
            <a:off x="548640" y="1417320"/>
            <a:ext cx="11091672" cy="868680"/>
          </a:xfrm>
          <a:prstGeom prst="roundRect">
            <a:avLst>
              <a:gd name="adj" fmla="val 12632"/>
            </a:avLst>
          </a:prstGeom>
          <a:solidFill>
            <a:srgbClr val="FFF4E2"/>
          </a:solidFill>
          <a:ln/>
        </p:spPr>
      </p:sp>
      <p:sp>
        <p:nvSpPr>
          <p:cNvPr id="5" name="Text 3"/>
          <p:cNvSpPr txBox="1"/>
          <p:nvPr/>
        </p:nvSpPr>
        <p:spPr>
          <a:xfrm>
            <a:off x="749808" y="1463040"/>
            <a:ext cx="10698480" cy="237744"/>
          </a:xfrm>
          <a:prstGeom prst="rect">
            <a:avLst/>
          </a:prstGeom>
          <a:noFill/>
          <a:ln/>
        </p:spPr>
        <p:txBody>
          <a:bodyPr wrap="square" lIns="0" tIns="0" rIns="0" bIns="0" rtlCol="0" anchor="t"/>
          <a:lstStyle/>
          <a:p>
            <a:pPr indent="0" marL="0">
              <a:buNone/>
            </a:pPr>
            <a:r>
              <a:rPr lang="ko-KR" altLang="en-US" sz="1000" b="1" dirty="0">
                <a:solidFill>
                  <a:srgbClr val="B86E00"/>
                </a:solidFill>
                <a:latin typeface="Malgun Gothic" pitchFamily="34" charset="0"/>
                <a:ea typeface="Malgun Gothic" pitchFamily="34" charset="-122"/>
                <a:cs typeface="Malgun Gothic" pitchFamily="34" charset="-120"/>
              </a:rPr>
              <a:t>내 요청 · 10/25 15:00</a:t>
            </a:r>
            <a:endParaRPr lang="ko-KR" altLang="en-US" sz="1000" dirty="0"/>
          </a:p>
        </p:txBody>
      </p:sp>
      <p:sp>
        <p:nvSpPr>
          <p:cNvPr id="6" name="Text 4"/>
          <p:cNvSpPr txBox="1"/>
          <p:nvPr/>
        </p:nvSpPr>
        <p:spPr>
          <a:xfrm>
            <a:off x="749808" y="1700784"/>
            <a:ext cx="10698480" cy="54864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“아바타는 그 줄 위에 두고, 홈에 검색은 필요해. 그런데 안의 기능들을 위에서 아래로 나열하지 말고, 더 좋은 UI 방식을 같이 고민해 보자.”</a:t>
            </a:r>
            <a:endParaRPr lang="ko-KR" altLang="en-US" sz="1250" dirty="0"/>
          </a:p>
        </p:txBody>
      </p:sp>
      <p:sp>
        <p:nvSpPr>
          <p:cNvPr id="7" name="Shape 5"/>
          <p:cNvSpPr/>
          <p:nvPr/>
        </p:nvSpPr>
        <p:spPr>
          <a:xfrm>
            <a:off x="548640" y="2423160"/>
            <a:ext cx="2240280" cy="292608"/>
          </a:xfrm>
          <a:prstGeom prst="roundRect">
            <a:avLst>
              <a:gd name="adj" fmla="val 50000"/>
            </a:avLst>
          </a:prstGeom>
          <a:solidFill>
            <a:srgbClr val="1C86D9"/>
          </a:solidFill>
          <a:ln/>
        </p:spPr>
      </p:sp>
      <p:sp>
        <p:nvSpPr>
          <p:cNvPr id="8" name="Text 6"/>
          <p:cNvSpPr txBox="1"/>
          <p:nvPr/>
        </p:nvSpPr>
        <p:spPr>
          <a:xfrm>
            <a:off x="548640" y="2423160"/>
            <a:ext cx="224028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A 매거진 · 내 선택</a:t>
            </a:r>
            <a:endParaRPr lang="ko-KR" altLang="en-US" sz="1050" dirty="0"/>
          </a:p>
        </p:txBody>
      </p:sp>
      <p:sp>
        <p:nvSpPr>
          <p:cNvPr id="9" name="Shape 7"/>
          <p:cNvSpPr/>
          <p:nvPr/>
        </p:nvSpPr>
        <p:spPr>
          <a:xfrm>
            <a:off x="939970" y="2830068"/>
            <a:ext cx="1457621" cy="2569464"/>
          </a:xfrm>
          <a:prstGeom prst="roundRect">
            <a:avLst>
              <a:gd name="adj" fmla="val 4100"/>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abc_a.png">    </p:cNvPr>
          <p:cNvPicPr>
            <a:picLocks noChangeAspect="1"/>
          </p:cNvPicPr>
          <p:nvPr/>
        </p:nvPicPr>
        <p:blipFill>
          <a:blip r:embed="rId1"/>
          <a:stretch>
            <a:fillRect/>
          </a:stretch>
        </p:blipFill>
        <p:spPr>
          <a:xfrm>
            <a:off x="921682" y="2811780"/>
            <a:ext cx="1494197" cy="2606040"/>
          </a:xfrm>
          <a:prstGeom prst="rect">
            <a:avLst/>
          </a:prstGeom>
        </p:spPr>
      </p:pic>
      <p:sp>
        <p:nvSpPr>
          <p:cNvPr id="11" name="Text 8"/>
          <p:cNvSpPr txBox="1"/>
          <p:nvPr/>
        </p:nvSpPr>
        <p:spPr>
          <a:xfrm>
            <a:off x="548640" y="5486400"/>
            <a:ext cx="2240280" cy="384048"/>
          </a:xfrm>
          <a:prstGeom prst="rect">
            <a:avLst/>
          </a:prstGeom>
          <a:noFill/>
          <a:ln/>
        </p:spPr>
        <p:txBody>
          <a:bodyPr wrap="square" lIns="0" tIns="0" rIns="0" bIns="0" rtlCol="0" anchor="t"/>
          <a:lstStyle/>
          <a:p>
            <a:pPr algn="ctr" indent="0" marL="0">
              <a:buNone/>
            </a:pPr>
            <a:r>
              <a:rPr lang="ko-KR" altLang="en-US" sz="950" dirty="0">
                <a:solidFill>
                  <a:srgbClr val="3D4148"/>
                </a:solidFill>
                <a:latin typeface="Malgun Gothic" pitchFamily="34" charset="0"/>
                <a:ea typeface="Malgun Gothic" pitchFamily="34" charset="-122"/>
                <a:cs typeface="Malgun Gothic" pitchFamily="34" charset="-120"/>
              </a:rPr>
              <a:t>큰 사진 한 장 넘기기 + 태그 붙은 2열 사진</a:t>
            </a:r>
            <a:endParaRPr lang="ko-KR" altLang="en-US" sz="950" dirty="0"/>
          </a:p>
        </p:txBody>
      </p:sp>
      <p:sp>
        <p:nvSpPr>
          <p:cNvPr id="12" name="Text 9"/>
          <p:cNvSpPr txBox="1"/>
          <p:nvPr/>
        </p:nvSpPr>
        <p:spPr>
          <a:xfrm>
            <a:off x="548640" y="5870448"/>
            <a:ext cx="2240280" cy="274320"/>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 사진이 가장 크고 많다</a:t>
            </a:r>
            <a:endParaRPr lang="ko-KR" altLang="en-US" sz="1100" dirty="0"/>
          </a:p>
        </p:txBody>
      </p:sp>
      <p:sp>
        <p:nvSpPr>
          <p:cNvPr id="13" name="Shape 10"/>
          <p:cNvSpPr/>
          <p:nvPr/>
        </p:nvSpPr>
        <p:spPr>
          <a:xfrm>
            <a:off x="2944368" y="2423160"/>
            <a:ext cx="2240280" cy="292608"/>
          </a:xfrm>
          <a:prstGeom prst="roundRect">
            <a:avLst>
              <a:gd name="adj" fmla="val 50000"/>
            </a:avLst>
          </a:prstGeom>
          <a:solidFill>
            <a:srgbClr val="B86E00"/>
          </a:solidFill>
          <a:ln/>
        </p:spPr>
      </p:sp>
      <p:sp>
        <p:nvSpPr>
          <p:cNvPr id="14" name="Text 11"/>
          <p:cNvSpPr txBox="1"/>
          <p:nvPr/>
        </p:nvSpPr>
        <p:spPr>
          <a:xfrm>
            <a:off x="2944368" y="2423160"/>
            <a:ext cx="224028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B 벤토 · AI 추천</a:t>
            </a:r>
            <a:endParaRPr lang="ko-KR" altLang="en-US" sz="1050" dirty="0"/>
          </a:p>
        </p:txBody>
      </p:sp>
      <p:pic>
        <p:nvPicPr>
          <p:cNvPr id="15" name="Image 1" descr="C:\Users\Windows11\AppData\Local\Temp\claude\C--Users-Windows11-Desktop-New-folder--2-\a0c8a1d0-32ba-4ae6-9843-b5ebc69d925f\scratchpad\deck2/img/abc_b.png">    </p:cNvPr>
          <p:cNvPicPr>
            <a:picLocks noChangeAspect="1"/>
          </p:cNvPicPr>
          <p:nvPr/>
        </p:nvPicPr>
        <p:blipFill>
          <a:blip r:embed="rId2"/>
          <a:stretch>
            <a:fillRect/>
          </a:stretch>
        </p:blipFill>
        <p:spPr>
          <a:xfrm>
            <a:off x="3322441" y="2811780"/>
            <a:ext cx="1484135" cy="2606040"/>
          </a:xfrm>
          <a:prstGeom prst="rect">
            <a:avLst/>
          </a:prstGeom>
        </p:spPr>
      </p:pic>
      <p:sp>
        <p:nvSpPr>
          <p:cNvPr id="16" name="Text 12"/>
          <p:cNvSpPr txBox="1"/>
          <p:nvPr/>
        </p:nvSpPr>
        <p:spPr>
          <a:xfrm>
            <a:off x="2944368" y="5486400"/>
            <a:ext cx="2240280" cy="384048"/>
          </a:xfrm>
          <a:prstGeom prst="rect">
            <a:avLst/>
          </a:prstGeom>
          <a:noFill/>
          <a:ln/>
        </p:spPr>
        <p:txBody>
          <a:bodyPr wrap="square" lIns="0" tIns="0" rIns="0" bIns="0" rtlCol="0" anchor="t"/>
          <a:lstStyle/>
          <a:p>
            <a:pPr algn="ctr" indent="0" marL="0">
              <a:buNone/>
            </a:pPr>
            <a:r>
              <a:rPr lang="ko-KR" altLang="en-US" sz="950" dirty="0">
                <a:solidFill>
                  <a:srgbClr val="3D4148"/>
                </a:solidFill>
                <a:latin typeface="Malgun Gothic" pitchFamily="34" charset="0"/>
                <a:ea typeface="Malgun Gothic" pitchFamily="34" charset="-122"/>
                <a:cs typeface="Malgun Gothic" pitchFamily="34" charset="-120"/>
              </a:rPr>
              <a:t>한 화면에 크기가 다른 4칸 (신규 8 · 10월 발매 3 · 예고 6 · 최근 본)</a:t>
            </a:r>
            <a:endParaRPr lang="ko-KR" altLang="en-US" sz="950" dirty="0"/>
          </a:p>
        </p:txBody>
      </p:sp>
      <p:sp>
        <p:nvSpPr>
          <p:cNvPr id="17" name="Text 13"/>
          <p:cNvSpPr txBox="1"/>
          <p:nvPr/>
        </p:nvSpPr>
        <p:spPr>
          <a:xfrm>
            <a:off x="2944368" y="5870448"/>
            <a:ext cx="2240280" cy="274320"/>
          </a:xfrm>
          <a:prstGeom prst="rect">
            <a:avLst/>
          </a:prstGeom>
          <a:noFill/>
          <a:ln/>
        </p:spPr>
        <p:txBody>
          <a:bodyPr wrap="square" lIns="0" tIns="0" rIns="0" bIns="0" rtlCol="0" anchor="t"/>
          <a:lstStyle/>
          <a:p>
            <a:pPr algn="ctr" indent="0" marL="0">
              <a:buNone/>
            </a:pPr>
            <a:r>
              <a:rPr lang="ko-KR" altLang="en-US" sz="1100" b="1" dirty="0">
                <a:solidFill>
                  <a:srgbClr val="D93F44"/>
                </a:solidFill>
                <a:latin typeface="Malgun Gothic" pitchFamily="34" charset="0"/>
                <a:ea typeface="Malgun Gothic" pitchFamily="34" charset="-122"/>
                <a:cs typeface="Malgun Gothic" pitchFamily="34" charset="-120"/>
              </a:rPr>
              <a:t>✕ 숫자 위주 — 사진이 작다</a:t>
            </a:r>
            <a:endParaRPr lang="ko-KR" altLang="en-US" sz="1100" dirty="0"/>
          </a:p>
        </p:txBody>
      </p:sp>
      <p:sp>
        <p:nvSpPr>
          <p:cNvPr id="18" name="Shape 14"/>
          <p:cNvSpPr/>
          <p:nvPr/>
        </p:nvSpPr>
        <p:spPr>
          <a:xfrm>
            <a:off x="5340096" y="2423160"/>
            <a:ext cx="2240280" cy="292608"/>
          </a:xfrm>
          <a:prstGeom prst="roundRect">
            <a:avLst>
              <a:gd name="adj" fmla="val 50000"/>
            </a:avLst>
          </a:prstGeom>
          <a:solidFill>
            <a:srgbClr val="9AA0A6"/>
          </a:solidFill>
          <a:ln/>
        </p:spPr>
      </p:sp>
      <p:sp>
        <p:nvSpPr>
          <p:cNvPr id="19" name="Text 15"/>
          <p:cNvSpPr txBox="1"/>
          <p:nvPr/>
        </p:nvSpPr>
        <p:spPr>
          <a:xfrm>
            <a:off x="5340096" y="2423160"/>
            <a:ext cx="224028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C 카드 덱</a:t>
            </a:r>
            <a:endParaRPr lang="ko-KR" altLang="en-US" sz="1050" dirty="0"/>
          </a:p>
        </p:txBody>
      </p:sp>
      <p:pic>
        <p:nvPicPr>
          <p:cNvPr id="20" name="Image 2" descr="C:\Users\Windows11\AppData\Local\Temp\claude\C--Users-Windows11-Desktop-New-folder--2-\a0c8a1d0-32ba-4ae6-9843-b5ebc69d925f\scratchpad\deck2/img/abc_c.png">    </p:cNvPr>
          <p:cNvPicPr>
            <a:picLocks noChangeAspect="1"/>
          </p:cNvPicPr>
          <p:nvPr/>
        </p:nvPicPr>
        <p:blipFill>
          <a:blip r:embed="rId3"/>
          <a:stretch>
            <a:fillRect/>
          </a:stretch>
        </p:blipFill>
        <p:spPr>
          <a:xfrm>
            <a:off x="5718169" y="2811780"/>
            <a:ext cx="1484135" cy="2606040"/>
          </a:xfrm>
          <a:prstGeom prst="rect">
            <a:avLst/>
          </a:prstGeom>
        </p:spPr>
      </p:pic>
      <p:sp>
        <p:nvSpPr>
          <p:cNvPr id="21" name="Text 16"/>
          <p:cNvSpPr txBox="1"/>
          <p:nvPr/>
        </p:nvSpPr>
        <p:spPr>
          <a:xfrm>
            <a:off x="5340096" y="5486400"/>
            <a:ext cx="2240280" cy="384048"/>
          </a:xfrm>
          <a:prstGeom prst="rect">
            <a:avLst/>
          </a:prstGeom>
          <a:noFill/>
          <a:ln/>
        </p:spPr>
        <p:txBody>
          <a:bodyPr wrap="square" lIns="0" tIns="0" rIns="0" bIns="0" rtlCol="0" anchor="t"/>
          <a:lstStyle/>
          <a:p>
            <a:pPr algn="ctr" indent="0" marL="0">
              <a:buNone/>
            </a:pPr>
            <a:r>
              <a:rPr lang="ko-KR" altLang="en-US" sz="950" dirty="0">
                <a:solidFill>
                  <a:srgbClr val="3D4148"/>
                </a:solidFill>
                <a:latin typeface="Malgun Gothic" pitchFamily="34" charset="0"/>
                <a:ea typeface="Malgun Gothic" pitchFamily="34" charset="-122"/>
                <a:cs typeface="Malgun Gothic" pitchFamily="34" charset="-120"/>
              </a:rPr>
              <a:t>위 알약으로 종류 · 큰 카드를 하나씩 넘김</a:t>
            </a:r>
            <a:endParaRPr lang="ko-KR" altLang="en-US" sz="950" dirty="0"/>
          </a:p>
        </p:txBody>
      </p:sp>
      <p:sp>
        <p:nvSpPr>
          <p:cNvPr id="22" name="Text 17"/>
          <p:cNvSpPr txBox="1"/>
          <p:nvPr/>
        </p:nvSpPr>
        <p:spPr>
          <a:xfrm>
            <a:off x="5340096" y="5870448"/>
            <a:ext cx="2240280" cy="274320"/>
          </a:xfrm>
          <a:prstGeom prst="rect">
            <a:avLst/>
          </a:prstGeom>
          <a:noFill/>
          <a:ln/>
        </p:spPr>
        <p:txBody>
          <a:bodyPr wrap="square" lIns="0" tIns="0" rIns="0" bIns="0" rtlCol="0" anchor="t"/>
          <a:lstStyle/>
          <a:p>
            <a:pPr algn="ctr" indent="0" marL="0">
              <a:buNone/>
            </a:pPr>
            <a:r>
              <a:rPr lang="ko-KR" altLang="en-US" sz="1100" b="1" dirty="0">
                <a:solidFill>
                  <a:srgbClr val="D93F44"/>
                </a:solidFill>
                <a:latin typeface="Malgun Gothic" pitchFamily="34" charset="0"/>
                <a:ea typeface="Malgun Gothic" pitchFamily="34" charset="-122"/>
                <a:cs typeface="Malgun Gothic" pitchFamily="34" charset="-120"/>
              </a:rPr>
              <a:t>✕ 한 번에 하나 — 찾기 느리다</a:t>
            </a:r>
            <a:endParaRPr lang="ko-KR" altLang="en-US" sz="1100" dirty="0"/>
          </a:p>
        </p:txBody>
      </p:sp>
      <p:sp>
        <p:nvSpPr>
          <p:cNvPr id="23" name="Shape 18"/>
          <p:cNvSpPr/>
          <p:nvPr/>
        </p:nvSpPr>
        <p:spPr>
          <a:xfrm>
            <a:off x="7818120" y="2423160"/>
            <a:ext cx="3822192" cy="3721608"/>
          </a:xfrm>
          <a:prstGeom prst="roundRect">
            <a:avLst>
              <a:gd name="adj" fmla="val 344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4" name="Text 19"/>
          <p:cNvSpPr txBox="1"/>
          <p:nvPr/>
        </p:nvSpPr>
        <p:spPr>
          <a:xfrm>
            <a:off x="8046720" y="2560320"/>
            <a:ext cx="338328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어떻게 정했나</a:t>
            </a:r>
            <a:endParaRPr lang="ko-KR" altLang="en-US" sz="1300" dirty="0"/>
          </a:p>
        </p:txBody>
      </p:sp>
      <p:sp>
        <p:nvSpPr>
          <p:cNvPr id="25" name="Shape 20"/>
          <p:cNvSpPr/>
          <p:nvPr/>
        </p:nvSpPr>
        <p:spPr>
          <a:xfrm>
            <a:off x="8046720" y="2962656"/>
            <a:ext cx="457200" cy="237744"/>
          </a:xfrm>
          <a:prstGeom prst="roundRect">
            <a:avLst>
              <a:gd name="adj" fmla="val 50000"/>
            </a:avLst>
          </a:prstGeom>
          <a:solidFill>
            <a:srgbClr val="F4F5F7"/>
          </a:solidFill>
          <a:ln/>
        </p:spPr>
      </p:sp>
      <p:sp>
        <p:nvSpPr>
          <p:cNvPr id="26" name="Text 21"/>
          <p:cNvSpPr txBox="1"/>
          <p:nvPr/>
        </p:nvSpPr>
        <p:spPr>
          <a:xfrm>
            <a:off x="8046720" y="2962656"/>
            <a:ext cx="457200" cy="237744"/>
          </a:xfrm>
          <a:prstGeom prst="rect">
            <a:avLst/>
          </a:prstGeom>
          <a:noFill/>
          <a:ln/>
        </p:spPr>
        <p:txBody>
          <a:bodyPr wrap="square" lIns="0" tIns="0" rIns="0" bIns="0" rtlCol="0" anchor="ctr"/>
          <a:lstStyle/>
          <a:p>
            <a:pPr algn="ctr" indent="0" marL="0">
              <a:buNone/>
            </a:pPr>
            <a:r>
              <a:rPr lang="ko-KR" altLang="en-US" sz="950" b="1" dirty="0">
                <a:solidFill>
                  <a:srgbClr val="3D4148"/>
                </a:solidFill>
                <a:latin typeface="Malgun Gothic" pitchFamily="34" charset="0"/>
                <a:ea typeface="Malgun Gothic" pitchFamily="34" charset="-122"/>
                <a:cs typeface="Malgun Gothic" pitchFamily="34" charset="-120"/>
              </a:rPr>
              <a:t>AI</a:t>
            </a:r>
            <a:endParaRPr lang="ko-KR" altLang="en-US" sz="950" dirty="0"/>
          </a:p>
        </p:txBody>
      </p:sp>
      <p:sp>
        <p:nvSpPr>
          <p:cNvPr id="27" name="Text 22"/>
          <p:cNvSpPr txBox="1"/>
          <p:nvPr/>
        </p:nvSpPr>
        <p:spPr>
          <a:xfrm>
            <a:off x="8595360" y="2926080"/>
            <a:ext cx="2926080" cy="502920"/>
          </a:xfrm>
          <a:prstGeom prst="rect">
            <a:avLst/>
          </a:prstGeom>
          <a:noFill/>
          <a:ln/>
        </p:spPr>
        <p:txBody>
          <a:bodyPr wrap="square" lIns="0" tIns="0" rIns="0" bIns="0" rtlCol="0" anchor="t"/>
          <a:lstStyle/>
          <a:p>
            <a:pPr indent="0" marL="0">
              <a:buNone/>
            </a:pPr>
            <a:r>
              <a:rPr lang="ko-KR" altLang="en-US" sz="1050" dirty="0">
                <a:solidFill>
                  <a:srgbClr val="111111"/>
                </a:solidFill>
                <a:latin typeface="Malgun Gothic" pitchFamily="34" charset="0"/>
                <a:ea typeface="Malgun Gothic" pitchFamily="34" charset="-122"/>
                <a:cs typeface="Malgun Gothic" pitchFamily="34" charset="-120"/>
              </a:rPr>
              <a:t>A · B · C를 보여 주고 "B에 사진을 넣자"고 추천</a:t>
            </a:r>
            <a:endParaRPr lang="ko-KR" altLang="en-US" sz="1050" dirty="0"/>
          </a:p>
        </p:txBody>
      </p:sp>
      <p:sp>
        <p:nvSpPr>
          <p:cNvPr id="28" name="Shape 23"/>
          <p:cNvSpPr/>
          <p:nvPr/>
        </p:nvSpPr>
        <p:spPr>
          <a:xfrm>
            <a:off x="8046720" y="3511296"/>
            <a:ext cx="457200" cy="237744"/>
          </a:xfrm>
          <a:prstGeom prst="roundRect">
            <a:avLst>
              <a:gd name="adj" fmla="val 50000"/>
            </a:avLst>
          </a:prstGeom>
          <a:solidFill>
            <a:srgbClr val="1C86D9"/>
          </a:solidFill>
          <a:ln/>
        </p:spPr>
      </p:sp>
      <p:sp>
        <p:nvSpPr>
          <p:cNvPr id="29" name="Text 24"/>
          <p:cNvSpPr txBox="1"/>
          <p:nvPr/>
        </p:nvSpPr>
        <p:spPr>
          <a:xfrm>
            <a:off x="8046720" y="3511296"/>
            <a:ext cx="457200" cy="237744"/>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나</a:t>
            </a:r>
            <a:endParaRPr lang="ko-KR" altLang="en-US" sz="950" dirty="0"/>
          </a:p>
        </p:txBody>
      </p:sp>
      <p:sp>
        <p:nvSpPr>
          <p:cNvPr id="30" name="Text 25"/>
          <p:cNvSpPr txBox="1"/>
          <p:nvPr/>
        </p:nvSpPr>
        <p:spPr>
          <a:xfrm>
            <a:off x="8595360" y="3474720"/>
            <a:ext cx="2926080" cy="502920"/>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"나는 A가 더 좋아, 시안을 더 보여 줘"</a:t>
            </a:r>
            <a:endParaRPr lang="ko-KR" altLang="en-US" sz="1050" dirty="0"/>
          </a:p>
        </p:txBody>
      </p:sp>
      <p:sp>
        <p:nvSpPr>
          <p:cNvPr id="31" name="Shape 26"/>
          <p:cNvSpPr/>
          <p:nvPr/>
        </p:nvSpPr>
        <p:spPr>
          <a:xfrm>
            <a:off x="8046720" y="4059936"/>
            <a:ext cx="457200" cy="237744"/>
          </a:xfrm>
          <a:prstGeom prst="roundRect">
            <a:avLst>
              <a:gd name="adj" fmla="val 50000"/>
            </a:avLst>
          </a:prstGeom>
          <a:solidFill>
            <a:srgbClr val="F4F5F7"/>
          </a:solidFill>
          <a:ln/>
        </p:spPr>
      </p:sp>
      <p:sp>
        <p:nvSpPr>
          <p:cNvPr id="32" name="Text 27"/>
          <p:cNvSpPr txBox="1"/>
          <p:nvPr/>
        </p:nvSpPr>
        <p:spPr>
          <a:xfrm>
            <a:off x="8046720" y="4059936"/>
            <a:ext cx="457200" cy="237744"/>
          </a:xfrm>
          <a:prstGeom prst="rect">
            <a:avLst/>
          </a:prstGeom>
          <a:noFill/>
          <a:ln/>
        </p:spPr>
        <p:txBody>
          <a:bodyPr wrap="square" lIns="0" tIns="0" rIns="0" bIns="0" rtlCol="0" anchor="ctr"/>
          <a:lstStyle/>
          <a:p>
            <a:pPr algn="ctr" indent="0" marL="0">
              <a:buNone/>
            </a:pPr>
            <a:r>
              <a:rPr lang="ko-KR" altLang="en-US" sz="950" b="1" dirty="0">
                <a:solidFill>
                  <a:srgbClr val="3D4148"/>
                </a:solidFill>
                <a:latin typeface="Malgun Gothic" pitchFamily="34" charset="0"/>
                <a:ea typeface="Malgun Gothic" pitchFamily="34" charset="-122"/>
                <a:cs typeface="Malgun Gothic" pitchFamily="34" charset="-120"/>
              </a:rPr>
              <a:t>AI</a:t>
            </a:r>
            <a:endParaRPr lang="ko-KR" altLang="en-US" sz="950" dirty="0"/>
          </a:p>
        </p:txBody>
      </p:sp>
      <p:sp>
        <p:nvSpPr>
          <p:cNvPr id="33" name="Text 28"/>
          <p:cNvSpPr txBox="1"/>
          <p:nvPr/>
        </p:nvSpPr>
        <p:spPr>
          <a:xfrm>
            <a:off x="8595360" y="4023360"/>
            <a:ext cx="2926080" cy="502920"/>
          </a:xfrm>
          <a:prstGeom prst="rect">
            <a:avLst/>
          </a:prstGeom>
          <a:noFill/>
          <a:ln/>
        </p:spPr>
        <p:txBody>
          <a:bodyPr wrap="square" lIns="0" tIns="0" rIns="0" bIns="0" rtlCol="0" anchor="t"/>
          <a:lstStyle/>
          <a:p>
            <a:pPr indent="0" marL="0">
              <a:buNone/>
            </a:pPr>
            <a:r>
              <a:rPr lang="ko-KR" altLang="en-US" sz="1050" dirty="0">
                <a:solidFill>
                  <a:srgbClr val="111111"/>
                </a:solidFill>
                <a:latin typeface="Malgun Gothic" pitchFamily="34" charset="0"/>
                <a:ea typeface="Malgun Gothic" pitchFamily="34" charset="-122"/>
                <a:cs typeface="Malgun Gothic" pitchFamily="34" charset="-120"/>
              </a:rPr>
              <a:t>A1 룩북 · A2 메이슨리 · A3 에디토리얼 · A4 타임라인 — A1 추천</a:t>
            </a:r>
            <a:endParaRPr lang="ko-KR" altLang="en-US" sz="1050" dirty="0"/>
          </a:p>
        </p:txBody>
      </p:sp>
      <p:sp>
        <p:nvSpPr>
          <p:cNvPr id="34" name="Shape 29"/>
          <p:cNvSpPr/>
          <p:nvPr/>
        </p:nvSpPr>
        <p:spPr>
          <a:xfrm>
            <a:off x="8046720" y="4608576"/>
            <a:ext cx="457200" cy="237744"/>
          </a:xfrm>
          <a:prstGeom prst="roundRect">
            <a:avLst>
              <a:gd name="adj" fmla="val 50000"/>
            </a:avLst>
          </a:prstGeom>
          <a:solidFill>
            <a:srgbClr val="1C86D9"/>
          </a:solidFill>
          <a:ln/>
        </p:spPr>
      </p:sp>
      <p:sp>
        <p:nvSpPr>
          <p:cNvPr id="35" name="Text 30"/>
          <p:cNvSpPr txBox="1"/>
          <p:nvPr/>
        </p:nvSpPr>
        <p:spPr>
          <a:xfrm>
            <a:off x="8046720" y="4608576"/>
            <a:ext cx="457200" cy="237744"/>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나</a:t>
            </a:r>
            <a:endParaRPr lang="ko-KR" altLang="en-US" sz="950" dirty="0"/>
          </a:p>
        </p:txBody>
      </p:sp>
      <p:sp>
        <p:nvSpPr>
          <p:cNvPr id="36" name="Text 31"/>
          <p:cNvSpPr txBox="1"/>
          <p:nvPr/>
        </p:nvSpPr>
        <p:spPr>
          <a:xfrm>
            <a:off x="8595360" y="4572000"/>
            <a:ext cx="2926080" cy="502920"/>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"처음 그 A 매거진이 좋아"</a:t>
            </a:r>
            <a:endParaRPr lang="ko-KR" altLang="en-US" sz="1050" dirty="0"/>
          </a:p>
        </p:txBody>
      </p:sp>
      <p:sp>
        <p:nvSpPr>
          <p:cNvPr id="37" name="Shape 32"/>
          <p:cNvSpPr/>
          <p:nvPr/>
        </p:nvSpPr>
        <p:spPr>
          <a:xfrm>
            <a:off x="8046720" y="5166360"/>
            <a:ext cx="3383280" cy="868680"/>
          </a:xfrm>
          <a:prstGeom prst="roundRect">
            <a:avLst>
              <a:gd name="adj" fmla="val 10526"/>
            </a:avLst>
          </a:prstGeom>
          <a:solidFill>
            <a:srgbClr val="EAF4FC"/>
          </a:solidFill>
          <a:ln/>
        </p:spPr>
      </p:sp>
      <p:sp>
        <p:nvSpPr>
          <p:cNvPr id="38" name="Text 33"/>
          <p:cNvSpPr txBox="1"/>
          <p:nvPr/>
        </p:nvSpPr>
        <p:spPr>
          <a:xfrm>
            <a:off x="8183880" y="5193792"/>
            <a:ext cx="3154680" cy="822960"/>
          </a:xfrm>
          <a:prstGeom prst="rect">
            <a:avLst/>
          </a:prstGeom>
          <a:noFill/>
          <a:ln/>
        </p:spPr>
        <p:txBody>
          <a:bodyPr wrap="square" lIns="0" tIns="0" rIns="0" bIns="0" rtlCol="0" anchor="ct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왜 A? </a:t>
            </a:r>
            <a:pPr indent="0" marL="0">
              <a:buNone/>
            </a:pPr>
            <a:r>
              <a:rPr lang="ko-KR" altLang="en-US" sz="1050" dirty="0">
                <a:solidFill>
                  <a:srgbClr val="111111"/>
                </a:solidFill>
                <a:latin typeface="Malgun Gothic" pitchFamily="34" charset="0"/>
                <a:ea typeface="Malgun Gothic" pitchFamily="34" charset="-122"/>
                <a:cs typeface="Malgun Gothic" pitchFamily="34" charset="-120"/>
              </a:rPr>
              <a:t>수집가는 이름보다 사진으로 상품을 알아본다. 사진이 가장 크고 많은 A — B는 숫자 칸, C는 한 번에 하나뿐</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1/5 · 홈 · 채널 · 가로 줄</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홈: 다른 앱 캡처를 보여 주고, 채널 · 배너 · 가로 줄로</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14:25</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채널 관리 화면 캡처</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위쪽 IP 바 · 아바타 · 하단 탭</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“아바타는 왼쪽 위에. 캘린더는 좋은 기능이라 넣고 싶어. IP는 다 넣을 수 없고 사람마다 원하는 게 다르니까, IP가 있는 곳 오른쪽 위에 채널처럼 누르면 오른쪽에서 밀려 나오는 화면을 두고 보일 IP를 고르게 해 줘. 최근 업데이트는 홈에. 카메라 아이콘은 안 예뻐서 바꿔 줘. 하단 탭은 추천안대로, 앱은 흑백으로.”</a:t>
            </a:r>
            <a:endParaRPr lang="ko-KR" altLang="en-US" sz="950" dirty="0"/>
          </a:p>
        </p:txBody>
      </p:sp>
      <p:sp>
        <p:nvSpPr>
          <p:cNvPr id="9" name="Shape 7"/>
          <p:cNvSpPr/>
          <p:nvPr/>
        </p:nvSpPr>
        <p:spPr>
          <a:xfrm>
            <a:off x="2934762"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channel.png">    </p:cNvPr>
          <p:cNvPicPr>
            <a:picLocks noChangeAspect="1"/>
          </p:cNvPicPr>
          <p:nvPr/>
        </p:nvPicPr>
        <p:blipFill>
          <a:blip r:embed="rId1"/>
          <a:stretch>
            <a:fillRect/>
          </a:stretch>
        </p:blipFill>
        <p:spPr>
          <a:xfrm>
            <a:off x="2916474" y="3310128"/>
            <a:ext cx="1183086" cy="2560320"/>
          </a:xfrm>
          <a:prstGeom prst="rect">
            <a:avLst/>
          </a:prstGeom>
        </p:spPr>
      </p:pic>
      <p:pic>
        <p:nvPicPr>
          <p:cNvPr id="11" name="Image 1" descr="C:\Users\Windows11\AppData\Local\Temp\claude\C--Users-Windows11-Desktop-New-folder--2-\a0c8a1d0-32ba-4ae6-9843-b5ebc69d925f\scratchpad\deck2/img/r_0525_1.png">    </p:cNvPr>
          <p:cNvPicPr>
            <a:picLocks noChangeAspect="1"/>
          </p:cNvPicPr>
          <p:nvPr/>
        </p:nvPicPr>
        <p:blipFill>
          <a:blip r:embed="rId2"/>
          <a:stretch>
            <a:fillRect/>
          </a:stretch>
        </p:blipFill>
        <p:spPr>
          <a:xfrm>
            <a:off x="1106348" y="3310128"/>
            <a:ext cx="1051249" cy="2377440"/>
          </a:xfrm>
          <a:prstGeom prst="rect">
            <a:avLst/>
          </a:prstGeom>
        </p:spPr>
      </p:pic>
      <p:sp>
        <p:nvSpPr>
          <p:cNvPr id="12" name="Text 8"/>
          <p:cNvSpPr txBox="1"/>
          <p:nvPr/>
        </p:nvSpPr>
        <p:spPr>
          <a:xfrm>
            <a:off x="502920"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참고 · 채널 관리</a:t>
            </a:r>
            <a:endParaRPr lang="ko-KR" altLang="en-US" sz="750" dirty="0"/>
          </a:p>
        </p:txBody>
      </p:sp>
      <p:sp>
        <p:nvSpPr>
          <p:cNvPr id="13" name="Shape 9"/>
          <p:cNvSpPr/>
          <p:nvPr/>
        </p:nvSpPr>
        <p:spPr>
          <a:xfrm>
            <a:off x="2733594" y="4590288"/>
            <a:ext cx="146304" cy="0"/>
          </a:xfrm>
          <a:prstGeom prst="line">
            <a:avLst/>
          </a:prstGeom>
          <a:noFill/>
          <a:ln w="19050">
            <a:solidFill>
              <a:srgbClr val="1C86D9"/>
            </a:solidFill>
            <a:prstDash val="solid"/>
            <a:tailEnd type="triangle"/>
          </a:ln>
        </p:spPr>
      </p:sp>
      <p:sp>
        <p:nvSpPr>
          <p:cNvPr id="14" name="Text 10"/>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 채널 관리 — 오른쪽에서 밀려 나옴</a:t>
            </a:r>
            <a:endParaRPr lang="ko-KR" altLang="en-US" sz="1100" dirty="0"/>
          </a:p>
        </p:txBody>
      </p:sp>
      <p:sp>
        <p:nvSpPr>
          <p:cNvPr id="15" name="Text 11"/>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a29b005 · d16ec27</a:t>
            </a:r>
            <a:endParaRPr lang="ko-KR" altLang="en-US" sz="850" dirty="0"/>
          </a:p>
        </p:txBody>
      </p:sp>
      <p:sp>
        <p:nvSpPr>
          <p:cNvPr id="16" name="Shape 12"/>
          <p:cNvSpPr/>
          <p:nvPr/>
        </p:nvSpPr>
        <p:spPr>
          <a:xfrm>
            <a:off x="4126992" y="2286000"/>
            <a:ext cx="164592" cy="0"/>
          </a:xfrm>
          <a:prstGeom prst="line">
            <a:avLst/>
          </a:prstGeom>
          <a:noFill/>
          <a:ln w="19050">
            <a:solidFill>
              <a:srgbClr val="9AA0A6"/>
            </a:solidFill>
            <a:prstDash val="solid"/>
            <a:tailEnd type="triangle"/>
          </a:ln>
        </p:spPr>
      </p:sp>
      <p:sp>
        <p:nvSpPr>
          <p:cNvPr id="17" name="Shape 13"/>
          <p:cNvSpPr/>
          <p:nvPr/>
        </p:nvSpPr>
        <p:spPr>
          <a:xfrm>
            <a:off x="4319016" y="1371600"/>
            <a:ext cx="3550920" cy="1847088"/>
          </a:xfrm>
          <a:prstGeom prst="roundRect">
            <a:avLst>
              <a:gd name="adj" fmla="val 4950"/>
            </a:avLst>
          </a:prstGeom>
          <a:solidFill>
            <a:srgbClr val="FFF4E2"/>
          </a:solidFill>
          <a:ln/>
        </p:spPr>
      </p:sp>
      <p:sp>
        <p:nvSpPr>
          <p:cNvPr id="18" name="Text 14"/>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15:39</a:t>
            </a:r>
            <a:endParaRPr lang="ko-KR" altLang="en-US" sz="850" dirty="0"/>
          </a:p>
        </p:txBody>
      </p:sp>
      <p:sp>
        <p:nvSpPr>
          <p:cNvPr id="19" name="Text 15"/>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PS Store · 네이버 플러스 스토어 · 푸드판다 · Prime Video</a:t>
            </a:r>
            <a:endParaRPr lang="ko-KR" altLang="en-US" sz="850" dirty="0"/>
          </a:p>
        </p:txBody>
      </p:sp>
      <p:sp>
        <p:nvSpPr>
          <p:cNvPr id="20" name="Text 16"/>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홈 — 맨 위 배너 · 가로 줄</a:t>
            </a:r>
            <a:endParaRPr lang="ko-KR" altLang="en-US" sz="850" dirty="0"/>
          </a:p>
        </p:txBody>
      </p:sp>
      <p:sp>
        <p:nvSpPr>
          <p:cNvPr id="21" name="Text 17"/>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“이 앱들을 봐. 한 항목 안에 '최근 업데이트' 같은 게 사진으로 좌우로 넘어가고, 날짜 · 가격 같은 건 없어 — 관심 있는 사람은 눌러서 상세를 보니까. 맨 위 큰 그림은 배경에 녹아들지 못하니, 예고처럼 완전한 그림을 어색하지 않게 넣으면 어때? 더 좋은 생각이 있으면 말해 줘.”</a:t>
            </a:r>
            <a:endParaRPr lang="ko-KR" altLang="en-US" sz="950" dirty="0"/>
          </a:p>
        </p:txBody>
      </p:sp>
      <p:sp>
        <p:nvSpPr>
          <p:cNvPr id="22" name="Shape 18"/>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3" name="Image 2" descr="C:\Users\Windows11\AppData\Local\Temp\claude\C--Users-Windows11-Desktop-New-folder--2-\a0c8a1d0-32ba-4ae6-9843-b5ebc69d925f\scratchpad\deck2/img/evo_b20d76f_home.png">    </p:cNvPr>
          <p:cNvPicPr>
            <a:picLocks noChangeAspect="1"/>
          </p:cNvPicPr>
          <p:nvPr/>
        </p:nvPicPr>
        <p:blipFill>
          <a:blip r:embed="rId3"/>
          <a:stretch>
            <a:fillRect/>
          </a:stretch>
        </p:blipFill>
        <p:spPr>
          <a:xfrm>
            <a:off x="6686850" y="3310128"/>
            <a:ext cx="1183086" cy="2560320"/>
          </a:xfrm>
          <a:prstGeom prst="rect">
            <a:avLst/>
          </a:prstGeom>
        </p:spPr>
      </p:pic>
      <p:pic>
        <p:nvPicPr>
          <p:cNvPr id="24" name="Image 3" descr="C:\Users\Windows11\AppData\Local\Temp\claude\C--Users-Windows11-Desktop-New-folder--2-\a0c8a1d0-32ba-4ae6-9843-b5ebc69d925f\scratchpad\deck2/img/r_0639_1.png">    </p:cNvPr>
          <p:cNvPicPr>
            <a:picLocks noChangeAspect="1"/>
          </p:cNvPicPr>
          <p:nvPr/>
        </p:nvPicPr>
        <p:blipFill>
          <a:blip r:embed="rId4"/>
          <a:stretch>
            <a:fillRect/>
          </a:stretch>
        </p:blipFill>
        <p:spPr>
          <a:xfrm>
            <a:off x="4437873" y="3310128"/>
            <a:ext cx="435740" cy="1069848"/>
          </a:xfrm>
          <a:prstGeom prst="rect">
            <a:avLst/>
          </a:prstGeom>
        </p:spPr>
      </p:pic>
      <p:sp>
        <p:nvSpPr>
          <p:cNvPr id="25" name="Text 19"/>
          <p:cNvSpPr txBox="1"/>
          <p:nvPr/>
        </p:nvSpPr>
        <p:spPr>
          <a:xfrm>
            <a:off x="4273296" y="4389120"/>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PS Store</a:t>
            </a:r>
            <a:endParaRPr lang="ko-KR" altLang="en-US" sz="750" dirty="0"/>
          </a:p>
        </p:txBody>
      </p:sp>
      <p:pic>
        <p:nvPicPr>
          <p:cNvPr id="26" name="Image 4" descr="C:\Users\Windows11\AppData\Local\Temp\claude\C--Users-Windows11-Desktop-New-folder--2-\a0c8a1d0-32ba-4ae6-9843-b5ebc69d925f\scratchpad\deck2/img/r_0639_2.png">    </p:cNvPr>
          <p:cNvPicPr>
            <a:picLocks noChangeAspect="1"/>
          </p:cNvPicPr>
          <p:nvPr/>
        </p:nvPicPr>
        <p:blipFill>
          <a:blip r:embed="rId5"/>
          <a:stretch>
            <a:fillRect/>
          </a:stretch>
        </p:blipFill>
        <p:spPr>
          <a:xfrm>
            <a:off x="5184479" y="3310128"/>
            <a:ext cx="435740" cy="1069848"/>
          </a:xfrm>
          <a:prstGeom prst="rect">
            <a:avLst/>
          </a:prstGeom>
        </p:spPr>
      </p:pic>
      <p:sp>
        <p:nvSpPr>
          <p:cNvPr id="27" name="Text 20"/>
          <p:cNvSpPr txBox="1"/>
          <p:nvPr/>
        </p:nvSpPr>
        <p:spPr>
          <a:xfrm>
            <a:off x="5019902" y="4389120"/>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PS Store</a:t>
            </a:r>
            <a:endParaRPr lang="ko-KR" altLang="en-US" sz="750" dirty="0"/>
          </a:p>
        </p:txBody>
      </p:sp>
      <p:pic>
        <p:nvPicPr>
          <p:cNvPr id="28" name="Image 5" descr="C:\Users\Windows11\AppData\Local\Temp\claude\C--Users-Windows11-Desktop-New-folder--2-\a0c8a1d0-32ba-4ae6-9843-b5ebc69d925f\scratchpad\deck2/img/r_0639_3.png">    </p:cNvPr>
          <p:cNvPicPr>
            <a:picLocks noChangeAspect="1"/>
          </p:cNvPicPr>
          <p:nvPr/>
        </p:nvPicPr>
        <p:blipFill>
          <a:blip r:embed="rId6"/>
          <a:stretch>
            <a:fillRect/>
          </a:stretch>
        </p:blipFill>
        <p:spPr>
          <a:xfrm>
            <a:off x="5931085" y="3310128"/>
            <a:ext cx="435740" cy="1069848"/>
          </a:xfrm>
          <a:prstGeom prst="rect">
            <a:avLst/>
          </a:prstGeom>
        </p:spPr>
      </p:pic>
      <p:sp>
        <p:nvSpPr>
          <p:cNvPr id="29" name="Text 21"/>
          <p:cNvSpPr txBox="1"/>
          <p:nvPr/>
        </p:nvSpPr>
        <p:spPr>
          <a:xfrm>
            <a:off x="5766508" y="4389120"/>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N+스토어</a:t>
            </a:r>
            <a:endParaRPr lang="ko-KR" altLang="en-US" sz="750" dirty="0"/>
          </a:p>
        </p:txBody>
      </p:sp>
      <p:pic>
        <p:nvPicPr>
          <p:cNvPr id="30" name="Image 6" descr="C:\Users\Windows11\AppData\Local\Temp\claude\C--Users-Windows11-Desktop-New-folder--2-\a0c8a1d0-32ba-4ae6-9843-b5ebc69d925f\scratchpad\deck2/img/r_0639_4.png">    </p:cNvPr>
          <p:cNvPicPr>
            <a:picLocks noChangeAspect="1"/>
          </p:cNvPicPr>
          <p:nvPr/>
        </p:nvPicPr>
        <p:blipFill>
          <a:blip r:embed="rId7"/>
          <a:stretch>
            <a:fillRect/>
          </a:stretch>
        </p:blipFill>
        <p:spPr>
          <a:xfrm>
            <a:off x="4437873" y="4617720"/>
            <a:ext cx="435740" cy="1069848"/>
          </a:xfrm>
          <a:prstGeom prst="rect">
            <a:avLst/>
          </a:prstGeom>
        </p:spPr>
      </p:pic>
      <p:sp>
        <p:nvSpPr>
          <p:cNvPr id="31" name="Text 22"/>
          <p:cNvSpPr txBox="1"/>
          <p:nvPr/>
        </p:nvSpPr>
        <p:spPr>
          <a:xfrm>
            <a:off x="4273296" y="5696712"/>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푸드판다</a:t>
            </a:r>
            <a:endParaRPr lang="ko-KR" altLang="en-US" sz="750" dirty="0"/>
          </a:p>
        </p:txBody>
      </p:sp>
      <p:pic>
        <p:nvPicPr>
          <p:cNvPr id="32" name="Image 7" descr="C:\Users\Windows11\AppData\Local\Temp\claude\C--Users-Windows11-Desktop-New-folder--2-\a0c8a1d0-32ba-4ae6-9843-b5ebc69d925f\scratchpad\deck2/img/r_0639_5.png">    </p:cNvPr>
          <p:cNvPicPr>
            <a:picLocks noChangeAspect="1"/>
          </p:cNvPicPr>
          <p:nvPr/>
        </p:nvPicPr>
        <p:blipFill>
          <a:blip r:embed="rId8"/>
          <a:stretch>
            <a:fillRect/>
          </a:stretch>
        </p:blipFill>
        <p:spPr>
          <a:xfrm>
            <a:off x="5184479" y="4617720"/>
            <a:ext cx="435740" cy="1069848"/>
          </a:xfrm>
          <a:prstGeom prst="rect">
            <a:avLst/>
          </a:prstGeom>
        </p:spPr>
      </p:pic>
      <p:sp>
        <p:nvSpPr>
          <p:cNvPr id="33" name="Text 23"/>
          <p:cNvSpPr txBox="1"/>
          <p:nvPr/>
        </p:nvSpPr>
        <p:spPr>
          <a:xfrm>
            <a:off x="5019902" y="5696712"/>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Prime Video</a:t>
            </a:r>
            <a:endParaRPr lang="ko-KR" altLang="en-US" sz="750" dirty="0"/>
          </a:p>
        </p:txBody>
      </p:sp>
      <p:sp>
        <p:nvSpPr>
          <p:cNvPr id="34" name="Shape 24"/>
          <p:cNvSpPr/>
          <p:nvPr/>
        </p:nvSpPr>
        <p:spPr>
          <a:xfrm>
            <a:off x="6503970" y="4590288"/>
            <a:ext cx="146304" cy="0"/>
          </a:xfrm>
          <a:prstGeom prst="line">
            <a:avLst/>
          </a:prstGeom>
          <a:noFill/>
          <a:ln w="19050">
            <a:solidFill>
              <a:srgbClr val="1C86D9"/>
            </a:solidFill>
            <a:prstDash val="solid"/>
            <a:tailEnd type="triangle"/>
          </a:ln>
        </p:spPr>
      </p:sp>
      <p:sp>
        <p:nvSpPr>
          <p:cNvPr id="35" name="Text 25"/>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공식 예고 배너 + 가로 줄 (날짜 · 가격 없음)</a:t>
            </a:r>
            <a:endParaRPr lang="ko-KR" altLang="en-US" sz="1100" dirty="0"/>
          </a:p>
        </p:txBody>
      </p:sp>
      <p:sp>
        <p:nvSpPr>
          <p:cNvPr id="36" name="Text 26"/>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b20d76f</a:t>
            </a:r>
            <a:endParaRPr lang="ko-KR" altLang="en-US" sz="850" dirty="0"/>
          </a:p>
        </p:txBody>
      </p:sp>
      <p:sp>
        <p:nvSpPr>
          <p:cNvPr id="37" name="Shape 27"/>
          <p:cNvSpPr/>
          <p:nvPr/>
        </p:nvSpPr>
        <p:spPr>
          <a:xfrm>
            <a:off x="7897368" y="2286000"/>
            <a:ext cx="164592" cy="0"/>
          </a:xfrm>
          <a:prstGeom prst="line">
            <a:avLst/>
          </a:prstGeom>
          <a:noFill/>
          <a:ln w="19050">
            <a:solidFill>
              <a:srgbClr val="9AA0A6"/>
            </a:solidFill>
            <a:prstDash val="solid"/>
            <a:tailEnd type="triangle"/>
          </a:ln>
        </p:spPr>
      </p:sp>
      <p:sp>
        <p:nvSpPr>
          <p:cNvPr id="38" name="Shape 28"/>
          <p:cNvSpPr/>
          <p:nvPr/>
        </p:nvSpPr>
        <p:spPr>
          <a:xfrm>
            <a:off x="8089392" y="1371600"/>
            <a:ext cx="3550920" cy="1847088"/>
          </a:xfrm>
          <a:prstGeom prst="roundRect">
            <a:avLst>
              <a:gd name="adj" fmla="val 4950"/>
            </a:avLst>
          </a:prstGeom>
          <a:solidFill>
            <a:srgbClr val="FFF4E2"/>
          </a:solidFill>
          <a:ln/>
        </p:spPr>
      </p:sp>
      <p:sp>
        <p:nvSpPr>
          <p:cNvPr id="39" name="Text 29"/>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16:00</a:t>
            </a:r>
            <a:endParaRPr lang="ko-KR" altLang="en-US" sz="850" dirty="0"/>
          </a:p>
        </p:txBody>
      </p:sp>
      <p:sp>
        <p:nvSpPr>
          <p:cNvPr id="40" name="Text 30"/>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IMDb · Instagram (말로 설명)</a:t>
            </a:r>
            <a:endParaRPr lang="ko-KR" altLang="en-US" sz="850" dirty="0"/>
          </a:p>
        </p:txBody>
      </p:sp>
      <p:sp>
        <p:nvSpPr>
          <p:cNvPr id="41" name="Text 31"/>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줄 제목 막대 · 앱 색 · 층 · 사진 위 + 자리</a:t>
            </a:r>
            <a:endParaRPr lang="ko-KR" altLang="en-US" sz="850" dirty="0"/>
          </a:p>
        </p:txBody>
      </p:sp>
      <p:sp>
        <p:nvSpPr>
          <p:cNvPr id="42" name="Text 32"/>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“'최근 추가' 같은 줄 앞에 IMDb처럼 세로 막대를 넣고, 줄과 줄 사이가 층으로 나뉘어 보이게. 인스타 · IMDb처럼 앱만의 색이 있었으면 해 — 나는 프리덤 · 능천사 같은 하늘색이나 초록. 흑백회 속 곳곳에만 넣고, 전부 그 색이면 오히려 안 고급스러워. 사진 왼쪽 위에 + 나 하트 자리를 미리 비워 두고, 최근 추가 아래 날짜 범위도 그 색으로.”</a:t>
            </a:r>
            <a:endParaRPr lang="ko-KR" altLang="en-US" sz="950" dirty="0"/>
          </a:p>
        </p:txBody>
      </p:sp>
      <p:sp>
        <p:nvSpPr>
          <p:cNvPr id="43" name="Shape 33"/>
          <p:cNvSpPr/>
          <p:nvPr/>
        </p:nvSpPr>
        <p:spPr>
          <a:xfrm>
            <a:off x="9291597"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44" name="Image 8" descr="C:\Users\Windows11\AppData\Local\Temp\claude\C--Users-Windows11-Desktop-New-folder--2-\a0c8a1d0-32ba-4ae6-9843-b5ebc69d925f\scratchpad\deck2/img/evo_25f8bb1_home.png">    </p:cNvPr>
          <p:cNvPicPr>
            <a:picLocks noChangeAspect="1"/>
          </p:cNvPicPr>
          <p:nvPr/>
        </p:nvPicPr>
        <p:blipFill>
          <a:blip r:embed="rId9"/>
          <a:stretch>
            <a:fillRect/>
          </a:stretch>
        </p:blipFill>
        <p:spPr>
          <a:xfrm>
            <a:off x="9273309" y="3310128"/>
            <a:ext cx="1183086" cy="2560320"/>
          </a:xfrm>
          <a:prstGeom prst="rect">
            <a:avLst/>
          </a:prstGeom>
        </p:spPr>
      </p:pic>
      <p:sp>
        <p:nvSpPr>
          <p:cNvPr id="45" name="Text 34"/>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하늘색 막대 · 흰 띠 층 · + 자리</a:t>
            </a:r>
            <a:endParaRPr lang="ko-KR" altLang="en-US" sz="1100" dirty="0"/>
          </a:p>
        </p:txBody>
      </p:sp>
      <p:sp>
        <p:nvSpPr>
          <p:cNvPr id="46" name="Text 35"/>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25f8bb1</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2/5 · 홈 · 전체 목록 · 필터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전체 목록: AI가 만든 새 화면 · 알약 → 토이저러스 같은 필터</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22:06–22:14</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내가 표시한 홈 캡처</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홈 › 전체 목록의 위치 · 거르는 기준</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“홈의 '전체 목록' 화면이 하나도 없어. → (AI가 새 화면을 만듦) 아니아니, 이것들은 이 그림 아래에 있어야 해. 분류도 좋아요 · 원함이 아니라 작품별로, 검색도 '최근 추가'나 '10월 발매' 안에서만. 그리고 전체 상품 보기가 없잖아 — 어디에 두면 좋을까?”</a:t>
            </a:r>
            <a:endParaRPr lang="ko-KR" altLang="en-US" sz="950" dirty="0"/>
          </a:p>
        </p:txBody>
      </p:sp>
      <p:sp>
        <p:nvSpPr>
          <p:cNvPr id="9" name="Shape 7"/>
          <p:cNvSpPr/>
          <p:nvPr/>
        </p:nvSpPr>
        <p:spPr>
          <a:xfrm>
            <a:off x="2934762"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d8dd566_seeall.png">    </p:cNvPr>
          <p:cNvPicPr>
            <a:picLocks noChangeAspect="1"/>
          </p:cNvPicPr>
          <p:nvPr/>
        </p:nvPicPr>
        <p:blipFill>
          <a:blip r:embed="rId1"/>
          <a:stretch>
            <a:fillRect/>
          </a:stretch>
        </p:blipFill>
        <p:spPr>
          <a:xfrm>
            <a:off x="2916474" y="3310128"/>
            <a:ext cx="1183086" cy="2560320"/>
          </a:xfrm>
          <a:prstGeom prst="rect">
            <a:avLst/>
          </a:prstGeom>
        </p:spPr>
      </p:pic>
      <p:sp>
        <p:nvSpPr>
          <p:cNvPr id="11" name="Text 8"/>
          <p:cNvSpPr txBox="1"/>
          <p:nvPr/>
        </p:nvSpPr>
        <p:spPr>
          <a:xfrm>
            <a:off x="548640" y="3310128"/>
            <a:ext cx="2166666" cy="164592"/>
          </a:xfrm>
          <a:prstGeom prst="rect">
            <a:avLst/>
          </a:prstGeom>
          <a:noFill/>
          <a:ln/>
        </p:spPr>
        <p:txBody>
          <a:bodyPr wrap="square" lIns="0" tIns="0" rIns="0" bIns="0" rtlCol="0" anchor="t"/>
          <a:lstStyle/>
          <a:p>
            <a:pPr indent="0" marL="0">
              <a:buNone/>
            </a:pPr>
            <a:r>
              <a:rPr lang="ko-KR" altLang="en-US" sz="800" b="1" dirty="0">
                <a:solidFill>
                  <a:srgbClr val="111111"/>
                </a:solidFill>
                <a:latin typeface="Malgun Gothic" pitchFamily="34" charset="0"/>
                <a:ea typeface="Malgun Gothic" pitchFamily="34" charset="-122"/>
                <a:cs typeface="Malgun Gothic" pitchFamily="34" charset="-120"/>
              </a:rPr>
              <a:t>참고 · 내가 보여 준 홈 머리</a:t>
            </a:r>
            <a:endParaRPr lang="ko-KR" altLang="en-US" sz="800" dirty="0"/>
          </a:p>
        </p:txBody>
      </p:sp>
      <p:pic>
        <p:nvPicPr>
          <p:cNvPr id="12" name="Image 1" descr="C:\Users\Windows11\AppData\Local\Temp\claude\C--Users-Windows11-Desktop-New-folder--2-\a0c8a1d0-32ba-4ae6-9843-b5ebc69d925f\scratchpad\deck2/img/r_1314_1.png">    </p:cNvPr>
          <p:cNvPicPr>
            <a:picLocks noChangeAspect="1"/>
          </p:cNvPicPr>
          <p:nvPr/>
        </p:nvPicPr>
        <p:blipFill>
          <a:blip r:embed="rId2"/>
          <a:stretch>
            <a:fillRect/>
          </a:stretch>
        </p:blipFill>
        <p:spPr>
          <a:xfrm>
            <a:off x="548640" y="3483864"/>
            <a:ext cx="1120865" cy="292608"/>
          </a:xfrm>
          <a:prstGeom prst="rect">
            <a:avLst/>
          </a:prstGeom>
        </p:spPr>
      </p:pic>
      <p:pic>
        <p:nvPicPr>
          <p:cNvPr id="13" name="Image 2" descr="C:\Users\Windows11\AppData\Local\Temp\claude\C--Users-Windows11-Desktop-New-folder--2-\a0c8a1d0-32ba-4ae6-9843-b5ebc69d925f\scratchpad\deck2/img/evo_c29f0ff_seeall.png">    </p:cNvPr>
          <p:cNvPicPr>
            <a:picLocks noChangeAspect="1"/>
          </p:cNvPicPr>
          <p:nvPr/>
        </p:nvPicPr>
        <p:blipFill>
          <a:blip r:embed="rId3"/>
          <a:stretch>
            <a:fillRect/>
          </a:stretch>
        </p:blipFill>
        <p:spPr>
          <a:xfrm>
            <a:off x="1211555" y="3867912"/>
            <a:ext cx="840836" cy="1819656"/>
          </a:xfrm>
          <a:prstGeom prst="rect">
            <a:avLst/>
          </a:prstGeom>
        </p:spPr>
      </p:pic>
      <p:sp>
        <p:nvSpPr>
          <p:cNvPr id="14" name="Text 9"/>
          <p:cNvSpPr txBox="1"/>
          <p:nvPr/>
        </p:nvSpPr>
        <p:spPr>
          <a:xfrm>
            <a:off x="502920"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D93F44"/>
                </a:solidFill>
                <a:latin typeface="Malgun Gothic" pitchFamily="34" charset="0"/>
                <a:ea typeface="Malgun Gothic" pitchFamily="34" charset="-122"/>
                <a:cs typeface="Malgun Gothic" pitchFamily="34" charset="-120"/>
              </a:rPr>
              <a:t>✕ AI 안 · 새 화면 + 상태로 거르기</a:t>
            </a:r>
            <a:endParaRPr lang="ko-KR" altLang="en-US" sz="750" dirty="0"/>
          </a:p>
        </p:txBody>
      </p:sp>
      <p:sp>
        <p:nvSpPr>
          <p:cNvPr id="15" name="Shape 10"/>
          <p:cNvSpPr/>
          <p:nvPr/>
        </p:nvSpPr>
        <p:spPr>
          <a:xfrm>
            <a:off x="2733594" y="4590288"/>
            <a:ext cx="146304" cy="0"/>
          </a:xfrm>
          <a:prstGeom prst="line">
            <a:avLst/>
          </a:prstGeom>
          <a:noFill/>
          <a:ln w="19050">
            <a:solidFill>
              <a:srgbClr val="1C86D9"/>
            </a:solidFill>
            <a:prstDash val="solid"/>
            <a:tailEnd type="triangle"/>
          </a:ln>
        </p:spPr>
      </p:sp>
      <p:sp>
        <p:nvSpPr>
          <p:cNvPr id="16" name="Text 11"/>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홈 머리 아래 목록 · 작품별 · 목록 안 검색</a:t>
            </a:r>
            <a:endParaRPr lang="ko-KR" altLang="en-US" sz="1100" dirty="0"/>
          </a:p>
        </p:txBody>
      </p:sp>
      <p:sp>
        <p:nvSpPr>
          <p:cNvPr id="17" name="Text 12"/>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d8dd566</a:t>
            </a:r>
            <a:endParaRPr lang="ko-KR" altLang="en-US" sz="850" dirty="0"/>
          </a:p>
        </p:txBody>
      </p:sp>
      <p:sp>
        <p:nvSpPr>
          <p:cNvPr id="18" name="Shape 13"/>
          <p:cNvSpPr/>
          <p:nvPr/>
        </p:nvSpPr>
        <p:spPr>
          <a:xfrm>
            <a:off x="4126992" y="2286000"/>
            <a:ext cx="164592" cy="0"/>
          </a:xfrm>
          <a:prstGeom prst="line">
            <a:avLst/>
          </a:prstGeom>
          <a:noFill/>
          <a:ln w="19050">
            <a:solidFill>
              <a:srgbClr val="9AA0A6"/>
            </a:solidFill>
            <a:prstDash val="solid"/>
            <a:tailEnd type="triangle"/>
          </a:ln>
        </p:spPr>
      </p:sp>
      <p:sp>
        <p:nvSpPr>
          <p:cNvPr id="19" name="Shape 14"/>
          <p:cNvSpPr/>
          <p:nvPr/>
        </p:nvSpPr>
        <p:spPr>
          <a:xfrm>
            <a:off x="4319016" y="1371600"/>
            <a:ext cx="3550920" cy="1847088"/>
          </a:xfrm>
          <a:prstGeom prst="roundRect">
            <a:avLst>
              <a:gd name="adj" fmla="val 4950"/>
            </a:avLst>
          </a:prstGeom>
          <a:solidFill>
            <a:srgbClr val="FFF4E2"/>
          </a:solidFill>
          <a:ln/>
        </p:spPr>
      </p:sp>
      <p:sp>
        <p:nvSpPr>
          <p:cNvPr id="20" name="Text 15"/>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22:24</a:t>
            </a:r>
            <a:endParaRPr lang="ko-KR" altLang="en-US" sz="850" dirty="0"/>
          </a:p>
        </p:txBody>
      </p:sp>
      <p:sp>
        <p:nvSpPr>
          <p:cNvPr id="21" name="Text 16"/>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토이저러스 필터</a:t>
            </a:r>
            <a:endParaRPr lang="ko-KR" altLang="en-US" sz="850" dirty="0"/>
          </a:p>
        </p:txBody>
      </p:sp>
      <p:sp>
        <p:nvSpPr>
          <p:cNvPr id="22" name="Text 17"/>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거르기 → 오른쪽 필터 패널 · 배너</a:t>
            </a:r>
            <a:endParaRPr lang="ko-KR" altLang="en-US" sz="850" dirty="0"/>
          </a:p>
        </p:txBody>
      </p:sp>
      <p:sp>
        <p:nvSpPr>
          <p:cNvPr id="23" name="Text 18"/>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“이건 너무 못생겼어, 나는 이런 걸 원해. 전체 상품 기능은 어디 둘지 다시 생각해 줘. 세 번째 그림 같은 건 빼. 공식 발표는 몇 초마다 자동으로 다음 장으로 넘어가게.”</a:t>
            </a:r>
            <a:endParaRPr lang="ko-KR" altLang="en-US" sz="950" dirty="0"/>
          </a:p>
        </p:txBody>
      </p:sp>
      <p:sp>
        <p:nvSpPr>
          <p:cNvPr id="24" name="Shape 19"/>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5" name="Image 3" descr="C:\Users\Windows11\AppData\Local\Temp\claude\C--Users-Windows11-Desktop-New-folder--2-\a0c8a1d0-32ba-4ae6-9843-b5ebc69d925f\scratchpad\deck2/img/evo_a44d4b5_seeall.png">    </p:cNvPr>
          <p:cNvPicPr>
            <a:picLocks noChangeAspect="1"/>
          </p:cNvPicPr>
          <p:nvPr/>
        </p:nvPicPr>
        <p:blipFill>
          <a:blip r:embed="rId4"/>
          <a:stretch>
            <a:fillRect/>
          </a:stretch>
        </p:blipFill>
        <p:spPr>
          <a:xfrm>
            <a:off x="6686850" y="3310128"/>
            <a:ext cx="1183086" cy="2560320"/>
          </a:xfrm>
          <a:prstGeom prst="rect">
            <a:avLst/>
          </a:prstGeom>
        </p:spPr>
      </p:pic>
      <p:sp>
        <p:nvSpPr>
          <p:cNvPr id="26" name="Text 20"/>
          <p:cNvSpPr txBox="1"/>
          <p:nvPr/>
        </p:nvSpPr>
        <p:spPr>
          <a:xfrm>
            <a:off x="4319016" y="3310128"/>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작품 알약 줄 — 못생김</a:t>
            </a:r>
            <a:endParaRPr lang="ko-KR" altLang="en-US" sz="800" dirty="0"/>
          </a:p>
        </p:txBody>
      </p:sp>
      <p:pic>
        <p:nvPicPr>
          <p:cNvPr id="27" name="Image 4" descr="C:\Users\Windows11\AppData\Local\Temp\claude\C--Users-Windows11-Desktop-New-folder--2-\a0c8a1d0-32ba-4ae6-9843-b5ebc69d925f\scratchpad\deck2/img/r_1324_1.png">    </p:cNvPr>
          <p:cNvPicPr>
            <a:picLocks noChangeAspect="1"/>
          </p:cNvPicPr>
          <p:nvPr/>
        </p:nvPicPr>
        <p:blipFill>
          <a:blip r:embed="rId5"/>
          <a:stretch>
            <a:fillRect/>
          </a:stretch>
        </p:blipFill>
        <p:spPr>
          <a:xfrm>
            <a:off x="4319016" y="3483864"/>
            <a:ext cx="2166666" cy="208642"/>
          </a:xfrm>
          <a:prstGeom prst="rect">
            <a:avLst/>
          </a:prstGeom>
        </p:spPr>
      </p:pic>
      <p:sp>
        <p:nvSpPr>
          <p:cNvPr id="28" name="Text 21"/>
          <p:cNvSpPr txBox="1"/>
          <p:nvPr/>
        </p:nvSpPr>
        <p:spPr>
          <a:xfrm>
            <a:off x="4319016" y="3783946"/>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세 번째 그림 — 빼</a:t>
            </a:r>
            <a:endParaRPr lang="ko-KR" altLang="en-US" sz="800" dirty="0"/>
          </a:p>
        </p:txBody>
      </p:sp>
      <p:pic>
        <p:nvPicPr>
          <p:cNvPr id="29" name="Image 5" descr="C:\Users\Windows11\AppData\Local\Temp\claude\C--Users-Windows11-Desktop-New-folder--2-\a0c8a1d0-32ba-4ae6-9843-b5ebc69d925f\scratchpad\deck2/img/r_1324_3.png">    </p:cNvPr>
          <p:cNvPicPr>
            <a:picLocks noChangeAspect="1"/>
          </p:cNvPicPr>
          <p:nvPr/>
        </p:nvPicPr>
        <p:blipFill>
          <a:blip r:embed="rId6"/>
          <a:stretch>
            <a:fillRect/>
          </a:stretch>
        </p:blipFill>
        <p:spPr>
          <a:xfrm>
            <a:off x="4319016" y="3957682"/>
            <a:ext cx="2166666" cy="170554"/>
          </a:xfrm>
          <a:prstGeom prst="rect">
            <a:avLst/>
          </a:prstGeom>
        </p:spPr>
      </p:pic>
      <p:pic>
        <p:nvPicPr>
          <p:cNvPr id="30" name="Image 6" descr="C:\Users\Windows11\AppData\Local\Temp\claude\C--Users-Windows11-Desktop-New-folder--2-\a0c8a1d0-32ba-4ae6-9843-b5ebc69d925f\scratchpad\deck2/img/r_1324_2.png">    </p:cNvPr>
          <p:cNvPicPr>
            <a:picLocks noChangeAspect="1"/>
          </p:cNvPicPr>
          <p:nvPr/>
        </p:nvPicPr>
        <p:blipFill>
          <a:blip r:embed="rId7"/>
          <a:stretch>
            <a:fillRect/>
          </a:stretch>
        </p:blipFill>
        <p:spPr>
          <a:xfrm>
            <a:off x="4995838" y="4219676"/>
            <a:ext cx="813021" cy="1467892"/>
          </a:xfrm>
          <a:prstGeom prst="rect">
            <a:avLst/>
          </a:prstGeom>
        </p:spPr>
      </p:pic>
      <p:sp>
        <p:nvSpPr>
          <p:cNvPr id="31" name="Text 22"/>
          <p:cNvSpPr txBox="1"/>
          <p:nvPr/>
        </p:nvSpPr>
        <p:spPr>
          <a:xfrm>
            <a:off x="4273296"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토이저러스 필터</a:t>
            </a:r>
            <a:endParaRPr lang="ko-KR" altLang="en-US" sz="750" dirty="0"/>
          </a:p>
        </p:txBody>
      </p:sp>
      <p:sp>
        <p:nvSpPr>
          <p:cNvPr id="32" name="Shape 23"/>
          <p:cNvSpPr/>
          <p:nvPr/>
        </p:nvSpPr>
        <p:spPr>
          <a:xfrm>
            <a:off x="6503970" y="4590288"/>
            <a:ext cx="146304" cy="0"/>
          </a:xfrm>
          <a:prstGeom prst="line">
            <a:avLst/>
          </a:prstGeom>
          <a:noFill/>
          <a:ln w="19050">
            <a:solidFill>
              <a:srgbClr val="1C86D9"/>
            </a:solidFill>
            <a:prstDash val="solid"/>
            <a:tailEnd type="triangle"/>
          </a:ln>
        </p:spPr>
      </p:sp>
      <p:sp>
        <p:nvSpPr>
          <p:cNvPr id="33" name="Text 24"/>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오른쪽 필터 패널 · 배너 자동 넘김</a:t>
            </a:r>
            <a:endParaRPr lang="ko-KR" altLang="en-US" sz="1100" dirty="0"/>
          </a:p>
        </p:txBody>
      </p:sp>
      <p:sp>
        <p:nvSpPr>
          <p:cNvPr id="34" name="Text 25"/>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a44d4b5</a:t>
            </a:r>
            <a:endParaRPr lang="ko-KR" altLang="en-US" sz="850" dirty="0"/>
          </a:p>
        </p:txBody>
      </p:sp>
      <p:sp>
        <p:nvSpPr>
          <p:cNvPr id="35" name="Shape 26"/>
          <p:cNvSpPr/>
          <p:nvPr/>
        </p:nvSpPr>
        <p:spPr>
          <a:xfrm>
            <a:off x="7897368" y="2286000"/>
            <a:ext cx="164592" cy="0"/>
          </a:xfrm>
          <a:prstGeom prst="line">
            <a:avLst/>
          </a:prstGeom>
          <a:noFill/>
          <a:ln w="19050">
            <a:solidFill>
              <a:srgbClr val="9AA0A6"/>
            </a:solidFill>
            <a:prstDash val="solid"/>
            <a:tailEnd type="triangle"/>
          </a:ln>
        </p:spPr>
      </p:sp>
      <p:sp>
        <p:nvSpPr>
          <p:cNvPr id="36" name="Shape 27"/>
          <p:cNvSpPr/>
          <p:nvPr/>
        </p:nvSpPr>
        <p:spPr>
          <a:xfrm>
            <a:off x="8089392" y="1371600"/>
            <a:ext cx="3550920" cy="1847088"/>
          </a:xfrm>
          <a:prstGeom prst="roundRect">
            <a:avLst>
              <a:gd name="adj" fmla="val 4950"/>
            </a:avLst>
          </a:prstGeom>
          <a:solidFill>
            <a:srgbClr val="FFF4E2"/>
          </a:solidFill>
          <a:ln/>
        </p:spPr>
      </p:sp>
      <p:sp>
        <p:nvSpPr>
          <p:cNvPr id="37" name="Text 28"/>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22:36–22:47</a:t>
            </a:r>
            <a:endParaRPr lang="ko-KR" altLang="en-US" sz="850" dirty="0"/>
          </a:p>
        </p:txBody>
      </p:sp>
      <p:sp>
        <p:nvSpPr>
          <p:cNvPr id="38" name="Text 29"/>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AI가 만든 정렬 팝업</a:t>
            </a:r>
            <a:endParaRPr lang="ko-KR" altLang="en-US" sz="850" dirty="0"/>
          </a:p>
        </p:txBody>
      </p:sp>
      <p:sp>
        <p:nvSpPr>
          <p:cNvPr id="39" name="Text 30"/>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필터 개수 · 검색 탭 · 정렬</a:t>
            </a:r>
            <a:endParaRPr lang="ko-KR" altLang="en-US" sz="850" dirty="0"/>
          </a:p>
        </p:txBody>
      </p:sp>
      <p:sp>
        <p:nvSpPr>
          <p:cNvPr id="40" name="Text 31"/>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“(필터 칸 숫자는) 다른 조건을 따라 바뀌어야 해. 예전 검색 화면에 있던 것들이 좋았는데 다시 쓸 수 없을까 — 검색을 열면 기본은 전체 상품, 검색창을 누르면 그것들이 나오게. 지금은 반대야. 그리고 이 정렬 메뉴는 촌스럽고 앱과 안 어울려. 화면 비율마다 깨지는 것도 고쳐 줘.”</a:t>
            </a:r>
            <a:endParaRPr lang="ko-KR" altLang="en-US" sz="950" dirty="0"/>
          </a:p>
        </p:txBody>
      </p:sp>
      <p:sp>
        <p:nvSpPr>
          <p:cNvPr id="41" name="Shape 32"/>
          <p:cNvSpPr/>
          <p:nvPr/>
        </p:nvSpPr>
        <p:spPr>
          <a:xfrm>
            <a:off x="10475514"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42" name="Image 7" descr="C:\Users\Windows11\AppData\Local\Temp\claude\C--Users-Windows11-Desktop-New-folder--2-\a0c8a1d0-32ba-4ae6-9843-b5ebc69d925f\scratchpad\deck2/img/search.png">    </p:cNvPr>
          <p:cNvPicPr>
            <a:picLocks noChangeAspect="1"/>
          </p:cNvPicPr>
          <p:nvPr/>
        </p:nvPicPr>
        <p:blipFill>
          <a:blip r:embed="rId8"/>
          <a:stretch>
            <a:fillRect/>
          </a:stretch>
        </p:blipFill>
        <p:spPr>
          <a:xfrm>
            <a:off x="10457226" y="3310128"/>
            <a:ext cx="1183086" cy="2560320"/>
          </a:xfrm>
          <a:prstGeom prst="rect">
            <a:avLst/>
          </a:prstGeom>
        </p:spPr>
      </p:pic>
      <p:pic>
        <p:nvPicPr>
          <p:cNvPr id="43" name="Image 8" descr="C:\Users\Windows11\AppData\Local\Temp\claude\C--Users-Windows11-Desktop-New-folder--2-\a0c8a1d0-32ba-4ae6-9843-b5ebc69d925f\scratchpad\deck2/img/r_1347_1.png">    </p:cNvPr>
          <p:cNvPicPr>
            <a:picLocks noChangeAspect="1"/>
          </p:cNvPicPr>
          <p:nvPr/>
        </p:nvPicPr>
        <p:blipFill>
          <a:blip r:embed="rId9"/>
          <a:stretch>
            <a:fillRect/>
          </a:stretch>
        </p:blipFill>
        <p:spPr>
          <a:xfrm>
            <a:off x="8520193" y="3310128"/>
            <a:ext cx="1305063" cy="2377440"/>
          </a:xfrm>
          <a:prstGeom prst="rect">
            <a:avLst/>
          </a:prstGeom>
        </p:spPr>
      </p:pic>
      <p:sp>
        <p:nvSpPr>
          <p:cNvPr id="44" name="Text 33"/>
          <p:cNvSpPr txBox="1"/>
          <p:nvPr/>
        </p:nvSpPr>
        <p:spPr>
          <a:xfrm>
            <a:off x="8043672"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D93F44"/>
                </a:solidFill>
                <a:latin typeface="Malgun Gothic" pitchFamily="34" charset="0"/>
                <a:ea typeface="Malgun Gothic" pitchFamily="34" charset="-122"/>
                <a:cs typeface="Malgun Gothic" pitchFamily="34" charset="-120"/>
              </a:rPr>
              <a:t>✕ AI 안 · 기본 정렬 팝업 — 촌스러움</a:t>
            </a:r>
            <a:endParaRPr lang="ko-KR" altLang="en-US" sz="750" dirty="0"/>
          </a:p>
        </p:txBody>
      </p:sp>
      <p:sp>
        <p:nvSpPr>
          <p:cNvPr id="45" name="Shape 34"/>
          <p:cNvSpPr/>
          <p:nvPr/>
        </p:nvSpPr>
        <p:spPr>
          <a:xfrm>
            <a:off x="10274346" y="4590288"/>
            <a:ext cx="146304" cy="0"/>
          </a:xfrm>
          <a:prstGeom prst="line">
            <a:avLst/>
          </a:prstGeom>
          <a:noFill/>
          <a:ln w="19050">
            <a:solidFill>
              <a:srgbClr val="1C86D9"/>
            </a:solidFill>
            <a:prstDash val="solid"/>
            <a:tailEnd type="triangle"/>
          </a:ln>
        </p:spPr>
      </p:sp>
      <p:sp>
        <p:nvSpPr>
          <p:cNvPr id="46" name="Text 35"/>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검색 탭 = 전체 상품 · 앱 모양 정렬 시트</a:t>
            </a:r>
            <a:endParaRPr lang="ko-KR" altLang="en-US" sz="1100" dirty="0"/>
          </a:p>
        </p:txBody>
      </p:sp>
      <p:sp>
        <p:nvSpPr>
          <p:cNvPr id="47" name="Text 36"/>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23dc963 · f08fffb</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3/5 · 상품 상세</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상품 상세: 타오바오 캡처처럼 공식 정보를 작게, 검정 면은 빼고</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16:47</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상품 상세 화면 첫 버전</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“상품 상세 화면을 만들자.”</a:t>
            </a:r>
            <a:endParaRPr lang="ko-KR" altLang="en-US" sz="950" dirty="0"/>
          </a:p>
        </p:txBody>
      </p:sp>
      <p:sp>
        <p:nvSpPr>
          <p:cNvPr id="9" name="Shape 7"/>
          <p:cNvSpPr/>
          <p:nvPr/>
        </p:nvSpPr>
        <p:spPr>
          <a:xfrm>
            <a:off x="1750845"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78d6c50_detail.png">    </p:cNvPr>
          <p:cNvPicPr>
            <a:picLocks noChangeAspect="1"/>
          </p:cNvPicPr>
          <p:nvPr/>
        </p:nvPicPr>
        <p:blipFill>
          <a:blip r:embed="rId1"/>
          <a:stretch>
            <a:fillRect/>
          </a:stretch>
        </p:blipFill>
        <p:spPr>
          <a:xfrm>
            <a:off x="1732557" y="3310128"/>
            <a:ext cx="1183086" cy="2560320"/>
          </a:xfrm>
          <a:prstGeom prst="rect">
            <a:avLst/>
          </a:prstGeom>
        </p:spPr>
      </p:pic>
      <p:sp>
        <p:nvSpPr>
          <p:cNvPr id="11" name="Text 8"/>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AI 첫 상세 · 검정 구매함 버튼</a:t>
            </a:r>
            <a:endParaRPr lang="ko-KR" altLang="en-US" sz="1100" dirty="0"/>
          </a:p>
        </p:txBody>
      </p:sp>
      <p:sp>
        <p:nvSpPr>
          <p:cNvPr id="12" name="Text 9"/>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78d6c50</a:t>
            </a:r>
            <a:endParaRPr lang="ko-KR" altLang="en-US" sz="850" dirty="0"/>
          </a:p>
        </p:txBody>
      </p:sp>
      <p:sp>
        <p:nvSpPr>
          <p:cNvPr id="13" name="Shape 10"/>
          <p:cNvSpPr/>
          <p:nvPr/>
        </p:nvSpPr>
        <p:spPr>
          <a:xfrm>
            <a:off x="4126992" y="2286000"/>
            <a:ext cx="164592" cy="0"/>
          </a:xfrm>
          <a:prstGeom prst="line">
            <a:avLst/>
          </a:prstGeom>
          <a:noFill/>
          <a:ln w="19050">
            <a:solidFill>
              <a:srgbClr val="9AA0A6"/>
            </a:solidFill>
            <a:prstDash val="solid"/>
            <a:tailEnd type="triangle"/>
          </a:ln>
        </p:spPr>
      </p:sp>
      <p:sp>
        <p:nvSpPr>
          <p:cNvPr id="14" name="Shape 11"/>
          <p:cNvSpPr/>
          <p:nvPr/>
        </p:nvSpPr>
        <p:spPr>
          <a:xfrm>
            <a:off x="4319016" y="1371600"/>
            <a:ext cx="3550920" cy="1847088"/>
          </a:xfrm>
          <a:prstGeom prst="roundRect">
            <a:avLst>
              <a:gd name="adj" fmla="val 4950"/>
            </a:avLst>
          </a:prstGeom>
          <a:solidFill>
            <a:srgbClr val="FFF4E2"/>
          </a:solidFill>
          <a:ln/>
        </p:spPr>
      </p:sp>
      <p:sp>
        <p:nvSpPr>
          <p:cNvPr id="15" name="Text 12"/>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17:06</a:t>
            </a:r>
            <a:endParaRPr lang="ko-KR" altLang="en-US" sz="850" dirty="0"/>
          </a:p>
        </p:txBody>
      </p:sp>
      <p:sp>
        <p:nvSpPr>
          <p:cNvPr id="16" name="Text 13"/>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타오바오 상품 상세 (3장)</a:t>
            </a:r>
            <a:endParaRPr lang="ko-KR" altLang="en-US" sz="850" dirty="0"/>
          </a:p>
        </p:txBody>
      </p:sp>
      <p:sp>
        <p:nvSpPr>
          <p:cNvPr id="17" name="Text 14"/>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공식 정보 줄 · 담기 토스트 · 검정 면 · 아래 사진</a:t>
            </a:r>
            <a:endParaRPr lang="ko-KR" altLang="en-US" sz="850" dirty="0"/>
          </a:p>
        </p:txBody>
      </p:sp>
      <p:sp>
        <p:nvSpPr>
          <p:cNvPr id="18" name="Text 15"/>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“원함 · 구매함을 동시에 누를 수 있게. 공식 정보는 첫 번째 그림처럼 작은 아이콘 줄로 좌우로 넘기고, 누르면 두 번째 그림처럼 펼쳐지게. 담으면 세 번째 그림 같은 게 아래에서 몇 초 떴다 사라지게. 큰 검정 바탕 흰 글자는 앱과 안 맞으니 전부 빼 줘. 맨 아래에 상품 상세 사진을 나열하고, 공식 링크는 일본어 이름 아래, 이름 옆에는 복사 아이콘.”</a:t>
            </a:r>
            <a:endParaRPr lang="ko-KR" altLang="en-US" sz="950" dirty="0"/>
          </a:p>
        </p:txBody>
      </p:sp>
      <p:sp>
        <p:nvSpPr>
          <p:cNvPr id="19" name="Shape 16"/>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0" name="Image 1" descr="C:\Users\Windows11\AppData\Local\Temp\claude\C--Users-Windows11-Desktop-New-folder--2-\a0c8a1d0-32ba-4ae6-9843-b5ebc69d925f\scratchpad\deck2/img/evo_0b65ac4_detail.png">    </p:cNvPr>
          <p:cNvPicPr>
            <a:picLocks noChangeAspect="1"/>
          </p:cNvPicPr>
          <p:nvPr/>
        </p:nvPicPr>
        <p:blipFill>
          <a:blip r:embed="rId2"/>
          <a:stretch>
            <a:fillRect/>
          </a:stretch>
        </p:blipFill>
        <p:spPr>
          <a:xfrm>
            <a:off x="6686850" y="3310128"/>
            <a:ext cx="1183086" cy="2560320"/>
          </a:xfrm>
          <a:prstGeom prst="rect">
            <a:avLst/>
          </a:prstGeom>
        </p:spPr>
      </p:pic>
      <p:sp>
        <p:nvSpPr>
          <p:cNvPr id="21" name="Text 17"/>
          <p:cNvSpPr txBox="1"/>
          <p:nvPr/>
        </p:nvSpPr>
        <p:spPr>
          <a:xfrm>
            <a:off x="4319016" y="3310128"/>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검정 토스트 — 빼</a:t>
            </a:r>
            <a:endParaRPr lang="ko-KR" altLang="en-US" sz="800" dirty="0"/>
          </a:p>
        </p:txBody>
      </p:sp>
      <p:pic>
        <p:nvPicPr>
          <p:cNvPr id="22" name="Image 2" descr="C:\Users\Windows11\AppData\Local\Temp\claude\C--Users-Windows11-Desktop-New-folder--2-\a0c8a1d0-32ba-4ae6-9843-b5ebc69d925f\scratchpad\deck2/img/r_0806_3.png">    </p:cNvPr>
          <p:cNvPicPr>
            <a:picLocks noChangeAspect="1"/>
          </p:cNvPicPr>
          <p:nvPr/>
        </p:nvPicPr>
        <p:blipFill>
          <a:blip r:embed="rId3"/>
          <a:stretch>
            <a:fillRect/>
          </a:stretch>
        </p:blipFill>
        <p:spPr>
          <a:xfrm>
            <a:off x="4319016" y="3483864"/>
            <a:ext cx="2166666" cy="265645"/>
          </a:xfrm>
          <a:prstGeom prst="rect">
            <a:avLst/>
          </a:prstGeom>
        </p:spPr>
      </p:pic>
      <p:pic>
        <p:nvPicPr>
          <p:cNvPr id="23" name="Image 3" descr="C:\Users\Windows11\AppData\Local\Temp\claude\C--Users-Windows11-Desktop-New-folder--2-\a0c8a1d0-32ba-4ae6-9843-b5ebc69d925f\scratchpad\deck2/img/r_0806_1.png">    </p:cNvPr>
          <p:cNvPicPr>
            <a:picLocks noChangeAspect="1"/>
          </p:cNvPicPr>
          <p:nvPr/>
        </p:nvPicPr>
        <p:blipFill>
          <a:blip r:embed="rId4"/>
          <a:stretch>
            <a:fillRect/>
          </a:stretch>
        </p:blipFill>
        <p:spPr>
          <a:xfrm>
            <a:off x="4319016" y="3840949"/>
            <a:ext cx="1046757" cy="791168"/>
          </a:xfrm>
          <a:prstGeom prst="rect">
            <a:avLst/>
          </a:prstGeom>
        </p:spPr>
      </p:pic>
      <p:sp>
        <p:nvSpPr>
          <p:cNvPr id="24" name="Text 18"/>
          <p:cNvSpPr txBox="1"/>
          <p:nvPr/>
        </p:nvSpPr>
        <p:spPr>
          <a:xfrm>
            <a:off x="4273296" y="4641261"/>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타오바오 · 정보 줄</a:t>
            </a:r>
            <a:endParaRPr lang="ko-KR" altLang="en-US" sz="750" dirty="0"/>
          </a:p>
        </p:txBody>
      </p:sp>
      <p:pic>
        <p:nvPicPr>
          <p:cNvPr id="25" name="Image 4" descr="C:\Users\Windows11\AppData\Local\Temp\claude\C--Users-Windows11-Desktop-New-folder--2-\a0c8a1d0-32ba-4ae6-9843-b5ebc69d925f\scratchpad\deck2/img/r_0806_2.png">    </p:cNvPr>
          <p:cNvPicPr>
            <a:picLocks noChangeAspect="1"/>
          </p:cNvPicPr>
          <p:nvPr/>
        </p:nvPicPr>
        <p:blipFill>
          <a:blip r:embed="rId5"/>
          <a:stretch>
            <a:fillRect/>
          </a:stretch>
        </p:blipFill>
        <p:spPr>
          <a:xfrm>
            <a:off x="5438925" y="3840949"/>
            <a:ext cx="1046757" cy="1361426"/>
          </a:xfrm>
          <a:prstGeom prst="rect">
            <a:avLst/>
          </a:prstGeom>
        </p:spPr>
      </p:pic>
      <p:sp>
        <p:nvSpPr>
          <p:cNvPr id="26" name="Text 19"/>
          <p:cNvSpPr txBox="1"/>
          <p:nvPr/>
        </p:nvSpPr>
        <p:spPr>
          <a:xfrm>
            <a:off x="5393205" y="5211519"/>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타오바오 · 펼친 표</a:t>
            </a:r>
            <a:endParaRPr lang="ko-KR" altLang="en-US" sz="750" dirty="0"/>
          </a:p>
        </p:txBody>
      </p:sp>
      <p:sp>
        <p:nvSpPr>
          <p:cNvPr id="27" name="Shape 20"/>
          <p:cNvSpPr/>
          <p:nvPr/>
        </p:nvSpPr>
        <p:spPr>
          <a:xfrm>
            <a:off x="6503970" y="4590288"/>
            <a:ext cx="146304" cy="0"/>
          </a:xfrm>
          <a:prstGeom prst="line">
            <a:avLst/>
          </a:prstGeom>
          <a:noFill/>
          <a:ln w="19050">
            <a:solidFill>
              <a:srgbClr val="1C86D9"/>
            </a:solidFill>
            <a:prstDash val="solid"/>
            <a:tailEnd type="triangle"/>
          </a:ln>
        </p:spPr>
      </p:sp>
      <p:sp>
        <p:nvSpPr>
          <p:cNvPr id="28" name="Text 21"/>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공식 정보 요약 줄 · 동시 선택 · 밝은 토스트</a:t>
            </a:r>
            <a:endParaRPr lang="ko-KR" altLang="en-US" sz="1100" dirty="0"/>
          </a:p>
        </p:txBody>
      </p:sp>
      <p:sp>
        <p:nvSpPr>
          <p:cNvPr id="29" name="Text 22"/>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0b65ac4</a:t>
            </a:r>
            <a:endParaRPr lang="ko-KR" altLang="en-US" sz="850" dirty="0"/>
          </a:p>
        </p:txBody>
      </p:sp>
      <p:sp>
        <p:nvSpPr>
          <p:cNvPr id="30" name="Shape 23"/>
          <p:cNvSpPr/>
          <p:nvPr/>
        </p:nvSpPr>
        <p:spPr>
          <a:xfrm>
            <a:off x="7897368" y="2286000"/>
            <a:ext cx="164592" cy="0"/>
          </a:xfrm>
          <a:prstGeom prst="line">
            <a:avLst/>
          </a:prstGeom>
          <a:noFill/>
          <a:ln w="19050">
            <a:solidFill>
              <a:srgbClr val="9AA0A6"/>
            </a:solidFill>
            <a:prstDash val="solid"/>
            <a:tailEnd type="triangle"/>
          </a:ln>
        </p:spPr>
      </p:sp>
      <p:sp>
        <p:nvSpPr>
          <p:cNvPr id="31" name="Shape 24"/>
          <p:cNvSpPr/>
          <p:nvPr/>
        </p:nvSpPr>
        <p:spPr>
          <a:xfrm>
            <a:off x="8089392" y="1371600"/>
            <a:ext cx="3550920" cy="1847088"/>
          </a:xfrm>
          <a:prstGeom prst="roundRect">
            <a:avLst>
              <a:gd name="adj" fmla="val 4950"/>
            </a:avLst>
          </a:prstGeom>
          <a:solidFill>
            <a:srgbClr val="FFF4E2"/>
          </a:solidFill>
          <a:ln/>
        </p:spPr>
      </p:sp>
      <p:sp>
        <p:nvSpPr>
          <p:cNvPr id="32" name="Text 25"/>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18:53</a:t>
            </a:r>
            <a:endParaRPr lang="ko-KR" altLang="en-US" sz="850" dirty="0"/>
          </a:p>
        </p:txBody>
      </p:sp>
      <p:sp>
        <p:nvSpPr>
          <p:cNvPr id="33" name="Text 26"/>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내가 표시한 상세 캡처</a:t>
            </a:r>
            <a:endParaRPr lang="ko-KR" altLang="en-US" sz="850" dirty="0"/>
          </a:p>
        </p:txBody>
      </p:sp>
      <p:sp>
        <p:nvSpPr>
          <p:cNvPr id="34" name="Text 27"/>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분류 줄 · 복사 · 시장가 · 버튼 크기</a:t>
            </a:r>
            <a:endParaRPr lang="ko-KR" altLang="en-US" sz="850" dirty="0"/>
          </a:p>
        </p:txBody>
      </p:sp>
      <p:sp>
        <p:nvSpPr>
          <p:cNvPr id="35" name="Text 28"/>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“이 줄은 필요 없어. 아래 복사는 한국어 이름으로. 시장가 부분은 너무 나열돼 보이니 UI를 바꿔 줘. 그리고 원함 · 구매함 버튼도 너무 자리를 차지해.”</a:t>
            </a:r>
            <a:endParaRPr lang="ko-KR" altLang="en-US" sz="950" dirty="0"/>
          </a:p>
        </p:txBody>
      </p:sp>
      <p:sp>
        <p:nvSpPr>
          <p:cNvPr id="36" name="Shape 29"/>
          <p:cNvSpPr/>
          <p:nvPr/>
        </p:nvSpPr>
        <p:spPr>
          <a:xfrm>
            <a:off x="10475514"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37" name="Image 5" descr="C:\Users\Windows11\AppData\Local\Temp\claude\C--Users-Windows11-Desktop-New-folder--2-\a0c8a1d0-32ba-4ae6-9843-b5ebc69d925f\scratchpad\deck2/img/evo_d4d2774_detail.png">    </p:cNvPr>
          <p:cNvPicPr>
            <a:picLocks noChangeAspect="1"/>
          </p:cNvPicPr>
          <p:nvPr/>
        </p:nvPicPr>
        <p:blipFill>
          <a:blip r:embed="rId6"/>
          <a:stretch>
            <a:fillRect/>
          </a:stretch>
        </p:blipFill>
        <p:spPr>
          <a:xfrm>
            <a:off x="10457226" y="3310128"/>
            <a:ext cx="1183086" cy="2560320"/>
          </a:xfrm>
          <a:prstGeom prst="rect">
            <a:avLst/>
          </a:prstGeom>
        </p:spPr>
      </p:pic>
      <p:pic>
        <p:nvPicPr>
          <p:cNvPr id="38" name="Image 6" descr="C:\Users\Windows11\AppData\Local\Temp\claude\C--Users-Windows11-Desktop-New-folder--2-\a0c8a1d0-32ba-4ae6-9843-b5ebc69d925f\scratchpad\deck2/img/r_0953_1.png">    </p:cNvPr>
          <p:cNvPicPr>
            <a:picLocks noChangeAspect="1"/>
          </p:cNvPicPr>
          <p:nvPr/>
        </p:nvPicPr>
        <p:blipFill>
          <a:blip r:embed="rId7"/>
          <a:stretch>
            <a:fillRect/>
          </a:stretch>
        </p:blipFill>
        <p:spPr>
          <a:xfrm>
            <a:off x="8089392" y="3310128"/>
            <a:ext cx="2166666" cy="1099264"/>
          </a:xfrm>
          <a:prstGeom prst="rect">
            <a:avLst/>
          </a:prstGeom>
        </p:spPr>
      </p:pic>
      <p:sp>
        <p:nvSpPr>
          <p:cNvPr id="39" name="Text 30"/>
          <p:cNvSpPr txBox="1"/>
          <p:nvPr/>
        </p:nvSpPr>
        <p:spPr>
          <a:xfrm>
            <a:off x="8043672" y="4418536"/>
            <a:ext cx="2258106" cy="164592"/>
          </a:xfrm>
          <a:prstGeom prst="rect">
            <a:avLst/>
          </a:prstGeom>
          <a:noFill/>
          <a:ln/>
        </p:spPr>
        <p:txBody>
          <a:bodyPr wrap="square" lIns="0" tIns="0" rIns="0" bIns="0" rtlCol="0" anchor="t"/>
          <a:lstStyle/>
          <a:p>
            <a:pPr algn="ctr" indent="0" marL="0">
              <a:buNone/>
            </a:pPr>
            <a:r>
              <a:rPr lang="ko-KR" altLang="en-US" sz="750" b="1" dirty="0">
                <a:solidFill>
                  <a:srgbClr val="D93F44"/>
                </a:solidFill>
                <a:latin typeface="Malgun Gothic" pitchFamily="34" charset="0"/>
                <a:ea typeface="Malgun Gothic" pitchFamily="34" charset="-122"/>
                <a:cs typeface="Malgun Gothic" pitchFamily="34" charset="-120"/>
              </a:rPr>
              <a:t>✕ AI 안 · 분류 줄 — 필요 없음</a:t>
            </a:r>
            <a:endParaRPr lang="ko-KR" altLang="en-US" sz="750" dirty="0"/>
          </a:p>
        </p:txBody>
      </p:sp>
      <p:sp>
        <p:nvSpPr>
          <p:cNvPr id="40" name="Shape 31"/>
          <p:cNvSpPr/>
          <p:nvPr/>
        </p:nvSpPr>
        <p:spPr>
          <a:xfrm>
            <a:off x="10274346" y="4590288"/>
            <a:ext cx="146304" cy="0"/>
          </a:xfrm>
          <a:prstGeom prst="line">
            <a:avLst/>
          </a:prstGeom>
          <a:noFill/>
          <a:ln w="19050">
            <a:solidFill>
              <a:srgbClr val="1C86D9"/>
            </a:solidFill>
            <a:prstDash val="solid"/>
            <a:tailEnd type="triangle"/>
          </a:ln>
        </p:spPr>
      </p:sp>
      <p:sp>
        <p:nvSpPr>
          <p:cNvPr id="41" name="Text 32"/>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분류 줄 삭제 · 작은 알약 · 시세 카드 한 장</a:t>
            </a:r>
            <a:endParaRPr lang="ko-KR" altLang="en-US" sz="1100" dirty="0"/>
          </a:p>
        </p:txBody>
      </p:sp>
      <p:sp>
        <p:nvSpPr>
          <p:cNvPr id="42" name="Text 33"/>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d4d2774</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4/5 · 좋아요 · 구매함 · 도감</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좋아요 · 구매함 · 도감: 사진 위에서 바로, IMDb처럼, 모을수록 레벨업</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21:11</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AI가 만든 범례 줄 캡처</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도감 칸 단계 · 레벨 · ? 버튼 · 사진 위 ♡ +</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“구매함은 색 + 테두리, 원함은 색만. 아래 사진에서 바로 하트와 + 를 눌러 원함 · 구매함에 넣게 — + 의 뜻은 뭐가 좋을까? 도감에서는 하나 더 모으면 조금씩 레벨이 오르는 느낌으로. 원함은 '좋아요'로 바꾸고, 이런 긴 줄은 물음표 아이콘 하나로, 누르면 설명이 나오게.”</a:t>
            </a:r>
            <a:endParaRPr lang="ko-KR" altLang="en-US" sz="950" dirty="0"/>
          </a:p>
        </p:txBody>
      </p:sp>
      <p:sp>
        <p:nvSpPr>
          <p:cNvPr id="9" name="Shape 7"/>
          <p:cNvSpPr/>
          <p:nvPr/>
        </p:nvSpPr>
        <p:spPr>
          <a:xfrm>
            <a:off x="2934762"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46a4b56_guide.png">    </p:cNvPr>
          <p:cNvPicPr>
            <a:picLocks noChangeAspect="1"/>
          </p:cNvPicPr>
          <p:nvPr/>
        </p:nvPicPr>
        <p:blipFill>
          <a:blip r:embed="rId1"/>
          <a:stretch>
            <a:fillRect/>
          </a:stretch>
        </p:blipFill>
        <p:spPr>
          <a:xfrm>
            <a:off x="2916474" y="3310128"/>
            <a:ext cx="1183086" cy="2560320"/>
          </a:xfrm>
          <a:prstGeom prst="rect">
            <a:avLst/>
          </a:prstGeom>
        </p:spPr>
      </p:pic>
      <p:sp>
        <p:nvSpPr>
          <p:cNvPr id="11" name="Text 8"/>
          <p:cNvSpPr txBox="1"/>
          <p:nvPr/>
        </p:nvSpPr>
        <p:spPr>
          <a:xfrm>
            <a:off x="548640" y="3310128"/>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긴 범례 줄 — ? 하나로</a:t>
            </a:r>
            <a:endParaRPr lang="ko-KR" altLang="en-US" sz="800" dirty="0"/>
          </a:p>
        </p:txBody>
      </p:sp>
      <p:pic>
        <p:nvPicPr>
          <p:cNvPr id="12" name="Image 1" descr="C:\Users\Windows11\AppData\Local\Temp\claude\C--Users-Windows11-Desktop-New-folder--2-\a0c8a1d0-32ba-4ae6-9843-b5ebc69d925f\scratchpad\deck2/img/r_1211_1.png">    </p:cNvPr>
          <p:cNvPicPr>
            <a:picLocks noChangeAspect="1"/>
          </p:cNvPicPr>
          <p:nvPr/>
        </p:nvPicPr>
        <p:blipFill>
          <a:blip r:embed="rId2"/>
          <a:stretch>
            <a:fillRect/>
          </a:stretch>
        </p:blipFill>
        <p:spPr>
          <a:xfrm>
            <a:off x="548640" y="3483864"/>
            <a:ext cx="2166666" cy="187836"/>
          </a:xfrm>
          <a:prstGeom prst="rect">
            <a:avLst/>
          </a:prstGeom>
        </p:spPr>
      </p:pic>
      <p:sp>
        <p:nvSpPr>
          <p:cNvPr id="13" name="Shape 9"/>
          <p:cNvSpPr/>
          <p:nvPr/>
        </p:nvSpPr>
        <p:spPr>
          <a:xfrm>
            <a:off x="2733594" y="4590288"/>
            <a:ext cx="146304" cy="0"/>
          </a:xfrm>
          <a:prstGeom prst="line">
            <a:avLst/>
          </a:prstGeom>
          <a:noFill/>
          <a:ln w="19050">
            <a:solidFill>
              <a:srgbClr val="1C86D9"/>
            </a:solidFill>
            <a:prstDash val="solid"/>
            <a:tailEnd type="triangle"/>
          </a:ln>
        </p:spPr>
      </p:sp>
      <p:sp>
        <p:nvSpPr>
          <p:cNvPr id="14" name="Text 10"/>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도감 4단계 + Lv · ? 읽는 법 · ♡ +</a:t>
            </a:r>
            <a:endParaRPr lang="ko-KR" altLang="en-US" sz="1100" dirty="0"/>
          </a:p>
        </p:txBody>
      </p:sp>
      <p:sp>
        <p:nvSpPr>
          <p:cNvPr id="15" name="Text 11"/>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065f9b2 · 8040d86 · 46a4b56</a:t>
            </a:r>
            <a:endParaRPr lang="ko-KR" altLang="en-US" sz="850" dirty="0"/>
          </a:p>
        </p:txBody>
      </p:sp>
      <p:sp>
        <p:nvSpPr>
          <p:cNvPr id="16" name="Shape 12"/>
          <p:cNvSpPr/>
          <p:nvPr/>
        </p:nvSpPr>
        <p:spPr>
          <a:xfrm>
            <a:off x="4126992" y="2286000"/>
            <a:ext cx="164592" cy="0"/>
          </a:xfrm>
          <a:prstGeom prst="line">
            <a:avLst/>
          </a:prstGeom>
          <a:noFill/>
          <a:ln w="19050">
            <a:solidFill>
              <a:srgbClr val="9AA0A6"/>
            </a:solidFill>
            <a:prstDash val="solid"/>
            <a:tailEnd type="triangle"/>
          </a:ln>
        </p:spPr>
      </p:sp>
      <p:sp>
        <p:nvSpPr>
          <p:cNvPr id="17" name="Shape 13"/>
          <p:cNvSpPr/>
          <p:nvPr/>
        </p:nvSpPr>
        <p:spPr>
          <a:xfrm>
            <a:off x="4319016" y="1371600"/>
            <a:ext cx="3550920" cy="1847088"/>
          </a:xfrm>
          <a:prstGeom prst="roundRect">
            <a:avLst>
              <a:gd name="adj" fmla="val 4950"/>
            </a:avLst>
          </a:prstGeom>
          <a:solidFill>
            <a:srgbClr val="FFF4E2"/>
          </a:solidFill>
          <a:ln/>
        </p:spPr>
      </p:sp>
      <p:sp>
        <p:nvSpPr>
          <p:cNvPr id="18" name="Text 14"/>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21:41</a:t>
            </a:r>
            <a:endParaRPr lang="ko-KR" altLang="en-US" sz="850" dirty="0"/>
          </a:p>
        </p:txBody>
      </p:sp>
      <p:sp>
        <p:nvSpPr>
          <p:cNvPr id="19" name="Text 15"/>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IMDb</a:t>
            </a:r>
            <a:endParaRPr lang="ko-KR" altLang="en-US" sz="850" dirty="0"/>
          </a:p>
        </p:txBody>
      </p:sp>
      <p:sp>
        <p:nvSpPr>
          <p:cNvPr id="20" name="Text 16"/>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사진 위 표시 · 3점 배지</a:t>
            </a:r>
            <a:endParaRPr lang="ko-KR" altLang="en-US" sz="850" dirty="0"/>
          </a:p>
        </p:txBody>
      </p:sp>
      <p:sp>
        <p:nvSpPr>
          <p:cNvPr id="21" name="Text 17"/>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“3점(사진 인증)은 하트 · 체크 대신 배지 같은 아이콘으로. 홈 사진의 하트와 담기는 이 캡처와 같은 표시로 바꿔 줘. 친구의 도감 · 좋아요 · 구매함도 볼 수 있게.”</a:t>
            </a:r>
            <a:endParaRPr lang="ko-KR" altLang="en-US" sz="950" dirty="0"/>
          </a:p>
        </p:txBody>
      </p:sp>
      <p:sp>
        <p:nvSpPr>
          <p:cNvPr id="22" name="Shape 18"/>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3" name="Image 2" descr="C:\Users\Windows11\AppData\Local\Temp\claude\C--Users-Windows11-Desktop-New-folder--2-\a0c8a1d0-32ba-4ae6-9843-b5ebc69d925f\scratchpad\deck2/img/evo_f85eb66_home.png">    </p:cNvPr>
          <p:cNvPicPr>
            <a:picLocks noChangeAspect="1"/>
          </p:cNvPicPr>
          <p:nvPr/>
        </p:nvPicPr>
        <p:blipFill>
          <a:blip r:embed="rId3"/>
          <a:stretch>
            <a:fillRect/>
          </a:stretch>
        </p:blipFill>
        <p:spPr>
          <a:xfrm>
            <a:off x="6686850" y="3310128"/>
            <a:ext cx="1183086" cy="2560320"/>
          </a:xfrm>
          <a:prstGeom prst="rect">
            <a:avLst/>
          </a:prstGeom>
        </p:spPr>
      </p:pic>
      <p:pic>
        <p:nvPicPr>
          <p:cNvPr id="24" name="Image 3" descr="C:\Users\Windows11\AppData\Local\Temp\claude\C--Users-Windows11-Desktop-New-folder--2-\a0c8a1d0-32ba-4ae6-9843-b5ebc69d925f\scratchpad\deck2/img/r_1241_1.png">    </p:cNvPr>
          <p:cNvPicPr>
            <a:picLocks noChangeAspect="1"/>
          </p:cNvPicPr>
          <p:nvPr/>
        </p:nvPicPr>
        <p:blipFill>
          <a:blip r:embed="rId4"/>
          <a:stretch>
            <a:fillRect/>
          </a:stretch>
        </p:blipFill>
        <p:spPr>
          <a:xfrm>
            <a:off x="4887999" y="3310128"/>
            <a:ext cx="1028700" cy="2377440"/>
          </a:xfrm>
          <a:prstGeom prst="rect">
            <a:avLst/>
          </a:prstGeom>
        </p:spPr>
      </p:pic>
      <p:sp>
        <p:nvSpPr>
          <p:cNvPr id="25" name="Text 19"/>
          <p:cNvSpPr txBox="1"/>
          <p:nvPr/>
        </p:nvSpPr>
        <p:spPr>
          <a:xfrm>
            <a:off x="4273296"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IMDb</a:t>
            </a:r>
            <a:endParaRPr lang="ko-KR" altLang="en-US" sz="750" dirty="0"/>
          </a:p>
        </p:txBody>
      </p:sp>
      <p:sp>
        <p:nvSpPr>
          <p:cNvPr id="26" name="Shape 20"/>
          <p:cNvSpPr/>
          <p:nvPr/>
        </p:nvSpPr>
        <p:spPr>
          <a:xfrm>
            <a:off x="6503970" y="4590288"/>
            <a:ext cx="146304" cy="0"/>
          </a:xfrm>
          <a:prstGeom prst="line">
            <a:avLst/>
          </a:prstGeom>
          <a:noFill/>
          <a:ln w="19050">
            <a:solidFill>
              <a:srgbClr val="1C86D9"/>
            </a:solidFill>
            <a:prstDash val="solid"/>
            <a:tailEnd type="triangle"/>
          </a:ln>
        </p:spPr>
      </p:sp>
      <p:sp>
        <p:nvSpPr>
          <p:cNvPr id="27" name="Text 21"/>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IMDb 식 리본 + · ♡ · 3점 배지</a:t>
            </a:r>
            <a:endParaRPr lang="ko-KR" altLang="en-US" sz="1100" dirty="0"/>
          </a:p>
        </p:txBody>
      </p:sp>
      <p:sp>
        <p:nvSpPr>
          <p:cNvPr id="28" name="Text 22"/>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f85eb66</a:t>
            </a:r>
            <a:endParaRPr lang="ko-KR" altLang="en-US" sz="850" dirty="0"/>
          </a:p>
        </p:txBody>
      </p:sp>
      <p:sp>
        <p:nvSpPr>
          <p:cNvPr id="29" name="Shape 23"/>
          <p:cNvSpPr/>
          <p:nvPr/>
        </p:nvSpPr>
        <p:spPr>
          <a:xfrm>
            <a:off x="7897368" y="2286000"/>
            <a:ext cx="164592" cy="0"/>
          </a:xfrm>
          <a:prstGeom prst="line">
            <a:avLst/>
          </a:prstGeom>
          <a:noFill/>
          <a:ln w="19050">
            <a:solidFill>
              <a:srgbClr val="9AA0A6"/>
            </a:solidFill>
            <a:prstDash val="solid"/>
            <a:tailEnd type="triangle"/>
          </a:ln>
        </p:spPr>
      </p:sp>
      <p:sp>
        <p:nvSpPr>
          <p:cNvPr id="30" name="Shape 24"/>
          <p:cNvSpPr/>
          <p:nvPr/>
        </p:nvSpPr>
        <p:spPr>
          <a:xfrm>
            <a:off x="8089392" y="1371600"/>
            <a:ext cx="3550920" cy="1847088"/>
          </a:xfrm>
          <a:prstGeom prst="roundRect">
            <a:avLst>
              <a:gd name="adj" fmla="val 4950"/>
            </a:avLst>
          </a:prstGeom>
          <a:solidFill>
            <a:srgbClr val="FFF4E2"/>
          </a:solidFill>
          <a:ln/>
        </p:spPr>
      </p:sp>
      <p:sp>
        <p:nvSpPr>
          <p:cNvPr id="31" name="Text 25"/>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23:54</a:t>
            </a:r>
            <a:endParaRPr lang="ko-KR" altLang="en-US" sz="850" dirty="0"/>
          </a:p>
        </p:txBody>
      </p:sp>
      <p:sp>
        <p:nvSpPr>
          <p:cNvPr id="32" name="Text 26"/>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AI 반론 (부록 B3)</a:t>
            </a:r>
            <a:endParaRPr lang="ko-KR" altLang="en-US" sz="850" dirty="0"/>
          </a:p>
        </p:txBody>
      </p:sp>
      <p:sp>
        <p:nvSpPr>
          <p:cNvPr id="33" name="Text 27"/>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모든 화면의 ♡ · 리본</a:t>
            </a:r>
            <a:endParaRPr lang="ko-KR" altLang="en-US" sz="850" dirty="0"/>
          </a:p>
        </p:txBody>
      </p:sp>
      <p:sp>
        <p:nvSpPr>
          <p:cNvPr id="34" name="Text 28"/>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“(AI: 같은 '구매함'이 리본 · ✓원 · 동그라미 3–4가지 모양이야) → 로고 말고 나머지는 네 말대로 다 고쳐 줘.”</a:t>
            </a:r>
            <a:endParaRPr lang="ko-KR" altLang="en-US" sz="950" dirty="0"/>
          </a:p>
        </p:txBody>
      </p:sp>
      <p:sp>
        <p:nvSpPr>
          <p:cNvPr id="35" name="Shape 29"/>
          <p:cNvSpPr/>
          <p:nvPr/>
        </p:nvSpPr>
        <p:spPr>
          <a:xfrm>
            <a:off x="9291597"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36" name="Image 4" descr="C:\Users\Windows11\AppData\Local\Temp\claude\C--Users-Windows11-Desktop-New-folder--2-\a0c8a1d0-32ba-4ae6-9843-b5ebc69d925f\scratchpad\deck2/img/guide.png">    </p:cNvPr>
          <p:cNvPicPr>
            <a:picLocks noChangeAspect="1"/>
          </p:cNvPicPr>
          <p:nvPr/>
        </p:nvPicPr>
        <p:blipFill>
          <a:blip r:embed="rId5"/>
          <a:stretch>
            <a:fillRect/>
          </a:stretch>
        </p:blipFill>
        <p:spPr>
          <a:xfrm>
            <a:off x="9273309" y="3310128"/>
            <a:ext cx="1183086" cy="2560320"/>
          </a:xfrm>
          <a:prstGeom prst="rect">
            <a:avLst/>
          </a:prstGeom>
        </p:spPr>
      </p:pic>
      <p:sp>
        <p:nvSpPr>
          <p:cNvPr id="37" name="Text 30"/>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 좋아요 · 리본 구매함 하나로 · 민트 = 가진 것</a:t>
            </a:r>
            <a:endParaRPr lang="ko-KR" altLang="en-US" sz="1100" dirty="0"/>
          </a:p>
        </p:txBody>
      </p:sp>
      <p:sp>
        <p:nvSpPr>
          <p:cNvPr id="38" name="Text 31"/>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b29785b</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5/5 · 친구 · 내 정보 · 넓은 창</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친구는 QQ 캡처처럼 옆 서랍, 넓은 창은 QQ 폴드처럼 반반</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21:11</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내 정보 숫자 · 사진 벽 · 워터마크 · 휴지통</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“내 정보에서 좋아요 · 도감 점등 · 구매함 수를 보고, 누르면 그 목록으로. 사진 벽은 도감에 올린 내 사진과 연결. 다른 사람이 저장하면 오른쪽 아래에 워터마크(앱 이름 약자 + 올린 사람 ID), 끌 수도 있게. 친구도 볼 수 있게. 실수로 지운 좋아요 · 구매함은 휴지통에서 되찾게.”</a:t>
            </a:r>
            <a:endParaRPr lang="ko-KR" altLang="en-US" sz="950" dirty="0"/>
          </a:p>
        </p:txBody>
      </p:sp>
      <p:sp>
        <p:nvSpPr>
          <p:cNvPr id="9" name="Shape 7"/>
          <p:cNvSpPr/>
          <p:nvPr/>
        </p:nvSpPr>
        <p:spPr>
          <a:xfrm>
            <a:off x="1750845"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ba7a5de_profile.png">    </p:cNvPr>
          <p:cNvPicPr>
            <a:picLocks noChangeAspect="1"/>
          </p:cNvPicPr>
          <p:nvPr/>
        </p:nvPicPr>
        <p:blipFill>
          <a:blip r:embed="rId1"/>
          <a:stretch>
            <a:fillRect/>
          </a:stretch>
        </p:blipFill>
        <p:spPr>
          <a:xfrm>
            <a:off x="1732557" y="3310128"/>
            <a:ext cx="1183086" cy="2560320"/>
          </a:xfrm>
          <a:prstGeom prst="rect">
            <a:avLst/>
          </a:prstGeom>
        </p:spPr>
      </p:pic>
      <p:sp>
        <p:nvSpPr>
          <p:cNvPr id="11" name="Text 8"/>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숫자 → 이동 · 사진 벽 · 워터마크</a:t>
            </a:r>
            <a:endParaRPr lang="ko-KR" altLang="en-US" sz="1100" dirty="0"/>
          </a:p>
        </p:txBody>
      </p:sp>
      <p:sp>
        <p:nvSpPr>
          <p:cNvPr id="12" name="Text 9"/>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ba7a5de</a:t>
            </a:r>
            <a:endParaRPr lang="ko-KR" altLang="en-US" sz="850" dirty="0"/>
          </a:p>
        </p:txBody>
      </p:sp>
      <p:sp>
        <p:nvSpPr>
          <p:cNvPr id="13" name="Shape 10"/>
          <p:cNvSpPr/>
          <p:nvPr/>
        </p:nvSpPr>
        <p:spPr>
          <a:xfrm>
            <a:off x="4126992" y="2286000"/>
            <a:ext cx="164592" cy="0"/>
          </a:xfrm>
          <a:prstGeom prst="line">
            <a:avLst/>
          </a:prstGeom>
          <a:noFill/>
          <a:ln w="19050">
            <a:solidFill>
              <a:srgbClr val="9AA0A6"/>
            </a:solidFill>
            <a:prstDash val="solid"/>
            <a:tailEnd type="triangle"/>
          </a:ln>
        </p:spPr>
      </p:sp>
      <p:sp>
        <p:nvSpPr>
          <p:cNvPr id="14" name="Shape 11"/>
          <p:cNvSpPr/>
          <p:nvPr/>
        </p:nvSpPr>
        <p:spPr>
          <a:xfrm>
            <a:off x="4319016" y="1371600"/>
            <a:ext cx="3550920" cy="1847088"/>
          </a:xfrm>
          <a:prstGeom prst="roundRect">
            <a:avLst>
              <a:gd name="adj" fmla="val 4950"/>
            </a:avLst>
          </a:prstGeom>
          <a:solidFill>
            <a:srgbClr val="FFF4E2"/>
          </a:solidFill>
          <a:ln/>
        </p:spPr>
      </p:sp>
      <p:sp>
        <p:nvSpPr>
          <p:cNvPr id="15" name="Text 12"/>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21:41–21:56</a:t>
            </a:r>
            <a:endParaRPr lang="ko-KR" altLang="en-US" sz="850" dirty="0"/>
          </a:p>
        </p:txBody>
      </p:sp>
      <p:sp>
        <p:nvSpPr>
          <p:cNvPr id="16" name="Text 13"/>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QQ (2장)</a:t>
            </a:r>
            <a:endParaRPr lang="ko-KR" altLang="en-US" sz="850" dirty="0"/>
          </a:p>
        </p:txBody>
      </p:sp>
      <p:sp>
        <p:nvSpPr>
          <p:cNvPr id="17" name="Text 14"/>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친구 화면 = 옆 서랍</a:t>
            </a:r>
            <a:endParaRPr lang="ko-KR" altLang="en-US" sz="850" dirty="0"/>
          </a:p>
        </p:txBody>
      </p:sp>
      <p:sp>
        <p:nvSpPr>
          <p:cNvPr id="18" name="Text 15"/>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“친구 화면은 이렇게 보이면 좋겠어: 홈에서 왼쪽으로 밀면 이런 화면, 다만 아래 메뉴들은 두 번째 그림처럼 친구 목록으로. 아바타를 눌러도 같은 화면, 거기서 아바타를 또 누르면 내 정보.”</a:t>
            </a:r>
            <a:endParaRPr lang="ko-KR" altLang="en-US" sz="950" dirty="0"/>
          </a:p>
        </p:txBody>
      </p:sp>
      <p:sp>
        <p:nvSpPr>
          <p:cNvPr id="19" name="Shape 16"/>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0" name="Image 1" descr="C:\Users\Windows11\AppData\Local\Temp\claude\C--Users-Windows11-Desktop-New-folder--2-\a0c8a1d0-32ba-4ae6-9843-b5ebc69d925f\scratchpad\deck2/img/evo_ad41d69_drawer.png">    </p:cNvPr>
          <p:cNvPicPr>
            <a:picLocks noChangeAspect="1"/>
          </p:cNvPicPr>
          <p:nvPr/>
        </p:nvPicPr>
        <p:blipFill>
          <a:blip r:embed="rId2"/>
          <a:stretch>
            <a:fillRect/>
          </a:stretch>
        </p:blipFill>
        <p:spPr>
          <a:xfrm>
            <a:off x="6686850" y="3310128"/>
            <a:ext cx="1183086" cy="2560320"/>
          </a:xfrm>
          <a:prstGeom prst="rect">
            <a:avLst/>
          </a:prstGeom>
        </p:spPr>
      </p:pic>
      <p:pic>
        <p:nvPicPr>
          <p:cNvPr id="21" name="Image 2" descr="C:\Users\Windows11\AppData\Local\Temp\claude\C--Users-Windows11-Desktop-New-folder--2-\a0c8a1d0-32ba-4ae6-9843-b5ebc69d925f\scratchpad\deck2/img/r_1241_3.png">    </p:cNvPr>
          <p:cNvPicPr>
            <a:picLocks noChangeAspect="1"/>
          </p:cNvPicPr>
          <p:nvPr/>
        </p:nvPicPr>
        <p:blipFill>
          <a:blip r:embed="rId3"/>
          <a:stretch>
            <a:fillRect/>
          </a:stretch>
        </p:blipFill>
        <p:spPr>
          <a:xfrm>
            <a:off x="4600606" y="3310128"/>
            <a:ext cx="483577" cy="1051560"/>
          </a:xfrm>
          <a:prstGeom prst="rect">
            <a:avLst/>
          </a:prstGeom>
        </p:spPr>
      </p:pic>
      <p:sp>
        <p:nvSpPr>
          <p:cNvPr id="22" name="Text 17"/>
          <p:cNvSpPr txBox="1"/>
          <p:nvPr/>
        </p:nvSpPr>
        <p:spPr>
          <a:xfrm>
            <a:off x="4273296" y="4370832"/>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옆 서랍</a:t>
            </a:r>
            <a:endParaRPr lang="ko-KR" altLang="en-US" sz="750" dirty="0"/>
          </a:p>
        </p:txBody>
      </p:sp>
      <p:pic>
        <p:nvPicPr>
          <p:cNvPr id="23" name="Image 3" descr="C:\Users\Windows11\AppData\Local\Temp\claude\C--Users-Windows11-Desktop-New-folder--2-\a0c8a1d0-32ba-4ae6-9843-b5ebc69d925f\scratchpad\deck2/img/r_1241_2.png">    </p:cNvPr>
          <p:cNvPicPr>
            <a:picLocks noChangeAspect="1"/>
          </p:cNvPicPr>
          <p:nvPr/>
        </p:nvPicPr>
        <p:blipFill>
          <a:blip r:embed="rId4"/>
          <a:stretch>
            <a:fillRect/>
          </a:stretch>
        </p:blipFill>
        <p:spPr>
          <a:xfrm>
            <a:off x="5714294" y="3310128"/>
            <a:ext cx="496019" cy="1051560"/>
          </a:xfrm>
          <a:prstGeom prst="rect">
            <a:avLst/>
          </a:prstGeom>
        </p:spPr>
      </p:pic>
      <p:sp>
        <p:nvSpPr>
          <p:cNvPr id="24" name="Text 18"/>
          <p:cNvSpPr txBox="1"/>
          <p:nvPr/>
        </p:nvSpPr>
        <p:spPr>
          <a:xfrm>
            <a:off x="5393205" y="4370832"/>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친구 목록</a:t>
            </a:r>
            <a:endParaRPr lang="ko-KR" altLang="en-US" sz="750" dirty="0"/>
          </a:p>
        </p:txBody>
      </p:sp>
      <p:sp>
        <p:nvSpPr>
          <p:cNvPr id="25" name="Shape 19"/>
          <p:cNvSpPr/>
          <p:nvPr/>
        </p:nvSpPr>
        <p:spPr>
          <a:xfrm>
            <a:off x="6503970" y="4590288"/>
            <a:ext cx="146304" cy="0"/>
          </a:xfrm>
          <a:prstGeom prst="line">
            <a:avLst/>
          </a:prstGeom>
          <a:noFill/>
          <a:ln w="19050">
            <a:solidFill>
              <a:srgbClr val="1C86D9"/>
            </a:solidFill>
            <a:prstDash val="solid"/>
            <a:tailEnd type="triangle"/>
          </a:ln>
        </p:spPr>
      </p:sp>
      <p:sp>
        <p:nvSpPr>
          <p:cNvPr id="26" name="Text 20"/>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QQ 식 친구 서랍</a:t>
            </a:r>
            <a:endParaRPr lang="ko-KR" altLang="en-US" sz="1100" dirty="0"/>
          </a:p>
        </p:txBody>
      </p:sp>
      <p:sp>
        <p:nvSpPr>
          <p:cNvPr id="27" name="Text 21"/>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fbfbb2c · ad41d69</a:t>
            </a:r>
            <a:endParaRPr lang="ko-KR" altLang="en-US" sz="850" dirty="0"/>
          </a:p>
        </p:txBody>
      </p:sp>
      <p:sp>
        <p:nvSpPr>
          <p:cNvPr id="28" name="Shape 22"/>
          <p:cNvSpPr/>
          <p:nvPr/>
        </p:nvSpPr>
        <p:spPr>
          <a:xfrm>
            <a:off x="7897368" y="2286000"/>
            <a:ext cx="164592" cy="0"/>
          </a:xfrm>
          <a:prstGeom prst="line">
            <a:avLst/>
          </a:prstGeom>
          <a:noFill/>
          <a:ln w="19050">
            <a:solidFill>
              <a:srgbClr val="9AA0A6"/>
            </a:solidFill>
            <a:prstDash val="solid"/>
            <a:tailEnd type="triangle"/>
          </a:ln>
        </p:spPr>
      </p:sp>
      <p:sp>
        <p:nvSpPr>
          <p:cNvPr id="29" name="Shape 23"/>
          <p:cNvSpPr/>
          <p:nvPr/>
        </p:nvSpPr>
        <p:spPr>
          <a:xfrm>
            <a:off x="8089392" y="1371600"/>
            <a:ext cx="3550920" cy="1847088"/>
          </a:xfrm>
          <a:prstGeom prst="roundRect">
            <a:avLst>
              <a:gd name="adj" fmla="val 4950"/>
            </a:avLst>
          </a:prstGeom>
          <a:solidFill>
            <a:srgbClr val="FFF4E2"/>
          </a:solidFill>
          <a:ln/>
        </p:spPr>
      </p:sp>
      <p:sp>
        <p:nvSpPr>
          <p:cNvPr id="30" name="Text 24"/>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22:59–23:05</a:t>
            </a:r>
            <a:endParaRPr lang="ko-KR" altLang="en-US" sz="850" dirty="0"/>
          </a:p>
        </p:txBody>
      </p:sp>
      <p:sp>
        <p:nvSpPr>
          <p:cNvPr id="31" name="Text 25"/>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QQ (삼성 폴드, 2장)</a:t>
            </a:r>
            <a:endParaRPr lang="ko-KR" altLang="en-US" sz="850" dirty="0"/>
          </a:p>
        </p:txBody>
      </p:sp>
      <p:sp>
        <p:nvSpPr>
          <p:cNvPr id="32" name="Text 26"/>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넓은 창 → 반반 화면</a:t>
            </a:r>
            <a:endParaRPr lang="ko-KR" altLang="en-US" sz="850" dirty="0"/>
          </a:p>
        </p:txBody>
      </p:sp>
      <p:sp>
        <p:nvSpPr>
          <p:cNvPr id="33" name="Text 27"/>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“삼성 폴드처럼 잘 맞춘 앱은 반반이야 — 어떻게 생각해? 바꾸지 말고 먼저 말해 줘. → (AI: 목록-상세만 반반, 홈은 빼자) QQ는 이래. 분할부터 먼저 해 줘.”</a:t>
            </a:r>
            <a:endParaRPr lang="ko-KR" altLang="en-US" sz="950" dirty="0"/>
          </a:p>
        </p:txBody>
      </p:sp>
      <p:sp>
        <p:nvSpPr>
          <p:cNvPr id="34" name="Shape 28"/>
          <p:cNvSpPr/>
          <p:nvPr/>
        </p:nvSpPr>
        <p:spPr>
          <a:xfrm>
            <a:off x="9883140" y="3870584"/>
            <a:ext cx="1738884" cy="1439409"/>
          </a:xfrm>
          <a:prstGeom prst="roundRect">
            <a:avLst>
              <a:gd name="adj" fmla="val 3589"/>
            </a:avLst>
          </a:prstGeom>
          <a:solidFill>
            <a:srgbClr val="FFFFFF"/>
          </a:solidFill>
          <a:ln/>
          <a:effectLst>
            <a:outerShdw sx="100000" sy="100000" kx="0" ky="0" algn="bl" rotWithShape="0" blurRad="228600" dist="76200" dir="5400000">
              <a:srgbClr val="000000">
                <a:alpha val="18000"/>
              </a:srgbClr>
            </a:outerShdw>
          </a:effectLst>
        </p:spPr>
      </p:sp>
      <p:pic>
        <p:nvPicPr>
          <p:cNvPr id="35"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9864852" y="3852296"/>
            <a:ext cx="1775460" cy="1475985"/>
          </a:xfrm>
          <a:prstGeom prst="rect">
            <a:avLst/>
          </a:prstGeom>
        </p:spPr>
      </p:pic>
      <p:pic>
        <p:nvPicPr>
          <p:cNvPr id="36" name="Image 5" descr="C:\Users\Windows11\AppData\Local\Temp\claude\C--Users-Windows11-Desktop-New-folder--2-\a0c8a1d0-32ba-4ae6-9843-b5ebc69d925f\scratchpad\deck2/img/r_1359_1.png">    </p:cNvPr>
          <p:cNvPicPr>
            <a:picLocks noChangeAspect="1"/>
          </p:cNvPicPr>
          <p:nvPr/>
        </p:nvPicPr>
        <p:blipFill>
          <a:blip r:embed="rId6"/>
          <a:stretch>
            <a:fillRect/>
          </a:stretch>
        </p:blipFill>
        <p:spPr>
          <a:xfrm>
            <a:off x="8415122" y="3310128"/>
            <a:ext cx="922832" cy="1051560"/>
          </a:xfrm>
          <a:prstGeom prst="rect">
            <a:avLst/>
          </a:prstGeom>
        </p:spPr>
      </p:pic>
      <p:sp>
        <p:nvSpPr>
          <p:cNvPr id="37" name="Text 29"/>
          <p:cNvSpPr txBox="1"/>
          <p:nvPr/>
        </p:nvSpPr>
        <p:spPr>
          <a:xfrm>
            <a:off x="8043672" y="4370832"/>
            <a:ext cx="1665732"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폴드</a:t>
            </a:r>
            <a:endParaRPr lang="ko-KR" altLang="en-US" sz="750" dirty="0"/>
          </a:p>
        </p:txBody>
      </p:sp>
      <p:pic>
        <p:nvPicPr>
          <p:cNvPr id="38" name="Image 6" descr="C:\Users\Windows11\AppData\Local\Temp\claude\C--Users-Windows11-Desktop-New-folder--2-\a0c8a1d0-32ba-4ae6-9843-b5ebc69d925f\scratchpad\deck2/img/r_1405_1.png">    </p:cNvPr>
          <p:cNvPicPr>
            <a:picLocks noChangeAspect="1"/>
          </p:cNvPicPr>
          <p:nvPr/>
        </p:nvPicPr>
        <p:blipFill>
          <a:blip r:embed="rId7"/>
          <a:stretch>
            <a:fillRect/>
          </a:stretch>
        </p:blipFill>
        <p:spPr>
          <a:xfrm>
            <a:off x="8422531" y="4617720"/>
            <a:ext cx="908014" cy="1051560"/>
          </a:xfrm>
          <a:prstGeom prst="rect">
            <a:avLst/>
          </a:prstGeom>
        </p:spPr>
      </p:pic>
      <p:sp>
        <p:nvSpPr>
          <p:cNvPr id="39" name="Text 30"/>
          <p:cNvSpPr txBox="1"/>
          <p:nvPr/>
        </p:nvSpPr>
        <p:spPr>
          <a:xfrm>
            <a:off x="8043672" y="5678424"/>
            <a:ext cx="1665732"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폴드</a:t>
            </a:r>
            <a:endParaRPr lang="ko-KR" altLang="en-US" sz="750" dirty="0"/>
          </a:p>
        </p:txBody>
      </p:sp>
      <p:sp>
        <p:nvSpPr>
          <p:cNvPr id="40" name="Shape 31"/>
          <p:cNvSpPr/>
          <p:nvPr/>
        </p:nvSpPr>
        <p:spPr>
          <a:xfrm>
            <a:off x="9681972" y="4590288"/>
            <a:ext cx="146304" cy="0"/>
          </a:xfrm>
          <a:prstGeom prst="line">
            <a:avLst/>
          </a:prstGeom>
          <a:noFill/>
          <a:ln w="19050">
            <a:solidFill>
              <a:srgbClr val="1C86D9"/>
            </a:solidFill>
            <a:prstDash val="solid"/>
            <a:tailEnd type="triangle"/>
          </a:ln>
        </p:spPr>
      </p:sp>
      <p:sp>
        <p:nvSpPr>
          <p:cNvPr id="41" name="Text 32"/>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반반 화면 — 왼쪽은 폰 화면 그대로</a:t>
            </a:r>
            <a:endParaRPr lang="ko-KR" altLang="en-US" sz="1100" dirty="0"/>
          </a:p>
        </p:txBody>
      </p:sp>
      <p:sp>
        <p:nvSpPr>
          <p:cNvPr id="42" name="Text 33"/>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f7ed455 → 최종</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5  셀프 논증 — 내가 AI를 반박</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AI의 반복된 버릇 4가지 — 내가 지적해서 고쳤다</a:t>
            </a:r>
            <a:endParaRPr lang="ko-KR" altLang="en-US" sz="2400" dirty="0"/>
          </a:p>
        </p:txBody>
      </p:sp>
      <p:sp>
        <p:nvSpPr>
          <p:cNvPr id="4" name="Shape 2"/>
          <p:cNvSpPr/>
          <p:nvPr/>
        </p:nvSpPr>
        <p:spPr>
          <a:xfrm>
            <a:off x="548640" y="1371600"/>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31520" y="1499616"/>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1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재사용 안 함 — 매번 새로 만듦</a:t>
            </a:r>
            <a:endParaRPr lang="ko-KR" altLang="en-US" sz="1200" dirty="0"/>
          </a:p>
        </p:txBody>
      </p:sp>
      <p:sp>
        <p:nvSpPr>
          <p:cNvPr id="6" name="Text 4"/>
          <p:cNvSpPr txBox="1"/>
          <p:nvPr/>
        </p:nvSpPr>
        <p:spPr>
          <a:xfrm>
            <a:off x="731520" y="1847088"/>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16:33</a:t>
            </a:r>
            <a:endParaRPr lang="ko-KR" altLang="en-US" sz="850" dirty="0"/>
          </a:p>
        </p:txBody>
      </p:sp>
      <p:sp>
        <p:nvSpPr>
          <p:cNvPr id="7" name="Text 5"/>
          <p:cNvSpPr txBox="1"/>
          <p:nvPr/>
        </p:nvSpPr>
        <p:spPr>
          <a:xfrm>
            <a:off x="731520" y="2020824"/>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“홈 검색창과 검색 탭 검색창의 크기 · 글꼴 · 아이콘이 다 달라. 재사용해 줘”</a:t>
            </a:r>
            <a:endParaRPr lang="ko-KR" altLang="en-US" sz="1000" dirty="0"/>
          </a:p>
        </p:txBody>
      </p:sp>
      <p:sp>
        <p:nvSpPr>
          <p:cNvPr id="8" name="Text 6"/>
          <p:cNvSpPr txBox="1"/>
          <p:nvPr/>
        </p:nvSpPr>
        <p:spPr>
          <a:xfrm>
            <a:off x="731520" y="241401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16:36 · 21:56</a:t>
            </a:r>
            <a:endParaRPr lang="ko-KR" altLang="en-US" sz="850" dirty="0"/>
          </a:p>
        </p:txBody>
      </p:sp>
      <p:sp>
        <p:nvSpPr>
          <p:cNvPr id="9" name="Text 7"/>
          <p:cNvSpPr txBox="1"/>
          <p:nvPr/>
        </p:nvSpPr>
        <p:spPr>
          <a:xfrm>
            <a:off x="731520" y="258775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“재사용해야 하는데 안 한 게 또 있는지 다시 확인해”</a:t>
            </a:r>
            <a:endParaRPr lang="ko-KR" altLang="en-US" sz="1000" dirty="0"/>
          </a:p>
        </p:txBody>
      </p:sp>
      <p:sp>
        <p:nvSpPr>
          <p:cNvPr id="10" name="Shape 8"/>
          <p:cNvSpPr/>
          <p:nvPr/>
        </p:nvSpPr>
        <p:spPr>
          <a:xfrm>
            <a:off x="731520" y="3035808"/>
            <a:ext cx="3291840" cy="512064"/>
          </a:xfrm>
          <a:prstGeom prst="roundRect">
            <a:avLst>
              <a:gd name="adj" fmla="val 14286"/>
            </a:avLst>
          </a:prstGeom>
          <a:solidFill>
            <a:srgbClr val="E8F6F1"/>
          </a:solidFill>
          <a:ln/>
        </p:spPr>
      </p:sp>
      <p:sp>
        <p:nvSpPr>
          <p:cNvPr id="11" name="Text 9"/>
          <p:cNvSpPr txBox="1"/>
          <p:nvPr/>
        </p:nvSpPr>
        <p:spPr>
          <a:xfrm>
            <a:off x="822960" y="3035808"/>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공용 위젯으로: GpSearchBar · ProductTile · ThumbRow 등</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9fa6fd0 · 89d0704 · 52b0c59 · ad41d69</a:t>
            </a:r>
            <a:endParaRPr lang="ko-KR" altLang="en-US" sz="1000" dirty="0"/>
          </a:p>
        </p:txBody>
      </p:sp>
      <p:pic>
        <p:nvPicPr>
          <p:cNvPr id="12" name="Image 0" descr="C:\Users\Windows11\AppData\Local\Temp\claude\C--Users-Windows11-Desktop-New-folder--2-\a0c8a1d0-32ba-4ae6-9843-b5ebc69d925f\scratchpad\deck2/img/evo_6c64c91_search.png">    </p:cNvPr>
          <p:cNvPicPr>
            <a:picLocks noChangeAspect="1"/>
          </p:cNvPicPr>
          <p:nvPr/>
        </p:nvPicPr>
        <p:blipFill>
          <a:blip r:embed="rId1"/>
          <a:stretch>
            <a:fillRect/>
          </a:stretch>
        </p:blipFill>
        <p:spPr>
          <a:xfrm>
            <a:off x="4206240" y="1645920"/>
            <a:ext cx="845062" cy="1828800"/>
          </a:xfrm>
          <a:prstGeom prst="rect">
            <a:avLst/>
          </a:prstGeom>
        </p:spPr>
      </p:pic>
      <p:pic>
        <p:nvPicPr>
          <p:cNvPr id="13" name="Image 1" descr="C:\Users\Windows11\AppData\Local\Temp\claude\C--Users-Windows11-Desktop-New-folder--2-\a0c8a1d0-32ba-4ae6-9843-b5ebc69d925f\scratchpad\deck2/img/search.png">    </p:cNvPr>
          <p:cNvPicPr>
            <a:picLocks noChangeAspect="1"/>
          </p:cNvPicPr>
          <p:nvPr/>
        </p:nvPicPr>
        <p:blipFill>
          <a:blip r:embed="rId2"/>
          <a:stretch>
            <a:fillRect/>
          </a:stretch>
        </p:blipFill>
        <p:spPr>
          <a:xfrm>
            <a:off x="5102352" y="1645920"/>
            <a:ext cx="845062" cy="1828800"/>
          </a:xfrm>
          <a:prstGeom prst="rect">
            <a:avLst/>
          </a:prstGeom>
        </p:spPr>
      </p:pic>
      <p:sp>
        <p:nvSpPr>
          <p:cNvPr id="14" name="Text 10"/>
          <p:cNvSpPr txBox="1"/>
          <p:nvPr/>
        </p:nvSpPr>
        <p:spPr>
          <a:xfrm>
            <a:off x="4160520"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15" name="Text 11"/>
          <p:cNvSpPr txBox="1"/>
          <p:nvPr/>
        </p:nvSpPr>
        <p:spPr>
          <a:xfrm>
            <a:off x="5056632"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16" name="Shape 12"/>
          <p:cNvSpPr/>
          <p:nvPr/>
        </p:nvSpPr>
        <p:spPr>
          <a:xfrm>
            <a:off x="6190488" y="1371600"/>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7" name="Text 13"/>
          <p:cNvSpPr txBox="1"/>
          <p:nvPr/>
        </p:nvSpPr>
        <p:spPr>
          <a:xfrm>
            <a:off x="6373368" y="1499616"/>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2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소재 재사용 안 함 — 다른 모양</a:t>
            </a:r>
            <a:endParaRPr lang="ko-KR" altLang="en-US" sz="1200" dirty="0"/>
          </a:p>
        </p:txBody>
      </p:sp>
      <p:sp>
        <p:nvSpPr>
          <p:cNvPr id="18" name="Text 14"/>
          <p:cNvSpPr txBox="1"/>
          <p:nvPr/>
        </p:nvSpPr>
        <p:spPr>
          <a:xfrm>
            <a:off x="6373368" y="1847088"/>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16:29</a:t>
            </a:r>
            <a:endParaRPr lang="ko-KR" altLang="en-US" sz="850" dirty="0"/>
          </a:p>
        </p:txBody>
      </p:sp>
      <p:sp>
        <p:nvSpPr>
          <p:cNvPr id="19" name="Text 15"/>
          <p:cNvSpPr txBox="1"/>
          <p:nvPr/>
        </p:nvSpPr>
        <p:spPr>
          <a:xfrm>
            <a:off x="6373368" y="2020824"/>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“이 세 개, 같은 거 아니야?”</a:t>
            </a:r>
            <a:endParaRPr lang="ko-KR" altLang="en-US" sz="1000" dirty="0"/>
          </a:p>
        </p:txBody>
      </p:sp>
      <p:sp>
        <p:nvSpPr>
          <p:cNvPr id="20" name="Text 16"/>
          <p:cNvSpPr txBox="1"/>
          <p:nvPr/>
        </p:nvSpPr>
        <p:spPr>
          <a:xfrm>
            <a:off x="6373368" y="241401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16:45</a:t>
            </a:r>
            <a:endParaRPr lang="ko-KR" altLang="en-US" sz="850" dirty="0"/>
          </a:p>
        </p:txBody>
      </p:sp>
      <p:sp>
        <p:nvSpPr>
          <p:cNvPr id="21" name="Text 17"/>
          <p:cNvSpPr txBox="1"/>
          <p:nvPr/>
        </p:nvSpPr>
        <p:spPr>
          <a:xfrm>
            <a:off x="6373368" y="258775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“이름 · 번호 · 생김새로 찾기 — 글자 간격이 화면마다 달라”</a:t>
            </a:r>
            <a:endParaRPr lang="ko-KR" altLang="en-US" sz="1000" dirty="0"/>
          </a:p>
        </p:txBody>
      </p:sp>
      <p:sp>
        <p:nvSpPr>
          <p:cNvPr id="22" name="Shape 18"/>
          <p:cNvSpPr/>
          <p:nvPr/>
        </p:nvSpPr>
        <p:spPr>
          <a:xfrm>
            <a:off x="6373368" y="3035808"/>
            <a:ext cx="3291840" cy="512064"/>
          </a:xfrm>
          <a:prstGeom prst="roundRect">
            <a:avLst>
              <a:gd name="adj" fmla="val 14286"/>
            </a:avLst>
          </a:prstGeom>
          <a:solidFill>
            <a:srgbClr val="E8F6F1"/>
          </a:solidFill>
          <a:ln/>
        </p:spPr>
      </p:sp>
      <p:sp>
        <p:nvSpPr>
          <p:cNvPr id="23" name="Text 19"/>
          <p:cNvSpPr txBox="1"/>
          <p:nvPr/>
        </p:nvSpPr>
        <p:spPr>
          <a:xfrm>
            <a:off x="6464808" y="3035808"/>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같은 입력창 · 같은 아이콘 하나 (구매함 = 리본)</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ff2f599 · b29785b</a:t>
            </a:r>
            <a:endParaRPr lang="ko-KR" altLang="en-US" sz="1000" dirty="0"/>
          </a:p>
        </p:txBody>
      </p:sp>
      <p:pic>
        <p:nvPicPr>
          <p:cNvPr id="24" name="Image 2" descr="C:\Users\Windows11\AppData\Local\Temp\claude\C--Users-Windows11-Desktop-New-folder--2-\a0c8a1d0-32ba-4ae6-9843-b5ebc69d925f\scratchpad\deck2/img/evo_8040d86_home.png">    </p:cNvPr>
          <p:cNvPicPr>
            <a:picLocks noChangeAspect="1"/>
          </p:cNvPicPr>
          <p:nvPr/>
        </p:nvPicPr>
        <p:blipFill>
          <a:blip r:embed="rId3"/>
          <a:stretch>
            <a:fillRect/>
          </a:stretch>
        </p:blipFill>
        <p:spPr>
          <a:xfrm>
            <a:off x="9848088" y="1645920"/>
            <a:ext cx="845062" cy="1828800"/>
          </a:xfrm>
          <a:prstGeom prst="rect">
            <a:avLst/>
          </a:prstGeom>
        </p:spPr>
      </p:pic>
      <p:pic>
        <p:nvPicPr>
          <p:cNvPr id="25" name="Image 3" descr="C:\Users\Windows11\AppData\Local\Temp\claude\C--Users-Windows11-Desktop-New-folder--2-\a0c8a1d0-32ba-4ae6-9843-b5ebc69d925f\scratchpad\deck2/img/home.png">    </p:cNvPr>
          <p:cNvPicPr>
            <a:picLocks noChangeAspect="1"/>
          </p:cNvPicPr>
          <p:nvPr/>
        </p:nvPicPr>
        <p:blipFill>
          <a:blip r:embed="rId4"/>
          <a:stretch>
            <a:fillRect/>
          </a:stretch>
        </p:blipFill>
        <p:spPr>
          <a:xfrm>
            <a:off x="10744200" y="1645920"/>
            <a:ext cx="845062" cy="1828800"/>
          </a:xfrm>
          <a:prstGeom prst="rect">
            <a:avLst/>
          </a:prstGeom>
        </p:spPr>
      </p:pic>
      <p:sp>
        <p:nvSpPr>
          <p:cNvPr id="26" name="Text 20"/>
          <p:cNvSpPr txBox="1"/>
          <p:nvPr/>
        </p:nvSpPr>
        <p:spPr>
          <a:xfrm>
            <a:off x="9802368"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27" name="Text 21"/>
          <p:cNvSpPr txBox="1"/>
          <p:nvPr/>
        </p:nvSpPr>
        <p:spPr>
          <a:xfrm>
            <a:off x="10698480"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28" name="Shape 22"/>
          <p:cNvSpPr/>
          <p:nvPr/>
        </p:nvSpPr>
        <p:spPr>
          <a:xfrm>
            <a:off x="548640" y="3813048"/>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9" name="Text 23"/>
          <p:cNvSpPr txBox="1"/>
          <p:nvPr/>
        </p:nvSpPr>
        <p:spPr>
          <a:xfrm>
            <a:off x="731520" y="3941064"/>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3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모든 걸 위아래로 나열</a:t>
            </a:r>
            <a:endParaRPr lang="ko-KR" altLang="en-US" sz="1200" dirty="0"/>
          </a:p>
        </p:txBody>
      </p:sp>
      <p:sp>
        <p:nvSpPr>
          <p:cNvPr id="30" name="Text 24"/>
          <p:cNvSpPr txBox="1"/>
          <p:nvPr/>
        </p:nvSpPr>
        <p:spPr>
          <a:xfrm>
            <a:off x="731520" y="428853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15:00</a:t>
            </a:r>
            <a:endParaRPr lang="ko-KR" altLang="en-US" sz="850" dirty="0"/>
          </a:p>
        </p:txBody>
      </p:sp>
      <p:sp>
        <p:nvSpPr>
          <p:cNvPr id="31" name="Text 25"/>
          <p:cNvSpPr txBox="1"/>
          <p:nvPr/>
        </p:nvSpPr>
        <p:spPr>
          <a:xfrm>
            <a:off x="731520" y="446227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“안의 기능들을 위에서 아래로 나열하지 말고, 더 좋은 UI 방식을”</a:t>
            </a:r>
            <a:endParaRPr lang="ko-KR" altLang="en-US" sz="1000" dirty="0"/>
          </a:p>
        </p:txBody>
      </p:sp>
      <p:sp>
        <p:nvSpPr>
          <p:cNvPr id="32" name="Text 26"/>
          <p:cNvSpPr txBox="1"/>
          <p:nvPr/>
        </p:nvSpPr>
        <p:spPr>
          <a:xfrm>
            <a:off x="731520" y="4855464"/>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18:53</a:t>
            </a:r>
            <a:endParaRPr lang="ko-KR" altLang="en-US" sz="850" dirty="0"/>
          </a:p>
        </p:txBody>
      </p:sp>
      <p:sp>
        <p:nvSpPr>
          <p:cNvPr id="33" name="Text 27"/>
          <p:cNvSpPr txBox="1"/>
          <p:nvPr/>
        </p:nvSpPr>
        <p:spPr>
          <a:xfrm>
            <a:off x="731520" y="5029200"/>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“시장가 부분은 너무 나열돼 보여”</a:t>
            </a:r>
            <a:endParaRPr lang="ko-KR" altLang="en-US" sz="1000" dirty="0"/>
          </a:p>
        </p:txBody>
      </p:sp>
      <p:sp>
        <p:nvSpPr>
          <p:cNvPr id="34" name="Shape 28"/>
          <p:cNvSpPr/>
          <p:nvPr/>
        </p:nvSpPr>
        <p:spPr>
          <a:xfrm>
            <a:off x="731520" y="5477256"/>
            <a:ext cx="3291840" cy="512064"/>
          </a:xfrm>
          <a:prstGeom prst="roundRect">
            <a:avLst>
              <a:gd name="adj" fmla="val 14286"/>
            </a:avLst>
          </a:prstGeom>
          <a:solidFill>
            <a:srgbClr val="E8F6F1"/>
          </a:solidFill>
          <a:ln/>
        </p:spPr>
      </p:sp>
      <p:sp>
        <p:nvSpPr>
          <p:cNvPr id="35" name="Text 29"/>
          <p:cNvSpPr txBox="1"/>
          <p:nvPr/>
        </p:nvSpPr>
        <p:spPr>
          <a:xfrm>
            <a:off x="822960" y="5477256"/>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홈 = 배너 + 가로 줄 · 시세는 카드 한 장</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5adf83d · b20d76f · d4d2774</a:t>
            </a:r>
            <a:endParaRPr lang="ko-KR" altLang="en-US" sz="1000" dirty="0"/>
          </a:p>
        </p:txBody>
      </p:sp>
      <p:pic>
        <p:nvPicPr>
          <p:cNvPr id="36" name="Image 4" descr="C:\Users\Windows11\AppData\Local\Temp\claude\C--Users-Windows11-Desktop-New-folder--2-\a0c8a1d0-32ba-4ae6-9843-b5ebc69d925f\scratchpad\deck2/img/evo_99dd2b9_home.png">    </p:cNvPr>
          <p:cNvPicPr>
            <a:picLocks noChangeAspect="1"/>
          </p:cNvPicPr>
          <p:nvPr/>
        </p:nvPicPr>
        <p:blipFill>
          <a:blip r:embed="rId5"/>
          <a:stretch>
            <a:fillRect/>
          </a:stretch>
        </p:blipFill>
        <p:spPr>
          <a:xfrm>
            <a:off x="4206240" y="4087368"/>
            <a:ext cx="845062" cy="1828800"/>
          </a:xfrm>
          <a:prstGeom prst="rect">
            <a:avLst/>
          </a:prstGeom>
        </p:spPr>
      </p:pic>
      <p:pic>
        <p:nvPicPr>
          <p:cNvPr id="37" name="Image 5" descr="C:\Users\Windows11\AppData\Local\Temp\claude\C--Users-Windows11-Desktop-New-folder--2-\a0c8a1d0-32ba-4ae6-9843-b5ebc69d925f\scratchpad\deck2/img/evo_b20d76f_home.png">    </p:cNvPr>
          <p:cNvPicPr>
            <a:picLocks noChangeAspect="1"/>
          </p:cNvPicPr>
          <p:nvPr/>
        </p:nvPicPr>
        <p:blipFill>
          <a:blip r:embed="rId6"/>
          <a:stretch>
            <a:fillRect/>
          </a:stretch>
        </p:blipFill>
        <p:spPr>
          <a:xfrm>
            <a:off x="5102352" y="4087368"/>
            <a:ext cx="845062" cy="1828800"/>
          </a:xfrm>
          <a:prstGeom prst="rect">
            <a:avLst/>
          </a:prstGeom>
        </p:spPr>
      </p:pic>
      <p:sp>
        <p:nvSpPr>
          <p:cNvPr id="38" name="Text 30"/>
          <p:cNvSpPr txBox="1"/>
          <p:nvPr/>
        </p:nvSpPr>
        <p:spPr>
          <a:xfrm>
            <a:off x="4160520"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39" name="Text 31"/>
          <p:cNvSpPr txBox="1"/>
          <p:nvPr/>
        </p:nvSpPr>
        <p:spPr>
          <a:xfrm>
            <a:off x="5056632"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40" name="Shape 32"/>
          <p:cNvSpPr/>
          <p:nvPr/>
        </p:nvSpPr>
        <p:spPr>
          <a:xfrm>
            <a:off x="6190488" y="3813048"/>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1" name="Text 33"/>
          <p:cNvSpPr txBox="1"/>
          <p:nvPr/>
        </p:nvSpPr>
        <p:spPr>
          <a:xfrm>
            <a:off x="6373368" y="3941064"/>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4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같은 내용을 여러 곳에 반복</a:t>
            </a:r>
            <a:endParaRPr lang="ko-KR" altLang="en-US" sz="1200" dirty="0"/>
          </a:p>
        </p:txBody>
      </p:sp>
      <p:sp>
        <p:nvSpPr>
          <p:cNvPr id="42" name="Text 34"/>
          <p:cNvSpPr txBox="1"/>
          <p:nvPr/>
        </p:nvSpPr>
        <p:spPr>
          <a:xfrm>
            <a:off x="6373368" y="428853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20:34</a:t>
            </a:r>
            <a:endParaRPr lang="ko-KR" altLang="en-US" sz="850" dirty="0"/>
          </a:p>
        </p:txBody>
      </p:sp>
      <p:sp>
        <p:nvSpPr>
          <p:cNvPr id="43" name="Text 35"/>
          <p:cNvSpPr txBox="1"/>
          <p:nvPr/>
        </p:nvSpPr>
        <p:spPr>
          <a:xfrm>
            <a:off x="6373368" y="446227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“시장가와 국내 시세는 아직도 너무 겹쳐”</a:t>
            </a:r>
            <a:endParaRPr lang="ko-KR" altLang="en-US" sz="1000" dirty="0"/>
          </a:p>
        </p:txBody>
      </p:sp>
      <p:sp>
        <p:nvSpPr>
          <p:cNvPr id="44" name="Text 36"/>
          <p:cNvSpPr txBox="1"/>
          <p:nvPr/>
        </p:nvSpPr>
        <p:spPr>
          <a:xfrm>
            <a:off x="6373368" y="4855464"/>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23:37</a:t>
            </a:r>
            <a:endParaRPr lang="ko-KR" altLang="en-US" sz="850" dirty="0"/>
          </a:p>
        </p:txBody>
      </p:sp>
      <p:sp>
        <p:nvSpPr>
          <p:cNvPr id="45" name="Text 37"/>
          <p:cNvSpPr txBox="1"/>
          <p:nvPr/>
        </p:nvSpPr>
        <p:spPr>
          <a:xfrm>
            <a:off x="6373368" y="5029200"/>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“6번, 중복된 친구 목록은 지워”</a:t>
            </a:r>
            <a:endParaRPr lang="ko-KR" altLang="en-US" sz="1000" dirty="0"/>
          </a:p>
        </p:txBody>
      </p:sp>
      <p:sp>
        <p:nvSpPr>
          <p:cNvPr id="46" name="Shape 38"/>
          <p:cNvSpPr/>
          <p:nvPr/>
        </p:nvSpPr>
        <p:spPr>
          <a:xfrm>
            <a:off x="6373368" y="5477256"/>
            <a:ext cx="3291840" cy="512064"/>
          </a:xfrm>
          <a:prstGeom prst="roundRect">
            <a:avLst>
              <a:gd name="adj" fmla="val 14286"/>
            </a:avLst>
          </a:prstGeom>
          <a:solidFill>
            <a:srgbClr val="E8F6F1"/>
          </a:solidFill>
          <a:ln/>
        </p:spPr>
      </p:sp>
      <p:sp>
        <p:nvSpPr>
          <p:cNvPr id="47" name="Text 39"/>
          <p:cNvSpPr txBox="1"/>
          <p:nvPr/>
        </p:nvSpPr>
        <p:spPr>
          <a:xfrm>
            <a:off x="6464808" y="5477256"/>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시세는 정가 아래 한 줄 · 친구 목록은 서랍 한 곳</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18b0f10 · 132c398</a:t>
            </a:r>
            <a:endParaRPr lang="ko-KR" altLang="en-US" sz="1000" dirty="0"/>
          </a:p>
        </p:txBody>
      </p:sp>
      <p:pic>
        <p:nvPicPr>
          <p:cNvPr id="48" name="Image 6" descr="C:\Users\Windows11\AppData\Local\Temp\claude\C--Users-Windows11-Desktop-New-folder--2-\a0c8a1d0-32ba-4ae6-9843-b5ebc69d925f\scratchpad\deck2/img/evo_80b665e_detail.png">    </p:cNvPr>
          <p:cNvPicPr>
            <a:picLocks noChangeAspect="1"/>
          </p:cNvPicPr>
          <p:nvPr/>
        </p:nvPicPr>
        <p:blipFill>
          <a:blip r:embed="rId7"/>
          <a:stretch>
            <a:fillRect/>
          </a:stretch>
        </p:blipFill>
        <p:spPr>
          <a:xfrm>
            <a:off x="9848088" y="4087368"/>
            <a:ext cx="845062" cy="1828800"/>
          </a:xfrm>
          <a:prstGeom prst="rect">
            <a:avLst/>
          </a:prstGeom>
        </p:spPr>
      </p:pic>
      <p:pic>
        <p:nvPicPr>
          <p:cNvPr id="49" name="Image 7" descr="C:\Users\Windows11\AppData\Local\Temp\claude\C--Users-Windows11-Desktop-New-folder--2-\a0c8a1d0-32ba-4ae6-9843-b5ebc69d925f\scratchpad\deck2/img/detail.png">    </p:cNvPr>
          <p:cNvPicPr>
            <a:picLocks noChangeAspect="1"/>
          </p:cNvPicPr>
          <p:nvPr/>
        </p:nvPicPr>
        <p:blipFill>
          <a:blip r:embed="rId8"/>
          <a:stretch>
            <a:fillRect/>
          </a:stretch>
        </p:blipFill>
        <p:spPr>
          <a:xfrm>
            <a:off x="10744200" y="4087368"/>
            <a:ext cx="845062" cy="1828800"/>
          </a:xfrm>
          <a:prstGeom prst="rect">
            <a:avLst/>
          </a:prstGeom>
        </p:spPr>
      </p:pic>
      <p:sp>
        <p:nvSpPr>
          <p:cNvPr id="50" name="Text 40"/>
          <p:cNvSpPr txBox="1"/>
          <p:nvPr/>
        </p:nvSpPr>
        <p:spPr>
          <a:xfrm>
            <a:off x="9802368"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51" name="Text 41"/>
          <p:cNvSpPr txBox="1"/>
          <p:nvPr/>
        </p:nvSpPr>
        <p:spPr>
          <a:xfrm>
            <a:off x="10698480"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6  Flutter 기술을 활용한 기능 설명</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Flutter 구현: 위젯 트리 하나로 폰부터 넓은 화면까지</a:t>
            </a:r>
            <a:endParaRPr lang="ko-KR" altLang="en-US" sz="2800" dirty="0"/>
          </a:p>
        </p:txBody>
      </p:sp>
      <p:sp>
        <p:nvSpPr>
          <p:cNvPr id="4" name="Shape 2"/>
          <p:cNvSpPr/>
          <p:nvPr/>
        </p:nvSpPr>
        <p:spPr>
          <a:xfrm>
            <a:off x="548640" y="1481328"/>
            <a:ext cx="3840480" cy="4617720"/>
          </a:xfrm>
          <a:prstGeom prst="roundRect">
            <a:avLst>
              <a:gd name="adj" fmla="val 3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77240" y="1645920"/>
            <a:ext cx="347472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위젯 트리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lib/main.dart</a:t>
            </a:r>
            <a:endParaRPr lang="ko-KR" altLang="en-US" sz="1300" dirty="0"/>
          </a:p>
        </p:txBody>
      </p:sp>
      <p:sp>
        <p:nvSpPr>
          <p:cNvPr id="6" name="Shape 4"/>
          <p:cNvSpPr/>
          <p:nvPr/>
        </p:nvSpPr>
        <p:spPr>
          <a:xfrm>
            <a:off x="777240" y="2057400"/>
            <a:ext cx="3383280" cy="457200"/>
          </a:xfrm>
          <a:prstGeom prst="roundRect">
            <a:avLst>
              <a:gd name="adj" fmla="val 20000"/>
            </a:avLst>
          </a:prstGeom>
          <a:solidFill>
            <a:srgbClr val="FFFFFF"/>
          </a:solidFill>
          <a:ln w="9525">
            <a:solidFill>
              <a:srgbClr val="E3E5E8"/>
            </a:solidFill>
            <a:prstDash val="solid"/>
          </a:ln>
        </p:spPr>
      </p:sp>
      <p:sp>
        <p:nvSpPr>
          <p:cNvPr id="7" name="Text 5"/>
          <p:cNvSpPr txBox="1"/>
          <p:nvPr/>
        </p:nvSpPr>
        <p:spPr>
          <a:xfrm>
            <a:off x="886968" y="2093976"/>
            <a:ext cx="3200400"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MaterialApp</a:t>
            </a:r>
            <a:endParaRPr lang="ko-KR" altLang="en-US" sz="1100" dirty="0"/>
          </a:p>
        </p:txBody>
      </p:sp>
      <p:sp>
        <p:nvSpPr>
          <p:cNvPr id="8" name="Text 6"/>
          <p:cNvSpPr txBox="1"/>
          <p:nvPr/>
        </p:nvSpPr>
        <p:spPr>
          <a:xfrm>
            <a:off x="886968" y="2295144"/>
            <a:ext cx="3200400"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쌓기: CupertinoPageRoute</a:t>
            </a:r>
            <a:endParaRPr lang="ko-KR" altLang="en-US" sz="950" dirty="0"/>
          </a:p>
        </p:txBody>
      </p:sp>
      <p:sp>
        <p:nvSpPr>
          <p:cNvPr id="9" name="Shape 7"/>
          <p:cNvSpPr/>
          <p:nvPr/>
        </p:nvSpPr>
        <p:spPr>
          <a:xfrm>
            <a:off x="877824" y="2514600"/>
            <a:ext cx="0" cy="320040"/>
          </a:xfrm>
          <a:prstGeom prst="line">
            <a:avLst/>
          </a:prstGeom>
          <a:noFill/>
          <a:ln w="12700">
            <a:solidFill>
              <a:srgbClr val="C9CDD2"/>
            </a:solidFill>
            <a:prstDash val="solid"/>
          </a:ln>
        </p:spPr>
      </p:sp>
      <p:sp>
        <p:nvSpPr>
          <p:cNvPr id="10" name="Shape 8"/>
          <p:cNvSpPr/>
          <p:nvPr/>
        </p:nvSpPr>
        <p:spPr>
          <a:xfrm>
            <a:off x="877824" y="2834640"/>
            <a:ext cx="118872" cy="0"/>
          </a:xfrm>
          <a:prstGeom prst="line">
            <a:avLst/>
          </a:prstGeom>
          <a:noFill/>
          <a:ln w="12700">
            <a:solidFill>
              <a:srgbClr val="C9CDD2"/>
            </a:solidFill>
            <a:prstDash val="solid"/>
          </a:ln>
        </p:spPr>
      </p:sp>
      <p:sp>
        <p:nvSpPr>
          <p:cNvPr id="11" name="Shape 9"/>
          <p:cNvSpPr/>
          <p:nvPr/>
        </p:nvSpPr>
        <p:spPr>
          <a:xfrm>
            <a:off x="996696" y="2606040"/>
            <a:ext cx="3163824" cy="457200"/>
          </a:xfrm>
          <a:prstGeom prst="roundRect">
            <a:avLst>
              <a:gd name="adj" fmla="val 20000"/>
            </a:avLst>
          </a:prstGeom>
          <a:solidFill>
            <a:srgbClr val="E8F6F1"/>
          </a:solidFill>
          <a:ln/>
        </p:spPr>
      </p:sp>
      <p:sp>
        <p:nvSpPr>
          <p:cNvPr id="12" name="Text 10"/>
          <p:cNvSpPr txBox="1"/>
          <p:nvPr/>
        </p:nvSpPr>
        <p:spPr>
          <a:xfrm>
            <a:off x="1106424" y="2642616"/>
            <a:ext cx="2980944" cy="201168"/>
          </a:xfrm>
          <a:prstGeom prst="rect">
            <a:avLst/>
          </a:prstGeom>
          <a:noFill/>
          <a:ln/>
        </p:spPr>
        <p:txBody>
          <a:bodyPr wrap="square" lIns="0" tIns="0" rIns="0" bIns="0" rtlCol="0" anchor="t"/>
          <a:lstStyle/>
          <a:p>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MarksHost · PaneHost</a:t>
            </a:r>
            <a:endParaRPr lang="ko-KR" altLang="en-US" sz="1100" dirty="0"/>
          </a:p>
        </p:txBody>
      </p:sp>
      <p:sp>
        <p:nvSpPr>
          <p:cNvPr id="13" name="Text 11"/>
          <p:cNvSpPr txBox="1"/>
          <p:nvPr/>
        </p:nvSpPr>
        <p:spPr>
          <a:xfrm>
            <a:off x="1106424" y="2843784"/>
            <a:ext cx="2980944"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setState + InheritedWidget</a:t>
            </a:r>
            <a:endParaRPr lang="ko-KR" altLang="en-US" sz="950" dirty="0"/>
          </a:p>
        </p:txBody>
      </p:sp>
      <p:sp>
        <p:nvSpPr>
          <p:cNvPr id="14" name="Shape 12"/>
          <p:cNvSpPr/>
          <p:nvPr/>
        </p:nvSpPr>
        <p:spPr>
          <a:xfrm>
            <a:off x="1097280" y="3063240"/>
            <a:ext cx="0" cy="320040"/>
          </a:xfrm>
          <a:prstGeom prst="line">
            <a:avLst/>
          </a:prstGeom>
          <a:noFill/>
          <a:ln w="12700">
            <a:solidFill>
              <a:srgbClr val="C9CDD2"/>
            </a:solidFill>
            <a:prstDash val="solid"/>
          </a:ln>
        </p:spPr>
      </p:sp>
      <p:sp>
        <p:nvSpPr>
          <p:cNvPr id="15" name="Shape 13"/>
          <p:cNvSpPr/>
          <p:nvPr/>
        </p:nvSpPr>
        <p:spPr>
          <a:xfrm>
            <a:off x="1097280" y="3383280"/>
            <a:ext cx="118872" cy="0"/>
          </a:xfrm>
          <a:prstGeom prst="line">
            <a:avLst/>
          </a:prstGeom>
          <a:noFill/>
          <a:ln w="12700">
            <a:solidFill>
              <a:srgbClr val="C9CDD2"/>
            </a:solidFill>
            <a:prstDash val="solid"/>
          </a:ln>
        </p:spPr>
      </p:sp>
      <p:sp>
        <p:nvSpPr>
          <p:cNvPr id="16" name="Shape 14"/>
          <p:cNvSpPr/>
          <p:nvPr/>
        </p:nvSpPr>
        <p:spPr>
          <a:xfrm>
            <a:off x="1216152" y="3154680"/>
            <a:ext cx="2944368" cy="457200"/>
          </a:xfrm>
          <a:prstGeom prst="roundRect">
            <a:avLst>
              <a:gd name="adj" fmla="val 20000"/>
            </a:avLst>
          </a:prstGeom>
          <a:solidFill>
            <a:srgbClr val="EAF4FC"/>
          </a:solidFill>
          <a:ln/>
        </p:spPr>
      </p:sp>
      <p:sp>
        <p:nvSpPr>
          <p:cNvPr id="17" name="Text 15"/>
          <p:cNvSpPr txBox="1"/>
          <p:nvPr/>
        </p:nvSpPr>
        <p:spPr>
          <a:xfrm>
            <a:off x="1325880" y="3191256"/>
            <a:ext cx="2761488" cy="201168"/>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AppShell (LayoutBuilder)</a:t>
            </a:r>
            <a:endParaRPr lang="ko-KR" altLang="en-US" sz="1100" dirty="0"/>
          </a:p>
        </p:txBody>
      </p:sp>
      <p:sp>
        <p:nvSpPr>
          <p:cNvPr id="18" name="Text 16"/>
          <p:cNvSpPr txBox="1"/>
          <p:nvPr/>
        </p:nvSpPr>
        <p:spPr>
          <a:xfrm>
            <a:off x="1325880" y="3392424"/>
            <a:ext cx="2761488"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폰 · 가로 폰 · 반반 화면</a:t>
            </a:r>
            <a:endParaRPr lang="ko-KR" altLang="en-US" sz="950" dirty="0"/>
          </a:p>
        </p:txBody>
      </p:sp>
      <p:sp>
        <p:nvSpPr>
          <p:cNvPr id="19" name="Shape 17"/>
          <p:cNvSpPr/>
          <p:nvPr/>
        </p:nvSpPr>
        <p:spPr>
          <a:xfrm>
            <a:off x="1316736" y="3611880"/>
            <a:ext cx="0" cy="320040"/>
          </a:xfrm>
          <a:prstGeom prst="line">
            <a:avLst/>
          </a:prstGeom>
          <a:noFill/>
          <a:ln w="12700">
            <a:solidFill>
              <a:srgbClr val="C9CDD2"/>
            </a:solidFill>
            <a:prstDash val="solid"/>
          </a:ln>
        </p:spPr>
      </p:sp>
      <p:sp>
        <p:nvSpPr>
          <p:cNvPr id="20" name="Shape 18"/>
          <p:cNvSpPr/>
          <p:nvPr/>
        </p:nvSpPr>
        <p:spPr>
          <a:xfrm>
            <a:off x="1316736" y="3931920"/>
            <a:ext cx="118872" cy="0"/>
          </a:xfrm>
          <a:prstGeom prst="line">
            <a:avLst/>
          </a:prstGeom>
          <a:noFill/>
          <a:ln w="12700">
            <a:solidFill>
              <a:srgbClr val="C9CDD2"/>
            </a:solidFill>
            <a:prstDash val="solid"/>
          </a:ln>
        </p:spPr>
      </p:sp>
      <p:sp>
        <p:nvSpPr>
          <p:cNvPr id="21" name="Shape 19"/>
          <p:cNvSpPr/>
          <p:nvPr/>
        </p:nvSpPr>
        <p:spPr>
          <a:xfrm>
            <a:off x="1435608" y="3703320"/>
            <a:ext cx="2724912" cy="457200"/>
          </a:xfrm>
          <a:prstGeom prst="roundRect">
            <a:avLst>
              <a:gd name="adj" fmla="val 20000"/>
            </a:avLst>
          </a:prstGeom>
          <a:solidFill>
            <a:srgbClr val="FFFFFF"/>
          </a:solidFill>
          <a:ln w="9525">
            <a:solidFill>
              <a:srgbClr val="E3E5E8"/>
            </a:solidFill>
            <a:prstDash val="solid"/>
          </a:ln>
        </p:spPr>
      </p:sp>
      <p:sp>
        <p:nvSpPr>
          <p:cNvPr id="22" name="Text 20"/>
          <p:cNvSpPr txBox="1"/>
          <p:nvPr/>
        </p:nvSpPr>
        <p:spPr>
          <a:xfrm>
            <a:off x="1545336" y="373989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IndexedStack</a:t>
            </a:r>
            <a:endParaRPr lang="ko-KR" altLang="en-US" sz="1100" dirty="0"/>
          </a:p>
        </p:txBody>
      </p:sp>
      <p:sp>
        <p:nvSpPr>
          <p:cNvPr id="23" name="Text 21"/>
          <p:cNvSpPr txBox="1"/>
          <p:nvPr/>
        </p:nvSpPr>
        <p:spPr>
          <a:xfrm>
            <a:off x="1545336" y="394106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탭 4개 — 옆으로</a:t>
            </a:r>
            <a:endParaRPr lang="ko-KR" altLang="en-US" sz="950" dirty="0"/>
          </a:p>
        </p:txBody>
      </p:sp>
      <p:sp>
        <p:nvSpPr>
          <p:cNvPr id="24" name="Shape 22"/>
          <p:cNvSpPr/>
          <p:nvPr/>
        </p:nvSpPr>
        <p:spPr>
          <a:xfrm>
            <a:off x="1536192" y="4160520"/>
            <a:ext cx="0" cy="320040"/>
          </a:xfrm>
          <a:prstGeom prst="line">
            <a:avLst/>
          </a:prstGeom>
          <a:noFill/>
          <a:ln w="12700">
            <a:solidFill>
              <a:srgbClr val="C9CDD2"/>
            </a:solidFill>
            <a:prstDash val="solid"/>
          </a:ln>
        </p:spPr>
      </p:sp>
      <p:sp>
        <p:nvSpPr>
          <p:cNvPr id="25" name="Shape 23"/>
          <p:cNvSpPr/>
          <p:nvPr/>
        </p:nvSpPr>
        <p:spPr>
          <a:xfrm>
            <a:off x="1536192" y="4480560"/>
            <a:ext cx="118872" cy="0"/>
          </a:xfrm>
          <a:prstGeom prst="line">
            <a:avLst/>
          </a:prstGeom>
          <a:noFill/>
          <a:ln w="12700">
            <a:solidFill>
              <a:srgbClr val="C9CDD2"/>
            </a:solidFill>
            <a:prstDash val="solid"/>
          </a:ln>
        </p:spPr>
      </p:sp>
      <p:sp>
        <p:nvSpPr>
          <p:cNvPr id="26" name="Shape 24"/>
          <p:cNvSpPr/>
          <p:nvPr/>
        </p:nvSpPr>
        <p:spPr>
          <a:xfrm>
            <a:off x="1655064" y="4251960"/>
            <a:ext cx="2505456" cy="457200"/>
          </a:xfrm>
          <a:prstGeom prst="roundRect">
            <a:avLst>
              <a:gd name="adj" fmla="val 20000"/>
            </a:avLst>
          </a:prstGeom>
          <a:solidFill>
            <a:srgbClr val="FFFFFF"/>
          </a:solidFill>
          <a:ln w="9525">
            <a:solidFill>
              <a:srgbClr val="E3E5E8"/>
            </a:solidFill>
            <a:prstDash val="solid"/>
          </a:ln>
        </p:spPr>
      </p:sp>
      <p:sp>
        <p:nvSpPr>
          <p:cNvPr id="27" name="Text 25"/>
          <p:cNvSpPr txBox="1"/>
          <p:nvPr/>
        </p:nvSpPr>
        <p:spPr>
          <a:xfrm>
            <a:off x="1764792" y="4288536"/>
            <a:ext cx="2322576"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FutureBuilder</a:t>
            </a:r>
            <a:endParaRPr lang="ko-KR" altLang="en-US" sz="1100" dirty="0"/>
          </a:p>
        </p:txBody>
      </p:sp>
      <p:sp>
        <p:nvSpPr>
          <p:cNvPr id="28" name="Text 26"/>
          <p:cNvSpPr txBox="1"/>
          <p:nvPr/>
        </p:nvSpPr>
        <p:spPr>
          <a:xfrm>
            <a:off x="1764792" y="4489704"/>
            <a:ext cx="2322576"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GET → 로딩 · 오류 · 빈</a:t>
            </a:r>
            <a:endParaRPr lang="ko-KR" altLang="en-US" sz="950" dirty="0"/>
          </a:p>
        </p:txBody>
      </p:sp>
      <p:sp>
        <p:nvSpPr>
          <p:cNvPr id="29" name="Shape 27"/>
          <p:cNvSpPr/>
          <p:nvPr/>
        </p:nvSpPr>
        <p:spPr>
          <a:xfrm>
            <a:off x="1316736" y="3611880"/>
            <a:ext cx="0" cy="1417320"/>
          </a:xfrm>
          <a:prstGeom prst="line">
            <a:avLst/>
          </a:prstGeom>
          <a:noFill/>
          <a:ln w="12700">
            <a:solidFill>
              <a:srgbClr val="C9CDD2"/>
            </a:solidFill>
            <a:prstDash val="solid"/>
          </a:ln>
        </p:spPr>
      </p:sp>
      <p:sp>
        <p:nvSpPr>
          <p:cNvPr id="30" name="Shape 28"/>
          <p:cNvSpPr/>
          <p:nvPr/>
        </p:nvSpPr>
        <p:spPr>
          <a:xfrm>
            <a:off x="1316736" y="5029200"/>
            <a:ext cx="118872" cy="0"/>
          </a:xfrm>
          <a:prstGeom prst="line">
            <a:avLst/>
          </a:prstGeom>
          <a:noFill/>
          <a:ln w="12700">
            <a:solidFill>
              <a:srgbClr val="C9CDD2"/>
            </a:solidFill>
            <a:prstDash val="solid"/>
          </a:ln>
        </p:spPr>
      </p:sp>
      <p:sp>
        <p:nvSpPr>
          <p:cNvPr id="31" name="Shape 29"/>
          <p:cNvSpPr/>
          <p:nvPr/>
        </p:nvSpPr>
        <p:spPr>
          <a:xfrm>
            <a:off x="1435608" y="4800600"/>
            <a:ext cx="2724912" cy="457200"/>
          </a:xfrm>
          <a:prstGeom prst="roundRect">
            <a:avLst>
              <a:gd name="adj" fmla="val 20000"/>
            </a:avLst>
          </a:prstGeom>
          <a:solidFill>
            <a:srgbClr val="FFFFFF"/>
          </a:solidFill>
          <a:ln w="9525">
            <a:solidFill>
              <a:srgbClr val="E3E5E8"/>
            </a:solidFill>
            <a:prstDash val="solid"/>
          </a:ln>
        </p:spPr>
      </p:sp>
      <p:sp>
        <p:nvSpPr>
          <p:cNvPr id="32" name="Text 30"/>
          <p:cNvSpPr txBox="1"/>
          <p:nvPr/>
        </p:nvSpPr>
        <p:spPr>
          <a:xfrm>
            <a:off x="1545336" y="483717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Navigator (오른쪽 칸)</a:t>
            </a:r>
            <a:endParaRPr lang="ko-KR" altLang="en-US" sz="1100" dirty="0"/>
          </a:p>
        </p:txBody>
      </p:sp>
      <p:sp>
        <p:nvSpPr>
          <p:cNvPr id="33" name="Text 31"/>
          <p:cNvSpPr txBox="1"/>
          <p:nvPr/>
        </p:nvSpPr>
        <p:spPr>
          <a:xfrm>
            <a:off x="1545336" y="503834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반반 화면에서 쌓기</a:t>
            </a:r>
            <a:endParaRPr lang="ko-KR" altLang="en-US" sz="950" dirty="0"/>
          </a:p>
        </p:txBody>
      </p:sp>
      <p:sp>
        <p:nvSpPr>
          <p:cNvPr id="34" name="Shape 32"/>
          <p:cNvSpPr/>
          <p:nvPr/>
        </p:nvSpPr>
        <p:spPr>
          <a:xfrm>
            <a:off x="1316736" y="3611880"/>
            <a:ext cx="0" cy="1965960"/>
          </a:xfrm>
          <a:prstGeom prst="line">
            <a:avLst/>
          </a:prstGeom>
          <a:noFill/>
          <a:ln w="12700">
            <a:solidFill>
              <a:srgbClr val="C9CDD2"/>
            </a:solidFill>
            <a:prstDash val="solid"/>
          </a:ln>
        </p:spPr>
      </p:sp>
      <p:sp>
        <p:nvSpPr>
          <p:cNvPr id="35" name="Shape 33"/>
          <p:cNvSpPr/>
          <p:nvPr/>
        </p:nvSpPr>
        <p:spPr>
          <a:xfrm>
            <a:off x="1316736" y="5577840"/>
            <a:ext cx="118872" cy="0"/>
          </a:xfrm>
          <a:prstGeom prst="line">
            <a:avLst/>
          </a:prstGeom>
          <a:noFill/>
          <a:ln w="12700">
            <a:solidFill>
              <a:srgbClr val="C9CDD2"/>
            </a:solidFill>
            <a:prstDash val="solid"/>
          </a:ln>
        </p:spPr>
      </p:sp>
      <p:sp>
        <p:nvSpPr>
          <p:cNvPr id="36" name="Shape 34"/>
          <p:cNvSpPr/>
          <p:nvPr/>
        </p:nvSpPr>
        <p:spPr>
          <a:xfrm>
            <a:off x="1435608" y="5349240"/>
            <a:ext cx="2724912" cy="457200"/>
          </a:xfrm>
          <a:prstGeom prst="roundRect">
            <a:avLst>
              <a:gd name="adj" fmla="val 20000"/>
            </a:avLst>
          </a:prstGeom>
          <a:solidFill>
            <a:srgbClr val="FFFFFF"/>
          </a:solidFill>
          <a:ln w="9525">
            <a:solidFill>
              <a:srgbClr val="E3E5E8"/>
            </a:solidFill>
            <a:prstDash val="solid"/>
          </a:ln>
        </p:spPr>
      </p:sp>
      <p:sp>
        <p:nvSpPr>
          <p:cNvPr id="37" name="Text 35"/>
          <p:cNvSpPr txBox="1"/>
          <p:nvPr/>
        </p:nvSpPr>
        <p:spPr>
          <a:xfrm>
            <a:off x="1545336" y="538581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Sheet · Dialog · Drawer</a:t>
            </a:r>
            <a:endParaRPr lang="ko-KR" altLang="en-US" sz="1100" dirty="0"/>
          </a:p>
        </p:txBody>
      </p:sp>
      <p:sp>
        <p:nvSpPr>
          <p:cNvPr id="38" name="Text 36"/>
          <p:cNvSpPr txBox="1"/>
          <p:nvPr/>
        </p:nvSpPr>
        <p:spPr>
          <a:xfrm>
            <a:off x="1545336" y="558698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덮기</a:t>
            </a:r>
            <a:endParaRPr lang="ko-KR" altLang="en-US" sz="950" dirty="0"/>
          </a:p>
        </p:txBody>
      </p:sp>
      <p:sp>
        <p:nvSpPr>
          <p:cNvPr id="39" name="Shape 37"/>
          <p:cNvSpPr/>
          <p:nvPr/>
        </p:nvSpPr>
        <p:spPr>
          <a:xfrm>
            <a:off x="4617720" y="1481328"/>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0" name="Shape 38"/>
          <p:cNvSpPr/>
          <p:nvPr/>
        </p:nvSpPr>
        <p:spPr>
          <a:xfrm>
            <a:off x="4818888" y="1682496"/>
            <a:ext cx="329184" cy="329184"/>
          </a:xfrm>
          <a:prstGeom prst="ellipse">
            <a:avLst/>
          </a:prstGeom>
          <a:solidFill>
            <a:srgbClr val="1C86D9"/>
          </a:solidFill>
          <a:ln/>
        </p:spPr>
      </p:sp>
      <p:sp>
        <p:nvSpPr>
          <p:cNvPr id="41" name="Text 39"/>
          <p:cNvSpPr txBox="1"/>
          <p:nvPr/>
        </p:nvSpPr>
        <p:spPr>
          <a:xfrm>
            <a:off x="4818888"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1</a:t>
            </a:r>
            <a:endParaRPr lang="ko-KR" altLang="en-US" sz="1200" dirty="0"/>
          </a:p>
        </p:txBody>
      </p:sp>
      <p:sp>
        <p:nvSpPr>
          <p:cNvPr id="42" name="Text 40"/>
          <p:cNvSpPr txBox="1"/>
          <p:nvPr/>
        </p:nvSpPr>
        <p:spPr>
          <a:xfrm>
            <a:off x="5257800" y="1664208"/>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화면 이동 3방식</a:t>
            </a:r>
            <a:endParaRPr lang="ko-KR" altLang="en-US" sz="1450" dirty="0"/>
          </a:p>
        </p:txBody>
      </p:sp>
      <p:sp>
        <p:nvSpPr>
          <p:cNvPr id="43" name="Text 41"/>
          <p:cNvSpPr txBox="1"/>
          <p:nvPr/>
        </p:nvSpPr>
        <p:spPr>
          <a:xfrm>
            <a:off x="4846320" y="2167128"/>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쌓기 · 옆으로 · 덮기</a:t>
            </a:r>
            <a:endParaRPr lang="ko-KR" altLang="en-US" sz="1500" dirty="0"/>
          </a:p>
        </p:txBody>
      </p:sp>
      <p:sp>
        <p:nvSpPr>
          <p:cNvPr id="44" name="Text 42"/>
          <p:cNvSpPr txBox="1"/>
          <p:nvPr/>
        </p:nvSpPr>
        <p:spPr>
          <a:xfrm>
            <a:off x="4846320" y="2578608"/>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CupertinoPageRoute · IndexedStack · Sheet / Dialog / Drawer</a:t>
            </a:r>
            <a:endParaRPr lang="ko-KR" altLang="en-US" sz="1000" dirty="0"/>
          </a:p>
        </p:txBody>
      </p:sp>
      <p:sp>
        <p:nvSpPr>
          <p:cNvPr id="45" name="Shape 43"/>
          <p:cNvSpPr/>
          <p:nvPr/>
        </p:nvSpPr>
        <p:spPr>
          <a:xfrm>
            <a:off x="8174736" y="1481328"/>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6" name="Shape 44"/>
          <p:cNvSpPr/>
          <p:nvPr/>
        </p:nvSpPr>
        <p:spPr>
          <a:xfrm>
            <a:off x="8375904" y="1682496"/>
            <a:ext cx="329184" cy="329184"/>
          </a:xfrm>
          <a:prstGeom prst="ellipse">
            <a:avLst/>
          </a:prstGeom>
          <a:solidFill>
            <a:srgbClr val="1C86D9"/>
          </a:solidFill>
          <a:ln/>
        </p:spPr>
      </p:sp>
      <p:sp>
        <p:nvSpPr>
          <p:cNvPr id="47" name="Text 45"/>
          <p:cNvSpPr txBox="1"/>
          <p:nvPr/>
        </p:nvSpPr>
        <p:spPr>
          <a:xfrm>
            <a:off x="8375904"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48" name="Text 46"/>
          <p:cNvSpPr txBox="1"/>
          <p:nvPr/>
        </p:nvSpPr>
        <p:spPr>
          <a:xfrm>
            <a:off x="8814816" y="1664208"/>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FutureBuilder 3상태</a:t>
            </a:r>
            <a:endParaRPr lang="ko-KR" altLang="en-US" sz="1450" dirty="0"/>
          </a:p>
        </p:txBody>
      </p:sp>
      <p:sp>
        <p:nvSpPr>
          <p:cNvPr id="49" name="Text 47"/>
          <p:cNvSpPr txBox="1"/>
          <p:nvPr/>
        </p:nvSpPr>
        <p:spPr>
          <a:xfrm>
            <a:off x="8403336" y="2167128"/>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로딩 · 오류(다시 시도) · 빈 상태</a:t>
            </a:r>
            <a:endParaRPr lang="ko-KR" altLang="en-US" sz="1500" dirty="0"/>
          </a:p>
        </p:txBody>
      </p:sp>
      <p:sp>
        <p:nvSpPr>
          <p:cNvPr id="50" name="Text 48"/>
          <p:cNvSpPr txBox="1"/>
          <p:nvPr/>
        </p:nvSpPr>
        <p:spPr>
          <a:xfrm>
            <a:off x="8403336" y="2578608"/>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GET 하는 화면 전부</a:t>
            </a:r>
            <a:endParaRPr lang="ko-KR" altLang="en-US" sz="1000" dirty="0"/>
          </a:p>
        </p:txBody>
      </p:sp>
      <p:sp>
        <p:nvSpPr>
          <p:cNvPr id="51" name="Shape 49"/>
          <p:cNvSpPr/>
          <p:nvPr/>
        </p:nvSpPr>
        <p:spPr>
          <a:xfrm>
            <a:off x="4617720" y="3383280"/>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2" name="Shape 50"/>
          <p:cNvSpPr/>
          <p:nvPr/>
        </p:nvSpPr>
        <p:spPr>
          <a:xfrm>
            <a:off x="4818888" y="3584448"/>
            <a:ext cx="329184" cy="329184"/>
          </a:xfrm>
          <a:prstGeom prst="ellipse">
            <a:avLst/>
          </a:prstGeom>
          <a:solidFill>
            <a:srgbClr val="1C86D9"/>
          </a:solidFill>
          <a:ln/>
        </p:spPr>
      </p:sp>
      <p:sp>
        <p:nvSpPr>
          <p:cNvPr id="53" name="Text 51"/>
          <p:cNvSpPr txBox="1"/>
          <p:nvPr/>
        </p:nvSpPr>
        <p:spPr>
          <a:xfrm>
            <a:off x="4818888" y="3584448"/>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54" name="Text 52"/>
          <p:cNvSpPr txBox="1"/>
          <p:nvPr/>
        </p:nvSpPr>
        <p:spPr>
          <a:xfrm>
            <a:off x="5257800" y="3566160"/>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json-server GET만</a:t>
            </a:r>
            <a:endParaRPr lang="ko-KR" altLang="en-US" sz="1450" dirty="0"/>
          </a:p>
        </p:txBody>
      </p:sp>
      <p:sp>
        <p:nvSpPr>
          <p:cNvPr id="55" name="Text 53"/>
          <p:cNvSpPr txBox="1"/>
          <p:nvPr/>
        </p:nvSpPr>
        <p:spPr>
          <a:xfrm>
            <a:off x="4846320" y="4069080"/>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저장 · 전송 없음</a:t>
            </a:r>
            <a:endParaRPr lang="ko-KR" altLang="en-US" sz="1500" dirty="0"/>
          </a:p>
        </p:txBody>
      </p:sp>
      <p:sp>
        <p:nvSpPr>
          <p:cNvPr id="56" name="Text 54"/>
          <p:cNvSpPr txBox="1"/>
          <p:nvPr/>
        </p:nvSpPr>
        <p:spPr>
          <a:xfrm>
            <a:off x="4846320" y="4480560"/>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http.get 하나 — lib/api.dart</a:t>
            </a:r>
            <a:endParaRPr lang="ko-KR" altLang="en-US" sz="1000" dirty="0"/>
          </a:p>
        </p:txBody>
      </p:sp>
      <p:sp>
        <p:nvSpPr>
          <p:cNvPr id="57" name="Shape 55"/>
          <p:cNvSpPr/>
          <p:nvPr/>
        </p:nvSpPr>
        <p:spPr>
          <a:xfrm>
            <a:off x="8174736" y="3383280"/>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8" name="Shape 56"/>
          <p:cNvSpPr/>
          <p:nvPr/>
        </p:nvSpPr>
        <p:spPr>
          <a:xfrm>
            <a:off x="8375904" y="3584448"/>
            <a:ext cx="329184" cy="329184"/>
          </a:xfrm>
          <a:prstGeom prst="ellipse">
            <a:avLst/>
          </a:prstGeom>
          <a:solidFill>
            <a:srgbClr val="1C86D9"/>
          </a:solidFill>
          <a:ln/>
        </p:spPr>
      </p:sp>
      <p:sp>
        <p:nvSpPr>
          <p:cNvPr id="59" name="Text 57"/>
          <p:cNvSpPr txBox="1"/>
          <p:nvPr/>
        </p:nvSpPr>
        <p:spPr>
          <a:xfrm>
            <a:off x="8375904" y="3584448"/>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60" name="Text 58"/>
          <p:cNvSpPr txBox="1"/>
          <p:nvPr/>
        </p:nvSpPr>
        <p:spPr>
          <a:xfrm>
            <a:off x="8814816" y="3566160"/>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적응형</a:t>
            </a:r>
            <a:endParaRPr lang="ko-KR" altLang="en-US" sz="1450" dirty="0"/>
          </a:p>
        </p:txBody>
      </p:sp>
      <p:sp>
        <p:nvSpPr>
          <p:cNvPr id="61" name="Text 59"/>
          <p:cNvSpPr txBox="1"/>
          <p:nvPr/>
        </p:nvSpPr>
        <p:spPr>
          <a:xfrm>
            <a:off x="8403336" y="4069080"/>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창 너비로 폰 · 가로 폰 · 반반</a:t>
            </a:r>
            <a:endParaRPr lang="ko-KR" altLang="en-US" sz="1500" dirty="0"/>
          </a:p>
        </p:txBody>
      </p:sp>
      <p:sp>
        <p:nvSpPr>
          <p:cNvPr id="62" name="Text 60"/>
          <p:cNvSpPr txBox="1"/>
          <p:nvPr/>
        </p:nvSpPr>
        <p:spPr>
          <a:xfrm>
            <a:off x="8403336" y="4480560"/>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LayoutBuilder · MediaQuery · 폴드 접힘선 · 테스트 53개</a:t>
            </a:r>
            <a:endParaRPr lang="ko-KR" altLang="en-US" sz="1000" dirty="0"/>
          </a:p>
        </p:txBody>
      </p:sp>
      <p:sp>
        <p:nvSpPr>
          <p:cNvPr id="63" name="Shape 61"/>
          <p:cNvSpPr/>
          <p:nvPr/>
        </p:nvSpPr>
        <p:spPr>
          <a:xfrm>
            <a:off x="4617720" y="5349240"/>
            <a:ext cx="7022592" cy="749808"/>
          </a:xfrm>
          <a:prstGeom prst="roundRect">
            <a:avLst>
              <a:gd name="adj" fmla="val 14634"/>
            </a:avLst>
          </a:prstGeom>
          <a:solidFill>
            <a:srgbClr val="E8F6F1"/>
          </a:solidFill>
          <a:ln/>
        </p:spPr>
      </p:sp>
      <p:sp>
        <p:nvSpPr>
          <p:cNvPr id="64" name="Text 62"/>
          <p:cNvSpPr txBox="1"/>
          <p:nvPr/>
        </p:nvSpPr>
        <p:spPr>
          <a:xfrm>
            <a:off x="4846320" y="5349240"/>
            <a:ext cx="6675120" cy="749808"/>
          </a:xfrm>
          <a:prstGeom prst="rect">
            <a:avLst/>
          </a:prstGeom>
          <a:noFill/>
          <a:ln/>
        </p:spPr>
        <p:txBody>
          <a:bodyPr wrap="square" lIns="0" tIns="0" rIns="0" bIns="0" rtlCol="0" anchor="ctr"/>
          <a:lstStyle/>
          <a:p>
            <a:pPr indent="0" marL="0">
              <a:buNone/>
            </a:pPr>
            <a:r>
              <a:rPr lang="ko-KR" altLang="en-US" sz="1150" b="1" dirty="0">
                <a:solidFill>
                  <a:srgbClr val="12A07F"/>
                </a:solidFill>
                <a:latin typeface="Malgun Gothic" pitchFamily="34" charset="0"/>
                <a:ea typeface="Malgun Gothic" pitchFamily="34" charset="-122"/>
                <a:cs typeface="Malgun Gothic" pitchFamily="34" charset="-120"/>
              </a:rPr>
              <a:t>상태관리 패키지 0</a:t>
            </a:r>
            <a:endParaRPr lang="ko-KR" altLang="en-US" sz="1150" dirty="0"/>
          </a:p>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좋아요 · 구매함은 맨 위 setState + InheritedWidget — 홈에서 누르면 컬렉션 · 내 정보 숫자가 같이 바뀐다</a:t>
            </a:r>
            <a:endParaRPr lang="ko-KR" altLang="en-US" sz="11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7  데모 — 라이브 시연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데모: 리본 한 번이 앱 전체에 반영된다</a:t>
            </a:r>
            <a:endParaRPr lang="ko-KR" altLang="en-US" sz="2800" dirty="0"/>
          </a:p>
        </p:txBody>
      </p:sp>
      <p:sp>
        <p:nvSpPr>
          <p:cNvPr id="4" name="Text 2"/>
          <p:cNvSpPr txBox="1"/>
          <p:nvPr/>
        </p:nvSpPr>
        <p:spPr>
          <a:xfrm>
            <a:off x="548640" y="1371600"/>
            <a:ext cx="8229600" cy="256032"/>
          </a:xfrm>
          <a:prstGeom prst="rect">
            <a:avLst/>
          </a:prstGeom>
          <a:noFill/>
          <a:ln/>
        </p:spPr>
        <p:txBody>
          <a:bodyPr wrap="square" lIns="0" tIns="0" rIns="0" bIns="0" rtlCol="0" anchor="t"/>
          <a:lstStyle/>
          <a:p>
            <a:pPr indent="0" marL="0">
              <a:buNone/>
            </a:pPr>
            <a:r>
              <a:rPr lang="ko-KR" altLang="en-US" sz="1150" dirty="0">
                <a:solidFill>
                  <a:srgbClr val="6B7078"/>
                </a:solidFill>
                <a:latin typeface="Malgun Gothic" pitchFamily="34" charset="0"/>
                <a:ea typeface="Malgun Gothic" pitchFamily="34" charset="-122"/>
                <a:cs typeface="Malgun Gothic" pitchFamily="34" charset="-120"/>
              </a:rPr>
              <a:t>배포된 앱으로 시연 — 서버 없이 브라우저만 있으면 된다</a:t>
            </a:r>
            <a:endParaRPr lang="ko-KR" altLang="en-US" sz="1150" dirty="0"/>
          </a:p>
        </p:txBody>
      </p:sp>
      <p:sp>
        <p:nvSpPr>
          <p:cNvPr id="5" name="Shape 3"/>
          <p:cNvSpPr/>
          <p:nvPr/>
        </p:nvSpPr>
        <p:spPr>
          <a:xfrm>
            <a:off x="548640"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6" name="Text 4"/>
          <p:cNvSpPr txBox="1"/>
          <p:nvPr/>
        </p:nvSpPr>
        <p:spPr>
          <a:xfrm>
            <a:off x="768096"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1</a:t>
            </a:r>
            <a:endParaRPr lang="ko-KR" altLang="en-US" sz="3200" dirty="0"/>
          </a:p>
        </p:txBody>
      </p:sp>
      <p:sp>
        <p:nvSpPr>
          <p:cNvPr id="7" name="Text 5"/>
          <p:cNvSpPr txBox="1"/>
          <p:nvPr/>
        </p:nvSpPr>
        <p:spPr>
          <a:xfrm>
            <a:off x="1371600"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홈</a:t>
            </a:r>
            <a:endParaRPr lang="ko-KR" altLang="en-US" sz="1600" dirty="0"/>
          </a:p>
        </p:txBody>
      </p:sp>
      <p:sp>
        <p:nvSpPr>
          <p:cNvPr id="8" name="Text 6"/>
          <p:cNvSpPr txBox="1"/>
          <p:nvPr/>
        </p:nvSpPr>
        <p:spPr>
          <a:xfrm>
            <a:off x="768096"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배너가 넘어간다 · 카드 리본 한 번 → ✓</a:t>
            </a:r>
            <a:endParaRPr lang="ko-KR" altLang="en-US" sz="1200" dirty="0"/>
          </a:p>
        </p:txBody>
      </p:sp>
      <p:sp>
        <p:nvSpPr>
          <p:cNvPr id="9" name="Shape 7"/>
          <p:cNvSpPr/>
          <p:nvPr/>
        </p:nvSpPr>
        <p:spPr>
          <a:xfrm>
            <a:off x="768096" y="3337560"/>
            <a:ext cx="1600200" cy="274320"/>
          </a:xfrm>
          <a:prstGeom prst="roundRect">
            <a:avLst>
              <a:gd name="adj" fmla="val 50000"/>
            </a:avLst>
          </a:prstGeom>
          <a:solidFill>
            <a:srgbClr val="EAF4FC"/>
          </a:solidFill>
          <a:ln/>
        </p:spPr>
      </p:sp>
      <p:sp>
        <p:nvSpPr>
          <p:cNvPr id="10" name="Text 8"/>
          <p:cNvSpPr txBox="1"/>
          <p:nvPr/>
        </p:nvSpPr>
        <p:spPr>
          <a:xfrm>
            <a:off x="768096"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화면 전환</a:t>
            </a:r>
            <a:endParaRPr lang="ko-KR" altLang="en-US" sz="1050" dirty="0"/>
          </a:p>
        </p:txBody>
      </p:sp>
      <p:sp>
        <p:nvSpPr>
          <p:cNvPr id="11" name="Shape 9"/>
          <p:cNvSpPr/>
          <p:nvPr/>
        </p:nvSpPr>
        <p:spPr>
          <a:xfrm>
            <a:off x="3310128"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2" name="Text 10"/>
          <p:cNvSpPr txBox="1"/>
          <p:nvPr/>
        </p:nvSpPr>
        <p:spPr>
          <a:xfrm>
            <a:off x="3529584"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2</a:t>
            </a:r>
            <a:endParaRPr lang="ko-KR" altLang="en-US" sz="3200" dirty="0"/>
          </a:p>
        </p:txBody>
      </p:sp>
      <p:sp>
        <p:nvSpPr>
          <p:cNvPr id="13" name="Text 11"/>
          <p:cNvSpPr txBox="1"/>
          <p:nvPr/>
        </p:nvSpPr>
        <p:spPr>
          <a:xfrm>
            <a:off x="4133088"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찍어서 찾기</a:t>
            </a:r>
            <a:endParaRPr lang="ko-KR" altLang="en-US" sz="1600" dirty="0"/>
          </a:p>
        </p:txBody>
      </p:sp>
      <p:sp>
        <p:nvSpPr>
          <p:cNvPr id="14" name="Text 12"/>
          <p:cNvSpPr txBox="1"/>
          <p:nvPr/>
        </p:nvSpPr>
        <p:spPr>
          <a:xfrm>
            <a:off x="3529584"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"AI가 비교하는 중…" → 후보 · 일치도</a:t>
            </a:r>
            <a:endParaRPr lang="ko-KR" altLang="en-US" sz="1200" dirty="0"/>
          </a:p>
        </p:txBody>
      </p:sp>
      <p:sp>
        <p:nvSpPr>
          <p:cNvPr id="15" name="Shape 13"/>
          <p:cNvSpPr/>
          <p:nvPr/>
        </p:nvSpPr>
        <p:spPr>
          <a:xfrm>
            <a:off x="3529584" y="3337560"/>
            <a:ext cx="1600200" cy="274320"/>
          </a:xfrm>
          <a:prstGeom prst="roundRect">
            <a:avLst>
              <a:gd name="adj" fmla="val 50000"/>
            </a:avLst>
          </a:prstGeom>
          <a:solidFill>
            <a:srgbClr val="EAF4FC"/>
          </a:solidFill>
          <a:ln/>
        </p:spPr>
      </p:sp>
      <p:sp>
        <p:nvSpPr>
          <p:cNvPr id="16" name="Text 14"/>
          <p:cNvSpPr txBox="1"/>
          <p:nvPr/>
        </p:nvSpPr>
        <p:spPr>
          <a:xfrm>
            <a:off x="3529584"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임의 결과</a:t>
            </a:r>
            <a:endParaRPr lang="ko-KR" altLang="en-US" sz="1050" dirty="0"/>
          </a:p>
        </p:txBody>
      </p:sp>
      <p:sp>
        <p:nvSpPr>
          <p:cNvPr id="17" name="Shape 15"/>
          <p:cNvSpPr/>
          <p:nvPr/>
        </p:nvSpPr>
        <p:spPr>
          <a:xfrm>
            <a:off x="6071616"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8" name="Text 16"/>
          <p:cNvSpPr txBox="1"/>
          <p:nvPr/>
        </p:nvSpPr>
        <p:spPr>
          <a:xfrm>
            <a:off x="6291072"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3</a:t>
            </a:r>
            <a:endParaRPr lang="ko-KR" altLang="en-US" sz="3200" dirty="0"/>
          </a:p>
        </p:txBody>
      </p:sp>
      <p:sp>
        <p:nvSpPr>
          <p:cNvPr id="19" name="Text 17"/>
          <p:cNvSpPr txBox="1"/>
          <p:nvPr/>
        </p:nvSpPr>
        <p:spPr>
          <a:xfrm>
            <a:off x="6894576"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컬렉션</a:t>
            </a:r>
            <a:endParaRPr lang="ko-KR" altLang="en-US" sz="1600" dirty="0"/>
          </a:p>
        </p:txBody>
      </p:sp>
      <p:sp>
        <p:nvSpPr>
          <p:cNvPr id="20" name="Text 18"/>
          <p:cNvSpPr txBox="1"/>
          <p:nvPr/>
        </p:nvSpPr>
        <p:spPr>
          <a:xfrm>
            <a:off x="6291072"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방금 담은 상품이 이미 있다</a:t>
            </a:r>
            <a:endParaRPr lang="ko-KR" altLang="en-US" sz="1200" dirty="0"/>
          </a:p>
        </p:txBody>
      </p:sp>
      <p:sp>
        <p:nvSpPr>
          <p:cNvPr id="21" name="Shape 19"/>
          <p:cNvSpPr/>
          <p:nvPr/>
        </p:nvSpPr>
        <p:spPr>
          <a:xfrm>
            <a:off x="6291072" y="3337560"/>
            <a:ext cx="1600200" cy="274320"/>
          </a:xfrm>
          <a:prstGeom prst="roundRect">
            <a:avLst>
              <a:gd name="adj" fmla="val 50000"/>
            </a:avLst>
          </a:prstGeom>
          <a:solidFill>
            <a:srgbClr val="EAF4FC"/>
          </a:solidFill>
          <a:ln/>
        </p:spPr>
      </p:sp>
      <p:sp>
        <p:nvSpPr>
          <p:cNvPr id="22" name="Text 20"/>
          <p:cNvSpPr txBox="1"/>
          <p:nvPr/>
        </p:nvSpPr>
        <p:spPr>
          <a:xfrm>
            <a:off x="6291072"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json-server GET</a:t>
            </a:r>
            <a:endParaRPr lang="ko-KR" altLang="en-US" sz="1050" dirty="0"/>
          </a:p>
        </p:txBody>
      </p:sp>
      <p:sp>
        <p:nvSpPr>
          <p:cNvPr id="23" name="Shape 21"/>
          <p:cNvSpPr/>
          <p:nvPr/>
        </p:nvSpPr>
        <p:spPr>
          <a:xfrm>
            <a:off x="548640"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4" name="Text 22"/>
          <p:cNvSpPr txBox="1"/>
          <p:nvPr/>
        </p:nvSpPr>
        <p:spPr>
          <a:xfrm>
            <a:off x="768096" y="416052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4</a:t>
            </a:r>
            <a:endParaRPr lang="ko-KR" altLang="en-US" sz="3200" dirty="0"/>
          </a:p>
        </p:txBody>
      </p:sp>
      <p:sp>
        <p:nvSpPr>
          <p:cNvPr id="25" name="Text 23"/>
          <p:cNvSpPr txBox="1"/>
          <p:nvPr/>
        </p:nvSpPr>
        <p:spPr>
          <a:xfrm>
            <a:off x="1371600"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도감</a:t>
            </a:r>
            <a:endParaRPr lang="ko-KR" altLang="en-US" sz="1600" dirty="0"/>
          </a:p>
        </p:txBody>
      </p:sp>
      <p:sp>
        <p:nvSpPr>
          <p:cNvPr id="26" name="Text 24"/>
          <p:cNvSpPr txBox="1"/>
          <p:nvPr/>
        </p:nvSpPr>
        <p:spPr>
          <a:xfrm>
            <a:off x="768096"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칸이 켜지고 Lv 막대가 오른다</a:t>
            </a:r>
            <a:endParaRPr lang="ko-KR" altLang="en-US" sz="1200" dirty="0"/>
          </a:p>
        </p:txBody>
      </p:sp>
      <p:sp>
        <p:nvSpPr>
          <p:cNvPr id="27" name="Shape 25"/>
          <p:cNvSpPr/>
          <p:nvPr/>
        </p:nvSpPr>
        <p:spPr>
          <a:xfrm>
            <a:off x="768096" y="5532120"/>
            <a:ext cx="1600200" cy="274320"/>
          </a:xfrm>
          <a:prstGeom prst="roundRect">
            <a:avLst>
              <a:gd name="adj" fmla="val 50000"/>
            </a:avLst>
          </a:prstGeom>
          <a:solidFill>
            <a:srgbClr val="EAF4FC"/>
          </a:solidFill>
          <a:ln/>
        </p:spPr>
      </p:sp>
      <p:sp>
        <p:nvSpPr>
          <p:cNvPr id="28" name="Text 26"/>
          <p:cNvSpPr txBox="1"/>
          <p:nvPr/>
        </p:nvSpPr>
        <p:spPr>
          <a:xfrm>
            <a:off x="768096"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상태 표시</a:t>
            </a:r>
            <a:endParaRPr lang="ko-KR" altLang="en-US" sz="1050" dirty="0"/>
          </a:p>
        </p:txBody>
      </p:sp>
      <p:sp>
        <p:nvSpPr>
          <p:cNvPr id="29" name="Shape 27"/>
          <p:cNvSpPr/>
          <p:nvPr/>
        </p:nvSpPr>
        <p:spPr>
          <a:xfrm>
            <a:off x="3310128"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0" name="Text 28"/>
          <p:cNvSpPr txBox="1"/>
          <p:nvPr/>
        </p:nvSpPr>
        <p:spPr>
          <a:xfrm>
            <a:off x="3529584" y="416052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5</a:t>
            </a:r>
            <a:endParaRPr lang="ko-KR" altLang="en-US" sz="3200" dirty="0"/>
          </a:p>
        </p:txBody>
      </p:sp>
      <p:sp>
        <p:nvSpPr>
          <p:cNvPr id="31" name="Text 29"/>
          <p:cNvSpPr txBox="1"/>
          <p:nvPr/>
        </p:nvSpPr>
        <p:spPr>
          <a:xfrm>
            <a:off x="4133088"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창 넓히기</a:t>
            </a:r>
            <a:endParaRPr lang="ko-KR" altLang="en-US" sz="1600" dirty="0"/>
          </a:p>
        </p:txBody>
      </p:sp>
      <p:sp>
        <p:nvSpPr>
          <p:cNvPr id="32" name="Text 30"/>
          <p:cNvSpPr txBox="1"/>
          <p:nvPr/>
        </p:nvSpPr>
        <p:spPr>
          <a:xfrm>
            <a:off x="3529584"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왼쪽 앱 · 오른쪽 상세 (반반 화면)</a:t>
            </a:r>
            <a:endParaRPr lang="ko-KR" altLang="en-US" sz="1200" dirty="0"/>
          </a:p>
        </p:txBody>
      </p:sp>
      <p:sp>
        <p:nvSpPr>
          <p:cNvPr id="33" name="Shape 31"/>
          <p:cNvSpPr/>
          <p:nvPr/>
        </p:nvSpPr>
        <p:spPr>
          <a:xfrm>
            <a:off x="3529584" y="5532120"/>
            <a:ext cx="1600200" cy="274320"/>
          </a:xfrm>
          <a:prstGeom prst="roundRect">
            <a:avLst>
              <a:gd name="adj" fmla="val 50000"/>
            </a:avLst>
          </a:prstGeom>
          <a:solidFill>
            <a:srgbClr val="EAF4FC"/>
          </a:solidFill>
          <a:ln/>
        </p:spPr>
      </p:sp>
      <p:sp>
        <p:nvSpPr>
          <p:cNvPr id="34" name="Text 32"/>
          <p:cNvSpPr txBox="1"/>
          <p:nvPr/>
        </p:nvSpPr>
        <p:spPr>
          <a:xfrm>
            <a:off x="3529584"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적응형</a:t>
            </a:r>
            <a:endParaRPr lang="ko-KR" altLang="en-US" sz="1050" dirty="0"/>
          </a:p>
        </p:txBody>
      </p:sp>
      <p:sp>
        <p:nvSpPr>
          <p:cNvPr id="35" name="Shape 33"/>
          <p:cNvSpPr/>
          <p:nvPr/>
        </p:nvSpPr>
        <p:spPr>
          <a:xfrm>
            <a:off x="6071616"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6" name="Text 34"/>
          <p:cNvSpPr txBox="1"/>
          <p:nvPr/>
        </p:nvSpPr>
        <p:spPr>
          <a:xfrm>
            <a:off x="6291072" y="4160520"/>
            <a:ext cx="640080" cy="640080"/>
          </a:xfrm>
          <a:prstGeom prst="rect">
            <a:avLst/>
          </a:prstGeom>
          <a:noFill/>
          <a:ln/>
        </p:spPr>
        <p:txBody>
          <a:bodyPr wrap="square" lIns="0" tIns="0" rIns="0" bIns="0" rtlCol="0" anchor="t"/>
          <a:lstStyle/>
          <a:p>
            <a:pPr indent="0" marL="0">
              <a:buNone/>
            </a:pPr>
            <a:r>
              <a:rPr lang="ko-KR" altLang="en-US" sz="3200" b="1" dirty="0">
                <a:solidFill>
                  <a:srgbClr val="D93F44"/>
                </a:solidFill>
                <a:latin typeface="Malgun Gothic" pitchFamily="34" charset="0"/>
                <a:ea typeface="Malgun Gothic" pitchFamily="34" charset="-122"/>
                <a:cs typeface="Malgun Gothic" pitchFamily="34" charset="-120"/>
              </a:rPr>
              <a:t>6</a:t>
            </a:r>
            <a:endParaRPr lang="ko-KR" altLang="en-US" sz="3200" dirty="0"/>
          </a:p>
        </p:txBody>
      </p:sp>
      <p:sp>
        <p:nvSpPr>
          <p:cNvPr id="37" name="Text 35"/>
          <p:cNvSpPr txBox="1"/>
          <p:nvPr/>
        </p:nvSpPr>
        <p:spPr>
          <a:xfrm>
            <a:off x="6894576"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인터넷 끄기</a:t>
            </a:r>
            <a:endParaRPr lang="ko-KR" altLang="en-US" sz="1600" dirty="0"/>
          </a:p>
        </p:txBody>
      </p:sp>
      <p:sp>
        <p:nvSpPr>
          <p:cNvPr id="38" name="Text 36"/>
          <p:cNvSpPr txBox="1"/>
          <p:nvPr/>
        </p:nvSpPr>
        <p:spPr>
          <a:xfrm>
            <a:off x="6291072"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채널을 바꾸면 오류 + 다시 시도</a:t>
            </a:r>
            <a:endParaRPr lang="ko-KR" altLang="en-US" sz="1200" dirty="0"/>
          </a:p>
        </p:txBody>
      </p:sp>
      <p:sp>
        <p:nvSpPr>
          <p:cNvPr id="39" name="Shape 37"/>
          <p:cNvSpPr/>
          <p:nvPr/>
        </p:nvSpPr>
        <p:spPr>
          <a:xfrm>
            <a:off x="6291072" y="5532120"/>
            <a:ext cx="1600200" cy="274320"/>
          </a:xfrm>
          <a:prstGeom prst="roundRect">
            <a:avLst>
              <a:gd name="adj" fmla="val 50000"/>
            </a:avLst>
          </a:prstGeom>
          <a:solidFill>
            <a:srgbClr val="EAF4FC"/>
          </a:solidFill>
          <a:ln/>
        </p:spPr>
      </p:sp>
      <p:sp>
        <p:nvSpPr>
          <p:cNvPr id="40" name="Text 38"/>
          <p:cNvSpPr txBox="1"/>
          <p:nvPr/>
        </p:nvSpPr>
        <p:spPr>
          <a:xfrm>
            <a:off x="6291072"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로딩 · 오류 · 빈</a:t>
            </a:r>
            <a:endParaRPr lang="ko-KR" altLang="en-US" sz="1050" dirty="0"/>
          </a:p>
        </p:txBody>
      </p:sp>
      <p:sp>
        <p:nvSpPr>
          <p:cNvPr id="41" name="Shape 39"/>
          <p:cNvSpPr/>
          <p:nvPr/>
        </p:nvSpPr>
        <p:spPr>
          <a:xfrm>
            <a:off x="8915400" y="1783080"/>
            <a:ext cx="2724912" cy="4206240"/>
          </a:xfrm>
          <a:prstGeom prst="roundRect">
            <a:avLst>
              <a:gd name="adj" fmla="val 5369"/>
            </a:avLst>
          </a:prstGeom>
          <a:solidFill>
            <a:srgbClr val="F4F5F7"/>
          </a:solidFill>
          <a:ln/>
        </p:spPr>
      </p:sp>
      <p:sp>
        <p:nvSpPr>
          <p:cNvPr id="42" name="Text 40"/>
          <p:cNvSpPr txBox="1"/>
          <p:nvPr/>
        </p:nvSpPr>
        <p:spPr>
          <a:xfrm>
            <a:off x="9125712" y="1938528"/>
            <a:ext cx="237744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직접 열어 보기</a:t>
            </a:r>
            <a:endParaRPr lang="ko-KR" altLang="en-US" sz="1400" dirty="0"/>
          </a:p>
        </p:txBody>
      </p:sp>
      <p:sp>
        <p:nvSpPr>
          <p:cNvPr id="43" name="Shape 41"/>
          <p:cNvSpPr/>
          <p:nvPr/>
        </p:nvSpPr>
        <p:spPr>
          <a:xfrm>
            <a:off x="9326880" y="2331720"/>
            <a:ext cx="1901952" cy="1901952"/>
          </a:xfrm>
          <a:prstGeom prst="roundRect">
            <a:avLst>
              <a:gd name="adj" fmla="val 4808"/>
            </a:avLst>
          </a:prstGeom>
          <a:solidFill>
            <a:srgbClr val="FFFFFF"/>
          </a:solidFill>
          <a:ln/>
        </p:spPr>
      </p:sp>
      <p:pic>
        <p:nvPicPr>
          <p:cNvPr id="44" name="Image 0" descr="C:\Users\Windows11\AppData\Local\Temp\claude\C--Users-Windows11-Desktop-New-folder--2-\a0c8a1d0-32ba-4ae6-9843-b5ebc69d925f\scratchpad\deck2/img/qr.png">    </p:cNvPr>
          <p:cNvPicPr>
            <a:picLocks noChangeAspect="1"/>
          </p:cNvPicPr>
          <p:nvPr/>
        </p:nvPicPr>
        <p:blipFill>
          <a:blip r:embed="rId1"/>
          <a:stretch>
            <a:fillRect/>
          </a:stretch>
        </p:blipFill>
        <p:spPr>
          <a:xfrm>
            <a:off x="9418320" y="2423160"/>
            <a:ext cx="1719072" cy="1719072"/>
          </a:xfrm>
          <a:prstGeom prst="rect">
            <a:avLst/>
          </a:prstGeom>
        </p:spPr>
      </p:pic>
      <p:sp>
        <p:nvSpPr>
          <p:cNvPr id="45" name="Text 42"/>
          <p:cNvSpPr txBox="1"/>
          <p:nvPr/>
        </p:nvSpPr>
        <p:spPr>
          <a:xfrm>
            <a:off x="9125712" y="4370832"/>
            <a:ext cx="2377440" cy="457200"/>
          </a:xfrm>
          <a:prstGeom prst="rect">
            <a:avLst/>
          </a:prstGeom>
          <a:noFill/>
          <a:ln/>
        </p:spPr>
        <p:txBody>
          <a:bodyPr wrap="square" lIns="0" tIns="0" rIns="0" bIns="0" rtlCol="0" anchor="t"/>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mdefitko777.github.io/gunpula-flutter</a:t>
            </a:r>
            <a:endParaRPr lang="ko-KR" altLang="en-US" sz="1050" dirty="0"/>
          </a:p>
        </p:txBody>
      </p:sp>
      <p:sp>
        <p:nvSpPr>
          <p:cNvPr id="46" name="Text 43"/>
          <p:cNvSpPr txBox="1"/>
          <p:nvPr/>
        </p:nvSpPr>
        <p:spPr>
          <a:xfrm>
            <a:off x="9125712" y="4846320"/>
            <a:ext cx="2377440" cy="1005840"/>
          </a:xfrm>
          <a:prstGeom prst="rect">
            <a:avLst/>
          </a:prstGeom>
          <a:noFill/>
          <a:ln/>
        </p:spPr>
        <p:txBody>
          <a:bodyPr wrap="square" lIns="0" tIns="0" rIns="0" bIns="0" rtlCol="0" anchor="t"/>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화면</a:t>
            </a:r>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GitHub Pages</a:t>
            </a:r>
            <a:endParaRPr lang="ko-KR" altLang="en-US" sz="1000" dirty="0"/>
          </a:p>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데이터</a:t>
            </a:r>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Vercel 목업 서버 (GET만)</a:t>
            </a:r>
            <a:endParaRPr lang="ko-KR" altLang="en-US" sz="1000" dirty="0"/>
          </a:p>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창을 넓히면 반반 화면</a:t>
            </a:r>
            <a:endParaRPr lang="ko-KR" altLang="en-US" sz="10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8  Personal Learnings</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Personal Learnings: 요구는 말보다 참고 화면으로 보여 준다</a:t>
            </a:r>
            <a:endParaRPr lang="ko-KR" altLang="en-US" sz="2600" dirty="0"/>
          </a:p>
        </p:txBody>
      </p:sp>
      <p:sp>
        <p:nvSpPr>
          <p:cNvPr id="4" name="Shape 2"/>
          <p:cNvSpPr/>
          <p:nvPr/>
        </p:nvSpPr>
        <p:spPr>
          <a:xfrm>
            <a:off x="548640" y="1481328"/>
            <a:ext cx="3557016" cy="3840480"/>
          </a:xfrm>
          <a:prstGeom prst="roundRect">
            <a:avLst>
              <a:gd name="adj" fmla="val 411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664208"/>
            <a:ext cx="731520" cy="640080"/>
          </a:xfrm>
          <a:prstGeom prst="rect">
            <a:avLst/>
          </a:prstGeom>
          <a:noFill/>
          <a:ln/>
        </p:spPr>
        <p:txBody>
          <a:bodyPr wrap="square" lIns="0" tIns="0" rIns="0" bIns="0" rtlCol="0" anchor="t"/>
          <a:lstStyle/>
          <a:p>
            <a:pPr indent="0" marL="0">
              <a:buNone/>
            </a:pPr>
            <a:r>
              <a:rPr lang="ko-KR" altLang="en-US" sz="3600" b="1" dirty="0">
                <a:solidFill>
                  <a:srgbClr val="1C86D9"/>
                </a:solidFill>
                <a:latin typeface="Malgun Gothic" pitchFamily="34" charset="0"/>
                <a:ea typeface="Malgun Gothic" pitchFamily="34" charset="-122"/>
                <a:cs typeface="Malgun Gothic" pitchFamily="34" charset="-120"/>
              </a:rPr>
              <a:t>1</a:t>
            </a:r>
            <a:endParaRPr lang="ko-KR" altLang="en-US" sz="3600" dirty="0"/>
          </a:p>
        </p:txBody>
      </p:sp>
      <p:sp>
        <p:nvSpPr>
          <p:cNvPr id="6" name="Text 4"/>
          <p:cNvSpPr txBox="1"/>
          <p:nvPr/>
        </p:nvSpPr>
        <p:spPr>
          <a:xfrm>
            <a:off x="1417320" y="1737360"/>
            <a:ext cx="2560320" cy="274320"/>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배운 것</a:t>
            </a:r>
            <a:endParaRPr lang="ko-KR" altLang="en-US" sz="1400" dirty="0"/>
          </a:p>
        </p:txBody>
      </p:sp>
      <p:sp>
        <p:nvSpPr>
          <p:cNvPr id="7" name="Text 5"/>
          <p:cNvSpPr txBox="1"/>
          <p:nvPr/>
        </p:nvSpPr>
        <p:spPr>
          <a:xfrm>
            <a:off x="1417320" y="2011680"/>
            <a:ext cx="2560320" cy="384048"/>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UX/UI 기획 · 원칙 · Flutter에서 새로 알게 된 것</a:t>
            </a:r>
            <a:endParaRPr lang="ko-KR" altLang="en-US" sz="950" dirty="0"/>
          </a:p>
        </p:txBody>
      </p:sp>
      <p:sp>
        <p:nvSpPr>
          <p:cNvPr id="8" name="Text 6"/>
          <p:cNvSpPr txBox="1"/>
          <p:nvPr/>
        </p:nvSpPr>
        <p:spPr>
          <a:xfrm>
            <a:off x="822960" y="2560320"/>
            <a:ext cx="3017520" cy="73152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말보다 참고 화면</a:t>
            </a:r>
            <a:endParaRPr lang="ko-KR" altLang="en-US" sz="1900" dirty="0"/>
          </a:p>
        </p:txBody>
      </p:sp>
      <p:sp>
        <p:nvSpPr>
          <p:cNvPr id="9" name="Shape 7"/>
          <p:cNvSpPr/>
          <p:nvPr/>
        </p:nvSpPr>
        <p:spPr>
          <a:xfrm>
            <a:off x="822960" y="3337560"/>
            <a:ext cx="3008376" cy="0"/>
          </a:xfrm>
          <a:prstGeom prst="line">
            <a:avLst/>
          </a:prstGeom>
          <a:noFill/>
          <a:ln w="9525">
            <a:solidFill>
              <a:srgbClr val="E3E5E8"/>
            </a:solidFill>
            <a:prstDash val="solid"/>
          </a:ln>
        </p:spPr>
      </p:sp>
      <p:sp>
        <p:nvSpPr>
          <p:cNvPr id="10" name="Text 8"/>
          <p:cNvSpPr txBox="1"/>
          <p:nvPr/>
        </p:nvSpPr>
        <p:spPr>
          <a:xfrm>
            <a:off x="822960" y="3474720"/>
            <a:ext cx="3017520" cy="1737360"/>
          </a:xfrm>
          <a:prstGeom prst="rect">
            <a:avLst/>
          </a:prstGeom>
          <a:noFill/>
          <a:ln/>
        </p:spPr>
        <p:txBody>
          <a:bodyPr wrap="square" lIns="0" tIns="0" rIns="0" bIns="0" rtlCol="0" anchor="t"/>
          <a:lstStyle/>
          <a:p>
            <a:pPr indent="0" marL="0">
              <a:spcAft>
                <a:spcPts val="800"/>
              </a:spcAft>
              <a:buNone/>
            </a:pPr>
            <a:r>
              <a:rPr lang="ko-KR" altLang="en-US" sz="1250" b="1" dirty="0">
                <a:solidFill>
                  <a:srgbClr val="111111"/>
                </a:solidFill>
                <a:latin typeface="Malgun Gothic" pitchFamily="34" charset="0"/>
                <a:ea typeface="Malgun Gothic" pitchFamily="34" charset="-122"/>
                <a:cs typeface="Malgun Gothic" pitchFamily="34" charset="-120"/>
              </a:rPr>
              <a:t>기획  </a:t>
            </a:r>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말로 설명한 전체 목록은 AI가 두 번 다르게 만들었고, 토이저러스 캡처를 보여 주니 한 번에 맞았다</a:t>
            </a:r>
            <a:endParaRPr lang="ko-KR" altLang="en-US" sz="1250" dirty="0"/>
          </a:p>
          <a:p>
            <a:pPr indent="0" marL="0">
              <a:spcAft>
                <a:spcPts val="800"/>
              </a:spcAft>
              <a:buNone/>
            </a:pPr>
            <a:r>
              <a:rPr lang="ko-KR" altLang="en-US" sz="1250" b="1" dirty="0">
                <a:solidFill>
                  <a:srgbClr val="111111"/>
                </a:solidFill>
                <a:latin typeface="Malgun Gothic" pitchFamily="34" charset="0"/>
                <a:ea typeface="Malgun Gothic" pitchFamily="34" charset="-122"/>
                <a:cs typeface="Malgun Gothic" pitchFamily="34" charset="-120"/>
              </a:rPr>
              <a:t>Flutter  </a:t>
            </a:r>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setState를 맨 위로 올리면 패키지 없이도 앱 전체가 한 벌로 바뀐다</a:t>
            </a:r>
            <a:endParaRPr lang="ko-KR" altLang="en-US" sz="1250" dirty="0"/>
          </a:p>
        </p:txBody>
      </p:sp>
      <p:sp>
        <p:nvSpPr>
          <p:cNvPr id="11" name="Shape 9"/>
          <p:cNvSpPr/>
          <p:nvPr/>
        </p:nvSpPr>
        <p:spPr>
          <a:xfrm>
            <a:off x="4315968" y="1481328"/>
            <a:ext cx="3557016" cy="3840480"/>
          </a:xfrm>
          <a:prstGeom prst="roundRect">
            <a:avLst>
              <a:gd name="adj" fmla="val 411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2" name="Text 10"/>
          <p:cNvSpPr txBox="1"/>
          <p:nvPr/>
        </p:nvSpPr>
        <p:spPr>
          <a:xfrm>
            <a:off x="4590288" y="1664208"/>
            <a:ext cx="731520" cy="640080"/>
          </a:xfrm>
          <a:prstGeom prst="rect">
            <a:avLst/>
          </a:prstGeom>
          <a:noFill/>
          <a:ln/>
        </p:spPr>
        <p:txBody>
          <a:bodyPr wrap="square" lIns="0" tIns="0" rIns="0" bIns="0" rtlCol="0" anchor="t"/>
          <a:lstStyle/>
          <a:p>
            <a:pPr indent="0" marL="0">
              <a:buNone/>
            </a:pPr>
            <a:r>
              <a:rPr lang="ko-KR" altLang="en-US" sz="3600" b="1" dirty="0">
                <a:solidFill>
                  <a:srgbClr val="B86E00"/>
                </a:solidFill>
                <a:latin typeface="Malgun Gothic" pitchFamily="34" charset="0"/>
                <a:ea typeface="Malgun Gothic" pitchFamily="34" charset="-122"/>
                <a:cs typeface="Malgun Gothic" pitchFamily="34" charset="-120"/>
              </a:rPr>
              <a:t>2</a:t>
            </a:r>
            <a:endParaRPr lang="ko-KR" altLang="en-US" sz="3600" dirty="0"/>
          </a:p>
        </p:txBody>
      </p:sp>
      <p:sp>
        <p:nvSpPr>
          <p:cNvPr id="13" name="Text 11"/>
          <p:cNvSpPr txBox="1"/>
          <p:nvPr/>
        </p:nvSpPr>
        <p:spPr>
          <a:xfrm>
            <a:off x="5184648" y="1737360"/>
            <a:ext cx="2560320" cy="274320"/>
          </a:xfrm>
          <a:prstGeom prst="rect">
            <a:avLst/>
          </a:prstGeom>
          <a:noFill/>
          <a:ln/>
        </p:spPr>
        <p:txBody>
          <a:bodyPr wrap="square" lIns="0" tIns="0" rIns="0" bIns="0" rtlCol="0" anchor="t"/>
          <a:lstStyle/>
          <a:p>
            <a:pPr indent="0" marL="0">
              <a:buNone/>
            </a:pPr>
            <a:r>
              <a:rPr lang="ko-KR" altLang="en-US" sz="1400" b="1" dirty="0">
                <a:solidFill>
                  <a:srgbClr val="B86E00"/>
                </a:solidFill>
                <a:latin typeface="Malgun Gothic" pitchFamily="34" charset="0"/>
                <a:ea typeface="Malgun Gothic" pitchFamily="34" charset="-122"/>
                <a:cs typeface="Malgun Gothic" pitchFamily="34" charset="-120"/>
              </a:rPr>
              <a:t>셀프 논증 회고</a:t>
            </a:r>
            <a:endParaRPr lang="ko-KR" altLang="en-US" sz="1400" dirty="0"/>
          </a:p>
        </p:txBody>
      </p:sp>
      <p:sp>
        <p:nvSpPr>
          <p:cNvPr id="14" name="Text 12"/>
          <p:cNvSpPr txBox="1"/>
          <p:nvPr/>
        </p:nvSpPr>
        <p:spPr>
          <a:xfrm>
            <a:off x="5184648" y="2011680"/>
            <a:ext cx="2560320" cy="384048"/>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AI 반론으로 유지 · 수정 · 폐기한 결정에서 배운 점</a:t>
            </a:r>
            <a:endParaRPr lang="ko-KR" altLang="en-US" sz="950" dirty="0"/>
          </a:p>
        </p:txBody>
      </p:sp>
      <p:sp>
        <p:nvSpPr>
          <p:cNvPr id="15" name="Text 13"/>
          <p:cNvSpPr txBox="1"/>
          <p:nvPr/>
        </p:nvSpPr>
        <p:spPr>
          <a:xfrm>
            <a:off x="4590288" y="2560320"/>
            <a:ext cx="3017520" cy="73152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근거가 있을 때만 받아들인다</a:t>
            </a:r>
            <a:endParaRPr lang="ko-KR" altLang="en-US" sz="1900" dirty="0"/>
          </a:p>
        </p:txBody>
      </p:sp>
      <p:sp>
        <p:nvSpPr>
          <p:cNvPr id="16" name="Shape 14"/>
          <p:cNvSpPr/>
          <p:nvPr/>
        </p:nvSpPr>
        <p:spPr>
          <a:xfrm>
            <a:off x="4590288" y="3337560"/>
            <a:ext cx="3008376" cy="0"/>
          </a:xfrm>
          <a:prstGeom prst="line">
            <a:avLst/>
          </a:prstGeom>
          <a:noFill/>
          <a:ln w="9525">
            <a:solidFill>
              <a:srgbClr val="E3E5E8"/>
            </a:solidFill>
            <a:prstDash val="solid"/>
          </a:ln>
        </p:spPr>
      </p:sp>
      <p:sp>
        <p:nvSpPr>
          <p:cNvPr id="17" name="Text 15"/>
          <p:cNvSpPr txBox="1"/>
          <p:nvPr/>
        </p:nvSpPr>
        <p:spPr>
          <a:xfrm>
            <a:off x="4590288" y="3474720"/>
            <a:ext cx="3017520" cy="1737360"/>
          </a:xfrm>
          <a:prstGeom prst="rect">
            <a:avLst/>
          </a:prstGeom>
          <a:noFill/>
          <a:ln/>
        </p:spPr>
        <p:txBody>
          <a:bodyPr wrap="square" lIns="0" tIns="0" rIns="0" bIns="0" rtlCol="0" anchor="t"/>
          <a:lstStyle/>
          <a:p>
            <a:pPr indent="0" marL="0">
              <a:spcAft>
                <a:spcPts val="800"/>
              </a:spcAft>
              <a:buNone/>
            </a:pPr>
            <a:r>
              <a:rPr lang="ko-KR" altLang="en-US" sz="1250" b="1" dirty="0">
                <a:solidFill>
                  <a:srgbClr val="12A07F"/>
                </a:solidFill>
                <a:latin typeface="Malgun Gothic" pitchFamily="34" charset="0"/>
                <a:ea typeface="Malgun Gothic" pitchFamily="34" charset="-122"/>
                <a:cs typeface="Malgun Gothic" pitchFamily="34" charset="-120"/>
              </a:rPr>
              <a:t>수정  </a:t>
            </a:r>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구매함 모양을 하나로 — P04 · 리뷰 근거가 있었다 (prompt-log 13행 ★)</a:t>
            </a:r>
            <a:endParaRPr lang="ko-KR" altLang="en-US" sz="1250" dirty="0"/>
          </a:p>
          <a:p>
            <a:pPr indent="0" marL="0">
              <a:spcAft>
                <a:spcPts val="800"/>
              </a:spcAft>
              <a:buNone/>
            </a:pPr>
            <a:r>
              <a:rPr lang="ko-KR" altLang="en-US" sz="1250" b="1" dirty="0">
                <a:solidFill>
                  <a:srgbClr val="D93F44"/>
                </a:solidFill>
                <a:latin typeface="Malgun Gothic" pitchFamily="34" charset="0"/>
                <a:ea typeface="Malgun Gothic" pitchFamily="34" charset="-122"/>
                <a:cs typeface="Malgun Gothic" pitchFamily="34" charset="-120"/>
              </a:rPr>
              <a:t>폐기  </a:t>
            </a:r>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상태로 거르는 목록 · 알약 필터 — 수집가는 작품별로 찾는다 (prompt-log 9행)</a:t>
            </a:r>
            <a:endParaRPr lang="ko-KR" altLang="en-US" sz="1250" dirty="0"/>
          </a:p>
        </p:txBody>
      </p:sp>
      <p:sp>
        <p:nvSpPr>
          <p:cNvPr id="18" name="Shape 16"/>
          <p:cNvSpPr/>
          <p:nvPr/>
        </p:nvSpPr>
        <p:spPr>
          <a:xfrm>
            <a:off x="8083296" y="1481328"/>
            <a:ext cx="3557016" cy="3840480"/>
          </a:xfrm>
          <a:prstGeom prst="roundRect">
            <a:avLst>
              <a:gd name="adj" fmla="val 411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9" name="Text 17"/>
          <p:cNvSpPr txBox="1"/>
          <p:nvPr/>
        </p:nvSpPr>
        <p:spPr>
          <a:xfrm>
            <a:off x="8357616" y="1664208"/>
            <a:ext cx="731520" cy="640080"/>
          </a:xfrm>
          <a:prstGeom prst="rect">
            <a:avLst/>
          </a:prstGeom>
          <a:noFill/>
          <a:ln/>
        </p:spPr>
        <p:txBody>
          <a:bodyPr wrap="square" lIns="0" tIns="0" rIns="0" bIns="0" rtlCol="0" anchor="t"/>
          <a:lstStyle/>
          <a:p>
            <a:pPr indent="0" marL="0">
              <a:buNone/>
            </a:pPr>
            <a:r>
              <a:rPr lang="ko-KR" altLang="en-US" sz="3600" b="1" dirty="0">
                <a:solidFill>
                  <a:srgbClr val="12A07F"/>
                </a:solidFill>
                <a:latin typeface="Malgun Gothic" pitchFamily="34" charset="0"/>
                <a:ea typeface="Malgun Gothic" pitchFamily="34" charset="-122"/>
                <a:cs typeface="Malgun Gothic" pitchFamily="34" charset="-120"/>
              </a:rPr>
              <a:t>3</a:t>
            </a:r>
            <a:endParaRPr lang="ko-KR" altLang="en-US" sz="3600" dirty="0"/>
          </a:p>
        </p:txBody>
      </p:sp>
      <p:sp>
        <p:nvSpPr>
          <p:cNvPr id="20" name="Text 18"/>
          <p:cNvSpPr txBox="1"/>
          <p:nvPr/>
        </p:nvSpPr>
        <p:spPr>
          <a:xfrm>
            <a:off x="8951976" y="1737360"/>
            <a:ext cx="2560320" cy="274320"/>
          </a:xfrm>
          <a:prstGeom prst="rect">
            <a:avLst/>
          </a:prstGeom>
          <a:noFill/>
          <a:ln/>
        </p:spPr>
        <p:txBody>
          <a:bodyPr wrap="square" lIns="0" tIns="0" rIns="0" bIns="0" rtlCol="0" anchor="t"/>
          <a:lstStyle/>
          <a:p>
            <a:pPr indent="0" marL="0">
              <a:buNone/>
            </a:pPr>
            <a:r>
              <a:rPr lang="ko-KR" altLang="en-US" sz="1400" b="1" dirty="0">
                <a:solidFill>
                  <a:srgbClr val="12A07F"/>
                </a:solidFill>
                <a:latin typeface="Malgun Gothic" pitchFamily="34" charset="0"/>
                <a:ea typeface="Malgun Gothic" pitchFamily="34" charset="-122"/>
                <a:cs typeface="Malgun Gothic" pitchFamily="34" charset="-120"/>
              </a:rPr>
              <a:t>다음 v3</a:t>
            </a:r>
            <a:endParaRPr lang="ko-KR" altLang="en-US" sz="1400" dirty="0"/>
          </a:p>
        </p:txBody>
      </p:sp>
      <p:sp>
        <p:nvSpPr>
          <p:cNvPr id="21" name="Text 19"/>
          <p:cNvSpPr txBox="1"/>
          <p:nvPr/>
        </p:nvSpPr>
        <p:spPr>
          <a:xfrm>
            <a:off x="8951976" y="2011680"/>
            <a:ext cx="2560320" cy="384048"/>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다음 버전에서 고칠 것 · 이번에 못 한 것</a:t>
            </a:r>
            <a:endParaRPr lang="ko-KR" altLang="en-US" sz="950" dirty="0"/>
          </a:p>
        </p:txBody>
      </p:sp>
      <p:sp>
        <p:nvSpPr>
          <p:cNvPr id="22" name="Text 20"/>
          <p:cNvSpPr txBox="1"/>
          <p:nvPr/>
        </p:nvSpPr>
        <p:spPr>
          <a:xfrm>
            <a:off x="8357616" y="2560320"/>
            <a:ext cx="3017520" cy="73152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놓치지 않는 앱으로</a:t>
            </a:r>
            <a:endParaRPr lang="ko-KR" altLang="en-US" sz="1900" dirty="0"/>
          </a:p>
        </p:txBody>
      </p:sp>
      <p:sp>
        <p:nvSpPr>
          <p:cNvPr id="23" name="Shape 21"/>
          <p:cNvSpPr/>
          <p:nvPr/>
        </p:nvSpPr>
        <p:spPr>
          <a:xfrm>
            <a:off x="8357616" y="3337560"/>
            <a:ext cx="3008376" cy="0"/>
          </a:xfrm>
          <a:prstGeom prst="line">
            <a:avLst/>
          </a:prstGeom>
          <a:noFill/>
          <a:ln w="9525">
            <a:solidFill>
              <a:srgbClr val="E3E5E8"/>
            </a:solidFill>
            <a:prstDash val="solid"/>
          </a:ln>
        </p:spPr>
      </p:sp>
      <p:sp>
        <p:nvSpPr>
          <p:cNvPr id="24" name="Text 22"/>
          <p:cNvSpPr txBox="1"/>
          <p:nvPr/>
        </p:nvSpPr>
        <p:spPr>
          <a:xfrm>
            <a:off x="8357616" y="3474720"/>
            <a:ext cx="3017520" cy="1737360"/>
          </a:xfrm>
          <a:prstGeom prst="rect">
            <a:avLst/>
          </a:prstGeom>
          <a:noFill/>
          <a:ln/>
        </p:spPr>
        <p:txBody>
          <a:bodyPr wrap="square" lIns="0" tIns="0" rIns="0" bIns="0" rtlCol="0" anchor="t"/>
          <a:lstStyle/>
          <a:p>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 좋아요 · 구매함 · 도감 기록 저장 (상태관리 수업)</a:t>
            </a:r>
            <a:endParaRPr lang="ko-KR" altLang="en-US" sz="1250" dirty="0"/>
          </a:p>
          <a:p>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 브랜드 공식 예고 자동 수집</a:t>
            </a:r>
            <a:endParaRPr lang="ko-KR" altLang="en-US" sz="1250" dirty="0"/>
          </a:p>
          <a:p>
            <a:pPr indent="0" marL="0">
              <a:spcAft>
                <a:spcPts val="800"/>
              </a:spcAft>
              <a:buNone/>
            </a:pPr>
            <a:r>
              <a:rPr lang="ko-KR" altLang="en-US" sz="1250" dirty="0">
                <a:solidFill>
                  <a:srgbClr val="3D4148"/>
                </a:solidFill>
                <a:latin typeface="Malgun Gothic" pitchFamily="34" charset="0"/>
                <a:ea typeface="Malgun Gothic" pitchFamily="34" charset="-122"/>
                <a:cs typeface="Malgun Gothic" pitchFamily="34" charset="-120"/>
              </a:rPr>
              <a:t>• 실제 사진 인식 · 글자 로고</a:t>
            </a:r>
            <a:endParaRPr lang="ko-KR" altLang="en-US" sz="12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9  Q&amp;A</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감사합니다 — 질문 받겠습니다</a:t>
            </a:r>
            <a:endParaRPr lang="ko-KR" altLang="en-US" sz="2800" dirty="0"/>
          </a:p>
        </p:txBody>
      </p:sp>
      <p:sp>
        <p:nvSpPr>
          <p:cNvPr id="4" name="Shape 2"/>
          <p:cNvSpPr/>
          <p:nvPr/>
        </p:nvSpPr>
        <p:spPr>
          <a:xfrm>
            <a:off x="548640" y="1600200"/>
            <a:ext cx="7086600" cy="2057400"/>
          </a:xfrm>
          <a:prstGeom prst="roundRect">
            <a:avLst>
              <a:gd name="adj" fmla="val 622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04672" y="1801368"/>
            <a:ext cx="548640" cy="365760"/>
          </a:xfrm>
          <a:prstGeom prst="rect">
            <a:avLst/>
          </a:prstGeom>
          <a:noFill/>
          <a:ln/>
        </p:spPr>
        <p:txBody>
          <a:bodyPr wrap="square" lIns="0" tIns="0" rIns="0" bIns="0" rtlCol="0" anchor="t"/>
          <a:lstStyle/>
          <a:p>
            <a:pPr indent="0" marL="0">
              <a:buNone/>
            </a:pPr>
            <a:r>
              <a:rPr lang="ko-KR" altLang="en-US" sz="1800" b="1" dirty="0">
                <a:solidFill>
                  <a:srgbClr val="1C86D9"/>
                </a:solidFill>
                <a:latin typeface="Malgun Gothic" pitchFamily="34" charset="0"/>
                <a:ea typeface="Malgun Gothic" pitchFamily="34" charset="-122"/>
                <a:cs typeface="Malgun Gothic" pitchFamily="34" charset="-120"/>
              </a:rPr>
              <a:t>Q1</a:t>
            </a:r>
            <a:endParaRPr lang="ko-KR" altLang="en-US" sz="1800" dirty="0"/>
          </a:p>
        </p:txBody>
      </p:sp>
      <p:sp>
        <p:nvSpPr>
          <p:cNvPr id="6" name="Text 4"/>
          <p:cNvSpPr txBox="1"/>
          <p:nvPr/>
        </p:nvSpPr>
        <p:spPr>
          <a:xfrm>
            <a:off x="1371600" y="1801368"/>
            <a:ext cx="6035040" cy="365760"/>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왜 하필 hobbyDB를 바탕으로 골랐나요?</a:t>
            </a:r>
            <a:endParaRPr lang="ko-KR" altLang="en-US" sz="1600" dirty="0"/>
          </a:p>
        </p:txBody>
      </p:sp>
      <p:sp>
        <p:nvSpPr>
          <p:cNvPr id="7" name="Text 5"/>
          <p:cNvSpPr txBox="1"/>
          <p:nvPr/>
        </p:nvSpPr>
        <p:spPr>
          <a:xfrm>
            <a:off x="1371600" y="2331720"/>
            <a:ext cx="6035040" cy="1188720"/>
          </a:xfrm>
          <a:prstGeom prst="rect">
            <a:avLst/>
          </a:prstGeom>
          <a:noFill/>
          <a:ln/>
        </p:spPr>
        <p:txBody>
          <a:bodyPr wrap="square" lIns="0" tIns="0" rIns="0" bIns="0" rtlCol="0" anchor="t"/>
          <a:lstStyle/>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여러 브랜드의 수집품을 한 앱에 모으는 거의 유일한 앱이라, 브랜드마다 흩어진 정보라는 제 문제에 가장 가깝습니다. 하지만 웹사이트 메뉴를 그대로 옮긴 구조라 "없는 기능 · 불편" 리뷰가 많아 다시 설계할 가치가 있었습니다.</a:t>
            </a:r>
            <a:endParaRPr lang="ko-KR" altLang="en-US" sz="1300" dirty="0"/>
          </a:p>
        </p:txBody>
      </p:sp>
      <p:sp>
        <p:nvSpPr>
          <p:cNvPr id="8" name="Shape 6"/>
          <p:cNvSpPr/>
          <p:nvPr/>
        </p:nvSpPr>
        <p:spPr>
          <a:xfrm>
            <a:off x="548640" y="3840480"/>
            <a:ext cx="7086600" cy="2057400"/>
          </a:xfrm>
          <a:prstGeom prst="roundRect">
            <a:avLst>
              <a:gd name="adj" fmla="val 622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9" name="Text 7"/>
          <p:cNvSpPr txBox="1"/>
          <p:nvPr/>
        </p:nvSpPr>
        <p:spPr>
          <a:xfrm>
            <a:off x="804672" y="4041648"/>
            <a:ext cx="548640" cy="365760"/>
          </a:xfrm>
          <a:prstGeom prst="rect">
            <a:avLst/>
          </a:prstGeom>
          <a:noFill/>
          <a:ln/>
        </p:spPr>
        <p:txBody>
          <a:bodyPr wrap="square" lIns="0" tIns="0" rIns="0" bIns="0" rtlCol="0" anchor="t"/>
          <a:lstStyle/>
          <a:p>
            <a:pPr indent="0" marL="0">
              <a:buNone/>
            </a:pPr>
            <a:r>
              <a:rPr lang="ko-KR" altLang="en-US" sz="1800" b="1" dirty="0">
                <a:solidFill>
                  <a:srgbClr val="1C86D9"/>
                </a:solidFill>
                <a:latin typeface="Malgun Gothic" pitchFamily="34" charset="0"/>
                <a:ea typeface="Malgun Gothic" pitchFamily="34" charset="-122"/>
                <a:cs typeface="Malgun Gothic" pitchFamily="34" charset="-120"/>
              </a:rPr>
              <a:t>Q2</a:t>
            </a:r>
            <a:endParaRPr lang="ko-KR" altLang="en-US" sz="1800" dirty="0"/>
          </a:p>
        </p:txBody>
      </p:sp>
      <p:sp>
        <p:nvSpPr>
          <p:cNvPr id="10" name="Text 8"/>
          <p:cNvSpPr txBox="1"/>
          <p:nvPr/>
        </p:nvSpPr>
        <p:spPr>
          <a:xfrm>
            <a:off x="1371600" y="4041648"/>
            <a:ext cx="6035040" cy="365760"/>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다음 버전(v3)에서 가장 먼저 추가할 기능은?</a:t>
            </a:r>
            <a:endParaRPr lang="ko-KR" altLang="en-US" sz="1600" dirty="0"/>
          </a:p>
        </p:txBody>
      </p:sp>
      <p:sp>
        <p:nvSpPr>
          <p:cNvPr id="11" name="Text 9"/>
          <p:cNvSpPr txBox="1"/>
          <p:nvPr/>
        </p:nvSpPr>
        <p:spPr>
          <a:xfrm>
            <a:off x="1371600" y="4572000"/>
            <a:ext cx="6035040" cy="1188720"/>
          </a:xfrm>
          <a:prstGeom prst="rect">
            <a:avLst/>
          </a:prstGeom>
          <a:noFill/>
          <a:ln/>
        </p:spPr>
        <p:txBody>
          <a:bodyPr wrap="square" lIns="0" tIns="0" rIns="0" bIns="0" rtlCol="0" anchor="t"/>
          <a:lstStyle/>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① 좋아요 · 구매함 · 도감 기록 저장 (상태관리 수업에서)</a:t>
            </a:r>
            <a:endParaRPr lang="ko-KR" altLang="en-US" sz="1300" dirty="0"/>
          </a:p>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② 브랜드마다 흩어진 공식 예고를 자동으로 모으기</a:t>
            </a:r>
            <a:endParaRPr lang="ko-KR" altLang="en-US" sz="1300" dirty="0"/>
          </a:p>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③ 실제 사진 인식 · 로고 확정</a:t>
            </a:r>
            <a:endParaRPr lang="ko-KR" altLang="en-US" sz="1300" dirty="0"/>
          </a:p>
        </p:txBody>
      </p:sp>
      <p:sp>
        <p:nvSpPr>
          <p:cNvPr id="12" name="Shape 10"/>
          <p:cNvSpPr/>
          <p:nvPr/>
        </p:nvSpPr>
        <p:spPr>
          <a:xfrm>
            <a:off x="8001000" y="1600200"/>
            <a:ext cx="3639312" cy="4389120"/>
          </a:xfrm>
          <a:prstGeom prst="roundRect">
            <a:avLst>
              <a:gd name="adj" fmla="val 4020"/>
            </a:avLst>
          </a:prstGeom>
          <a:solidFill>
            <a:srgbClr val="F4F5F7"/>
          </a:solidFill>
          <a:ln/>
        </p:spPr>
      </p:sp>
      <p:sp>
        <p:nvSpPr>
          <p:cNvPr id="13" name="Text 11"/>
          <p:cNvSpPr txBox="1"/>
          <p:nvPr/>
        </p:nvSpPr>
        <p:spPr>
          <a:xfrm>
            <a:off x="8275320" y="1810512"/>
            <a:ext cx="310896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부록으로 바로 이동</a:t>
            </a:r>
            <a:endParaRPr lang="ko-KR" altLang="en-US" sz="1400" dirty="0"/>
          </a:p>
        </p:txBody>
      </p:sp>
      <p:sp>
        <p:nvSpPr>
          <p:cNvPr id="14" name="Text 12"/>
          <p:cNvSpPr txBox="1"/>
          <p:nvPr/>
        </p:nvSpPr>
        <p:spPr>
          <a:xfrm>
            <a:off x="8275320" y="2084832"/>
            <a:ext cx="31089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쇼에서 장 번호 + Enter</a:t>
            </a:r>
            <a:endParaRPr lang="ko-KR" altLang="en-US" sz="1050" dirty="0"/>
          </a:p>
        </p:txBody>
      </p:sp>
      <p:sp>
        <p:nvSpPr>
          <p:cNvPr id="15" name="Shape 13"/>
          <p:cNvSpPr/>
          <p:nvPr/>
        </p:nvSpPr>
        <p:spPr>
          <a:xfrm>
            <a:off x="8275320" y="2487168"/>
            <a:ext cx="3090672" cy="548640"/>
          </a:xfrm>
          <a:prstGeom prst="roundRect">
            <a:avLst>
              <a:gd name="adj" fmla="val 16667"/>
            </a:avLst>
          </a:prstGeom>
          <a:solidFill>
            <a:srgbClr val="FFFFFF"/>
          </a:solidFill>
          <a:ln/>
        </p:spPr>
      </p:sp>
      <p:sp>
        <p:nvSpPr>
          <p:cNvPr id="16" name="Text 14"/>
          <p:cNvSpPr txBox="1"/>
          <p:nvPr/>
        </p:nvSpPr>
        <p:spPr>
          <a:xfrm>
            <a:off x="8458200" y="2487168"/>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17" name="Text 15"/>
          <p:cNvSpPr txBox="1"/>
          <p:nvPr/>
        </p:nvSpPr>
        <p:spPr>
          <a:xfrm>
            <a:off x="9006840" y="2487168"/>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데모 및 스크린샷</a:t>
            </a:r>
            <a:endParaRPr lang="ko-KR" altLang="en-US" sz="1200" dirty="0"/>
          </a:p>
        </p:txBody>
      </p:sp>
      <p:sp>
        <p:nvSpPr>
          <p:cNvPr id="18" name="Text 16"/>
          <p:cNvSpPr txBox="1"/>
          <p:nvPr/>
        </p:nvSpPr>
        <p:spPr>
          <a:xfrm>
            <a:off x="10607040" y="2487168"/>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21장</a:t>
            </a:r>
            <a:endParaRPr lang="ko-KR" altLang="en-US" sz="1100" dirty="0"/>
          </a:p>
        </p:txBody>
      </p:sp>
      <p:sp>
        <p:nvSpPr>
          <p:cNvPr id="19" name="Shape 17"/>
          <p:cNvSpPr/>
          <p:nvPr/>
        </p:nvSpPr>
        <p:spPr>
          <a:xfrm>
            <a:off x="8275320" y="3163824"/>
            <a:ext cx="3090672" cy="548640"/>
          </a:xfrm>
          <a:prstGeom prst="roundRect">
            <a:avLst>
              <a:gd name="adj" fmla="val 16667"/>
            </a:avLst>
          </a:prstGeom>
          <a:solidFill>
            <a:srgbClr val="FFFFFF"/>
          </a:solidFill>
          <a:ln/>
        </p:spPr>
      </p:sp>
      <p:sp>
        <p:nvSpPr>
          <p:cNvPr id="20" name="Text 18"/>
          <p:cNvSpPr txBox="1"/>
          <p:nvPr/>
        </p:nvSpPr>
        <p:spPr>
          <a:xfrm>
            <a:off x="8458200" y="3163824"/>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21" name="Text 19"/>
          <p:cNvSpPr txBox="1"/>
          <p:nvPr/>
        </p:nvSpPr>
        <p:spPr>
          <a:xfrm>
            <a:off x="9006840" y="3163824"/>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원칙 카드 P01–P10</a:t>
            </a:r>
            <a:endParaRPr lang="ko-KR" altLang="en-US" sz="1200" dirty="0"/>
          </a:p>
        </p:txBody>
      </p:sp>
      <p:sp>
        <p:nvSpPr>
          <p:cNvPr id="22" name="Text 20"/>
          <p:cNvSpPr txBox="1"/>
          <p:nvPr/>
        </p:nvSpPr>
        <p:spPr>
          <a:xfrm>
            <a:off x="10607040" y="3163824"/>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25장</a:t>
            </a:r>
            <a:endParaRPr lang="ko-KR" altLang="en-US" sz="1100" dirty="0"/>
          </a:p>
        </p:txBody>
      </p:sp>
      <p:sp>
        <p:nvSpPr>
          <p:cNvPr id="23" name="Shape 21"/>
          <p:cNvSpPr/>
          <p:nvPr/>
        </p:nvSpPr>
        <p:spPr>
          <a:xfrm>
            <a:off x="8275320" y="3840480"/>
            <a:ext cx="3090672" cy="548640"/>
          </a:xfrm>
          <a:prstGeom prst="roundRect">
            <a:avLst>
              <a:gd name="adj" fmla="val 16667"/>
            </a:avLst>
          </a:prstGeom>
          <a:solidFill>
            <a:srgbClr val="FFFFFF"/>
          </a:solidFill>
          <a:ln/>
        </p:spPr>
      </p:sp>
      <p:sp>
        <p:nvSpPr>
          <p:cNvPr id="24" name="Text 22"/>
          <p:cNvSpPr txBox="1"/>
          <p:nvPr/>
        </p:nvSpPr>
        <p:spPr>
          <a:xfrm>
            <a:off x="8458200" y="3840480"/>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25" name="Text 23"/>
          <p:cNvSpPr txBox="1"/>
          <p:nvPr/>
        </p:nvSpPr>
        <p:spPr>
          <a:xfrm>
            <a:off x="9006840" y="3840480"/>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prompt-log</a:t>
            </a:r>
            <a:endParaRPr lang="ko-KR" altLang="en-US" sz="1200" dirty="0"/>
          </a:p>
        </p:txBody>
      </p:sp>
      <p:sp>
        <p:nvSpPr>
          <p:cNvPr id="26" name="Text 24"/>
          <p:cNvSpPr txBox="1"/>
          <p:nvPr/>
        </p:nvSpPr>
        <p:spPr>
          <a:xfrm>
            <a:off x="10607040" y="3840480"/>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35장</a:t>
            </a:r>
            <a:endParaRPr lang="ko-KR" altLang="en-US" sz="1100" dirty="0"/>
          </a:p>
        </p:txBody>
      </p:sp>
      <p:sp>
        <p:nvSpPr>
          <p:cNvPr id="27" name="Shape 25"/>
          <p:cNvSpPr/>
          <p:nvPr/>
        </p:nvSpPr>
        <p:spPr>
          <a:xfrm>
            <a:off x="8275320" y="4517136"/>
            <a:ext cx="3090672" cy="548640"/>
          </a:xfrm>
          <a:prstGeom prst="roundRect">
            <a:avLst>
              <a:gd name="adj" fmla="val 16667"/>
            </a:avLst>
          </a:prstGeom>
          <a:solidFill>
            <a:srgbClr val="FFFFFF"/>
          </a:solidFill>
          <a:ln/>
        </p:spPr>
      </p:sp>
      <p:sp>
        <p:nvSpPr>
          <p:cNvPr id="28" name="Text 26"/>
          <p:cNvSpPr txBox="1"/>
          <p:nvPr/>
        </p:nvSpPr>
        <p:spPr>
          <a:xfrm>
            <a:off x="8458200" y="4517136"/>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29" name="Text 27"/>
          <p:cNvSpPr txBox="1"/>
          <p:nvPr/>
        </p:nvSpPr>
        <p:spPr>
          <a:xfrm>
            <a:off x="9006840" y="4517136"/>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자가평가 요약</a:t>
            </a:r>
            <a:endParaRPr lang="ko-KR" altLang="en-US" sz="1200" dirty="0"/>
          </a:p>
        </p:txBody>
      </p:sp>
      <p:sp>
        <p:nvSpPr>
          <p:cNvPr id="30" name="Text 28"/>
          <p:cNvSpPr txBox="1"/>
          <p:nvPr/>
        </p:nvSpPr>
        <p:spPr>
          <a:xfrm>
            <a:off x="10607040" y="4517136"/>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37장</a:t>
            </a:r>
            <a:endParaRPr lang="ko-KR" altLang="en-US" sz="1100" dirty="0"/>
          </a:p>
        </p:txBody>
      </p:sp>
      <p:sp>
        <p:nvSpPr>
          <p:cNvPr id="31" name="Shape 29"/>
          <p:cNvSpPr/>
          <p:nvPr/>
        </p:nvSpPr>
        <p:spPr>
          <a:xfrm>
            <a:off x="8275320" y="5193792"/>
            <a:ext cx="3090672" cy="548640"/>
          </a:xfrm>
          <a:prstGeom prst="roundRect">
            <a:avLst>
              <a:gd name="adj" fmla="val 16667"/>
            </a:avLst>
          </a:prstGeom>
          <a:solidFill>
            <a:srgbClr val="FFFFFF"/>
          </a:solidFill>
          <a:ln/>
        </p:spPr>
      </p:sp>
      <p:sp>
        <p:nvSpPr>
          <p:cNvPr id="32" name="Text 30"/>
          <p:cNvSpPr txBox="1"/>
          <p:nvPr/>
        </p:nvSpPr>
        <p:spPr>
          <a:xfrm>
            <a:off x="8458200" y="5193792"/>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33" name="Text 31"/>
          <p:cNvSpPr txBox="1"/>
          <p:nvPr/>
        </p:nvSpPr>
        <p:spPr>
          <a:xfrm>
            <a:off x="9006840" y="5193792"/>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기획 상세 · 요소 분석</a:t>
            </a:r>
            <a:endParaRPr lang="ko-KR" altLang="en-US" sz="1200" dirty="0"/>
          </a:p>
        </p:txBody>
      </p:sp>
      <p:sp>
        <p:nvSpPr>
          <p:cNvPr id="34" name="Text 32"/>
          <p:cNvSpPr txBox="1"/>
          <p:nvPr/>
        </p:nvSpPr>
        <p:spPr>
          <a:xfrm>
            <a:off x="10607040" y="5193792"/>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38장</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1463040"/>
            <a:ext cx="5029200" cy="292608"/>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APPENDIX</a:t>
            </a:r>
            <a:endParaRPr lang="ko-KR" altLang="en-US" sz="1300" dirty="0"/>
          </a:p>
        </p:txBody>
      </p:sp>
      <p:sp>
        <p:nvSpPr>
          <p:cNvPr id="3" name="Text 1"/>
          <p:cNvSpPr txBox="1"/>
          <p:nvPr/>
        </p:nvSpPr>
        <p:spPr>
          <a:xfrm>
            <a:off x="731520" y="1783080"/>
            <a:ext cx="5029200" cy="100584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부록</a:t>
            </a:r>
            <a:endParaRPr lang="ko-KR" altLang="en-US" sz="6000" dirty="0"/>
          </a:p>
        </p:txBody>
      </p:sp>
      <p:sp>
        <p:nvSpPr>
          <p:cNvPr id="4" name="Text 2"/>
          <p:cNvSpPr txBox="1"/>
          <p:nvPr/>
        </p:nvSpPr>
        <p:spPr>
          <a:xfrm>
            <a:off x="731520" y="2880360"/>
            <a:ext cx="4937760" cy="1097280"/>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본문 6분에는 넘기지 않습니다.</a:t>
            </a:r>
            <a:endParaRPr lang="ko-KR" altLang="en-US" sz="1800" dirty="0"/>
          </a:p>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질문이 가리키는 장으로 바로 갑니다.</a:t>
            </a:r>
            <a:endParaRPr lang="ko-KR" altLang="en-US" sz="1800" dirty="0"/>
          </a:p>
        </p:txBody>
      </p:sp>
      <p:sp>
        <p:nvSpPr>
          <p:cNvPr id="5" name="Shape 3"/>
          <p:cNvSpPr/>
          <p:nvPr/>
        </p:nvSpPr>
        <p:spPr>
          <a:xfrm>
            <a:off x="6309360" y="1234440"/>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6" name="Text 4"/>
          <p:cNvSpPr txBox="1"/>
          <p:nvPr/>
        </p:nvSpPr>
        <p:spPr>
          <a:xfrm>
            <a:off x="6537960" y="1234440"/>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B1</a:t>
            </a:r>
            <a:endParaRPr lang="ko-KR" altLang="en-US" sz="1600" dirty="0"/>
          </a:p>
        </p:txBody>
      </p:sp>
      <p:sp>
        <p:nvSpPr>
          <p:cNvPr id="7" name="Text 5"/>
          <p:cNvSpPr txBox="1"/>
          <p:nvPr/>
        </p:nvSpPr>
        <p:spPr>
          <a:xfrm>
            <a:off x="7223760" y="1362456"/>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400" dirty="0"/>
          </a:p>
        </p:txBody>
      </p:sp>
      <p:sp>
        <p:nvSpPr>
          <p:cNvPr id="8" name="Text 6"/>
          <p:cNvSpPr txBox="1"/>
          <p:nvPr/>
        </p:nvSpPr>
        <p:spPr>
          <a:xfrm>
            <a:off x="7223760" y="1664208"/>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전체 화면 · 3상태 · 적응형</a:t>
            </a:r>
            <a:endParaRPr lang="ko-KR" altLang="en-US" sz="1050" dirty="0"/>
          </a:p>
        </p:txBody>
      </p:sp>
      <p:sp>
        <p:nvSpPr>
          <p:cNvPr id="9" name="Text 7"/>
          <p:cNvSpPr txBox="1"/>
          <p:nvPr/>
        </p:nvSpPr>
        <p:spPr>
          <a:xfrm>
            <a:off x="10698480" y="1234440"/>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21장</a:t>
            </a:r>
            <a:endParaRPr lang="ko-KR" altLang="en-US" sz="1200" dirty="0"/>
          </a:p>
        </p:txBody>
      </p:sp>
      <p:sp>
        <p:nvSpPr>
          <p:cNvPr id="10" name="Shape 8"/>
          <p:cNvSpPr/>
          <p:nvPr/>
        </p:nvSpPr>
        <p:spPr>
          <a:xfrm>
            <a:off x="6309360" y="2167128"/>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1" name="Text 9"/>
          <p:cNvSpPr txBox="1"/>
          <p:nvPr/>
        </p:nvSpPr>
        <p:spPr>
          <a:xfrm>
            <a:off x="6537960" y="2167128"/>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B2</a:t>
            </a:r>
            <a:endParaRPr lang="ko-KR" altLang="en-US" sz="1600" dirty="0"/>
          </a:p>
        </p:txBody>
      </p:sp>
      <p:sp>
        <p:nvSpPr>
          <p:cNvPr id="12" name="Text 10"/>
          <p:cNvSpPr txBox="1"/>
          <p:nvPr/>
        </p:nvSpPr>
        <p:spPr>
          <a:xfrm>
            <a:off x="7223760" y="2295144"/>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원칙 카드 P01–P10</a:t>
            </a:r>
            <a:endParaRPr lang="ko-KR" altLang="en-US" sz="1400" dirty="0"/>
          </a:p>
        </p:txBody>
      </p:sp>
      <p:sp>
        <p:nvSpPr>
          <p:cNvPr id="13" name="Text 11"/>
          <p:cNvSpPr txBox="1"/>
          <p:nvPr/>
        </p:nvSpPr>
        <p:spPr>
          <a:xfrm>
            <a:off x="7223760" y="2596896"/>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원칙 · 근거 · 적용 · 시연 · 판단</a:t>
            </a:r>
            <a:endParaRPr lang="ko-KR" altLang="en-US" sz="1050" dirty="0"/>
          </a:p>
        </p:txBody>
      </p:sp>
      <p:sp>
        <p:nvSpPr>
          <p:cNvPr id="14" name="Text 12"/>
          <p:cNvSpPr txBox="1"/>
          <p:nvPr/>
        </p:nvSpPr>
        <p:spPr>
          <a:xfrm>
            <a:off x="10698480" y="2167128"/>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25장</a:t>
            </a:r>
            <a:endParaRPr lang="ko-KR" altLang="en-US" sz="1200" dirty="0"/>
          </a:p>
        </p:txBody>
      </p:sp>
      <p:sp>
        <p:nvSpPr>
          <p:cNvPr id="15" name="Shape 13"/>
          <p:cNvSpPr/>
          <p:nvPr/>
        </p:nvSpPr>
        <p:spPr>
          <a:xfrm>
            <a:off x="6309360" y="3099816"/>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6" name="Text 14"/>
          <p:cNvSpPr txBox="1"/>
          <p:nvPr/>
        </p:nvSpPr>
        <p:spPr>
          <a:xfrm>
            <a:off x="6537960" y="3099816"/>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B3</a:t>
            </a:r>
            <a:endParaRPr lang="ko-KR" altLang="en-US" sz="1600" dirty="0"/>
          </a:p>
        </p:txBody>
      </p:sp>
      <p:sp>
        <p:nvSpPr>
          <p:cNvPr id="17" name="Text 15"/>
          <p:cNvSpPr txBox="1"/>
          <p:nvPr/>
        </p:nvSpPr>
        <p:spPr>
          <a:xfrm>
            <a:off x="7223760" y="3227832"/>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prompt-log</a:t>
            </a:r>
            <a:endParaRPr lang="ko-KR" altLang="en-US" sz="1400" dirty="0"/>
          </a:p>
        </p:txBody>
      </p:sp>
      <p:sp>
        <p:nvSpPr>
          <p:cNvPr id="18" name="Text 16"/>
          <p:cNvSpPr txBox="1"/>
          <p:nvPr/>
        </p:nvSpPr>
        <p:spPr>
          <a:xfrm>
            <a:off x="7223760" y="3529584"/>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AI 요청 · 결과 · 내 판단 · 이유</a:t>
            </a:r>
            <a:endParaRPr lang="ko-KR" altLang="en-US" sz="1050" dirty="0"/>
          </a:p>
        </p:txBody>
      </p:sp>
      <p:sp>
        <p:nvSpPr>
          <p:cNvPr id="19" name="Text 17"/>
          <p:cNvSpPr txBox="1"/>
          <p:nvPr/>
        </p:nvSpPr>
        <p:spPr>
          <a:xfrm>
            <a:off x="10698480" y="3099816"/>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35장</a:t>
            </a:r>
            <a:endParaRPr lang="ko-KR" altLang="en-US" sz="1200" dirty="0"/>
          </a:p>
        </p:txBody>
      </p:sp>
      <p:sp>
        <p:nvSpPr>
          <p:cNvPr id="20" name="Shape 18"/>
          <p:cNvSpPr/>
          <p:nvPr/>
        </p:nvSpPr>
        <p:spPr>
          <a:xfrm>
            <a:off x="6309360" y="4032504"/>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1" name="Text 19"/>
          <p:cNvSpPr txBox="1"/>
          <p:nvPr/>
        </p:nvSpPr>
        <p:spPr>
          <a:xfrm>
            <a:off x="6537960" y="4032504"/>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B4</a:t>
            </a:r>
            <a:endParaRPr lang="ko-KR" altLang="en-US" sz="1600" dirty="0"/>
          </a:p>
        </p:txBody>
      </p:sp>
      <p:sp>
        <p:nvSpPr>
          <p:cNvPr id="22" name="Text 20"/>
          <p:cNvSpPr txBox="1"/>
          <p:nvPr/>
        </p:nvSpPr>
        <p:spPr>
          <a:xfrm>
            <a:off x="7223760" y="4160520"/>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자가평가 요약</a:t>
            </a:r>
            <a:endParaRPr lang="ko-KR" altLang="en-US" sz="1400" dirty="0"/>
          </a:p>
        </p:txBody>
      </p:sp>
      <p:sp>
        <p:nvSpPr>
          <p:cNvPr id="23" name="Text 21"/>
          <p:cNvSpPr txBox="1"/>
          <p:nvPr/>
        </p:nvSpPr>
        <p:spPr>
          <a:xfrm>
            <a:off x="7223760" y="4462272"/>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공개 배점 그대로</a:t>
            </a:r>
            <a:endParaRPr lang="ko-KR" altLang="en-US" sz="1050" dirty="0"/>
          </a:p>
        </p:txBody>
      </p:sp>
      <p:sp>
        <p:nvSpPr>
          <p:cNvPr id="24" name="Text 22"/>
          <p:cNvSpPr txBox="1"/>
          <p:nvPr/>
        </p:nvSpPr>
        <p:spPr>
          <a:xfrm>
            <a:off x="10698480" y="4032504"/>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37장</a:t>
            </a:r>
            <a:endParaRPr lang="ko-KR" altLang="en-US" sz="1200" dirty="0"/>
          </a:p>
        </p:txBody>
      </p:sp>
      <p:sp>
        <p:nvSpPr>
          <p:cNvPr id="25" name="Shape 23"/>
          <p:cNvSpPr/>
          <p:nvPr/>
        </p:nvSpPr>
        <p:spPr>
          <a:xfrm>
            <a:off x="6309360" y="4965192"/>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6" name="Text 24"/>
          <p:cNvSpPr txBox="1"/>
          <p:nvPr/>
        </p:nvSpPr>
        <p:spPr>
          <a:xfrm>
            <a:off x="6537960" y="4965192"/>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B5</a:t>
            </a:r>
            <a:endParaRPr lang="ko-KR" altLang="en-US" sz="1600" dirty="0"/>
          </a:p>
        </p:txBody>
      </p:sp>
      <p:sp>
        <p:nvSpPr>
          <p:cNvPr id="27" name="Text 25"/>
          <p:cNvSpPr txBox="1"/>
          <p:nvPr/>
        </p:nvSpPr>
        <p:spPr>
          <a:xfrm>
            <a:off x="7223760" y="5093208"/>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기획 상세</a:t>
            </a:r>
            <a:endParaRPr lang="ko-KR" altLang="en-US" sz="1400" dirty="0"/>
          </a:p>
        </p:txBody>
      </p:sp>
      <p:sp>
        <p:nvSpPr>
          <p:cNvPr id="28" name="Text 26"/>
          <p:cNvSpPr txBox="1"/>
          <p:nvPr/>
        </p:nvSpPr>
        <p:spPr>
          <a:xfrm>
            <a:off x="7223760" y="5394960"/>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사업 요약 · 저니 · 피쉬본 · 요소 분석 · 상태</a:t>
            </a:r>
            <a:endParaRPr lang="ko-KR" altLang="en-US" sz="1050" dirty="0"/>
          </a:p>
        </p:txBody>
      </p:sp>
      <p:sp>
        <p:nvSpPr>
          <p:cNvPr id="29" name="Text 27"/>
          <p:cNvSpPr txBox="1"/>
          <p:nvPr/>
        </p:nvSpPr>
        <p:spPr>
          <a:xfrm>
            <a:off x="10698480" y="4965192"/>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38장</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1/4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탭 화면 — 요소 번호는 디자인 가이드 3장과 같다</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A 홈</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a_home_screen</a:t>
            </a:r>
            <a:endParaRPr lang="ko-KR" altLang="en-US" sz="90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search.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B · O 전체 상품</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b_search · o_see_all</a:t>
            </a:r>
            <a:endParaRPr lang="ko-KR" altLang="en-US" sz="90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detail_num.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D 상품 상세</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d_kit_detail_screen</a:t>
            </a:r>
            <a:endParaRPr lang="ko-KR" altLang="en-US" sz="900" dirty="0"/>
          </a:p>
        </p:txBody>
      </p:sp>
      <p:sp>
        <p:nvSpPr>
          <p:cNvPr id="19" name="Shape 14"/>
          <p:cNvSpPr/>
          <p:nvPr/>
        </p:nvSpPr>
        <p:spPr>
          <a:xfrm>
            <a:off x="6135624"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collection.png">    </p:cNvPr>
          <p:cNvPicPr>
            <a:picLocks noChangeAspect="1"/>
          </p:cNvPicPr>
          <p:nvPr/>
        </p:nvPicPr>
        <p:blipFill>
          <a:blip r:embed="rId4"/>
          <a:stretch>
            <a:fillRect/>
          </a:stretch>
        </p:blipFill>
        <p:spPr>
          <a:xfrm>
            <a:off x="6117336" y="1874520"/>
            <a:ext cx="1795756" cy="3886200"/>
          </a:xfrm>
          <a:prstGeom prst="rect">
            <a:avLst/>
          </a:prstGeom>
        </p:spPr>
      </p:pic>
      <p:sp>
        <p:nvSpPr>
          <p:cNvPr id="21" name="Shape 15"/>
          <p:cNvSpPr/>
          <p:nvPr/>
        </p:nvSpPr>
        <p:spPr>
          <a:xfrm>
            <a:off x="6117336" y="1481328"/>
            <a:ext cx="1795756" cy="292608"/>
          </a:xfrm>
          <a:prstGeom prst="roundRect">
            <a:avLst>
              <a:gd name="adj" fmla="val 50000"/>
            </a:avLst>
          </a:prstGeom>
          <a:solidFill>
            <a:srgbClr val="1C86D9"/>
          </a:solidFill>
          <a:ln/>
        </p:spPr>
      </p:sp>
      <p:sp>
        <p:nvSpPr>
          <p:cNvPr id="22" name="Text 16"/>
          <p:cNvSpPr txBox="1"/>
          <p:nvPr/>
        </p:nvSpPr>
        <p:spPr>
          <a:xfrm>
            <a:off x="6117336"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F 컬렉션</a:t>
            </a:r>
            <a:endParaRPr lang="ko-KR" altLang="en-US" sz="1050" dirty="0"/>
          </a:p>
        </p:txBody>
      </p:sp>
      <p:sp>
        <p:nvSpPr>
          <p:cNvPr id="23" name="Text 17"/>
          <p:cNvSpPr txBox="1"/>
          <p:nvPr/>
        </p:nvSpPr>
        <p:spPr>
          <a:xfrm>
            <a:off x="6071616"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f_collection_screen</a:t>
            </a:r>
            <a:endParaRPr lang="ko-KR" altLang="en-US" sz="900" dirty="0"/>
          </a:p>
        </p:txBody>
      </p:sp>
      <p:sp>
        <p:nvSpPr>
          <p:cNvPr id="24" name="Shape 18"/>
          <p:cNvSpPr/>
          <p:nvPr/>
        </p:nvSpPr>
        <p:spPr>
          <a:xfrm>
            <a:off x="7991856"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guide_num.png">    </p:cNvPr>
          <p:cNvPicPr>
            <a:picLocks noChangeAspect="1"/>
          </p:cNvPicPr>
          <p:nvPr/>
        </p:nvPicPr>
        <p:blipFill>
          <a:blip r:embed="rId5"/>
          <a:stretch>
            <a:fillRect/>
          </a:stretch>
        </p:blipFill>
        <p:spPr>
          <a:xfrm>
            <a:off x="7973568" y="1874520"/>
            <a:ext cx="1795756" cy="3886200"/>
          </a:xfrm>
          <a:prstGeom prst="rect">
            <a:avLst/>
          </a:prstGeom>
        </p:spPr>
      </p:pic>
      <p:sp>
        <p:nvSpPr>
          <p:cNvPr id="26" name="Shape 19"/>
          <p:cNvSpPr/>
          <p:nvPr/>
        </p:nvSpPr>
        <p:spPr>
          <a:xfrm>
            <a:off x="7973568" y="1481328"/>
            <a:ext cx="1795756" cy="292608"/>
          </a:xfrm>
          <a:prstGeom prst="roundRect">
            <a:avLst>
              <a:gd name="adj" fmla="val 50000"/>
            </a:avLst>
          </a:prstGeom>
          <a:solidFill>
            <a:srgbClr val="1C86D9"/>
          </a:solidFill>
          <a:ln/>
        </p:spPr>
      </p:sp>
      <p:sp>
        <p:nvSpPr>
          <p:cNvPr id="27" name="Text 20"/>
          <p:cNvSpPr txBox="1"/>
          <p:nvPr/>
        </p:nvSpPr>
        <p:spPr>
          <a:xfrm>
            <a:off x="7973568"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G 도감</a:t>
            </a:r>
            <a:endParaRPr lang="ko-KR" altLang="en-US" sz="1050" dirty="0"/>
          </a:p>
        </p:txBody>
      </p:sp>
      <p:sp>
        <p:nvSpPr>
          <p:cNvPr id="28" name="Text 21"/>
          <p:cNvSpPr txBox="1"/>
          <p:nvPr/>
        </p:nvSpPr>
        <p:spPr>
          <a:xfrm>
            <a:off x="7927848"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g_guide_view</a:t>
            </a:r>
            <a:endParaRPr lang="ko-KR" altLang="en-US" sz="900" dirty="0"/>
          </a:p>
        </p:txBody>
      </p:sp>
      <p:sp>
        <p:nvSpPr>
          <p:cNvPr id="29" name="Shape 22"/>
          <p:cNvSpPr/>
          <p:nvPr/>
        </p:nvSpPr>
        <p:spPr>
          <a:xfrm>
            <a:off x="984808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calendar.png">    </p:cNvPr>
          <p:cNvPicPr>
            <a:picLocks noChangeAspect="1"/>
          </p:cNvPicPr>
          <p:nvPr/>
        </p:nvPicPr>
        <p:blipFill>
          <a:blip r:embed="rId6"/>
          <a:stretch>
            <a:fillRect/>
          </a:stretch>
        </p:blipFill>
        <p:spPr>
          <a:xfrm>
            <a:off x="9829800" y="1874520"/>
            <a:ext cx="1795756" cy="3886200"/>
          </a:xfrm>
          <a:prstGeom prst="rect">
            <a:avLst/>
          </a:prstGeom>
        </p:spPr>
      </p:pic>
      <p:sp>
        <p:nvSpPr>
          <p:cNvPr id="31" name="Shape 23"/>
          <p:cNvSpPr/>
          <p:nvPr/>
        </p:nvSpPr>
        <p:spPr>
          <a:xfrm>
            <a:off x="9829800" y="1481328"/>
            <a:ext cx="1795756" cy="292608"/>
          </a:xfrm>
          <a:prstGeom prst="roundRect">
            <a:avLst>
              <a:gd name="adj" fmla="val 50000"/>
            </a:avLst>
          </a:prstGeom>
          <a:solidFill>
            <a:srgbClr val="1C86D9"/>
          </a:solidFill>
          <a:ln/>
        </p:spPr>
      </p:sp>
      <p:sp>
        <p:nvSpPr>
          <p:cNvPr id="32" name="Text 24"/>
          <p:cNvSpPr txBox="1"/>
          <p:nvPr/>
        </p:nvSpPr>
        <p:spPr>
          <a:xfrm>
            <a:off x="982980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H 캘린더</a:t>
            </a:r>
            <a:endParaRPr lang="ko-KR" altLang="en-US" sz="1050" dirty="0"/>
          </a:p>
        </p:txBody>
      </p:sp>
      <p:sp>
        <p:nvSpPr>
          <p:cNvPr id="33" name="Text 25"/>
          <p:cNvSpPr txBox="1"/>
          <p:nvPr/>
        </p:nvSpPr>
        <p:spPr>
          <a:xfrm>
            <a:off x="9784080"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h_calendar_screen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2/4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나머지 화면 — 채널 · 친구 · 내 정보 · 알림 · 설정 · 카메라</a:t>
            </a:r>
            <a:endParaRPr lang="ko-KR" altLang="en-US" sz="2600" dirty="0"/>
          </a:p>
        </p:txBody>
      </p:sp>
      <p:sp>
        <p:nvSpPr>
          <p:cNvPr id="4" name="Shape 2"/>
          <p:cNvSpPr/>
          <p:nvPr/>
        </p:nvSpPr>
        <p:spPr>
          <a:xfrm>
            <a:off x="566928"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channel.png">    </p:cNvPr>
          <p:cNvPicPr>
            <a:picLocks noChangeAspect="1"/>
          </p:cNvPicPr>
          <p:nvPr/>
        </p:nvPicPr>
        <p:blipFill>
          <a:blip r:embed="rId1"/>
          <a:stretch>
            <a:fillRect/>
          </a:stretch>
        </p:blipFill>
        <p:spPr>
          <a:xfrm>
            <a:off x="548640" y="1874520"/>
            <a:ext cx="1521111" cy="3291840"/>
          </a:xfrm>
          <a:prstGeom prst="rect">
            <a:avLst/>
          </a:prstGeom>
        </p:spPr>
      </p:pic>
      <p:sp>
        <p:nvSpPr>
          <p:cNvPr id="6" name="Shape 3"/>
          <p:cNvSpPr/>
          <p:nvPr/>
        </p:nvSpPr>
        <p:spPr>
          <a:xfrm>
            <a:off x="548640" y="1481328"/>
            <a:ext cx="1521111" cy="292608"/>
          </a:xfrm>
          <a:prstGeom prst="roundRect">
            <a:avLst>
              <a:gd name="adj" fmla="val 50000"/>
            </a:avLst>
          </a:prstGeom>
          <a:solidFill>
            <a:srgbClr val="1C86D9"/>
          </a:solidFill>
          <a:ln/>
        </p:spPr>
      </p:sp>
      <p:sp>
        <p:nvSpPr>
          <p:cNvPr id="7" name="Text 4"/>
          <p:cNvSpPr txBox="1"/>
          <p:nvPr/>
        </p:nvSpPr>
        <p:spPr>
          <a:xfrm>
            <a:off x="548640"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C 채널 관리</a:t>
            </a:r>
            <a:endParaRPr lang="ko-KR" altLang="en-US" sz="950" dirty="0"/>
          </a:p>
        </p:txBody>
      </p:sp>
      <p:sp>
        <p:nvSpPr>
          <p:cNvPr id="8" name="Text 5"/>
          <p:cNvSpPr txBox="1"/>
          <p:nvPr/>
        </p:nvSpPr>
        <p:spPr>
          <a:xfrm>
            <a:off x="502920"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c_channel_screen</a:t>
            </a:r>
            <a:endParaRPr lang="ko-KR" altLang="en-US" sz="900" dirty="0"/>
          </a:p>
        </p:txBody>
      </p:sp>
      <p:sp>
        <p:nvSpPr>
          <p:cNvPr id="9" name="Shape 6"/>
          <p:cNvSpPr/>
          <p:nvPr/>
        </p:nvSpPr>
        <p:spPr>
          <a:xfrm>
            <a:off x="2157984"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drawer.png">    </p:cNvPr>
          <p:cNvPicPr>
            <a:picLocks noChangeAspect="1"/>
          </p:cNvPicPr>
          <p:nvPr/>
        </p:nvPicPr>
        <p:blipFill>
          <a:blip r:embed="rId2"/>
          <a:stretch>
            <a:fillRect/>
          </a:stretch>
        </p:blipFill>
        <p:spPr>
          <a:xfrm>
            <a:off x="2139696" y="1874520"/>
            <a:ext cx="1521111" cy="3291840"/>
          </a:xfrm>
          <a:prstGeom prst="rect">
            <a:avLst/>
          </a:prstGeom>
        </p:spPr>
      </p:pic>
      <p:sp>
        <p:nvSpPr>
          <p:cNvPr id="11" name="Shape 7"/>
          <p:cNvSpPr/>
          <p:nvPr/>
        </p:nvSpPr>
        <p:spPr>
          <a:xfrm>
            <a:off x="2139696" y="1481328"/>
            <a:ext cx="1521111" cy="292608"/>
          </a:xfrm>
          <a:prstGeom prst="roundRect">
            <a:avLst>
              <a:gd name="adj" fmla="val 50000"/>
            </a:avLst>
          </a:prstGeom>
          <a:solidFill>
            <a:srgbClr val="1C86D9"/>
          </a:solidFill>
          <a:ln/>
        </p:spPr>
      </p:sp>
      <p:sp>
        <p:nvSpPr>
          <p:cNvPr id="12" name="Text 8"/>
          <p:cNvSpPr txBox="1"/>
          <p:nvPr/>
        </p:nvSpPr>
        <p:spPr>
          <a:xfrm>
            <a:off x="2139696"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M 친구 서랍</a:t>
            </a:r>
            <a:endParaRPr lang="ko-KR" altLang="en-US" sz="950" dirty="0"/>
          </a:p>
        </p:txBody>
      </p:sp>
      <p:sp>
        <p:nvSpPr>
          <p:cNvPr id="13" name="Text 9"/>
          <p:cNvSpPr txBox="1"/>
          <p:nvPr/>
        </p:nvSpPr>
        <p:spPr>
          <a:xfrm>
            <a:off x="2093976"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m_friends_drawer</a:t>
            </a:r>
            <a:endParaRPr lang="ko-KR" altLang="en-US" sz="900" dirty="0"/>
          </a:p>
        </p:txBody>
      </p:sp>
      <p:sp>
        <p:nvSpPr>
          <p:cNvPr id="14" name="Shape 10"/>
          <p:cNvSpPr/>
          <p:nvPr/>
        </p:nvSpPr>
        <p:spPr>
          <a:xfrm>
            <a:off x="3749040"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profile.png">    </p:cNvPr>
          <p:cNvPicPr>
            <a:picLocks noChangeAspect="1"/>
          </p:cNvPicPr>
          <p:nvPr/>
        </p:nvPicPr>
        <p:blipFill>
          <a:blip r:embed="rId3"/>
          <a:stretch>
            <a:fillRect/>
          </a:stretch>
        </p:blipFill>
        <p:spPr>
          <a:xfrm>
            <a:off x="3730752" y="1874520"/>
            <a:ext cx="1521111" cy="3291840"/>
          </a:xfrm>
          <a:prstGeom prst="rect">
            <a:avLst/>
          </a:prstGeom>
        </p:spPr>
      </p:pic>
      <p:sp>
        <p:nvSpPr>
          <p:cNvPr id="16" name="Shape 11"/>
          <p:cNvSpPr/>
          <p:nvPr/>
        </p:nvSpPr>
        <p:spPr>
          <a:xfrm>
            <a:off x="3730752" y="1481328"/>
            <a:ext cx="1521111" cy="292608"/>
          </a:xfrm>
          <a:prstGeom prst="roundRect">
            <a:avLst>
              <a:gd name="adj" fmla="val 50000"/>
            </a:avLst>
          </a:prstGeom>
          <a:solidFill>
            <a:srgbClr val="1C86D9"/>
          </a:solidFill>
          <a:ln/>
        </p:spPr>
      </p:sp>
      <p:sp>
        <p:nvSpPr>
          <p:cNvPr id="17" name="Text 12"/>
          <p:cNvSpPr txBox="1"/>
          <p:nvPr/>
        </p:nvSpPr>
        <p:spPr>
          <a:xfrm>
            <a:off x="3730752"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I 내 정보</a:t>
            </a:r>
            <a:endParaRPr lang="ko-KR" altLang="en-US" sz="950" dirty="0"/>
          </a:p>
        </p:txBody>
      </p:sp>
      <p:sp>
        <p:nvSpPr>
          <p:cNvPr id="18" name="Text 13"/>
          <p:cNvSpPr txBox="1"/>
          <p:nvPr/>
        </p:nvSpPr>
        <p:spPr>
          <a:xfrm>
            <a:off x="3685032"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i_profile_screen</a:t>
            </a:r>
            <a:endParaRPr lang="ko-KR" altLang="en-US" sz="900" dirty="0"/>
          </a:p>
        </p:txBody>
      </p:sp>
      <p:sp>
        <p:nvSpPr>
          <p:cNvPr id="19" name="Shape 14"/>
          <p:cNvSpPr/>
          <p:nvPr/>
        </p:nvSpPr>
        <p:spPr>
          <a:xfrm>
            <a:off x="5340096"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friend.png">    </p:cNvPr>
          <p:cNvPicPr>
            <a:picLocks noChangeAspect="1"/>
          </p:cNvPicPr>
          <p:nvPr/>
        </p:nvPicPr>
        <p:blipFill>
          <a:blip r:embed="rId4"/>
          <a:stretch>
            <a:fillRect/>
          </a:stretch>
        </p:blipFill>
        <p:spPr>
          <a:xfrm>
            <a:off x="5321808" y="1874520"/>
            <a:ext cx="1521111" cy="3291840"/>
          </a:xfrm>
          <a:prstGeom prst="rect">
            <a:avLst/>
          </a:prstGeom>
        </p:spPr>
      </p:pic>
      <p:sp>
        <p:nvSpPr>
          <p:cNvPr id="21" name="Shape 15"/>
          <p:cNvSpPr/>
          <p:nvPr/>
        </p:nvSpPr>
        <p:spPr>
          <a:xfrm>
            <a:off x="5321808" y="1481328"/>
            <a:ext cx="1521111" cy="292608"/>
          </a:xfrm>
          <a:prstGeom prst="roundRect">
            <a:avLst>
              <a:gd name="adj" fmla="val 50000"/>
            </a:avLst>
          </a:prstGeom>
          <a:solidFill>
            <a:srgbClr val="1C86D9"/>
          </a:solidFill>
          <a:ln/>
        </p:spPr>
      </p:sp>
      <p:sp>
        <p:nvSpPr>
          <p:cNvPr id="22" name="Text 16"/>
          <p:cNvSpPr txBox="1"/>
          <p:nvPr/>
        </p:nvSpPr>
        <p:spPr>
          <a:xfrm>
            <a:off x="5321808"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L 친구 컬렉션</a:t>
            </a:r>
            <a:endParaRPr lang="ko-KR" altLang="en-US" sz="950" dirty="0"/>
          </a:p>
        </p:txBody>
      </p:sp>
      <p:sp>
        <p:nvSpPr>
          <p:cNvPr id="23" name="Text 17"/>
          <p:cNvSpPr txBox="1"/>
          <p:nvPr/>
        </p:nvSpPr>
        <p:spPr>
          <a:xfrm>
            <a:off x="5276088"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l_friend_collection</a:t>
            </a:r>
            <a:endParaRPr lang="ko-KR" altLang="en-US" sz="900" dirty="0"/>
          </a:p>
        </p:txBody>
      </p:sp>
      <p:sp>
        <p:nvSpPr>
          <p:cNvPr id="24" name="Shape 18"/>
          <p:cNvSpPr/>
          <p:nvPr/>
        </p:nvSpPr>
        <p:spPr>
          <a:xfrm>
            <a:off x="6931152"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notif.png">    </p:cNvPr>
          <p:cNvPicPr>
            <a:picLocks noChangeAspect="1"/>
          </p:cNvPicPr>
          <p:nvPr/>
        </p:nvPicPr>
        <p:blipFill>
          <a:blip r:embed="rId5"/>
          <a:stretch>
            <a:fillRect/>
          </a:stretch>
        </p:blipFill>
        <p:spPr>
          <a:xfrm>
            <a:off x="6912864" y="1874520"/>
            <a:ext cx="1521111" cy="3291840"/>
          </a:xfrm>
          <a:prstGeom prst="rect">
            <a:avLst/>
          </a:prstGeom>
        </p:spPr>
      </p:pic>
      <p:sp>
        <p:nvSpPr>
          <p:cNvPr id="26" name="Shape 19"/>
          <p:cNvSpPr/>
          <p:nvPr/>
        </p:nvSpPr>
        <p:spPr>
          <a:xfrm>
            <a:off x="6912864" y="1481328"/>
            <a:ext cx="1521111" cy="292608"/>
          </a:xfrm>
          <a:prstGeom prst="roundRect">
            <a:avLst>
              <a:gd name="adj" fmla="val 50000"/>
            </a:avLst>
          </a:prstGeom>
          <a:solidFill>
            <a:srgbClr val="1C86D9"/>
          </a:solidFill>
          <a:ln/>
        </p:spPr>
      </p:sp>
      <p:sp>
        <p:nvSpPr>
          <p:cNvPr id="27" name="Text 20"/>
          <p:cNvSpPr txBox="1"/>
          <p:nvPr/>
        </p:nvSpPr>
        <p:spPr>
          <a:xfrm>
            <a:off x="6912864"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N 알림</a:t>
            </a:r>
            <a:endParaRPr lang="ko-KR" altLang="en-US" sz="950" dirty="0"/>
          </a:p>
        </p:txBody>
      </p:sp>
      <p:sp>
        <p:nvSpPr>
          <p:cNvPr id="28" name="Text 21"/>
          <p:cNvSpPr txBox="1"/>
          <p:nvPr/>
        </p:nvSpPr>
        <p:spPr>
          <a:xfrm>
            <a:off x="6867144"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n_notifications_screen</a:t>
            </a:r>
            <a:endParaRPr lang="ko-KR" altLang="en-US" sz="900" dirty="0"/>
          </a:p>
        </p:txBody>
      </p:sp>
      <p:sp>
        <p:nvSpPr>
          <p:cNvPr id="29" name="Shape 22"/>
          <p:cNvSpPr/>
          <p:nvPr/>
        </p:nvSpPr>
        <p:spPr>
          <a:xfrm>
            <a:off x="8522208"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settings.png">    </p:cNvPr>
          <p:cNvPicPr>
            <a:picLocks noChangeAspect="1"/>
          </p:cNvPicPr>
          <p:nvPr/>
        </p:nvPicPr>
        <p:blipFill>
          <a:blip r:embed="rId6"/>
          <a:stretch>
            <a:fillRect/>
          </a:stretch>
        </p:blipFill>
        <p:spPr>
          <a:xfrm>
            <a:off x="8503920" y="1874520"/>
            <a:ext cx="1521111" cy="3291840"/>
          </a:xfrm>
          <a:prstGeom prst="rect">
            <a:avLst/>
          </a:prstGeom>
        </p:spPr>
      </p:pic>
      <p:sp>
        <p:nvSpPr>
          <p:cNvPr id="31" name="Shape 23"/>
          <p:cNvSpPr/>
          <p:nvPr/>
        </p:nvSpPr>
        <p:spPr>
          <a:xfrm>
            <a:off x="8503920" y="1481328"/>
            <a:ext cx="1521111" cy="292608"/>
          </a:xfrm>
          <a:prstGeom prst="roundRect">
            <a:avLst>
              <a:gd name="adj" fmla="val 50000"/>
            </a:avLst>
          </a:prstGeom>
          <a:solidFill>
            <a:srgbClr val="1C86D9"/>
          </a:solidFill>
          <a:ln/>
        </p:spPr>
      </p:sp>
      <p:sp>
        <p:nvSpPr>
          <p:cNvPr id="32" name="Text 24"/>
          <p:cNvSpPr txBox="1"/>
          <p:nvPr/>
        </p:nvSpPr>
        <p:spPr>
          <a:xfrm>
            <a:off x="8503920"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K 설정</a:t>
            </a:r>
            <a:endParaRPr lang="ko-KR" altLang="en-US" sz="950" dirty="0"/>
          </a:p>
        </p:txBody>
      </p:sp>
      <p:sp>
        <p:nvSpPr>
          <p:cNvPr id="33" name="Text 25"/>
          <p:cNvSpPr txBox="1"/>
          <p:nvPr/>
        </p:nvSpPr>
        <p:spPr>
          <a:xfrm>
            <a:off x="8458200"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k_settings_screen</a:t>
            </a:r>
            <a:endParaRPr lang="ko-KR" altLang="en-US" sz="900" dirty="0"/>
          </a:p>
        </p:txBody>
      </p:sp>
      <p:sp>
        <p:nvSpPr>
          <p:cNvPr id="34" name="Shape 26"/>
          <p:cNvSpPr/>
          <p:nvPr/>
        </p:nvSpPr>
        <p:spPr>
          <a:xfrm>
            <a:off x="10113264"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5" name="Image 6" descr="C:\Users\Windows11\AppData\Local\Temp\claude\C--Users-Windows11-Desktop-New-folder--2-\a0c8a1d0-32ba-4ae6-9843-b5ebc69d925f\scratchpad\deck2/img/camera.png">    </p:cNvPr>
          <p:cNvPicPr>
            <a:picLocks noChangeAspect="1"/>
          </p:cNvPicPr>
          <p:nvPr/>
        </p:nvPicPr>
        <p:blipFill>
          <a:blip r:embed="rId7"/>
          <a:stretch>
            <a:fillRect/>
          </a:stretch>
        </p:blipFill>
        <p:spPr>
          <a:xfrm>
            <a:off x="10094976" y="1874520"/>
            <a:ext cx="1521111" cy="3291840"/>
          </a:xfrm>
          <a:prstGeom prst="rect">
            <a:avLst/>
          </a:prstGeom>
        </p:spPr>
      </p:pic>
      <p:sp>
        <p:nvSpPr>
          <p:cNvPr id="36" name="Shape 27"/>
          <p:cNvSpPr/>
          <p:nvPr/>
        </p:nvSpPr>
        <p:spPr>
          <a:xfrm>
            <a:off x="10094976" y="1481328"/>
            <a:ext cx="1521111" cy="292608"/>
          </a:xfrm>
          <a:prstGeom prst="roundRect">
            <a:avLst>
              <a:gd name="adj" fmla="val 50000"/>
            </a:avLst>
          </a:prstGeom>
          <a:solidFill>
            <a:srgbClr val="1C86D9"/>
          </a:solidFill>
          <a:ln/>
        </p:spPr>
      </p:sp>
      <p:sp>
        <p:nvSpPr>
          <p:cNvPr id="37" name="Text 28"/>
          <p:cNvSpPr txBox="1"/>
          <p:nvPr/>
        </p:nvSpPr>
        <p:spPr>
          <a:xfrm>
            <a:off x="10094976"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E 찍어서 찾기</a:t>
            </a:r>
            <a:endParaRPr lang="ko-KR" altLang="en-US" sz="950" dirty="0"/>
          </a:p>
        </p:txBody>
      </p:sp>
      <p:sp>
        <p:nvSpPr>
          <p:cNvPr id="38" name="Text 29"/>
          <p:cNvSpPr txBox="1"/>
          <p:nvPr/>
        </p:nvSpPr>
        <p:spPr>
          <a:xfrm>
            <a:off x="10049256"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e_camera_screen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3/4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3상태 · 적응형 — 오류가 나면? 넓은 화면은?</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loading.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로딩</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DEMO_STATE=loading</a:t>
            </a:r>
            <a:endParaRPr lang="ko-KR" altLang="en-US" sz="90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error.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오류 + 다시 시도</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DEMO_STATE=error</a:t>
            </a:r>
            <a:endParaRPr lang="ko-KR" altLang="en-US" sz="90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empty.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빈 상태</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DEMO_STATE=empty</a:t>
            </a:r>
            <a:endParaRPr lang="ko-KR" altLang="en-US" sz="900" dirty="0"/>
          </a:p>
        </p:txBody>
      </p:sp>
      <p:sp>
        <p:nvSpPr>
          <p:cNvPr id="19" name="Shape 14"/>
          <p:cNvSpPr/>
          <p:nvPr/>
        </p:nvSpPr>
        <p:spPr>
          <a:xfrm>
            <a:off x="6309360" y="1481328"/>
            <a:ext cx="2194560" cy="292608"/>
          </a:xfrm>
          <a:prstGeom prst="roundRect">
            <a:avLst>
              <a:gd name="adj" fmla="val 50000"/>
            </a:avLst>
          </a:prstGeom>
          <a:solidFill>
            <a:srgbClr val="111111"/>
          </a:solidFill>
          <a:ln/>
        </p:spPr>
      </p:sp>
      <p:sp>
        <p:nvSpPr>
          <p:cNvPr id="20" name="Text 15"/>
          <p:cNvSpPr txBox="1"/>
          <p:nvPr/>
        </p:nvSpPr>
        <p:spPr>
          <a:xfrm>
            <a:off x="6309360" y="1481328"/>
            <a:ext cx="219456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가로 폰 — 측면 탭 (S-5)</a:t>
            </a:r>
            <a:endParaRPr lang="ko-KR" altLang="en-US" sz="1050" dirty="0"/>
          </a:p>
        </p:txBody>
      </p:sp>
      <p:sp>
        <p:nvSpPr>
          <p:cNvPr id="21" name="Shape 16"/>
          <p:cNvSpPr/>
          <p:nvPr/>
        </p:nvSpPr>
        <p:spPr>
          <a:xfrm>
            <a:off x="6327648" y="1892808"/>
            <a:ext cx="4535424" cy="2076078"/>
          </a:xfrm>
          <a:prstGeom prst="roundRect">
            <a:avLst>
              <a:gd name="adj" fmla="val 3562"/>
            </a:avLst>
          </a:prstGeom>
          <a:solidFill>
            <a:srgbClr val="FFFFFF"/>
          </a:solidFill>
          <a:ln/>
          <a:effectLst>
            <a:outerShdw sx="100000" sy="100000" kx="0" ky="0" algn="bl" rotWithShape="0" blurRad="228600" dist="76200" dir="5400000">
              <a:srgbClr val="000000">
                <a:alpha val="18000"/>
              </a:srgbClr>
            </a:outerShdw>
          </a:effectLst>
        </p:spPr>
      </p:sp>
      <p:pic>
        <p:nvPicPr>
          <p:cNvPr id="22" name="Image 3" descr="C:\Users\Windows11\AppData\Local\Temp\claude\C--Users-Windows11-Desktop-New-folder--2-\a0c8a1d0-32ba-4ae6-9843-b5ebc69d925f\scratchpad\deck2/img/landscape.png">    </p:cNvPr>
          <p:cNvPicPr>
            <a:picLocks noChangeAspect="1"/>
          </p:cNvPicPr>
          <p:nvPr/>
        </p:nvPicPr>
        <p:blipFill>
          <a:blip r:embed="rId4"/>
          <a:stretch>
            <a:fillRect/>
          </a:stretch>
        </p:blipFill>
        <p:spPr>
          <a:xfrm>
            <a:off x="6309360" y="1874520"/>
            <a:ext cx="4572000" cy="2112654"/>
          </a:xfrm>
          <a:prstGeom prst="rect">
            <a:avLst/>
          </a:prstGeom>
        </p:spPr>
      </p:pic>
      <p:sp>
        <p:nvSpPr>
          <p:cNvPr id="23" name="Shape 17"/>
          <p:cNvSpPr/>
          <p:nvPr/>
        </p:nvSpPr>
        <p:spPr>
          <a:xfrm>
            <a:off x="6309360" y="4114800"/>
            <a:ext cx="2377440" cy="292608"/>
          </a:xfrm>
          <a:prstGeom prst="roundRect">
            <a:avLst>
              <a:gd name="adj" fmla="val 50000"/>
            </a:avLst>
          </a:prstGeom>
          <a:solidFill>
            <a:srgbClr val="111111"/>
          </a:solidFill>
          <a:ln/>
        </p:spPr>
      </p:sp>
      <p:sp>
        <p:nvSpPr>
          <p:cNvPr id="24" name="Text 18"/>
          <p:cNvSpPr txBox="1"/>
          <p:nvPr/>
        </p:nvSpPr>
        <p:spPr>
          <a:xfrm>
            <a:off x="6309360" y="4114800"/>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폴드 · 넓은 창 — 반반 (S-12)</a:t>
            </a:r>
            <a:endParaRPr lang="ko-KR" altLang="en-US" sz="1050" dirty="0"/>
          </a:p>
        </p:txBody>
      </p:sp>
      <p:sp>
        <p:nvSpPr>
          <p:cNvPr id="25" name="Shape 19"/>
          <p:cNvSpPr/>
          <p:nvPr/>
        </p:nvSpPr>
        <p:spPr>
          <a:xfrm>
            <a:off x="6327648" y="4526280"/>
            <a:ext cx="1888302"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6"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6309360" y="4507992"/>
            <a:ext cx="1924878" cy="1600200"/>
          </a:xfrm>
          <a:prstGeom prst="rect">
            <a:avLst/>
          </a:prstGeom>
        </p:spPr>
      </p:pic>
      <p:sp>
        <p:nvSpPr>
          <p:cNvPr id="27" name="Shape 20"/>
          <p:cNvSpPr/>
          <p:nvPr/>
        </p:nvSpPr>
        <p:spPr>
          <a:xfrm>
            <a:off x="8385048" y="4526280"/>
            <a:ext cx="2523744"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8" name="Image 5" descr="C:\Users\Windows11\AppData\Local\Temp\claude\C--Users-Windows11-Desktop-New-folder--2-\a0c8a1d0-32ba-4ae6-9843-b5ebc69d925f\scratchpad\deck2/img/wide.png">    </p:cNvPr>
          <p:cNvPicPr>
            <a:picLocks noChangeAspect="1"/>
          </p:cNvPicPr>
          <p:nvPr/>
        </p:nvPicPr>
        <p:blipFill>
          <a:blip r:embed="rId6"/>
          <a:stretch>
            <a:fillRect/>
          </a:stretch>
        </p:blipFill>
        <p:spPr>
          <a:xfrm>
            <a:off x="8366760" y="4507992"/>
            <a:ext cx="2560320" cy="1600200"/>
          </a:xfrm>
          <a:prstGeom prst="rect">
            <a:avLst/>
          </a:prstGeom>
        </p:spPr>
      </p:pic>
      <p:sp>
        <p:nvSpPr>
          <p:cNvPr id="29" name="Text 21"/>
          <p:cNvSpPr txBox="1"/>
          <p:nvPr/>
        </p:nvSpPr>
        <p:spPr>
          <a:xfrm>
            <a:off x="10954512" y="1920240"/>
            <a:ext cx="685800" cy="20116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844×390</a:t>
            </a:r>
            <a:endParaRPr lang="ko-KR" altLang="en-US" sz="950" dirty="0"/>
          </a:p>
        </p:txBody>
      </p:sp>
      <p:sp>
        <p:nvSpPr>
          <p:cNvPr id="30" name="Text 22"/>
          <p:cNvSpPr txBox="1"/>
          <p:nvPr/>
        </p:nvSpPr>
        <p:spPr>
          <a:xfrm>
            <a:off x="6309360" y="6144768"/>
            <a:ext cx="530352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830×690 · 1280×800 — test/layout_test.dart 7가지 크기에서 넘침 0</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4/4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화면 비율별 모습 — 같은 앱, 7가지 크기</a:t>
            </a:r>
            <a:endParaRPr lang="ko-KR" altLang="en-US" sz="2600" dirty="0"/>
          </a:p>
        </p:txBody>
      </p:sp>
      <p:sp>
        <p:nvSpPr>
          <p:cNvPr id="4" name="Shape 2"/>
          <p:cNvSpPr/>
          <p:nvPr/>
        </p:nvSpPr>
        <p:spPr>
          <a:xfrm>
            <a:off x="566928" y="1389888"/>
            <a:ext cx="1148280" cy="2066544"/>
          </a:xfrm>
          <a:prstGeom prst="roundRect">
            <a:avLst>
              <a:gd name="adj" fmla="val 3611"/>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size_320x568.png">    </p:cNvPr>
          <p:cNvPicPr>
            <a:picLocks noChangeAspect="1"/>
          </p:cNvPicPr>
          <p:nvPr/>
        </p:nvPicPr>
        <p:blipFill>
          <a:blip r:embed="rId1"/>
          <a:stretch>
            <a:fillRect/>
          </a:stretch>
        </p:blipFill>
        <p:spPr>
          <a:xfrm>
            <a:off x="548640" y="1371600"/>
            <a:ext cx="1184856" cy="2103120"/>
          </a:xfrm>
          <a:prstGeom prst="rect">
            <a:avLst/>
          </a:prstGeom>
        </p:spPr>
      </p:pic>
      <p:sp>
        <p:nvSpPr>
          <p:cNvPr id="6" name="Text 3"/>
          <p:cNvSpPr txBox="1"/>
          <p:nvPr/>
        </p:nvSpPr>
        <p:spPr>
          <a:xfrm>
            <a:off x="548640" y="3520440"/>
            <a:ext cx="1371600"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320 × 568</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작은 폰</a:t>
            </a:r>
            <a:endParaRPr lang="ko-KR" altLang="en-US" sz="950" dirty="0"/>
          </a:p>
        </p:txBody>
      </p:sp>
      <p:sp>
        <p:nvSpPr>
          <p:cNvPr id="7" name="Shape 4"/>
          <p:cNvSpPr/>
          <p:nvPr/>
        </p:nvSpPr>
        <p:spPr>
          <a:xfrm>
            <a:off x="2026104" y="1389888"/>
            <a:ext cx="935245" cy="2066544"/>
          </a:xfrm>
          <a:prstGeom prst="roundRect">
            <a:avLst>
              <a:gd name="adj" fmla="val 3637"/>
            </a:avLst>
          </a:prstGeom>
          <a:solidFill>
            <a:srgbClr val="FFFFFF"/>
          </a:solidFill>
          <a:ln/>
          <a:effectLst>
            <a:outerShdw sx="100000" sy="100000" kx="0" ky="0" algn="bl" rotWithShape="0" blurRad="228600" dist="76200" dir="5400000">
              <a:srgbClr val="000000">
                <a:alpha val="18000"/>
              </a:srgbClr>
            </a:outerShdw>
          </a:effectLst>
        </p:spPr>
      </p:sp>
      <p:pic>
        <p:nvPicPr>
          <p:cNvPr id="8" name="Image 1" descr="C:\Users\Windows11\AppData\Local\Temp\claude\C--Users-Windows11-Desktop-New-folder--2-\a0c8a1d0-32ba-4ae6-9843-b5ebc69d925f\scratchpad\deck2/img/size_390x844.png">    </p:cNvPr>
          <p:cNvPicPr>
            <a:picLocks noChangeAspect="1"/>
          </p:cNvPicPr>
          <p:nvPr/>
        </p:nvPicPr>
        <p:blipFill>
          <a:blip r:embed="rId2"/>
          <a:stretch>
            <a:fillRect/>
          </a:stretch>
        </p:blipFill>
        <p:spPr>
          <a:xfrm>
            <a:off x="2007816" y="1371600"/>
            <a:ext cx="971821" cy="2103120"/>
          </a:xfrm>
          <a:prstGeom prst="rect">
            <a:avLst/>
          </a:prstGeom>
        </p:spPr>
      </p:pic>
      <p:sp>
        <p:nvSpPr>
          <p:cNvPr id="9" name="Text 5"/>
          <p:cNvSpPr txBox="1"/>
          <p:nvPr/>
        </p:nvSpPr>
        <p:spPr>
          <a:xfrm>
            <a:off x="2007816" y="3520440"/>
            <a:ext cx="1371600"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390 × 844</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보통 폰</a:t>
            </a:r>
            <a:endParaRPr lang="ko-KR" altLang="en-US" sz="950" dirty="0"/>
          </a:p>
        </p:txBody>
      </p:sp>
      <p:sp>
        <p:nvSpPr>
          <p:cNvPr id="10" name="Shape 6"/>
          <p:cNvSpPr/>
          <p:nvPr/>
        </p:nvSpPr>
        <p:spPr>
          <a:xfrm>
            <a:off x="3272245" y="1389888"/>
            <a:ext cx="1711801" cy="2066544"/>
          </a:xfrm>
          <a:prstGeom prst="roundRect">
            <a:avLst>
              <a:gd name="adj" fmla="val 3575"/>
            </a:avLst>
          </a:prstGeom>
          <a:solidFill>
            <a:srgbClr val="FFFFFF"/>
          </a:solidFill>
          <a:ln/>
          <a:effectLst>
            <a:outerShdw sx="100000" sy="100000" kx="0" ky="0" algn="bl" rotWithShape="0" blurRad="228600" dist="76200" dir="5400000">
              <a:srgbClr val="000000">
                <a:alpha val="18000"/>
              </a:srgbClr>
            </a:outerShdw>
          </a:effectLst>
        </p:spPr>
      </p:sp>
      <p:pic>
        <p:nvPicPr>
          <p:cNvPr id="11" name="Image 2" descr="C:\Users\Windows11\AppData\Local\Temp\claude\C--Users-Windows11-Desktop-New-folder--2-\a0c8a1d0-32ba-4ae6-9843-b5ebc69d925f\scratchpad\deck2/img/size_690x830.png">    </p:cNvPr>
          <p:cNvPicPr>
            <a:picLocks noChangeAspect="1"/>
          </p:cNvPicPr>
          <p:nvPr/>
        </p:nvPicPr>
        <p:blipFill>
          <a:blip r:embed="rId3"/>
          <a:stretch>
            <a:fillRect/>
          </a:stretch>
        </p:blipFill>
        <p:spPr>
          <a:xfrm>
            <a:off x="3253957" y="1371600"/>
            <a:ext cx="1748377" cy="2103120"/>
          </a:xfrm>
          <a:prstGeom prst="rect">
            <a:avLst/>
          </a:prstGeom>
        </p:spPr>
      </p:pic>
      <p:sp>
        <p:nvSpPr>
          <p:cNvPr id="12" name="Text 7"/>
          <p:cNvSpPr txBox="1"/>
          <p:nvPr/>
        </p:nvSpPr>
        <p:spPr>
          <a:xfrm>
            <a:off x="3253957" y="3520440"/>
            <a:ext cx="1748377"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690 × 830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폴드 펼침 세로</a:t>
            </a:r>
            <a:endParaRPr lang="ko-KR" altLang="en-US" sz="950" dirty="0"/>
          </a:p>
        </p:txBody>
      </p:sp>
      <p:sp>
        <p:nvSpPr>
          <p:cNvPr id="13" name="Shape 8"/>
          <p:cNvSpPr/>
          <p:nvPr/>
        </p:nvSpPr>
        <p:spPr>
          <a:xfrm>
            <a:off x="5294942" y="1389888"/>
            <a:ext cx="1540764" cy="2066544"/>
          </a:xfrm>
          <a:prstGeom prst="roundRect">
            <a:avLst>
              <a:gd name="adj" fmla="val 3583"/>
            </a:avLst>
          </a:prstGeom>
          <a:solidFill>
            <a:srgbClr val="FFFFFF"/>
          </a:solidFill>
          <a:ln/>
          <a:effectLst>
            <a:outerShdw sx="100000" sy="100000" kx="0" ky="0" algn="bl" rotWithShape="0" blurRad="228600" dist="76200" dir="5400000">
              <a:srgbClr val="000000">
                <a:alpha val="18000"/>
              </a:srgbClr>
            </a:outerShdw>
          </a:effectLst>
        </p:spPr>
      </p:sp>
      <p:pic>
        <p:nvPicPr>
          <p:cNvPr id="14" name="Image 3" descr="C:\Users\Windows11\AppData\Local\Temp\claude\C--Users-Windows11-Desktop-New-folder--2-\a0c8a1d0-32ba-4ae6-9843-b5ebc69d925f\scratchpad\deck2/img/size_768x1024.png">    </p:cNvPr>
          <p:cNvPicPr>
            <a:picLocks noChangeAspect="1"/>
          </p:cNvPicPr>
          <p:nvPr/>
        </p:nvPicPr>
        <p:blipFill>
          <a:blip r:embed="rId4"/>
          <a:stretch>
            <a:fillRect/>
          </a:stretch>
        </p:blipFill>
        <p:spPr>
          <a:xfrm>
            <a:off x="5276654" y="1371600"/>
            <a:ext cx="1577340" cy="2103120"/>
          </a:xfrm>
          <a:prstGeom prst="rect">
            <a:avLst/>
          </a:prstGeom>
        </p:spPr>
      </p:pic>
      <p:sp>
        <p:nvSpPr>
          <p:cNvPr id="15" name="Text 9"/>
          <p:cNvSpPr txBox="1"/>
          <p:nvPr/>
        </p:nvSpPr>
        <p:spPr>
          <a:xfrm>
            <a:off x="5276654" y="3520440"/>
            <a:ext cx="1577340"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768 × 1024</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태블릿 세로</a:t>
            </a:r>
            <a:endParaRPr lang="ko-KR" altLang="en-US" sz="950" dirty="0"/>
          </a:p>
        </p:txBody>
      </p:sp>
      <p:sp>
        <p:nvSpPr>
          <p:cNvPr id="16" name="Shape 10"/>
          <p:cNvSpPr/>
          <p:nvPr/>
        </p:nvSpPr>
        <p:spPr>
          <a:xfrm>
            <a:off x="7219754" y="1371600"/>
            <a:ext cx="4420558" cy="2103120"/>
          </a:xfrm>
          <a:prstGeom prst="roundRect">
            <a:avLst>
              <a:gd name="adj" fmla="val 6087"/>
            </a:avLst>
          </a:prstGeom>
          <a:solidFill>
            <a:srgbClr val="F4F5F7"/>
          </a:solidFill>
          <a:ln/>
        </p:spPr>
      </p:sp>
      <p:sp>
        <p:nvSpPr>
          <p:cNvPr id="17" name="Text 11"/>
          <p:cNvSpPr txBox="1"/>
          <p:nvPr/>
        </p:nvSpPr>
        <p:spPr>
          <a:xfrm>
            <a:off x="7448354" y="1508760"/>
            <a:ext cx="3963358" cy="1874520"/>
          </a:xfrm>
          <a:prstGeom prst="rect">
            <a:avLst/>
          </a:prstGeom>
          <a:noFill/>
          <a:ln/>
        </p:spPr>
        <p:txBody>
          <a:bodyPr wrap="square" lIns="0" tIns="0" rIns="0" bIns="0" rtlCol="0" anchor="t"/>
          <a:lstStyle/>
          <a:p>
            <a:pPr indent="0" marL="0">
              <a:spcAft>
                <a:spcPts val="400"/>
              </a:spcAft>
              <a:buNone/>
            </a:pPr>
            <a:r>
              <a:rPr lang="ko-KR" altLang="en-US" sz="1300" b="1" dirty="0">
                <a:solidFill>
                  <a:srgbClr val="3D4148"/>
                </a:solidFill>
                <a:latin typeface="Malgun Gothic" pitchFamily="34" charset="0"/>
                <a:ea typeface="Malgun Gothic" pitchFamily="34" charset="-122"/>
                <a:cs typeface="Malgun Gothic" pitchFamily="34" charset="-120"/>
              </a:rPr>
              <a:t>창 너비로 바뀐다</a:t>
            </a:r>
            <a:endParaRPr lang="ko-KR" altLang="en-US" sz="1100" dirty="0"/>
          </a:p>
          <a:p>
            <a:pPr indent="0" marL="0">
              <a:spcAft>
                <a:spcPts val="400"/>
              </a:spcAft>
              <a:buNone/>
            </a:pPr>
            <a:r>
              <a:rPr lang="ko-KR" altLang="en-US" sz="1100" dirty="0">
                <a:solidFill>
                  <a:srgbClr val="3D4148"/>
                </a:solidFill>
                <a:latin typeface="Malgun Gothic" pitchFamily="34" charset="0"/>
                <a:ea typeface="Malgun Gothic" pitchFamily="34" charset="-122"/>
                <a:cs typeface="Malgun Gothic" pitchFamily="34" charset="-120"/>
              </a:rPr>
              <a:t>• 폭 700dp 미만 — 폰 화면 (아래 탭 바)</a:t>
            </a:r>
            <a:endParaRPr lang="ko-KR" altLang="en-US" sz="1100" dirty="0"/>
          </a:p>
          <a:p>
            <a:pPr indent="0" marL="0">
              <a:spcAft>
                <a:spcPts val="400"/>
              </a:spcAft>
              <a:buNone/>
            </a:pPr>
            <a:r>
              <a:rPr lang="ko-KR" altLang="en-US" sz="1100" dirty="0">
                <a:solidFill>
                  <a:srgbClr val="3D4148"/>
                </a:solidFill>
                <a:latin typeface="Malgun Gothic" pitchFamily="34" charset="0"/>
                <a:ea typeface="Malgun Gothic" pitchFamily="34" charset="-122"/>
                <a:cs typeface="Malgun Gothic" pitchFamily="34" charset="-120"/>
              </a:rPr>
              <a:t>• 가로로 눕힌 폰 — 측면 탭</a:t>
            </a:r>
            <a:endParaRPr lang="ko-KR" altLang="en-US" sz="1100" dirty="0"/>
          </a:p>
          <a:p>
            <a:pPr indent="0" marL="0">
              <a:spcAft>
                <a:spcPts val="400"/>
              </a:spcAft>
              <a:buNone/>
            </a:pPr>
            <a:r>
              <a:rPr lang="ko-KR" altLang="en-US" sz="1100" dirty="0">
                <a:solidFill>
                  <a:srgbClr val="3D4148"/>
                </a:solidFill>
                <a:latin typeface="Malgun Gothic" pitchFamily="34" charset="0"/>
                <a:ea typeface="Malgun Gothic" pitchFamily="34" charset="-122"/>
                <a:cs typeface="Malgun Gothic" pitchFamily="34" charset="-120"/>
              </a:rPr>
              <a:t>• 700dp 이상 — 반반 화면 (왼쪽 앱 · 오른쪽 상세)</a:t>
            </a:r>
            <a:endParaRPr lang="ko-KR" altLang="en-US" sz="1100" dirty="0"/>
          </a:p>
          <a:p>
            <a:pPr indent="0" marL="0">
              <a:spcAft>
                <a:spcPts val="400"/>
              </a:spcAft>
              <a:buNone/>
            </a:pPr>
            <a:r>
              <a:rPr lang="ko-KR" altLang="en-US" sz="1100" b="1" dirty="0">
                <a:solidFill>
                  <a:srgbClr val="12A07F"/>
                </a:solidFill>
                <a:latin typeface="Malgun Gothic" pitchFamily="34" charset="0"/>
                <a:ea typeface="Malgun Gothic" pitchFamily="34" charset="-122"/>
                <a:cs typeface="Malgun Gothic" pitchFamily="34" charset="-120"/>
              </a:rPr>
              <a:t>• 7가지 크기 모두 넘침 0 — test/layout_test.dart</a:t>
            </a:r>
            <a:endParaRPr lang="ko-KR" altLang="en-US" sz="1100" dirty="0"/>
          </a:p>
        </p:txBody>
      </p:sp>
      <p:sp>
        <p:nvSpPr>
          <p:cNvPr id="18" name="Shape 12"/>
          <p:cNvSpPr/>
          <p:nvPr/>
        </p:nvSpPr>
        <p:spPr>
          <a:xfrm>
            <a:off x="566928" y="3858768"/>
            <a:ext cx="4119020" cy="1883664"/>
          </a:xfrm>
          <a:prstGeom prst="roundRect">
            <a:avLst>
              <a:gd name="adj" fmla="val 3568"/>
            </a:avLst>
          </a:prstGeom>
          <a:solidFill>
            <a:srgbClr val="FFFFFF"/>
          </a:solidFill>
          <a:ln/>
          <a:effectLst>
            <a:outerShdw sx="100000" sy="100000" kx="0" ky="0" algn="bl" rotWithShape="0" blurRad="228600" dist="76200" dir="5400000">
              <a:srgbClr val="000000">
                <a:alpha val="18000"/>
              </a:srgbClr>
            </a:outerShdw>
          </a:effectLst>
        </p:spPr>
      </p:sp>
      <p:pic>
        <p:nvPicPr>
          <p:cNvPr id="19" name="Image 4" descr="C:\Users\Windows11\AppData\Local\Temp\claude\C--Users-Windows11-Desktop-New-folder--2-\a0c8a1d0-32ba-4ae6-9843-b5ebc69d925f\scratchpad\deck2/img/size_844x390.png">    </p:cNvPr>
          <p:cNvPicPr>
            <a:picLocks noChangeAspect="1"/>
          </p:cNvPicPr>
          <p:nvPr/>
        </p:nvPicPr>
        <p:blipFill>
          <a:blip r:embed="rId5"/>
          <a:stretch>
            <a:fillRect/>
          </a:stretch>
        </p:blipFill>
        <p:spPr>
          <a:xfrm>
            <a:off x="548640" y="3840480"/>
            <a:ext cx="4155596" cy="1920240"/>
          </a:xfrm>
          <a:prstGeom prst="rect">
            <a:avLst/>
          </a:prstGeom>
        </p:spPr>
      </p:pic>
      <p:sp>
        <p:nvSpPr>
          <p:cNvPr id="20" name="Text 13"/>
          <p:cNvSpPr txBox="1"/>
          <p:nvPr/>
        </p:nvSpPr>
        <p:spPr>
          <a:xfrm>
            <a:off x="548640" y="5806440"/>
            <a:ext cx="4155596"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844 × 390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가로 폰 — 측면 탭</a:t>
            </a:r>
            <a:endParaRPr lang="ko-KR" altLang="en-US" sz="950" dirty="0"/>
          </a:p>
        </p:txBody>
      </p:sp>
      <p:sp>
        <p:nvSpPr>
          <p:cNvPr id="21" name="Shape 14"/>
          <p:cNvSpPr/>
          <p:nvPr/>
        </p:nvSpPr>
        <p:spPr>
          <a:xfrm>
            <a:off x="4996844" y="3858768"/>
            <a:ext cx="2273278" cy="1883664"/>
          </a:xfrm>
          <a:prstGeom prst="roundRect">
            <a:avLst>
              <a:gd name="adj" fmla="val 3568"/>
            </a:avLst>
          </a:prstGeom>
          <a:solidFill>
            <a:srgbClr val="FFFFFF"/>
          </a:solidFill>
          <a:ln/>
          <a:effectLst>
            <a:outerShdw sx="100000" sy="100000" kx="0" ky="0" algn="bl" rotWithShape="0" blurRad="228600" dist="76200" dir="5400000">
              <a:srgbClr val="000000">
                <a:alpha val="18000"/>
              </a:srgbClr>
            </a:outerShdw>
          </a:effectLst>
        </p:spPr>
      </p:sp>
      <p:pic>
        <p:nvPicPr>
          <p:cNvPr id="22" name="Image 5" descr="C:\Users\Windows11\AppData\Local\Temp\claude\C--Users-Windows11-Desktop-New-folder--2-\a0c8a1d0-32ba-4ae6-9843-b5ebc69d925f\scratchpad\deck2/img/size_830x690.png">    </p:cNvPr>
          <p:cNvPicPr>
            <a:picLocks noChangeAspect="1"/>
          </p:cNvPicPr>
          <p:nvPr/>
        </p:nvPicPr>
        <p:blipFill>
          <a:blip r:embed="rId6"/>
          <a:stretch>
            <a:fillRect/>
          </a:stretch>
        </p:blipFill>
        <p:spPr>
          <a:xfrm>
            <a:off x="4978556" y="3840480"/>
            <a:ext cx="2309854" cy="1920240"/>
          </a:xfrm>
          <a:prstGeom prst="rect">
            <a:avLst/>
          </a:prstGeom>
        </p:spPr>
      </p:pic>
      <p:sp>
        <p:nvSpPr>
          <p:cNvPr id="23" name="Text 15"/>
          <p:cNvSpPr txBox="1"/>
          <p:nvPr/>
        </p:nvSpPr>
        <p:spPr>
          <a:xfrm>
            <a:off x="4978556" y="5806440"/>
            <a:ext cx="2309854"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830 × 690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폴드 펼침 가로 — 반반</a:t>
            </a:r>
            <a:endParaRPr lang="ko-KR" altLang="en-US" sz="950" dirty="0"/>
          </a:p>
        </p:txBody>
      </p:sp>
      <p:sp>
        <p:nvSpPr>
          <p:cNvPr id="24" name="Shape 16"/>
          <p:cNvSpPr/>
          <p:nvPr/>
        </p:nvSpPr>
        <p:spPr>
          <a:xfrm>
            <a:off x="7581018" y="3858768"/>
            <a:ext cx="3035808" cy="1883664"/>
          </a:xfrm>
          <a:prstGeom prst="roundRect">
            <a:avLst>
              <a:gd name="adj" fmla="val 3568"/>
            </a:avLst>
          </a:prstGeom>
          <a:solidFill>
            <a:srgbClr val="FFFFFF"/>
          </a:solidFill>
          <a:ln/>
          <a:effectLst>
            <a:outerShdw sx="100000" sy="100000" kx="0" ky="0" algn="bl" rotWithShape="0" blurRad="228600" dist="76200" dir="5400000">
              <a:srgbClr val="000000">
                <a:alpha val="18000"/>
              </a:srgbClr>
            </a:outerShdw>
          </a:effectLst>
        </p:spPr>
      </p:sp>
      <p:pic>
        <p:nvPicPr>
          <p:cNvPr id="25" name="Image 6" descr="C:\Users\Windows11\AppData\Local\Temp\claude\C--Users-Windows11-Desktop-New-folder--2-\a0c8a1d0-32ba-4ae6-9843-b5ebc69d925f\scratchpad\deck2/img/size_1280x800.png">    </p:cNvPr>
          <p:cNvPicPr>
            <a:picLocks noChangeAspect="1"/>
          </p:cNvPicPr>
          <p:nvPr/>
        </p:nvPicPr>
        <p:blipFill>
          <a:blip r:embed="rId7"/>
          <a:stretch>
            <a:fillRect/>
          </a:stretch>
        </p:blipFill>
        <p:spPr>
          <a:xfrm>
            <a:off x="7562730" y="3840480"/>
            <a:ext cx="3072384" cy="1920240"/>
          </a:xfrm>
          <a:prstGeom prst="rect">
            <a:avLst/>
          </a:prstGeom>
        </p:spPr>
      </p:pic>
      <p:sp>
        <p:nvSpPr>
          <p:cNvPr id="26" name="Text 17"/>
          <p:cNvSpPr txBox="1"/>
          <p:nvPr/>
        </p:nvSpPr>
        <p:spPr>
          <a:xfrm>
            <a:off x="7562730" y="5806440"/>
            <a:ext cx="3072384"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1280 × 800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넓은 창 — 반반</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P01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 상태의 가시성</a:t>
            </a:r>
            <a:endParaRPr lang="ko-KR" alt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1 — 지금 무슨 일이 일어나는지 늘 알려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2025.07.28 ★3 "PLEASE FIX THE SCANNER" — 스캐너가 멈춰도 앱이 아무것도 알려 주지 않는다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E-4 "AI가 비교하는 중…" · E-6 일치도 막대 · G-4a Lv 막대(다음 레벨까지 n점) · N-3 안 읽음 점 · 모든 GET 화면 LoadingView — 코드 // E-4 P01</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카메라 → 찍기 → "비교하는 중…" → 일치도 94%  (p01.mp4)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돌아가는 원만 보여 주기 — 버림: 무엇을 하는 중인지 모른다. 문구 + 결과 일치도로 바꿈</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2/10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P02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시스템과 실세계의 일치</a:t>
            </a:r>
            <a:endParaRPr lang="ko-KR" alt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2 — 사용자가 아는 말 · 물건 · 순서로 보여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현행 캡처: 미국 경매가(달러) 위주, 일본 정가 · 원래 이름이 없다 / 잘된 점: 상자 사진 · 품번은 그대로 가져감</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D-4 일본어 원래 이름 · D-5 "일본 정가" ¥ · D-2 공식 사진 · A-3 공식 예고 이미지 그대로 · 건담 작품명은 영어 공식명</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상세 → 일본어 이름 → "일본 정가" → 국내 시세 한 줄  (p02.mp4)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정가를 원화로 바꿔 보여 주기 — 버림: 환율 계산은 "실제 계산"이고 매장 가격표와 달라진다(p27). 작품명 한글 줄임말 — 버림(p25)</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3/10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P03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사용자 통제와 자유</a:t>
            </a:r>
            <a:endParaRPr lang="ko-KR" alt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3 — 실수했을 때 쉽게 되돌아갈 비상구</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2023.04.18 ★5 "the layout is a pain" — 누를 때마다 다른 창 · 2025.08.08 ★1 — 원치 않게 처음 화면으로 튕김</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모든 켜고 끄기 토스트에 "되돌리기" · F-10 휴지통 · S-6 IndexedStack(탭을 바꿔도 보던 자리) · 전체 목록 = 같은 탭 안 보기 + ‹</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편집 → 2개 삭제 → 휴지통 배지 → 복원  (p03.mp4)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삭제 전 확인만 묻기 — 부족: 확인 뒤엔 방법이 없다 → 휴지통(p13). 전체 목록을 새 화면으로 — 버림 → 탭 안 보기(p20)</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4/10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P04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일관성과 표준</a:t>
            </a:r>
            <a:endParaRPr lang="ko-KR" alt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4 — 같은 것은 어디서나 같은 모양 · 같은 말</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2023.11.23 ★5 "쇼케이스와 컬렉션의 차이를 모르겠다" — 비슷한 기능이 다른 이름 · 모양으로 흩어져 있다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모양 둘: ♡ = 좋아요, 리본 = 구매함(A-9 · G-4b · D-6) · 색 둘: 파랑 = 고름, 민트 = 가진 것(S-15) · 앱 전체 한 벌(S-16 MarksHost)</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 ♡ → 컬렉션 좋아요 +1 → 상세 ♡ 켜짐  (p04.mp4)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화면마다 다른 표시 — 버림: AI 반론 "같은 행동이 3–4가지 모양"(쟁점 1) → 하나로(p26). 파랑 하나로 모든 상태 — 버림(쟁점 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5/10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P05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예방</a:t>
            </a:r>
            <a:endParaRPr lang="ko-KR" alt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5 — 실수가 일어나기 전에 막는다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2025.08.08 ★1 — 원치 않는 새로고침 · 리셋, 사용자가 의도하지 않은 큰 변화</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F-7 여러 개 삭제 · D-12 오류 제보 · K-5 로그아웃 → 확인 대화상자 · G-5c 그 기체가 찍힌 사진이어야 켜짐 · 맞는 상품 0이면 필터 적용 잠김(O-2)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도감 기체 → 내 사진 → 다른 사진 → "찾지 못했어요" → 맞는 사진 → 인증  (p05.mp4)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"내 사진으로" 한 번에 점등 — 버림: "사진에 그 기체가 있어야 켜져야"(p09) → 사진 고르기 + 판정</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6/10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P06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기억보다 재인</a:t>
            </a:r>
            <a:endParaRPr lang="ko-KR" alt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6 — 외우지 않아도 보고 고를 수 있게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2023.11.23 ★5 — 오래 썼지만 인터페이스를 익히기 어렵다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늘 보이는 내 채널 바(C-1) · 밑줄 탭(F-2 · N-1) · 검색창을 누르면 최근 · 인기 검색어 · AI 예시 문장(B-3~B-5) · 필터 패널 체크 목록(O-2)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검색 탭(전체 상품) → 검색창 → 최근 검색 → 결과  (p06.mp4)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필터를 알약 줄로 — 버림: "상태가 아니라 작품별로" → 오른쪽 패널(p21). 검색 첫 화면 = 최근 · 인기 판 — 버림(p22)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7/10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P07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사용의 유연성과 효율성</a:t>
            </a:r>
            <a:endParaRPr lang="ko-KR" altLang="en-US" sz="2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7 — 익숙한 사람은 지름길로</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2025.11.30 ★1 — 시세를 한 달 10번만 볼 수 있게 막았다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사진 위 ♡ · 리본 바로 누르기(A-9 · G-4b) · 탭 바 가운데 카메라(S-4) · 국내 시세 한 줄, 횟수 제한 없음(D-5b) · 내 정보 숫자 → 그 목록(I-4)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 카드 리본 한 번 → ✓ (상세에 들어가지 않고)  (p07.mp4)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시세를 "시장가" 칸 + 국내 시세 칸 두 곳에 — 버림: "겹친다" → 정가 아래 한 줄 + 누르면 시트(p08)</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8/10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P08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미학적이고 미니멀한 디자인</a:t>
            </a:r>
            <a:endParaRPr lang="ko-KR" alt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8 — 지금 필요 없는 정보는 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2023.04.18 ★5 "the layout is a pain" · 2025.11.30 ★1 "TOO MANY ADS ON ONE SCREEN"</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흑백 + 포인트 두 색 · 글자 6단계(S-15) · 홈 줄은 사진 + 이름만(A-6) · 스크롤하면 탭 바 · 아바타 줄 접힘(S-8 · S-13) · 광고 없음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홈을 내려 읽으면 위 · 아래가 접힘  (p08.mp4)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큰 검정 바탕 + 흰 글자 면 — 버림(흰 바탕 위 떠 있는 버튼). 장식 많은 로고 — 버림: 작은 아이콘에서 뭉개짐(로고 보류)</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9/10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P09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인식 · 진단 · 복구 돕기</a:t>
            </a:r>
            <a:endParaRPr lang="ko-KR" alt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9 — 무엇이 잘못됐는지 말하고 빠져나갈 길을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2021.03.22 ★2 — 목록에 없는 상품을 추가 · 오류 표시할 방법이 없다 · 2023.11.23 — 일반판이 자주 빠져 있다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모든 GET 화면 ErrorView + "다시 시도" · 빈 상태 + 빠져나갈 길(F-9 "검색하러 가기", O-8 "필터 초기화") · D-12 정보 오류 제보 · E-9 다시 찍기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DEMO_STATE=error → 오류 안내 → 다시 시도  (p09.mp4)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토스트로만 "불러오기 실패" — 버림: 몇 초 뒤 사라지면 다음 행동을 모른다 → 화면에 남는 ErrorView + 버튼</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10/10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P10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도움말과 문서</a:t>
            </a:r>
            <a:endParaRPr lang="ko-KR" alt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10 — 필요할 때 그 자리에서 짧게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2021.09.17 ★3 — 시세가 어디서 나온 값인지 모르겠다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G-2 도감 읽는 법(? → 4단계 · 점수) · D-5b 국내 시세 "거래 n건" + 플랫폼 3곳 · J-5 "공식으로 가기"(출처) · B-5 "말로 설명해서 찾기" 예시</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작품 도감 → ? → 도감 읽는 법 시트  (p10.mp4)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화면 위 긴 범례 줄 — 버림: "긴 줄 대신 ? 아이콘"(p12). 시세 출처를 문장으로 길게 — 버림: 거래 건수 + 플랫폼 이름만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(ChatGPT) 기존 Gunpula · hobbyDB 화면의 문제를 비판해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메뉴 과다 · 정보 흩어짐 · 화면마다 다른 조작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그대로 따르지 않고 "아래 탭 + 위 채널 바"로 다시 설계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아래 탭을 무엇으로 나눌지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캘린더 · 컬렉션, 도감은 컬렉션 안 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저니 ⑤ 모은 것 보기를 컬렉션 안에 — 탭 수 줄이기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레이아웃 시안 여러 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매거진형 · 목록형 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PS Store · IMDb 참고 → "배너 + 가로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검색 검색창이 다르다, 재사용 안 된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GpSearchBar 하나로 · 중복 7종 공용 위젯</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것은 같은 모양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상세의 "시장가"와 "국내 시세"가 겹친다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아래 시세 한 줄 + 시트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정보 두 번 = 미니멀 위반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도감을 내 사진으로 켜고 싶다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"내 사진으로" 토글 한 번에 점등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 기체가 찍힌 사진이어야 → 사진 고르기 + 판정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 표시를 IMDb 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왼쪽 위 리본 · 아래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상세에 들어가지 않고 바로 담기 (p14)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화면을 QQ 옆 서랍처럼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아바타 → 서랍 → 내 정보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목록을 한 곳에 (p16 · p17)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전체 목록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새 화면 + 좋아요/구매함 알약 거르기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머리 아래 · 작품별로 → 탭 안 보기 + 필터 패널 (p20 · p21)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탭 첫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"전체 상품 둘러보기" 카드 + 최근 · 인기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기본 = 전체 상품, 검색창을 누르면 판 (p22)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99632"/>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2/2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정렬 메뉴가 앱과 안 어울림 · 비율 문제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바텀 시트 · 측면 탭 · 7가지 크기 테스트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적응형 = 창 너비 기준, 넘침 0 확인 (p23)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폴드처럼 반반 화면 — 의견 먼저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목록-상세만 반반, 홈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QQ처럼 왼쪽 = 폰 화면 전체 (p24)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UI 설계에 어떤 문제가 있는지 지적해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13가지: 표시 모양 3–4종 · 파랑 과다 · 위쪽 높이 · 동기화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로고만 보류, 12개 반영 — 셀프 논증 쟁점 1–5 (p25–p32)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 P01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 디자인 (원형 아카이브 · 명품 로고 참고)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시안 4차례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고급스럽지 않음 → 로고는 다음 단계로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반반 화면 선택 표시를 ValueNotifier 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동작함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"setState 만" → 맨 위 setState + InheritedWidget (p33)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구매함이 화면마다 따로 바뀜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맨 위 MarksHost(setState)로 한 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패키지 없이 setState 를 위로 · 저장 안 함 (p31)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디자인 가이드를 지금 코드와 맞게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코드 대응표 → 요소표 생성기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"기획과 일치" — 번호 · 명칭이 코드와 같게 (p34)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제출물 준비 (README · 스크린샷 · 문서)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스크린샷 생성 · 리뷰 확인 · 초안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셀프 논증 · 자가 점수는 내가 확인 후 확정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현행 앱 스크린샷</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이메일이 보이는 이미지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실제 개인정보 사용 금지 (안내문 5장)</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7900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B4 · 자가평가 요약 (제출 전 점검)</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공개 배점 그대로 — 근거 위치를 모두 채웠다</a:t>
            </a:r>
            <a:endParaRPr lang="ko-KR" altLang="en-US" sz="2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1188720"/>
                <a:gridCol w="2148840"/>
                <a:gridCol w="777240"/>
                <a:gridCol w="3657600"/>
                <a:gridCol w="2606040"/>
                <a:gridCol w="713232"/>
              </a:tblGrid>
              <a:tr h="384048">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영역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세부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배점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확인할 것 (안내문 문구)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근거 위치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자가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기획</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현행 분석 · 리뷰 근거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잘된 점 원칙 번호 · 별점 분포 · 인용 · 유형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04–05장 · docs/기획.md 1장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사업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퍼소나 · 문제 · v2 핵심 가치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03 · 06 · 07장 · B5-1 (38장)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저니</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단계별 리뷰 · 감정 최저점 · 확장 4줄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07–08장 · B5-2 (39장)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피쉬본 · 5 Why</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여섯 시각 · 우선순위 1개 · 근본 원인까지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08장 · B5-3 (40장)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요소 분석 · 기준 · 가이드 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번호 · 위젯명 · 비즈니스 명칭 · 명칭 일관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09–14장 · B5-4 (41–43장)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상태관리 포인트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바뀌는 데이터 → 위젯 · 구현 안 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16장 · B5-5 (44장) · STATE 74곳</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셀프 논증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주장 · 반론 · 결론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쟁점마다 주장 · AI 반론 · 재반론 · 결론 · 근거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15장 · B3 · docs/셀프논증.md</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UI 구현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일치 · 기능 · 3상태 · 적응형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전환 · 임의 결과 · GET · 로딩/오류/빈 · 넓은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16–17장 · B1 · 테스트 53개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발표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6분 · 데모 · 질의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6분 이내 · 데모 · 질의 2분에 부록으로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가산 · 감점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Vercel · 감점 항목</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배포 URL(선택) · 감점 항목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GitHub Pages + Vercel 목업 서버 · grep 결과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b="1" dirty="0">
                          <a:solidFill>
                            <a:srgbClr val="12A07F"/>
                          </a:solidFill>
                          <a:latin typeface="Malgun Gothic" pitchFamily="34" charset="0"/>
                          <a:ea typeface="Malgun Gothic" pitchFamily="34" charset="-122"/>
                          <a:cs typeface="Malgun Gothic" pitchFamily="34" charset="-120"/>
                        </a:rPr>
                        <a:t>+5 −0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합계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가산 · 감점 반영 전후 모두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4476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점수는 강사가 안내문 7장 배점 안에서 매긴다 — 이 표는 빠진 칸을 찾는 점검 도구, 자가 칸은 제출 전에 직접 채운다</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B5-1 · 기획 상세 — 사업 요약</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민준의 흩어진 소식 · 기록을 한 앱으로</a:t>
            </a:r>
            <a:endParaRPr lang="ko-KR" altLang="en-US" sz="2800" dirty="0"/>
          </a:p>
        </p:txBody>
      </p:sp>
      <p:sp>
        <p:nvSpPr>
          <p:cNvPr id="4" name="Shape 2"/>
          <p:cNvSpPr/>
          <p:nvPr/>
        </p:nvSpPr>
        <p:spPr>
          <a:xfrm>
            <a:off x="548640"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68249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목표</a:t>
            </a:r>
            <a:endParaRPr lang="ko-KR" altLang="en-US" sz="1300" dirty="0"/>
          </a:p>
        </p:txBody>
      </p:sp>
      <p:sp>
        <p:nvSpPr>
          <p:cNvPr id="6" name="Text 4"/>
          <p:cNvSpPr txBox="1"/>
          <p:nvPr/>
        </p:nvSpPr>
        <p:spPr>
          <a:xfrm>
            <a:off x="822960" y="2029968"/>
            <a:ext cx="4892040" cy="155448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관심 IP의 새 소식과 내 컬렉션을 한 앱에서</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소식 → 기록까지: 브랜드 공식 사이트 10곳 + 중고 앱 → 1곳</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구매함 기록: 상세에 들어가서 → 사진 위 리본 1번</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시세 보기 제한: 한 달 10번 → 없음</a:t>
            </a:r>
            <a:endParaRPr lang="ko-KR" altLang="en-US" sz="1250" dirty="0"/>
          </a:p>
        </p:txBody>
      </p:sp>
      <p:sp>
        <p:nvSpPr>
          <p:cNvPr id="7" name="Shape 5"/>
          <p:cNvSpPr/>
          <p:nvPr/>
        </p:nvSpPr>
        <p:spPr>
          <a:xfrm>
            <a:off x="6199632"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8" name="Shape 6"/>
          <p:cNvSpPr/>
          <p:nvPr/>
        </p:nvSpPr>
        <p:spPr>
          <a:xfrm>
            <a:off x="6473952" y="1783080"/>
            <a:ext cx="822960" cy="822960"/>
          </a:xfrm>
          <a:prstGeom prst="ellipse">
            <a:avLst/>
          </a:prstGeom>
          <a:solidFill>
            <a:srgbClr val="1C86D9"/>
          </a:solidFill>
          <a:ln/>
        </p:spPr>
      </p:sp>
      <p:sp>
        <p:nvSpPr>
          <p:cNvPr id="9" name="Text 7"/>
          <p:cNvSpPr txBox="1"/>
          <p:nvPr/>
        </p:nvSpPr>
        <p:spPr>
          <a:xfrm>
            <a:off x="6473952" y="1783080"/>
            <a:ext cx="822960" cy="822960"/>
          </a:xfrm>
          <a:prstGeom prst="rect">
            <a:avLst/>
          </a:prstGeom>
          <a:noFill/>
          <a:ln/>
        </p:spPr>
        <p:txBody>
          <a:bodyPr wrap="square" lIns="0" tIns="0" rIns="0" bIns="0" rtlCol="0" anchor="ctr"/>
          <a:lstStyle/>
          <a:p>
            <a:pPr algn="ctr" indent="0" marL="0">
              <a:buNone/>
            </a:pPr>
            <a:r>
              <a:rPr lang="ko-KR" altLang="en-US" sz="2400" b="1" dirty="0">
                <a:solidFill>
                  <a:srgbClr val="FFFFFF"/>
                </a:solidFill>
                <a:latin typeface="Malgun Gothic" pitchFamily="34" charset="0"/>
                <a:ea typeface="Malgun Gothic" pitchFamily="34" charset="-122"/>
                <a:cs typeface="Malgun Gothic" pitchFamily="34" charset="-120"/>
              </a:rPr>
              <a:t>민</a:t>
            </a:r>
            <a:endParaRPr lang="ko-KR" altLang="en-US" sz="2400" dirty="0"/>
          </a:p>
        </p:txBody>
      </p:sp>
      <p:sp>
        <p:nvSpPr>
          <p:cNvPr id="10" name="Text 8"/>
          <p:cNvSpPr txBox="1"/>
          <p:nvPr/>
        </p:nvSpPr>
        <p:spPr>
          <a:xfrm>
            <a:off x="7498080" y="1737360"/>
            <a:ext cx="3931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대상 사용자 — 퍼소나</a:t>
            </a:r>
            <a:endParaRPr lang="ko-KR" altLang="en-US" sz="1300" dirty="0"/>
          </a:p>
        </p:txBody>
      </p:sp>
      <p:sp>
        <p:nvSpPr>
          <p:cNvPr id="11" name="Text 9"/>
          <p:cNvSpPr txBox="1"/>
          <p:nvPr/>
        </p:nvSpPr>
        <p:spPr>
          <a:xfrm>
            <a:off x="7498080" y="2029968"/>
            <a:ext cx="3931920" cy="310896"/>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민준 · 23 · 대학생 · 수집 4년차</a:t>
            </a:r>
            <a:endParaRPr lang="ko-KR" altLang="en-US" sz="1500" dirty="0"/>
          </a:p>
        </p:txBody>
      </p:sp>
      <p:sp>
        <p:nvSpPr>
          <p:cNvPr id="12" name="Text 10"/>
          <p:cNvSpPr txBox="1"/>
          <p:nvPr/>
        </p:nvSpPr>
        <p:spPr>
          <a:xfrm>
            <a:off x="7498080" y="2395728"/>
            <a:ext cx="3931920" cy="1280160"/>
          </a:xfrm>
          <a:prstGeom prst="rect">
            <a:avLst/>
          </a:prstGeom>
          <a:noFill/>
          <a:ln/>
        </p:spPr>
        <p:txBody>
          <a:bodyPr wrap="square" lIns="0" tIns="0" rIns="0" bIns="0" rtlCol="0" anchor="t"/>
          <a:lstStyle/>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건프라 · 베이블레이드 X · 포켓몬 피규어</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소식은 공식 X · 유튜브, 가격은 중고 앱에서 따로</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이동 중엔 폰으로 소식, 매장에서 바로 확인</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동생과 같은 방 — 겹쳐 사는 일이 생긴다</a:t>
            </a:r>
            <a:endParaRPr lang="ko-KR" altLang="en-US" sz="1150" dirty="0"/>
          </a:p>
        </p:txBody>
      </p:sp>
      <p:sp>
        <p:nvSpPr>
          <p:cNvPr id="13" name="Shape 11"/>
          <p:cNvSpPr/>
          <p:nvPr/>
        </p:nvSpPr>
        <p:spPr>
          <a:xfrm>
            <a:off x="548640" y="3904488"/>
            <a:ext cx="5440680" cy="2377440"/>
          </a:xfrm>
          <a:prstGeom prst="roundRect">
            <a:avLst>
              <a:gd name="adj" fmla="val 5385"/>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4" name="Text 12"/>
          <p:cNvSpPr txBox="1"/>
          <p:nvPr/>
        </p:nvSpPr>
        <p:spPr>
          <a:xfrm>
            <a:off x="822960" y="410565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해결할 문제</a:t>
            </a:r>
            <a:endParaRPr lang="ko-KR" altLang="en-US" sz="1300" dirty="0"/>
          </a:p>
        </p:txBody>
      </p:sp>
      <p:sp>
        <p:nvSpPr>
          <p:cNvPr id="15" name="Text 13"/>
          <p:cNvSpPr txBox="1"/>
          <p:nvPr/>
        </p:nvSpPr>
        <p:spPr>
          <a:xfrm>
            <a:off x="822960" y="4453128"/>
            <a:ext cx="4892040" cy="169164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① 정보가 흩어져 있다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브랜드마다 따로: 호비 사이트 · TAMASHII · 프리미엄 반다이 · KOTOBUKIYA …</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② 익히기 어렵다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웹 메뉴 구조, 창이 따로 열림</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③ 막히면 떠난다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스캐너 멈춤 · 광고 · 시세 제한</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④ 나눌 곳이 없다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동생과 겹쳐 사고, 보여 줄 곳이 없다</a:t>
            </a:r>
            <a:endParaRPr lang="ko-KR" altLang="en-US" sz="1250" dirty="0"/>
          </a:p>
        </p:txBody>
      </p:sp>
      <p:sp>
        <p:nvSpPr>
          <p:cNvPr id="16" name="Shape 14"/>
          <p:cNvSpPr/>
          <p:nvPr/>
        </p:nvSpPr>
        <p:spPr>
          <a:xfrm>
            <a:off x="6199632" y="3904488"/>
            <a:ext cx="5440680" cy="2377440"/>
          </a:xfrm>
          <a:prstGeom prst="roundRect">
            <a:avLst>
              <a:gd name="adj" fmla="val 5385"/>
            </a:avLst>
          </a:prstGeom>
          <a:solidFill>
            <a:srgbClr val="EAF4FC"/>
          </a:solidFill>
          <a:ln/>
        </p:spPr>
      </p:sp>
      <p:sp>
        <p:nvSpPr>
          <p:cNvPr id="17" name="Text 15"/>
          <p:cNvSpPr txBox="1"/>
          <p:nvPr/>
        </p:nvSpPr>
        <p:spPr>
          <a:xfrm>
            <a:off x="6473952" y="4105656"/>
            <a:ext cx="48463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v2의 핵심 가치</a:t>
            </a:r>
            <a:endParaRPr lang="ko-KR" altLang="en-US" sz="1300" dirty="0"/>
          </a:p>
        </p:txBody>
      </p:sp>
      <p:sp>
        <p:nvSpPr>
          <p:cNvPr id="18" name="Text 16"/>
          <p:cNvSpPr txBox="1"/>
          <p:nvPr/>
        </p:nvSpPr>
        <p:spPr>
          <a:xfrm>
            <a:off x="6473952" y="4480560"/>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내 채널 소식</a:t>
            </a:r>
            <a:endParaRPr lang="ko-KR" altLang="en-US" sz="1300" dirty="0"/>
          </a:p>
        </p:txBody>
      </p:sp>
      <p:sp>
        <p:nvSpPr>
          <p:cNvPr id="19" name="Text 17"/>
          <p:cNvSpPr txBox="1"/>
          <p:nvPr/>
        </p:nvSpPr>
        <p:spPr>
          <a:xfrm>
            <a:off x="8092440" y="4480560"/>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A 홈 · H 캘린더 · C-1 채널 바</a:t>
            </a:r>
            <a:endParaRPr lang="ko-KR" altLang="en-US" sz="1150" dirty="0"/>
          </a:p>
        </p:txBody>
      </p:sp>
      <p:sp>
        <p:nvSpPr>
          <p:cNvPr id="20" name="Text 18"/>
          <p:cNvSpPr txBox="1"/>
          <p:nvPr/>
        </p:nvSpPr>
        <p:spPr>
          <a:xfrm>
            <a:off x="10607040" y="4480560"/>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P06</a:t>
            </a:r>
            <a:endParaRPr lang="ko-KR" altLang="en-US" sz="1100" dirty="0"/>
          </a:p>
        </p:txBody>
      </p:sp>
      <p:sp>
        <p:nvSpPr>
          <p:cNvPr id="21" name="Text 19"/>
          <p:cNvSpPr txBox="1"/>
          <p:nvPr/>
        </p:nvSpPr>
        <p:spPr>
          <a:xfrm>
            <a:off x="6473952" y="4910328"/>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한 번에 기록</a:t>
            </a:r>
            <a:endParaRPr lang="ko-KR" altLang="en-US" sz="1300" dirty="0"/>
          </a:p>
        </p:txBody>
      </p:sp>
      <p:sp>
        <p:nvSpPr>
          <p:cNvPr id="22" name="Text 20"/>
          <p:cNvSpPr txBox="1"/>
          <p:nvPr/>
        </p:nvSpPr>
        <p:spPr>
          <a:xfrm>
            <a:off x="8092440" y="4910328"/>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 · 리본, 앱 전체 한 벌</a:t>
            </a:r>
            <a:endParaRPr lang="ko-KR" altLang="en-US" sz="1150" dirty="0"/>
          </a:p>
        </p:txBody>
      </p:sp>
      <p:sp>
        <p:nvSpPr>
          <p:cNvPr id="23" name="Text 21"/>
          <p:cNvSpPr txBox="1"/>
          <p:nvPr/>
        </p:nvSpPr>
        <p:spPr>
          <a:xfrm>
            <a:off x="10607040" y="4910328"/>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P04 P07</a:t>
            </a:r>
            <a:endParaRPr lang="ko-KR" altLang="en-US" sz="1100" dirty="0"/>
          </a:p>
        </p:txBody>
      </p:sp>
      <p:sp>
        <p:nvSpPr>
          <p:cNvPr id="24" name="Text 22"/>
          <p:cNvSpPr txBox="1"/>
          <p:nvPr/>
        </p:nvSpPr>
        <p:spPr>
          <a:xfrm>
            <a:off x="6473952" y="5340096"/>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도감 레벨</a:t>
            </a:r>
            <a:endParaRPr lang="ko-KR" altLang="en-US" sz="1300" dirty="0"/>
          </a:p>
        </p:txBody>
      </p:sp>
      <p:sp>
        <p:nvSpPr>
          <p:cNvPr id="25" name="Text 23"/>
          <p:cNvSpPr txBox="1"/>
          <p:nvPr/>
        </p:nvSpPr>
        <p:spPr>
          <a:xfrm>
            <a:off x="8092440" y="5340096"/>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G-4 4단계 · G-4a Lv</a:t>
            </a:r>
            <a:endParaRPr lang="ko-KR" altLang="en-US" sz="1150" dirty="0"/>
          </a:p>
        </p:txBody>
      </p:sp>
      <p:sp>
        <p:nvSpPr>
          <p:cNvPr id="26" name="Text 24"/>
          <p:cNvSpPr txBox="1"/>
          <p:nvPr/>
        </p:nvSpPr>
        <p:spPr>
          <a:xfrm>
            <a:off x="10607040" y="5340096"/>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P01</a:t>
            </a:r>
            <a:endParaRPr lang="ko-KR" altLang="en-US" sz="1100" dirty="0"/>
          </a:p>
        </p:txBody>
      </p:sp>
      <p:sp>
        <p:nvSpPr>
          <p:cNvPr id="27" name="Text 25"/>
          <p:cNvSpPr txBox="1"/>
          <p:nvPr/>
        </p:nvSpPr>
        <p:spPr>
          <a:xfrm>
            <a:off x="6473952" y="5769864"/>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겹쳐 사지 않기</a:t>
            </a:r>
            <a:endParaRPr lang="ko-KR" altLang="en-US" sz="1300" dirty="0"/>
          </a:p>
        </p:txBody>
      </p:sp>
      <p:sp>
        <p:nvSpPr>
          <p:cNvPr id="28" name="Text 26"/>
          <p:cNvSpPr txBox="1"/>
          <p:nvPr/>
        </p:nvSpPr>
        <p:spPr>
          <a:xfrm>
            <a:off x="8092440" y="5769864"/>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M 친구 서랍 · L "나도 있음"</a:t>
            </a:r>
            <a:endParaRPr lang="ko-KR" altLang="en-US" sz="1150" dirty="0"/>
          </a:p>
        </p:txBody>
      </p:sp>
      <p:sp>
        <p:nvSpPr>
          <p:cNvPr id="29" name="Text 27"/>
          <p:cNvSpPr txBox="1"/>
          <p:nvPr/>
        </p:nvSpPr>
        <p:spPr>
          <a:xfrm>
            <a:off x="10607040" y="5769864"/>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P07</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B5-2 · 기획 상세 — 사용자 저니 전체</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최저점은 ① 소식 알기 — 새 상품 · 예고를 놓친다</a:t>
            </a:r>
            <a:endParaRPr lang="ko-KR" altLang="en-US" sz="2800" dirty="0"/>
          </a:p>
        </p:txBody>
      </p:sp>
      <p:sp>
        <p:nvSpPr>
          <p:cNvPr id="4" name="Text 2"/>
          <p:cNvSpPr txBox="1"/>
          <p:nvPr/>
        </p:nvSpPr>
        <p:spPr>
          <a:xfrm>
            <a:off x="548640" y="1444752"/>
            <a:ext cx="5943600" cy="292608"/>
          </a:xfrm>
          <a:prstGeom prst="rect">
            <a:avLst/>
          </a:prstGeom>
          <a:noFill/>
          <a:ln/>
        </p:spPr>
        <p:txBody>
          <a:bodyPr wrap="square" lIns="0" tIns="0" rIns="0" bIns="0" rtlCol="0" anchor="ctr"/>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목표  </a:t>
            </a:r>
            <a:pPr indent="0" marL="0">
              <a:buNone/>
            </a:pPr>
            <a:r>
              <a:rPr lang="ko-KR" altLang="en-US" sz="1250" dirty="0">
                <a:solidFill>
                  <a:srgbClr val="111111"/>
                </a:solidFill>
                <a:latin typeface="Malgun Gothic" pitchFamily="34" charset="0"/>
                <a:ea typeface="Malgun Gothic" pitchFamily="34" charset="-122"/>
                <a:cs typeface="Malgun Gothic" pitchFamily="34" charset="-120"/>
              </a:rPr>
              <a:t>새 재판 소식을 보고 → 사서 → 도감에 기록하기</a:t>
            </a:r>
            <a:endParaRPr lang="ko-KR" altLang="en-US" sz="1250" dirty="0"/>
          </a:p>
        </p:txBody>
      </p:sp>
      <p:sp>
        <p:nvSpPr>
          <p:cNvPr id="5" name="Text 3"/>
          <p:cNvSpPr txBox="1"/>
          <p:nvPr/>
        </p:nvSpPr>
        <p:spPr>
          <a:xfrm>
            <a:off x="6400800" y="1444752"/>
            <a:ext cx="5239512" cy="292608"/>
          </a:xfrm>
          <a:prstGeom prst="rect">
            <a:avLst/>
          </a:prstGeom>
          <a:noFill/>
          <a:ln/>
        </p:spPr>
        <p:txBody>
          <a:bodyPr wrap="square" lIns="0" tIns="0" rIns="0" bIns="0" rtlCol="0" anchor="ctr"/>
          <a:lstStyle/>
          <a:p>
            <a:pPr algn="r" indent="0" marL="0">
              <a:buNone/>
            </a:pPr>
            <a:r>
              <a:rPr lang="ko-KR" altLang="en-US" sz="1250" b="1" dirty="0">
                <a:solidFill>
                  <a:srgbClr val="D93F44"/>
                </a:solidFill>
                <a:latin typeface="Malgun Gothic" pitchFamily="34" charset="0"/>
                <a:ea typeface="Malgun Gothic" pitchFamily="34" charset="-122"/>
                <a:cs typeface="Malgun Gothic" pitchFamily="34" charset="-120"/>
              </a:rPr>
              <a:t>감정 최저점  </a:t>
            </a:r>
            <a:pPr algn="r" indent="0" marL="0">
              <a:buNone/>
            </a:pPr>
            <a:r>
              <a:rPr lang="ko-KR" altLang="en-US" sz="1250" dirty="0">
                <a:solidFill>
                  <a:srgbClr val="111111"/>
                </a:solidFill>
                <a:latin typeface="Malgun Gothic" pitchFamily="34" charset="0"/>
                <a:ea typeface="Malgun Gothic" pitchFamily="34" charset="-122"/>
                <a:cs typeface="Malgun Gothic" pitchFamily="34" charset="-120"/>
              </a:rPr>
              <a:t>① 소식 알기 · 어긴 원칙 P01 P06 P08</a:t>
            </a:r>
            <a:endParaRPr lang="ko-KR" altLang="en-US" sz="12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490472"/>
                <a:gridCol w="1600200"/>
                <a:gridCol w="1600200"/>
                <a:gridCol w="1600200"/>
                <a:gridCol w="1600200"/>
                <a:gridCol w="1600200"/>
                <a:gridCol w="1600200"/>
              </a:tblGrid>
              <a:tr h="41148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단계 →</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① 소식 알기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② 찾기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③ 살지 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④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⑤ 모은 것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⑥ 나누기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사용자 행동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재판 · 신상 소식 확인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이름 · 번호 · 생김새로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 가졌나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산 것 · 갖고 싶은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무엇이 남았나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동생 · 친구에게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현행 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소식 없음 (외부 SNS)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웹 메뉴 · 스캐너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시세 월 10회 · 광고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쇼케이스/컬렉션 모호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쇼케이스(공개만)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리뷰 근거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브랜드마다 따로 (6장)</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#4 스캐너 · 없는 상품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#3 · 시세 출처 불명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 쇼케이스 vs 컬렉션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#2 창이 따로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감정 (+2 ~ −2)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−2 최저점</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 기기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폰(매장) · 카메라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 · 태블릿</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AI 활용 기회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채널 소식 요약</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말로 찾기 · 사진 인식</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시세 범위 설명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속 기체 판정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어긴 원칙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P01 ·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 P08 · P10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필요한 데이터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announcements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 · keywords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kits.priceJpy</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좋아요 · 구매함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guideWorks · Units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profile.friends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v2에서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홈 배너 · 캘린더 · 알림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 카메라 · 필터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 리본 바로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 4단계 · Lv</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서랍 · 게시물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035040"/>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주황 칸 = 확장 4줄(사용 기기 · AI 활용 기회 · 어긴 원칙 · 필요한 데이터) · 저니 요약은 08장 · 원본 docs/기획.md 3장</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B5-3 · 기획 상세 — 피쉬본 · 5 Why</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근본 원인: 채널과 일의 순서가 화면의 기준이 아니다</a:t>
            </a:r>
            <a:endParaRPr lang="ko-KR" altLang="en-US" sz="2600" dirty="0"/>
          </a:p>
        </p:txBody>
      </p:sp>
      <p:sp>
        <p:nvSpPr>
          <p:cNvPr id="4" name="Text 2"/>
          <p:cNvSpPr txBox="1"/>
          <p:nvPr/>
        </p:nvSpPr>
        <p:spPr>
          <a:xfrm>
            <a:off x="548640" y="1481328"/>
            <a:ext cx="566928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피쉬본 — 여섯 시각</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머리 = 수집가가 컬렉션 관리를 그만둔다</a:t>
            </a:r>
            <a:endParaRPr lang="ko-KR" altLang="en-US" sz="13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5715000" cy="914400"/>
        </p:xfrm>
        <a:graphic>
          <a:graphicData uri="http://schemas.openxmlformats.org/drawingml/2006/table">
            <a:tbl>
              <a:tblPr/>
              <a:tblGrid>
                <a:gridCol w="1188720"/>
                <a:gridCol w="4526280"/>
              </a:tblGrid>
              <a:tr h="640080">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시각</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원인 (리뷰 #)</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모바일 UX</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웹 메뉴를 앱에 그대로 · 기능마다 새 창 (#2)</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사용성</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쇼케이스 · 컬렉션 차이가 안 보임 · 상태가 모양으로 안 갈림 (#1)</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데이터</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일반판 누락 · 사용자가 추가 · 오류 표시 못 함 · 시세 출처 불명</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API</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시세 조회 횟수 제한(유료 유도) · 스캔 → 검색 연결 멈춤 (#3)</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네트워크</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스캐너 멈춤 · 원치 않는 새로고침 · 처음 화면으로 튕김 (#4)</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프로세스</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화면마다 광고 · 구독 정책 변경 · 사이트를 흡수하며 복잡해짐</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6" name="Shape 3"/>
          <p:cNvSpPr/>
          <p:nvPr/>
        </p:nvSpPr>
        <p:spPr>
          <a:xfrm>
            <a:off x="6537960" y="1481328"/>
            <a:ext cx="5102352" cy="777240"/>
          </a:xfrm>
          <a:prstGeom prst="roundRect">
            <a:avLst>
              <a:gd name="adj" fmla="val 14118"/>
            </a:avLst>
          </a:prstGeom>
          <a:solidFill>
            <a:srgbClr val="FFF4E2"/>
          </a:solidFill>
          <a:ln/>
        </p:spPr>
      </p:sp>
      <p:sp>
        <p:nvSpPr>
          <p:cNvPr id="7" name="Text 4"/>
          <p:cNvSpPr txBox="1"/>
          <p:nvPr/>
        </p:nvSpPr>
        <p:spPr>
          <a:xfrm>
            <a:off x="6766560" y="1572768"/>
            <a:ext cx="4663440" cy="603504"/>
          </a:xfrm>
          <a:prstGeom prst="rect">
            <a:avLst/>
          </a:prstGeom>
          <a:noFill/>
          <a:ln/>
        </p:spPr>
        <p:txBody>
          <a:bodyPr wrap="square" lIns="0" tIns="0" rIns="0" bIns="0" rtlCol="0" anchor="ctr"/>
          <a:lstStyle/>
          <a:p>
            <a:pPr indent="0" marL="0">
              <a:buNone/>
            </a:pPr>
            <a:r>
              <a:rPr lang="ko-KR" altLang="en-US" sz="1150" b="1" dirty="0">
                <a:solidFill>
                  <a:srgbClr val="B86E00"/>
                </a:solidFill>
                <a:latin typeface="Malgun Gothic" pitchFamily="34" charset="0"/>
                <a:ea typeface="Malgun Gothic" pitchFamily="34" charset="-122"/>
                <a:cs typeface="Malgun Gothic" pitchFamily="34" charset="-120"/>
              </a:rPr>
              <a:t>우선순위 1  </a:t>
            </a:r>
            <a:pPr indent="0" marL="0">
              <a:buNone/>
            </a:pPr>
            <a:r>
              <a:rPr lang="ko-KR" altLang="en-US" sz="1150" dirty="0">
                <a:solidFill>
                  <a:srgbClr val="111111"/>
                </a:solidFill>
                <a:latin typeface="Malgun Gothic" pitchFamily="34" charset="0"/>
                <a:ea typeface="Malgun Gothic" pitchFamily="34" charset="-122"/>
                <a:cs typeface="Malgun Gothic" pitchFamily="34" charset="-120"/>
              </a:rPr>
              <a:t>사용성 “익히기 어렵다” — ★5 리뷰도 지적, 모든 단계에 영향, UI로 고칠 수 있다</a:t>
            </a:r>
            <a:endParaRPr lang="ko-KR" altLang="en-US" sz="1150" dirty="0"/>
          </a:p>
        </p:txBody>
      </p:sp>
      <p:sp>
        <p:nvSpPr>
          <p:cNvPr id="8" name="Text 5"/>
          <p:cNvSpPr txBox="1"/>
          <p:nvPr/>
        </p:nvSpPr>
        <p:spPr>
          <a:xfrm>
            <a:off x="6537960" y="239572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1</a:t>
            </a:r>
            <a:endParaRPr lang="ko-KR" altLang="en-US" sz="1100" dirty="0"/>
          </a:p>
        </p:txBody>
      </p:sp>
      <p:sp>
        <p:nvSpPr>
          <p:cNvPr id="9" name="Text 6"/>
          <p:cNvSpPr txBox="1"/>
          <p:nvPr/>
        </p:nvSpPr>
        <p:spPr>
          <a:xfrm>
            <a:off x="7223760" y="239572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익히기 어렵나? → 메뉴가 많고 누를 때마다 다른 창이 열린다</a:t>
            </a:r>
            <a:endParaRPr lang="ko-KR" altLang="en-US" sz="1150" dirty="0"/>
          </a:p>
        </p:txBody>
      </p:sp>
      <p:sp>
        <p:nvSpPr>
          <p:cNvPr id="10" name="Text 7"/>
          <p:cNvSpPr txBox="1"/>
          <p:nvPr/>
        </p:nvSpPr>
        <p:spPr>
          <a:xfrm>
            <a:off x="6537960" y="294436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2</a:t>
            </a:r>
            <a:endParaRPr lang="ko-KR" altLang="en-US" sz="1100" dirty="0"/>
          </a:p>
        </p:txBody>
      </p:sp>
      <p:sp>
        <p:nvSpPr>
          <p:cNvPr id="11" name="Text 8"/>
          <p:cNvSpPr txBox="1"/>
          <p:nvPr/>
        </p:nvSpPr>
        <p:spPr>
          <a:xfrm>
            <a:off x="7223760" y="294436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메뉴가 많나? → 웹사이트 정보 구조를 그대로 앱에 넣었다</a:t>
            </a:r>
            <a:endParaRPr lang="ko-KR" altLang="en-US" sz="1150" dirty="0"/>
          </a:p>
        </p:txBody>
      </p:sp>
      <p:sp>
        <p:nvSpPr>
          <p:cNvPr id="12" name="Text 9"/>
          <p:cNvSpPr txBox="1"/>
          <p:nvPr/>
        </p:nvSpPr>
        <p:spPr>
          <a:xfrm>
            <a:off x="6537960" y="349300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3</a:t>
            </a:r>
            <a:endParaRPr lang="ko-KR" altLang="en-US" sz="1100" dirty="0"/>
          </a:p>
        </p:txBody>
      </p:sp>
      <p:sp>
        <p:nvSpPr>
          <p:cNvPr id="13" name="Text 10"/>
          <p:cNvSpPr txBox="1"/>
          <p:nvPr/>
        </p:nvSpPr>
        <p:spPr>
          <a:xfrm>
            <a:off x="7223760" y="349300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웹 구조 그대로? → "데이터베이스를 보여 주는 창"으로 설계했다</a:t>
            </a:r>
            <a:endParaRPr lang="ko-KR" altLang="en-US" sz="1150" dirty="0"/>
          </a:p>
        </p:txBody>
      </p:sp>
      <p:sp>
        <p:nvSpPr>
          <p:cNvPr id="14" name="Text 11"/>
          <p:cNvSpPr txBox="1"/>
          <p:nvPr/>
        </p:nvSpPr>
        <p:spPr>
          <a:xfrm>
            <a:off x="6537960" y="404164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4</a:t>
            </a:r>
            <a:endParaRPr lang="ko-KR" altLang="en-US" sz="1100" dirty="0"/>
          </a:p>
        </p:txBody>
      </p:sp>
      <p:sp>
        <p:nvSpPr>
          <p:cNvPr id="15" name="Text 12"/>
          <p:cNvSpPr txBox="1"/>
          <p:nvPr/>
        </p:nvSpPr>
        <p:spPr>
          <a:xfrm>
            <a:off x="7223760" y="404164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데이터 종류로? → 모든 분야를 한 메뉴로 — 관심 분야가 화면에 없다</a:t>
            </a:r>
            <a:endParaRPr lang="ko-KR" altLang="en-US" sz="1150" dirty="0"/>
          </a:p>
        </p:txBody>
      </p:sp>
      <p:sp>
        <p:nvSpPr>
          <p:cNvPr id="16" name="Shape 13"/>
          <p:cNvSpPr/>
          <p:nvPr/>
        </p:nvSpPr>
        <p:spPr>
          <a:xfrm>
            <a:off x="6537960" y="4636008"/>
            <a:ext cx="5102352" cy="1645920"/>
          </a:xfrm>
          <a:prstGeom prst="roundRect">
            <a:avLst>
              <a:gd name="adj" fmla="val 7778"/>
            </a:avLst>
          </a:prstGeom>
          <a:solidFill>
            <a:srgbClr val="EAF4FC"/>
          </a:solidFill>
          <a:ln/>
        </p:spPr>
      </p:sp>
      <p:sp>
        <p:nvSpPr>
          <p:cNvPr id="17" name="Text 14"/>
          <p:cNvSpPr txBox="1"/>
          <p:nvPr/>
        </p:nvSpPr>
        <p:spPr>
          <a:xfrm>
            <a:off x="6766560" y="4754880"/>
            <a:ext cx="4663440" cy="237744"/>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5 — 근본 원인</a:t>
            </a:r>
            <a:endParaRPr lang="ko-KR" altLang="en-US" sz="1100" dirty="0"/>
          </a:p>
        </p:txBody>
      </p:sp>
      <p:sp>
        <p:nvSpPr>
          <p:cNvPr id="18" name="Text 15"/>
          <p:cNvSpPr txBox="1"/>
          <p:nvPr/>
        </p:nvSpPr>
        <p:spPr>
          <a:xfrm>
            <a:off x="6766560" y="5010912"/>
            <a:ext cx="4663440" cy="566928"/>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관심 분야(채널)와 내가 하는 일의 순서가 화면 구조의 기준이 아니다</a:t>
            </a:r>
            <a:endParaRPr lang="ko-KR" altLang="en-US" sz="1350" dirty="0"/>
          </a:p>
        </p:txBody>
      </p:sp>
      <p:sp>
        <p:nvSpPr>
          <p:cNvPr id="19" name="Text 16"/>
          <p:cNvSpPr txBox="1"/>
          <p:nvPr/>
        </p:nvSpPr>
        <p:spPr>
          <a:xfrm>
            <a:off x="6766560" y="5596128"/>
            <a:ext cx="4663440" cy="59436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 v2: 위 내 채널 바 하나(C-1) · 아래 탭 = 홈 · 검색 · 카메라 · 캘린더 · 컬렉션(S-3) · 새 창 대신 시트 · 같은 탭 안 보기</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1/3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A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a_home_screen.dart</a:t>
            </a:r>
            <a:endParaRPr lang="ko-KR" altLang="en-US" sz="9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ChannelHeader</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아바타 줄 + 내 채널 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채널이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P04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채널을 외우지 않음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네 탭 같은 머리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GpSearchBar 입구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검색창 · 카메라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찾기는 늘 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탭 이동 없이 검색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 화면과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예고 배너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소식 1장</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4초마다 자동 넘김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이미지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배너 아래 상태 · 제목</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예고 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발표 → 확정 → 예약</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지금 단계를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 글자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SectionHeader (막대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이름 · 전체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줄마다 이름 하나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P06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로 같은 탭 전체 목록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새 창 대신 탭 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가로 ListView + ProductTile</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최근 추가 · 발매 · 예고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 이름만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옆으로 훑기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날짜 · 가격은 상세에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 · 빈 채널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 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 버튼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 모든 GET</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 회백색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사이 층 구분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선 없이 경계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덜 복잡해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10dp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QuickMarks (리본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왼쪽 위 리본 · 아래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상세에 안 들어감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앱 전체 한 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16화면 147요소 전체: docs/디자인가이드.md 3장 (코드 맨 위 대응표에서 생성) · 코드 주석 // A-1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2/3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D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상품 상세</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detail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d_kit_detail_screen.dart</a:t>
            </a:r>
            <a:endParaRPr lang="ko-KR" altLang="en-US" sz="9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20624">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넘겨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제목 + 일본어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상품명 (원문)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이름 → 원래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검색에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원문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 + 발매일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일본 정가 · 발매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숫자 =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엔화 = 일본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한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바로 아래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횟수 제한 없음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시세는 이 한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구매가"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내가 낸 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구매함일 때만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원화 = 내 구매가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고정 ♡ · 리본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화면 아래 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내려 읽어도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쇼핑 앱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정보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 전체 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때만 펼침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분류 · 작품 · 라인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시트 3칸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 자세히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범위 · 플랫폼 3곳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없으면 찾을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거래 n건 표시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TextButton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정보 오류 제보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보내기 전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실수 전송 막음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폼 대신 한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왼쪽 복사 · 공식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복사 · 공식 페이지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출처는 작게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P10</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 번에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 출처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6217920"/>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D-1 · D-10 · D-11 · D-13 → 16화면 147요소 전체: docs/디자인가이드.md 3장 (코드 맨 위 대응표에서 생성) · 코드 주석 // D-2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3/3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G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도감</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guid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g_guide_view.dart</a:t>
            </a:r>
            <a:endParaRPr lang="ko-KR" altLang="en-US" sz="9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 바텀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도감 읽는 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범례는 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P10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긴 범례 줄 대신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카드 + 진행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도감 (n/전체)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 수집 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남은 개수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막대 = 민트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칸 격자 4단계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흑백 → 컬러 → 테두리 →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모을수록 밝아짐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한눈에 진행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4단계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Lv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레벨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1 · 2 · 3점, 5점마다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다음 레벨까지 n점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오르는 느낌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 위 MarkOverlay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칸에서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 사진과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없이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리본 · ♡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바텀 시트: 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 기체의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상세로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덮기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TogglePill 3개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 내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세 단계 따로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따로 켜고 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되돌리기 토스트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고르기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사진 인증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그 기체가 찍혀야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실패하면 안내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미리 쓴 판정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G-1 · G-6 · G-7 → 16화면 147요소 전체: docs/디자인가이드.md 3장 (코드 맨 위 대응표에서 생성) · 코드 주석 // G-2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B5-5 · 기획 상세 — 상태관리 포인트 (표시만)</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바뀌는 데이터와 그것을 보여 줄 위젯</a:t>
            </a:r>
            <a:endParaRPr lang="ko-KR" altLang="en-US" sz="28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502920"/>
                <a:gridCol w="1188720"/>
                <a:gridCol w="1737360"/>
                <a:gridCol w="2834640"/>
                <a:gridCol w="2514600"/>
                <a:gridCol w="2313432"/>
              </a:tblGrid>
              <a:tr h="45720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바뀌는 데이터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언제 바뀌나 (사용자 행동)</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보여질 위젯 (요소 번호)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코드 // STATE: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S1</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앱 전체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좋아요 · 구매함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A-9 · D-6 · G-4b 누름 · F-6 삭제 · F-10 복원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모든 ♡ · 리본 · F-2 개수 · I-4 숫자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marks.dart:25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반반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오른쪽 칸에 연 것</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카드를 눌러 openPage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왼쪽 카드 테두리 · 줄 바탕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detail_pane.dart:30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내 채널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C-4 · C-5 더하기 · 빼기 · 순서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네 탭의 채널 바 · 목록 범위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s_app_shell.dart:83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탭 바 · 위 줄 보임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아래로 / 위로 스크롤</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S-8 탭 바 · S-13 아바타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s_app_shell.dart:236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 전체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필터 · 정렬 ·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O-2 패널 적용 · O-3 정렬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O-4 격자/목록 · 조건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o_see_all_screen.dart:243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 도감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칸 단계 · 내 사진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G-4b · G-5b · G-5c 인증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 칸 · G-4a Lv</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g_guide_view.dart:486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 알림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읽음 · 지움 · 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N-4 모두 읽음 · 밀어 지우기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N-3 점 · 굵은 제목 · 탭 개수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n_notifications_screen.dart:112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 내 정보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공개 범위 · 워터마크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I-9 · I-10 · I-7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I-6 게시물 칸 · 제목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i_profile_screen.dart:119</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15000"/>
            <a:ext cx="11064240" cy="56692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S1 · S2 (초록) = 맨 위 StatefulWidget 의 setState + InheritedWidget, 나머지 = 그 화면의 setState.  </a:t>
            </a:r>
            <a:pPr indent="0" marL="0">
              <a:buNone/>
            </a:pPr>
            <a:r>
              <a:rPr lang="ko-KR" altLang="en-US" sz="1050" dirty="0">
                <a:solidFill>
                  <a:srgbClr val="3D4148"/>
                </a:solidFill>
                <a:latin typeface="Malgun Gothic" pitchFamily="34" charset="0"/>
                <a:ea typeface="Malgun Gothic" pitchFamily="34" charset="-122"/>
                <a:cs typeface="Malgun Gothic" pitchFamily="34" charset="-120"/>
              </a:rPr>
              <a:t>표시 74곳: grep -rn "STATE:" lib  ·  구현하지 않는 것: Provider · Riverpod · Bloc 같은 상태관리 패키지, 영구 저장 — 앱을 끄면 db.json 처음 값</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44</a:t>
            </a:fld>
            <a:endParaRPr lang="ko-KR" alt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Hobby Atlas — GAI3008-01 중간고사 발표</dc:title>
  <dc:subject>PptxGenJS Presentation</dc:subject>
  <dc:creator>ZHENG BOWEN</dc:creator>
  <cp:lastModifiedBy>ZHENG BOWEN</cp:lastModifiedBy>
  <cp:revision>1</cp:revision>
  <dcterms:created xsi:type="dcterms:W3CDTF">2026-10-29T06:43:04Z</dcterms:created>
  <dcterms:modified xsi:type="dcterms:W3CDTF">2026-10-29T06:43:04Z</dcterms:modified>
</cp:coreProperties>
</file>