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본문" id="{18df33a2-8014-22c7-a911-0a78f4cacd4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부록" id="{0c68d54a-4bb0-ebaa-8356-d610774d1be4}">
          <p14:sldIdLst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1장 · 표지
안녕하세요. Hobby Atlas를 발표할 ZHENG BOWEN입니다.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2장 · 목차
개요, 문제 정의, 화면이 바뀐 과정, 셀프 논증, 구현, 데모 순서로 말씀드리겠습니다.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3장 · 프로젝트 개요 1/2
Hobby Atlas는 피규어와 프라모델 수집가를 위한 앱입니다. 관심 있는 IP의 새 소식을 먼저 보고, 하트와 리본으로 한 번에 기록하면 도감이 켜집니다.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4장 · 프로젝트 개요 2/2
왼쪽이 AI가 처음 만든 버전, 오른쪽이 지금입니다. 처음엔 hobbyDB처럼 상품 목록뿐이어서, 제가 화면을 다시 설계했습니다.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5장 · 문제 정의 1/4 — 왜 만들었나
건담 하나만 해도 프라모델, 완성품, 한정판, 경품을 사는 곳이 다 다릅니다. 공식 사이트끼리 연결이 없어서 지난 상품은 찾기도 어렵습니다.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6장 · 문제 정의 2/5 — 기존 앱 hobbyDB
기존 앱 hobbyDB는 이렇게 생겼습니다. 맨 위에 웹사이트 메뉴가 그대로 있고, 새 소식이나 발매일은 없습니다.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7장 · 문제 정의 2/4 — 기존 앱 리뷰
그 hobbyDB의 리뷰를 보면, 버그보다 없는 기능과 불편함이 많습니다. 라인별 정리, 신상품, 넣고 빼기, 자기 나라 통화 시세입니다. 오른쪽이 Hobby Atlas의 답입니다.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8장 · 문제 정의 3/4 — 퍼소나
이 앱을 쓸 사람은 수집 4년차 대학생 민준입니다. 등하굣길에는 여러 사이트를 따로 보고, 매장에서는 이미 샀는지 헷갈리고, 집에서는 동생과 겹쳐 산 것을 발견합니다.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9장 · 문제 정의 4/4 — 근본 원인
민준이 가장 막히는 곳은 살지 판단하는 순간입니다. 5 Why로 내려가 보니 근본 원인은, 화면이 내 관심 IP와 내가 하는 일의 순서로 짜여 있지 않다는 것이었습니다.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10장 · 해결 방법 — 홈 시안
홈은 위아래로 나열하지 말자고 했고, AI가 세 가지 시안을 보여 줬습니다. AI는 B를 추천했지만, 저는 사진이 가장 크고 많은 A를 골랐습니다. 수집가는 이름보다 사진으로 상품을 알아보기 때문입니다.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11장 · 해결 방법 — 홈 · 채널 · 가로 줄
노란 칸이 제 요청 원문, 아래가 제가 보여 준 다른 앱 캡처와 바뀐 화면입니다. 채널 관리 화면, PS Store와 Prime Video 같은 앱을 보여 주고 배너와 가로 줄로 바꿨고, IMDb처럼 세로 막대와 앱 색을 넣었습니다.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12장 · 해결 방법 — 전체 목록 · 필터
AI가 전체 목록을 새 화면으로, 상태로 거르게 만들었지만, 저는 홈 아래에서 작품별로 거르게 했습니다. 알약 줄은 너무 못생겨서 토이저러스 필터를 보여 주고 오른쪽 패널로 바꿨습니다.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13장 · 해결 방법 — 상품 상세 1/2
상품 상세는 타오바오 캡처처럼 공식 정보를 작은 줄로 접고, 검정 바탕 흰 글자는 모두 뺐습니다. 필요 없는 분류 줄도 지우고 버튼을 줄였습니다.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14장 · 해결 방법 — 좋아요 · 구매함 · 도감
사진에서 바로 하트와 리본을 누르게 했고, 하나 더 모으면 레벨이 오르는 도감을 만들었습니다. 홈 사진의 표시는 IMDb 캡처처럼 바꿨습니다.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15장 · 해결 방법 — 친구 · 넓은 창
친구 화면은 QQ처럼 옆으로 여는 서랍으로, 넓은 창은 QQ 폴드 화면처럼 반반으로 만들었습니다.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16장 · 셀프 논증 1/2 — 내가 AI를 반박
셀프 논증은 내 설계를 반론으로 다져 보는 것입니다. 저는 AI를 반박했습니다. AI는 코드와 부품을 재사용하지 않고 매번 새로 만들었고, 같은 뜻에 다른 아이콘을 쓰고, 모든 걸 위아래로 나열하고, 같은 내용을 여러 곳에 반복했습니다. 그때마다 지적해서 공용 위젯, 가로 줄, 한 곳 표시로 고쳤습니다.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17장 · 셀프 논증 2/2
AI에게도 제 UI의 문제를 물었고, 근거가 있는 반론은 받아들였습니다. 왼쪽이 전, 오른쪽이 후입니다. 근거가 없는 AI 제안은 오른쪽처럼 버렸습니다.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18장 · Flutter 구현
구현은 위젯 트리 하나입니다. 화면 이동 세 가지, json-server GET, 로딩 · 오류 · 빈 상태, 창 너비에 따른 반반 화면이 있고, 상태관리 패키지 없이 setState를 맨 위로 올렸습니다.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19장 · 데모 (라이브)
배포된 주소로 직접 보여 드리겠습니다. QR로 여셔도 됩니다. [홈] 이 상품의 리본을 누르면 구매함에 들어갑니다. [카메라] 찍으면 후보가 나옵니다. 미리 정해 둔 결과입니다. [컬렉션] 방금 담은 상품이 여기 있습니다. [도감] 칸이 켜지고 레벨이 오릅니다. [창 넓히기] 왼쪽은 앱, 오른쪽은 상세입니다. [오류] 인터넷을 끄고 채널을 바꾸면 다시 시도 버튼이 나옵니다.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20장 · Personal Learnings
가장 크게 배운 것은 화면을 사용자가 하는 일의 순서로 나눠야 한다는 것입니다. 감사합니다.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21장 · Q&amp;A
질문 받겠습니다.
Q1. 왜 하필 hobbyDB를 바탕으로 골랐나요?
A. 여러 브랜드의 수집품을 한 앱에 모으는 거의 유일한 앱이라, 브랜드마다 흩어진 정보라는 제 문제에 가장 가깝습니다. 별점은 4.8이지만 웹사이트 메뉴를 그대로 옮긴 구조라, 라인별 정리 · 신상품 · 넣고 빼기 같은 "없는 기능 · 불편" 리뷰가 많았습니다. 그래서 구조를 다시 설계할 가치가 있다고 봤습니다.
Q2. 다음 버전(v3)에서 가장 먼저 추가할 기능은?
A. 첫째, 지금은 앱을 끄면 사라지는 좋아요 · 구매함 · 도감 기록을 저장하겠습니다. 둘째, 브랜드마다 흩어진 공식 예고를 자동으로 모으는 것, 셋째, 실제 사진 인식입니다. 로고와 앱 아이콘도 확정하겠습니다.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【부록 — 질의 응답 때만】
본문에서는 넘기지 않는다. 질문에 맞는 부록 장으로 바로 이동(장 번호 + Enter).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【부록 — 질의 응답 때만】
'다른 화면은요?' — 화면 16개 목록은 README 3장 · 디자인 가이드 1장.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【부록 — 질의 응답 때만】
나머지 화면. 카메라 결과 · AI 후보는 미리 쓴 임의 결과(디자인 가이드 4장).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【부록 — 질의 응답 때만】
같은 홈 화면을 --dart-define=DEMO_STATE 로 실행한 3상태. 서버를 끄고 채널을 바꿔도 오류 + 다시 시도가 나온다.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【부록 — 질의 응답 때만】
P01 시스템 상태의 가시성 — 원칙 → 근거(리뷰) → 적용(요소 번호) → 시연 → 판단(버린 대안) 순서로. 원본 docs/원칙카드.md, 코드 grep -rn "P01" lib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【부록 — 질의 응답 때만】
P02 시스템과 실세계의 일치 — 원칙 → 근거(리뷰) → 적용(요소 번호) → 시연 → 판단(버린 대안) 순서로. 원본 docs/원칙카드.md, 코드 grep -rn "P02" lib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【부록 — 질의 응답 때만】
P03 사용자 통제와 자유 — 원칙 → 근거(리뷰) → 적용(요소 번호) → 시연 → 판단(버린 대안) 순서로. 원본 docs/원칙카드.md, 코드 grep -rn "P03" lib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【부록 — 질의 응답 때만】
P04 일관성과 표준 — 원칙 → 근거(리뷰) → 적용(요소 번호) → 시연 → 판단(버린 대안) 순서로. 원본 docs/원칙카드.md, 코드 grep -rn "P04" lib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【부록 — 질의 응답 때만】
P05 오류 예방 — 원칙 → 근거(리뷰) → 적용(요소 번호) → 시연 → 판단(버린 대안) 순서로. 원본 docs/원칙카드.md, 코드 grep -rn "P05" lib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【부록 — 질의 응답 때만】
P06 기억보다 재인 — 원칙 → 근거(리뷰) → 적용(요소 번호) → 시연 → 판단(버린 대안) 순서로. 원본 docs/원칙카드.md, 코드 grep -rn "P06" lib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【부록 — 질의 응답 때만】
P07 사용의 유연성과 효율성 — 원칙 → 근거(리뷰) → 적용(요소 번호) → 시연 → 판단(버린 대안) 순서로. 원본 docs/원칙카드.md, 코드 grep -rn "P07" lib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【부록 — 질의 응답 때만】
P08 미학적이고 미니멀한 디자인 — 원칙 → 근거(리뷰) → 적용(요소 번호) → 시연 → 판단(버린 대안) 순서로. 원본 docs/원칙카드.md, 코드 grep -rn "P08" lib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【부록 — 질의 응답 때만】
P09 오류 인식 · 진단 · 복구 돕기 — 원칙 → 근거(리뷰) → 적용(요소 번호) → 시연 → 판단(버린 대안) 순서로. 원본 docs/원칙카드.md, 코드 grep -rn "P09" lib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【부록 — 질의 응답 때만】
P10 도움말과 문서 — 원칙 → 근거(리뷰) → 적용(요소 번호) → 시연 → 판단(버린 대안) 순서로. 원본 docs/원칙카드.md, 코드 grep -rn "P10" lib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【부록 — 질의 응답 때만】
'AI를 어떻게 썼나요?' — 요청 → AI 결과 → 내 판단 → 이유. 받아들이지 않은 예: 10/25 홈 › 전체 목록(알약 거르기 폐기), 로고 시안 폐기.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【부록 — 질의 응답 때만】
'AI를 어떻게 썼나요?' — 요청 → AI 결과 → 내 판단 → 이유. 받아들이지 않은 예: 10/25 홈 › 전체 목록(알약 거르기 폐기), 로고 시안 폐기.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【부록 — 질의 응답 때만】
발표 때 넘기지 않는다 — 제출 전 자가 칸을 직접 채운다. 감점 grep 결과 없음(2026.10.26).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【부록 — 질의 응답 때만】
'누구를 위해 왜 고치나요?' — 목표 → 퍼소나 → 문제 4가지 → 핵심 가치. 범위는 UI만(저장 · 로그인 · 결제 · 실제 인식 없음). 원본 docs/기획.md 2장.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【부록 — 질의 응답 때만】
목표에서 출발해 단계별 리뷰와 감정을 짚고, 최저점 ③ 살지 판단과 어긴 원칙 P07 · P08 · P10. 필요한 데이터 = json-server GET 필드.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【부록 — 질의 응답 때만】
피쉬본 머리 → 여섯 시각 → 우선순위 "익히기 어렵다" → 5 Why → 근본 원인 → v2 C-1 · S-3. 원본 docs/기획.md 4 · 5장.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【부록 — 질의 응답 때만】
화면 A 요소를 번호로 — 위젯명 · 비즈니스 명칭 · 정보 전달 기준 · P번호 · 편의성 · 가이드 글. 번호는 캡처 · 코드 주석과 같다.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【부록 — 질의 응답 때만】
화면 D 요소를 번호로 — 위젯명 · 비즈니스 명칭 · 정보 전달 기준 · P번호 · 편의성 · 가이드 글. 번호는 캡처 · 코드 주석과 같다.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【부록 — 질의 응답 때만】
화면 G 요소를 번호로 — 위젯명 · 비즈니스 명칭 · 정보 전달 기준 · P번호 · 편의성 · 가이드 글. 번호는 캡처 · 코드 주석과 같다.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【부록 — 질의 응답 때만】
'어떤 데이터가 바뀌고 어느 위젯이 보여 주나'를 S번호로. 패키지 없음 · 저장 안 함. 원본 docs/디자인가이드.md 5장.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GAI3008-01 응용모바일프로그래밍 · 중간고사 · Hobby Atlas · ZHENG BOWEN</a:t>
            </a:r>
            <a:endParaRPr lang="ko-KR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ko-KR" sz="900">
                <a:solidFill>
                  <a:srgbClr val="9AA0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1003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PPX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— 질의 응답 때만 · Hobby Atlas</a:t>
            </a:r>
            <a:endParaRPr lang="ko-KR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ko-KR" sz="900">
                <a:solidFill>
                  <a:srgbClr val="9AA0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1004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ko-KR" sz="900">
                <a:solidFill>
                  <a:srgbClr val="9AA0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1005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ko-KR" sz="900">
                <a:solidFill>
                  <a:srgbClr val="9AA0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null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lang="ko-KR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lang="ko-KR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lang="ko-KR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lang="ko-KR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lang="ko-KR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lang="ko-KR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lang="ko-KR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lang="ko-KR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lang="ko-KR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lang="ko-KR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 altLang="en-US"/>
      </a:defPPr>
      <a:lvl1pPr marL="0" algn="l" defTabSz="914400" rtl="0" eaLnBrk="1" latinLnBrk="0" hangingPunct="1">
        <a:defRPr lang="ko-K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ko-K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ko-K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ko-K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ko-K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ko-K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ko-K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ko-K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ko-K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GAI3008-01 응용모바일프로그래밍 · 중간고사 발표</a:t>
            </a:r>
            <a:endParaRPr lang="ko-KR" alt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9144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2026. 10. 29</a:t>
            </a:r>
            <a:endParaRPr lang="ko-KR" alt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14884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hobbyDB v2 재설계 · UX/UI 기획 + Flutter UI 프로토타입</a:t>
            </a:r>
            <a:endParaRPr lang="ko-KR" altLang="en-US" sz="1400" dirty="0"/>
          </a:p>
        </p:txBody>
      </p:sp>
      <p:pic>
        <p:nvPicPr>
          <p:cNvPr id="5" name="Image 0" descr="C:\Users\Windows11\AppData\Local\Temp\claude\C--Users-Windows11-Desktop-New-folder--2-\a0c8a1d0-32ba-4ae6-9843-b5ebc69d925f\scratchpad\deck2/img/appicon_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749808" cy="7498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514600"/>
            <a:ext cx="603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60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Hobby Atlas</a:t>
            </a:r>
            <a:endParaRPr lang="ko-KR" alt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54787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240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소식부터 내 도감까지, 수집가의 한 앱</a:t>
            </a:r>
            <a:endParaRPr lang="ko-KR" alt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507492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ZHENG BOWEN</a:t>
            </a:r>
            <a:endParaRPr lang="ko-KR" alt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422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2023106124 · 1인 1팀</a:t>
            </a:r>
            <a:endParaRPr lang="ko-KR" alt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58521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mdefitko777.github.io/gunpula-flutter</a:t>
            </a:r>
            <a:endParaRPr lang="ko-KR" alt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086600" y="548640"/>
            <a:ext cx="4553712" cy="5760720"/>
          </a:xfrm>
          <a:prstGeom prst="roundRect">
            <a:avLst>
              <a:gd name="adj" fmla="val 6024"/>
            </a:avLst>
          </a:prstGeom>
          <a:solidFill>
            <a:srgbClr val="F4F5F7"/>
          </a:solidFill>
          <a:ln/>
        </p:spPr>
      </p:sp>
      <p:sp>
        <p:nvSpPr>
          <p:cNvPr id="12" name="Shape 9"/>
          <p:cNvSpPr/>
          <p:nvPr/>
        </p:nvSpPr>
        <p:spPr>
          <a:xfrm>
            <a:off x="8219784" y="932688"/>
            <a:ext cx="2287343" cy="4992624"/>
          </a:xfrm>
          <a:prstGeom prst="roundRect">
            <a:avLst>
              <a:gd name="adj" fmla="val 76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1" descr="C:\Users\Windows11\AppData\Local\Temp\claude\C--Users-Windows11-Desktop-New-folder--2-\a0c8a1d0-32ba-4ae6-9843-b5ebc69d925f\scratchpad\deck2/img/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1496" y="914400"/>
            <a:ext cx="2323919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 목차</a:t>
            </a:r>
            <a:endParaRPr lang="ko-KR" alt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말씀드릴 순서</a:t>
            </a:r>
            <a:endParaRPr lang="ko-KR" alt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73352"/>
            <a:ext cx="347472" cy="347472"/>
          </a:xfrm>
          <a:prstGeom prst="ellipse">
            <a:avLst/>
          </a:prstGeom>
          <a:solidFill>
            <a:srgbClr val="1C86D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73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alt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65506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ko-KR" alt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165506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앱인가 · 내 앱이 바뀐 과정 한눈에</a:t>
            </a:r>
            <a:endParaRPr lang="ko-KR" alt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97280" y="2121408"/>
            <a:ext cx="6858000" cy="0"/>
          </a:xfrm>
          <a:prstGeom prst="line">
            <a:avLst/>
          </a:prstGeom>
          <a:noFill/>
          <a:ln w="9525">
            <a:solidFill>
              <a:srgbClr val="E3E5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221992"/>
            <a:ext cx="347472" cy="347472"/>
          </a:xfrm>
          <a:prstGeom prst="ellipse">
            <a:avLst/>
          </a:prstGeom>
          <a:solidFill>
            <a:srgbClr val="1C86D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221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alt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20370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</a:t>
            </a:r>
            <a:endParaRPr lang="ko-KR" alt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220370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만들었나 · 기존 앱에 없는 기능 · 근본 원인</a:t>
            </a:r>
            <a:endParaRPr lang="ko-KR" alt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97280" y="2670048"/>
            <a:ext cx="6858000" cy="0"/>
          </a:xfrm>
          <a:prstGeom prst="line">
            <a:avLst/>
          </a:prstGeom>
          <a:noFill/>
          <a:ln w="9525">
            <a:solidFill>
              <a:srgbClr val="E3E5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770632"/>
            <a:ext cx="347472" cy="347472"/>
          </a:xfrm>
          <a:prstGeom prst="ellipse">
            <a:avLst/>
          </a:prstGeom>
          <a:solidFill>
            <a:srgbClr val="1C86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770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alt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75234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방법</a:t>
            </a:r>
            <a:endParaRPr lang="ko-KR" alt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3931920" y="275234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화면이 바뀐 과정 — 내 요청 → 바뀐 화면</a:t>
            </a:r>
            <a:endParaRPr lang="ko-KR" alt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97280" y="3218688"/>
            <a:ext cx="6858000" cy="0"/>
          </a:xfrm>
          <a:prstGeom prst="line">
            <a:avLst/>
          </a:prstGeom>
          <a:noFill/>
          <a:ln w="9525">
            <a:solidFill>
              <a:srgbClr val="E3E5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319272"/>
            <a:ext cx="347472" cy="347472"/>
          </a:xfrm>
          <a:prstGeom prst="ellipse">
            <a:avLst/>
          </a:prstGeom>
          <a:solidFill>
            <a:srgbClr val="1C86D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319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ko-KR" alt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3009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셀프 논증</a:t>
            </a:r>
            <a:endParaRPr lang="ko-KR" alt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3931920" y="330098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반론을 요청해 다진 결정</a:t>
            </a:r>
            <a:endParaRPr lang="ko-KR" alt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97280" y="3767328"/>
            <a:ext cx="6858000" cy="0"/>
          </a:xfrm>
          <a:prstGeom prst="line">
            <a:avLst/>
          </a:prstGeom>
          <a:noFill/>
          <a:ln w="9525">
            <a:solidFill>
              <a:srgbClr val="E3E5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867912"/>
            <a:ext cx="347472" cy="347472"/>
          </a:xfrm>
          <a:prstGeom prst="ellipse">
            <a:avLst/>
          </a:prstGeom>
          <a:solidFill>
            <a:srgbClr val="1C86D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3867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ko-KR" alt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384962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Flutter 구현</a:t>
            </a:r>
            <a:endParaRPr lang="ko-KR" alt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3931920" y="384962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위젯 트리 · 화면 이동 · 3상태 · 적응형</a:t>
            </a:r>
            <a:endParaRPr lang="ko-KR" alt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097280" y="4315968"/>
            <a:ext cx="6858000" cy="0"/>
          </a:xfrm>
          <a:prstGeom prst="line">
            <a:avLst/>
          </a:prstGeom>
          <a:noFill/>
          <a:ln w="9525">
            <a:solidFill>
              <a:srgbClr val="E3E5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416552"/>
            <a:ext cx="347472" cy="347472"/>
          </a:xfrm>
          <a:prstGeom prst="ellipse">
            <a:avLst/>
          </a:prstGeom>
          <a:solidFill>
            <a:srgbClr val="1C86D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48640" y="4416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ko-KR" alt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97280" y="439826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</a:t>
            </a:r>
            <a:endParaRPr lang="ko-KR" alt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3931920" y="439826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 시연</a:t>
            </a:r>
            <a:endParaRPr lang="ko-KR" alt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097280" y="4864608"/>
            <a:ext cx="6858000" cy="0"/>
          </a:xfrm>
          <a:prstGeom prst="line">
            <a:avLst/>
          </a:prstGeom>
          <a:noFill/>
          <a:ln w="9525">
            <a:solidFill>
              <a:srgbClr val="E3E5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4965192"/>
            <a:ext cx="347472" cy="347472"/>
          </a:xfrm>
          <a:prstGeom prst="ellipse">
            <a:avLst/>
          </a:prstGeom>
          <a:solidFill>
            <a:srgbClr val="1C86D9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48640" y="4965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ko-KR" alt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097280" y="494690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Personal Learnings</a:t>
            </a:r>
            <a:endParaRPr lang="ko-KR" alt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3931920" y="494690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점 · 다음 v3</a:t>
            </a:r>
            <a:endParaRPr lang="ko-KR" alt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1097280" y="5413248"/>
            <a:ext cx="6858000" cy="0"/>
          </a:xfrm>
          <a:prstGeom prst="line">
            <a:avLst/>
          </a:prstGeom>
          <a:noFill/>
          <a:ln w="9525">
            <a:solidFill>
              <a:srgbClr val="E3E5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" y="5513832"/>
            <a:ext cx="347472" cy="347472"/>
          </a:xfrm>
          <a:prstGeom prst="ellipse">
            <a:avLst/>
          </a:prstGeom>
          <a:solidFill>
            <a:srgbClr val="9AA0A6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48640" y="5513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ko-KR" alt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1097280" y="549554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</a:t>
            </a:r>
            <a:endParaRPr lang="ko-KR" altLang="en-US" sz="1700" dirty="0"/>
          </a:p>
        </p:txBody>
      </p:sp>
      <p:sp>
        <p:nvSpPr>
          <p:cNvPr id="42" name="Text 40"/>
          <p:cNvSpPr txBox="1"/>
          <p:nvPr/>
        </p:nvSpPr>
        <p:spPr>
          <a:xfrm>
            <a:off x="3931920" y="549554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부록으로 바로 답하기</a:t>
            </a:r>
            <a:endParaRPr lang="ko-KR" alt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8321040" y="1600200"/>
            <a:ext cx="3319272" cy="4389120"/>
          </a:xfrm>
          <a:prstGeom prst="roundRect">
            <a:avLst>
              <a:gd name="adj" fmla="val 4408"/>
            </a:avLst>
          </a:prstGeom>
          <a:solidFill>
            <a:srgbClr val="F4F5F7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595360" y="181051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— 질의 때만</a:t>
            </a:r>
            <a:endParaRPr lang="ko-KR" alt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8595360" y="22860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B1</a:t>
            </a:r>
            <a:endParaRPr lang="ko-KR" alt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9098280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및 스크린샷</a:t>
            </a:r>
            <a:endParaRPr lang="ko-KR" alt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9098280" y="256032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23장</a:t>
            </a:r>
            <a:endParaRPr lang="ko-KR" alt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8595360" y="299923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</a:t>
            </a:r>
            <a:endParaRPr lang="ko-KR" alt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9098280" y="2999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 카드 P01–P10</a:t>
            </a:r>
            <a:endParaRPr lang="ko-KR" alt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9098280" y="32735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26장</a:t>
            </a:r>
            <a:endParaRPr lang="ko-KR" alt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8595360" y="37124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B3</a:t>
            </a:r>
            <a:endParaRPr lang="ko-KR" alt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9098280" y="37124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prompt-log</a:t>
            </a:r>
            <a:endParaRPr lang="ko-KR" alt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9098280" y="398678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36장</a:t>
            </a:r>
            <a:endParaRPr lang="ko-KR" alt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8595360" y="442569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B4</a:t>
            </a:r>
            <a:endParaRPr lang="ko-KR" alt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9098280" y="44256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자가평가 요약</a:t>
            </a:r>
            <a:endParaRPr lang="ko-KR" alt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9098280" y="470001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38장</a:t>
            </a:r>
            <a:endParaRPr lang="ko-KR" alt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8595360" y="51389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B5</a:t>
            </a:r>
            <a:endParaRPr lang="ko-KR" alt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9098280" y="51389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상세</a:t>
            </a:r>
            <a:endParaRPr lang="ko-KR" alt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9098280" y="54132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39장</a:t>
            </a:r>
            <a:endParaRPr lang="ko-KR" alt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ko-KR" sz="900">
                <a:solidFill>
                  <a:srgbClr val="9AA0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2</a:t>
            </a:fld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 프로젝트 개요 1/2</a:t>
            </a:r>
            <a:endParaRPr lang="ko-KR" alt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Hobby Atlas는 어떤 앱인가요?</a:t>
            </a:r>
            <a:endParaRPr lang="ko-KR" alt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이름 · 부제</a:t>
            </a:r>
            <a:endParaRPr lang="ko-KR" altLang="en-US" sz="1050" dirty="0"/>
          </a:p>
        </p:txBody>
      </p:sp>
      <p:pic>
        <p:nvPicPr>
          <p:cNvPr id="5" name="Image 0" descr="C:\Users\Windows11\AppData\Local\Temp\claude\C--Users-Windows11-Desktop-New-folder--2-\a0c8a1d0-32ba-4ae6-9843-b5ebc69d925f\scratchpad\deck2/img/appicon_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572768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69280" y="26974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아이콘</a:t>
            </a:r>
            <a:endParaRPr lang="ko-KR" alt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810512"/>
            <a:ext cx="630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30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Hobby Atlas</a:t>
            </a:r>
            <a:pPr indent="0" marL="0">
              <a:buNone/>
            </a:pPr>
            <a:r>
              <a:rPr lang="ko-KR" altLang="en-US" sz="1200" b="1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약칭 HA</a:t>
            </a:r>
            <a:endParaRPr lang="ko-KR" alt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359152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80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소식부터 내 도감까지, 수집가의 한 앱</a:t>
            </a:r>
            <a:endParaRPr lang="ko-KR" alt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2926080"/>
            <a:ext cx="2514600" cy="329184"/>
          </a:xfrm>
          <a:prstGeom prst="roundRect">
            <a:avLst>
              <a:gd name="adj" fmla="val 50000"/>
            </a:avLst>
          </a:prstGeom>
          <a:solidFill>
            <a:srgbClr val="F4F5F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292608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   </a:t>
            </a:r>
            <a:pPr algn="ctr" indent="0" marL="0">
              <a:buNone/>
            </a:pPr>
            <a:r>
              <a:rPr lang="ko-KR" alt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라이프스타일 · 수집</a:t>
            </a:r>
            <a:endParaRPr lang="ko-KR" alt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172968" y="292608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F4F5F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172968" y="29260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  </a:t>
            </a:r>
            <a:pPr algn="ctr" indent="0" marL="0">
              <a:buNone/>
            </a:pPr>
            <a:r>
              <a:rPr lang="ko-KR" alt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20대 피규어 · 프라모델 수집가</a:t>
            </a:r>
            <a:endParaRPr lang="ko-KR" alt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3346704"/>
            <a:ext cx="5916168" cy="329184"/>
          </a:xfrm>
          <a:prstGeom prst="roundRect">
            <a:avLst>
              <a:gd name="adj" fmla="val 50000"/>
            </a:avLst>
          </a:prstGeom>
          <a:solidFill>
            <a:srgbClr val="F4F5F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3346704"/>
            <a:ext cx="5916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상황   </a:t>
            </a:r>
            <a:pPr algn="ctr" indent="0" marL="0">
              <a:buNone/>
            </a:pPr>
            <a:r>
              <a:rPr lang="ko-KR" alt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중엔 소식 → 매장에선 카메라 → 집에선 컬렉션 정리</a:t>
            </a:r>
            <a:endParaRPr lang="ko-KR" alt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4014216"/>
            <a:ext cx="384048" cy="384048"/>
          </a:xfrm>
          <a:prstGeom prst="ellipse">
            <a:avLst/>
          </a:prstGeom>
          <a:solidFill>
            <a:srgbClr val="1C86D9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8640" y="4014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alt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115568" y="39776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채널 새 소식</a:t>
            </a:r>
            <a:endParaRPr lang="ko-KR" alt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115568" y="428853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 IP만 골라 공식 예고 · 발매일을 먼저</a:t>
            </a:r>
            <a:endParaRPr lang="ko-KR" alt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" y="4727448"/>
            <a:ext cx="384048" cy="384048"/>
          </a:xfrm>
          <a:prstGeom prst="ellipse">
            <a:avLst/>
          </a:prstGeom>
          <a:solidFill>
            <a:srgbClr val="1C86D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4727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alt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115568" y="469087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기록</a:t>
            </a:r>
            <a:endParaRPr lang="ko-KR" alt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115568" y="500176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위 ♡ 좋아요 · 리본 구매함</a:t>
            </a:r>
            <a:endParaRPr lang="ko-KR" alt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5440680"/>
            <a:ext cx="384048" cy="384048"/>
          </a:xfrm>
          <a:prstGeom prst="ellipse">
            <a:avLst/>
          </a:prstGeom>
          <a:solidFill>
            <a:srgbClr val="1C86D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48640" y="5440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alt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1115568" y="540410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모을수록 켜지는 도감</a:t>
            </a:r>
            <a:endParaRPr lang="ko-KR" alt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1115568" y="57150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칸이 켜지고 레벨이 오른다</a:t>
            </a:r>
            <a:endParaRPr lang="ko-KR" alt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7315200" y="1572768"/>
            <a:ext cx="4325112" cy="4526280"/>
          </a:xfrm>
          <a:prstGeom prst="roundRect">
            <a:avLst>
              <a:gd name="adj" fmla="val 3383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9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7635240" y="18013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및 리뷰 — 바탕이 된 앱 hobbyDB</a:t>
            </a:r>
            <a:endParaRPr lang="ko-KR" alt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7635240" y="2121408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40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4.8</a:t>
            </a:r>
            <a:endParaRPr lang="ko-KR" altLang="en-US" sz="4000" dirty="0"/>
          </a:p>
        </p:txBody>
      </p:sp>
      <p:sp>
        <p:nvSpPr>
          <p:cNvPr id="30" name="Text 27"/>
          <p:cNvSpPr txBox="1"/>
          <p:nvPr/>
        </p:nvSpPr>
        <p:spPr>
          <a:xfrm>
            <a:off x="9601200" y="22128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8,656개</a:t>
            </a:r>
            <a:endParaRPr lang="ko-KR" alt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9601200" y="25054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Store(US) · 2026.10</a:t>
            </a:r>
            <a:endParaRPr lang="ko-KR" alt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635240" y="3108960"/>
            <a:ext cx="3685032" cy="1207008"/>
          </a:xfrm>
          <a:prstGeom prst="roundRect">
            <a:avLst>
              <a:gd name="adj" fmla="val 7576"/>
            </a:avLst>
          </a:prstGeom>
          <a:solidFill>
            <a:srgbClr val="F4F5F7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7818120" y="323697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"Would love to be able to organize by line."</a:t>
            </a:r>
            <a:endParaRPr lang="ko-KR" altLang="en-US" sz="1250" dirty="0"/>
          </a:p>
        </p:txBody>
      </p:sp>
      <p:sp>
        <p:nvSpPr>
          <p:cNvPr id="34" name="Text 31"/>
          <p:cNvSpPr txBox="1"/>
          <p:nvPr/>
        </p:nvSpPr>
        <p:spPr>
          <a:xfrm>
            <a:off x="7818120" y="384048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IP(라인)별로 정리해 볼 수 없다</a:t>
            </a:r>
            <a:endParaRPr lang="ko-KR" alt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7818120" y="405993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★4 · 2022.11.06</a:t>
            </a:r>
            <a:endParaRPr lang="ko-KR" alt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7635240" y="4480560"/>
            <a:ext cx="3685032" cy="1207008"/>
          </a:xfrm>
          <a:prstGeom prst="roundRect">
            <a:avLst>
              <a:gd name="adj" fmla="val 7576"/>
            </a:avLst>
          </a:prstGeom>
          <a:solidFill>
            <a:srgbClr val="F4F5F7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7818120" y="460857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"It takes a little for new pops to be added"</a:t>
            </a:r>
            <a:endParaRPr lang="ko-KR" altLang="en-US" sz="1250" dirty="0"/>
          </a:p>
        </p:txBody>
      </p:sp>
      <p:sp>
        <p:nvSpPr>
          <p:cNvPr id="38" name="Text 35"/>
          <p:cNvSpPr txBox="1"/>
          <p:nvPr/>
        </p:nvSpPr>
        <p:spPr>
          <a:xfrm>
            <a:off x="7818120" y="521208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신상품 정보가 늦게 올라온다</a:t>
            </a:r>
            <a:endParaRPr lang="ko-KR" alt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7818120" y="543153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★5 · 2025.01.26</a:t>
            </a:r>
            <a:endParaRPr lang="ko-KR" alt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ko-KR" sz="900">
                <a:solidFill>
                  <a:srgbClr val="9AA0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3</a:t>
            </a:fld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 프로젝트 개요 2/2</a:t>
            </a:r>
            <a:endParaRPr lang="ko-KR" alt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버전 → 지금: 내 앱은 이렇게 바뀌었다</a:t>
            </a:r>
            <a:endParaRPr lang="ko-KR" alt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83288" y="1618488"/>
            <a:ext cx="2033825" cy="4443984"/>
          </a:xfrm>
          <a:prstGeom prst="roundRect">
            <a:avLst>
              <a:gd name="adj" fmla="val 76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C:\Users\Windows11\AppData\Local\Temp\claude\C--Users-Windows11-Desktop-New-folder--2-\a0c8a1d0-32ba-4ae6-9843-b5ebc69d925f\scratchpad\deck2/img/evo_99dd2b9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000" y="1600200"/>
            <a:ext cx="2070401" cy="4480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5000" y="1481328"/>
            <a:ext cx="2070401" cy="292608"/>
          </a:xfrm>
          <a:prstGeom prst="roundRect">
            <a:avLst>
              <a:gd name="adj" fmla="val 50000"/>
            </a:avLst>
          </a:prstGeom>
          <a:solidFill>
            <a:srgbClr val="9AA0A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65000" y="1481328"/>
            <a:ext cx="20704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버전 · 10/24</a:t>
            </a:r>
            <a:endParaRPr lang="ko-KR" alt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9571840" y="1618488"/>
            <a:ext cx="2033825" cy="4443984"/>
          </a:xfrm>
          <a:prstGeom prst="roundRect">
            <a:avLst>
              <a:gd name="adj" fmla="val 76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1" descr="C:\Users\Windows11\AppData\Local\Temp\claude\C--Users-Windows11-Desktop-New-folder--2-\a0c8a1d0-32ba-4ae6-9843-b5ebc69d925f\scratchpad\deck2/img/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3552" y="1600200"/>
            <a:ext cx="2070401" cy="44805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553552" y="1481328"/>
            <a:ext cx="2070401" cy="292608"/>
          </a:xfrm>
          <a:prstGeom prst="roundRect">
            <a:avLst>
              <a:gd name="adj" fmla="val 50000"/>
            </a:avLst>
          </a:prstGeom>
          <a:solidFill>
            <a:srgbClr val="1C86D9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9553552" y="1481328"/>
            <a:ext cx="20704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· 10/29</a:t>
            </a:r>
            <a:endParaRPr lang="ko-KR" alt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3063240" y="148132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바뀐 순서</a:t>
            </a:r>
            <a:pPr indent="0" marL="0">
              <a:buNone/>
            </a:pPr>
            <a:r>
              <a:rPr lang="ko-KR" altLang="en-US" sz="11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4일 · 커밋 54번 · 내 요청 39번</a:t>
            </a:r>
            <a:endParaRPr lang="ko-KR" alt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246120" y="1965960"/>
            <a:ext cx="0" cy="3547872"/>
          </a:xfrm>
          <a:prstGeom prst="line">
            <a:avLst/>
          </a:prstGeom>
          <a:noFill/>
          <a:ln w="25400">
            <a:solidFill>
              <a:srgbClr val="C9CDD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154680" y="187452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86D9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520440" y="1828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10/24</a:t>
            </a:r>
            <a:endParaRPr lang="ko-KR" alt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4434840" y="182880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버전</a:t>
            </a:r>
            <a:endParaRPr lang="ko-KR" alt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434840" y="2093976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키트 목록 · 상세 · 도감 — hobbyDB 구조 그대로</a:t>
            </a:r>
            <a:endParaRPr lang="ko-KR" alt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154680" y="2761488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86D9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3520440" y="27157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10/25 오후</a:t>
            </a:r>
            <a:endParaRPr lang="ko-KR" alt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4434840" y="271576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하단 탭 · 내 채널 바 · 흑백</a:t>
            </a:r>
            <a:endParaRPr lang="ko-KR" alt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4434840" y="2980944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= 공식 예고 배너 + 가로 줄</a:t>
            </a:r>
            <a:endParaRPr lang="ko-KR" alt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154680" y="3648456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86D9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3520440" y="36027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10/25 저녁</a:t>
            </a:r>
            <a:endParaRPr lang="ko-KR" alt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4434840" y="360273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· 검색 · 카메라 · 컬렉션 · 캘린더</a:t>
            </a:r>
            <a:endParaRPr lang="ko-KR" altLang="en-US" sz="1250" dirty="0"/>
          </a:p>
        </p:txBody>
      </p:sp>
      <p:sp>
        <p:nvSpPr>
          <p:cNvPr id="25" name="Text 21"/>
          <p:cNvSpPr txBox="1"/>
          <p:nvPr/>
        </p:nvSpPr>
        <p:spPr>
          <a:xfrm>
            <a:off x="4434840" y="3867912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정가 아래 시세 한 줄 · 아래 고정 버튼</a:t>
            </a:r>
            <a:endParaRPr lang="ko-KR" alt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154680" y="4535424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86D9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3520440" y="44897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10/25 밤</a:t>
            </a:r>
            <a:endParaRPr lang="ko-KR" alt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4434840" y="4489704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좋아요 · 구매함 · 도감 레벨 · 친구 서랍</a:t>
            </a:r>
            <a:endParaRPr lang="ko-KR" altLang="en-US" sz="1250" dirty="0"/>
          </a:p>
        </p:txBody>
      </p:sp>
      <p:sp>
        <p:nvSpPr>
          <p:cNvPr id="29" name="Text 25"/>
          <p:cNvSpPr txBox="1"/>
          <p:nvPr/>
        </p:nvSpPr>
        <p:spPr>
          <a:xfrm>
            <a:off x="4434840" y="4754880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목록 · 필터 패널 · 반반 화면</a:t>
            </a:r>
            <a:endParaRPr lang="ko-KR" alt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3154680" y="5422392"/>
            <a:ext cx="182880" cy="182880"/>
          </a:xfrm>
          <a:prstGeom prst="ellipse">
            <a:avLst/>
          </a:prstGeom>
          <a:solidFill>
            <a:srgbClr val="1C86D9"/>
          </a:solidFill>
          <a:ln w="25400">
            <a:solidFill>
              <a:srgbClr val="1C86D9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3520440" y="53766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10/26</a:t>
            </a:r>
            <a:endParaRPr lang="ko-KR" alt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4434840" y="537667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반론 반영</a:t>
            </a:r>
            <a:endParaRPr lang="ko-KR" altLang="en-US" sz="1250" dirty="0"/>
          </a:p>
        </p:txBody>
      </p:sp>
      <p:sp>
        <p:nvSpPr>
          <p:cNvPr id="33" name="Text 29"/>
          <p:cNvSpPr txBox="1"/>
          <p:nvPr/>
        </p:nvSpPr>
        <p:spPr>
          <a:xfrm>
            <a:off x="4434840" y="564184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 모양 하나로 · 색 둘 · 앱 전체 한 벌</a:t>
            </a:r>
            <a:endParaRPr lang="ko-KR" alt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9098280" y="3840480"/>
            <a:ext cx="411480" cy="0"/>
          </a:xfrm>
          <a:prstGeom prst="line">
            <a:avLst/>
          </a:prstGeom>
          <a:noFill/>
          <a:ln w="19050">
            <a:solidFill>
              <a:srgbClr val="1C86D9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ko-KR" sz="900">
                <a:solidFill>
                  <a:srgbClr val="9AA0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4</a:t>
            </a:fld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문제 정의 1/5 — 왜 만들었나</a:t>
            </a:r>
            <a:endParaRPr lang="ko-KR" alt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좋아하는 것 하나에도, 공식 사이트는 여러 곳</a:t>
            </a:r>
            <a:endParaRPr lang="ko-KR" alt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BANDAI 계열만 해도 5곳</a:t>
            </a:r>
            <a:endParaRPr lang="ko-KR" alt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1298448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9000"/>
              </a:srgbClr>
            </a:outerShdw>
          </a:effectLst>
        </p:spPr>
      </p:sp>
      <p:pic>
        <p:nvPicPr>
          <p:cNvPr id="6" name="Image 0" descr="C:\Users\Windows11\AppData\Local\Temp\claude\C--Users-Windows11-Desktop-New-folder--2-\a0c8a1d0-32ba-4ae6-9843-b5ebc69d925f\scratchpad\deck2/logos/bandai_spirits/logo_mo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36465"/>
            <a:ext cx="1024128" cy="8875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254203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호비 사이트 · 건프라</a:t>
            </a:r>
            <a:endParaRPr lang="ko-KR" alt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1947672" y="1810512"/>
            <a:ext cx="1298448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9000"/>
              </a:srgbClr>
            </a:outerShdw>
          </a:effectLst>
        </p:spPr>
      </p:sp>
      <p:pic>
        <p:nvPicPr>
          <p:cNvPr id="9" name="Image 1" descr="C:\Users\Windows11\AppData\Local\Temp\claude\C--Users-Windows11-Desktop-New-folder--2-\a0c8a1d0-32ba-4ae6-9843-b5ebc69d925f\scratchpad\deck2/logos/tamashii_nations/logo_mon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832" y="1929384"/>
            <a:ext cx="522129" cy="502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993392" y="254203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완성품 피규어</a:t>
            </a:r>
            <a:endParaRPr lang="ko-KR" alt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346704" y="1810512"/>
            <a:ext cx="1298448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9000"/>
              </a:srgbClr>
            </a:outerShdw>
          </a:effectLst>
        </p:spPr>
      </p:sp>
      <p:pic>
        <p:nvPicPr>
          <p:cNvPr id="12" name="Image 2" descr="C:\Users\Windows11\AppData\Local\Temp\claude\C--Users-Windows11-Desktop-New-folder--2-\a0c8a1d0-32ba-4ae6-9843-b5ebc69d925f\scratchpad\deck2/logos/premium_bandai/logo_mon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2082698"/>
            <a:ext cx="1024128" cy="196291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392424" y="254203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한정판</a:t>
            </a:r>
            <a:endParaRPr lang="ko-KR" alt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4745736" y="1810512"/>
            <a:ext cx="1298448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9000"/>
              </a:srgbClr>
            </a:outerShdw>
          </a:effectLst>
        </p:spPr>
      </p:sp>
      <p:pic>
        <p:nvPicPr>
          <p:cNvPr id="15" name="Image 3" descr="C:\Users\Windows11\AppData\Local\Temp\claude\C--Users-Windows11-Desktop-New-folder--2-\a0c8a1d0-32ba-4ae6-9843-b5ebc69d925f\scratchpad\deck2/logos/banpresto/logo_mon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896" y="1973458"/>
            <a:ext cx="1024128" cy="41477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791456" y="254203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경품 피규어</a:t>
            </a:r>
            <a:endParaRPr lang="ko-KR" alt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6144768" y="1810512"/>
            <a:ext cx="1298448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9000"/>
              </a:srgbClr>
            </a:outerShdw>
          </a:effectLst>
        </p:spPr>
      </p:sp>
      <p:pic>
        <p:nvPicPr>
          <p:cNvPr id="18" name="Image 4" descr="C:\Users\Windows11\AppData\Local\Temp\claude\C--Users-Windows11-Desktop-New-folder--2-\a0c8a1d0-32ba-4ae6-9843-b5ebc69d925f\scratchpad\deck2/logos/megahouse/logo_mon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423" y="1929384"/>
            <a:ext cx="439139" cy="50292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190488" y="254203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G.E.M. · 완성품</a:t>
            </a:r>
            <a:endParaRPr lang="ko-KR" altLang="en-US" sz="950" dirty="0"/>
          </a:p>
        </p:txBody>
      </p:sp>
      <p:sp>
        <p:nvSpPr>
          <p:cNvPr id="20" name="Text 13"/>
          <p:cNvSpPr txBox="1"/>
          <p:nvPr/>
        </p:nvSpPr>
        <p:spPr>
          <a:xfrm>
            <a:off x="548640" y="305409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IP마다 또 다른 제조사 · 공식 숍</a:t>
            </a:r>
            <a:endParaRPr lang="ko-KR" alt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548640" y="3383280"/>
            <a:ext cx="1298448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9000"/>
              </a:srgbClr>
            </a:outerShdw>
          </a:effectLst>
        </p:spPr>
      </p:sp>
      <p:pic>
        <p:nvPicPr>
          <p:cNvPr id="22" name="Image 5" descr="C:\Users\Windows11\AppData\Local\Temp\claude\C--Users-Windows11-Desktop-New-folder--2-\a0c8a1d0-32ba-4ae6-9843-b5ebc69d925f\scratchpad\deck2/logos/kotobukiya/logo_mon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599993"/>
            <a:ext cx="1024128" cy="307238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594360" y="411480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아머드 코어 키트</a:t>
            </a:r>
            <a:endParaRPr lang="ko-KR" altLang="en-US" sz="950" dirty="0"/>
          </a:p>
        </p:txBody>
      </p:sp>
      <p:sp>
        <p:nvSpPr>
          <p:cNvPr id="24" name="Shape 16"/>
          <p:cNvSpPr/>
          <p:nvPr/>
        </p:nvSpPr>
        <p:spPr>
          <a:xfrm>
            <a:off x="1947672" y="3383280"/>
            <a:ext cx="1298448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9000"/>
              </a:srgbClr>
            </a:outerShdw>
          </a:effectLst>
        </p:spPr>
      </p:sp>
      <p:pic>
        <p:nvPicPr>
          <p:cNvPr id="25" name="Image 6" descr="C:\Users\Windows11\AppData\Local\Temp\claude\C--Users-Windows11-Desktop-New-folder--2-\a0c8a1d0-32ba-4ae6-9843-b5ebc69d925f\scratchpad\deck2/logos/good_smile/logo_mon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84832" y="3609381"/>
            <a:ext cx="1024128" cy="288463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1993392" y="411480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넨도로이드 · figma</a:t>
            </a:r>
            <a:endParaRPr lang="ko-KR" altLang="en-US" sz="950" dirty="0"/>
          </a:p>
        </p:txBody>
      </p:sp>
      <p:sp>
        <p:nvSpPr>
          <p:cNvPr id="27" name="Shape 18"/>
          <p:cNvSpPr/>
          <p:nvPr/>
        </p:nvSpPr>
        <p:spPr>
          <a:xfrm>
            <a:off x="3346704" y="3383280"/>
            <a:ext cx="1298448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9000"/>
              </a:srgbClr>
            </a:outerShdw>
          </a:effectLst>
        </p:spPr>
      </p:sp>
      <p:pic>
        <p:nvPicPr>
          <p:cNvPr id="28" name="Image 7" descr="C:\Users\Windows11\AppData\Local\Temp\claude\C--Users-Windows11-Desktop-New-folder--2-\a0c8a1d0-32ba-4ae6-9843-b5ebc69d925f\scratchpad\deck2/logos/takara_tomy/logo_mono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37338" y="3502152"/>
            <a:ext cx="917179" cy="502920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3392424" y="411480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베이블레이드 X</a:t>
            </a:r>
            <a:endParaRPr lang="ko-KR" altLang="en-US" sz="950" dirty="0"/>
          </a:p>
        </p:txBody>
      </p:sp>
      <p:sp>
        <p:nvSpPr>
          <p:cNvPr id="30" name="Shape 20"/>
          <p:cNvSpPr/>
          <p:nvPr/>
        </p:nvSpPr>
        <p:spPr>
          <a:xfrm>
            <a:off x="4745736" y="3383280"/>
            <a:ext cx="1298448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9000"/>
              </a:srgbClr>
            </a:outerShdw>
          </a:effectLst>
        </p:spPr>
      </p:sp>
      <p:pic>
        <p:nvPicPr>
          <p:cNvPr id="31" name="Image 8" descr="C:\Users\Windows11\AppData\Local\Temp\claude\C--Users-Windows11-Desktop-New-folder--2-\a0c8a1d0-32ba-4ae6-9843-b5ebc69d925f\scratchpad\deck2/logos/pokemon_center/logo_mono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82896" y="3673389"/>
            <a:ext cx="1024128" cy="160447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4791456" y="411480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포켓몬 공식 굿즈</a:t>
            </a:r>
            <a:endParaRPr lang="ko-KR" altLang="en-US" sz="950" dirty="0"/>
          </a:p>
        </p:txBody>
      </p:sp>
      <p:sp>
        <p:nvSpPr>
          <p:cNvPr id="33" name="Shape 22"/>
          <p:cNvSpPr/>
          <p:nvPr/>
        </p:nvSpPr>
        <p:spPr>
          <a:xfrm>
            <a:off x="6144768" y="3383280"/>
            <a:ext cx="1298448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9000"/>
              </a:srgbClr>
            </a:outerShdw>
          </a:effectLst>
        </p:spPr>
      </p:sp>
      <p:pic>
        <p:nvPicPr>
          <p:cNvPr id="34" name="Image 9" descr="C:\Users\Windows11\AppData\Local\Temp\claude\C--Users-Windows11-Desktop-New-folder--2-\a0c8a1d0-32ba-4ae6-9843-b5ebc69d925f\scratchpad\deck2/logos/aniplex_plus/logo_mono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1928" y="3547080"/>
            <a:ext cx="1024128" cy="413065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6190488" y="411480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Fate 등 애니 굿즈</a:t>
            </a:r>
            <a:endParaRPr lang="ko-KR" altLang="en-US" sz="950" dirty="0"/>
          </a:p>
        </p:txBody>
      </p:sp>
      <p:sp>
        <p:nvSpPr>
          <p:cNvPr id="36" name="Shape 24"/>
          <p:cNvSpPr/>
          <p:nvPr/>
        </p:nvSpPr>
        <p:spPr>
          <a:xfrm>
            <a:off x="548640" y="4754880"/>
            <a:ext cx="6949440" cy="1234440"/>
          </a:xfrm>
          <a:prstGeom prst="roundRect">
            <a:avLst>
              <a:gd name="adj" fmla="val 10370"/>
            </a:avLst>
          </a:prstGeom>
          <a:solidFill>
            <a:srgbClr val="F4F5F7"/>
          </a:solidFill>
          <a:ln/>
        </p:spPr>
      </p:sp>
      <p:sp>
        <p:nvSpPr>
          <p:cNvPr id="37" name="Text 25"/>
          <p:cNvSpPr txBox="1"/>
          <p:nvPr/>
        </p:nvSpPr>
        <p:spPr>
          <a:xfrm>
            <a:off x="777240" y="486460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건담 하나만 해도</a:t>
            </a:r>
            <a:pPr indent="0" marL="0">
              <a:buNone/>
            </a:pPr>
            <a:r>
              <a:rPr lang="ko-KR" altLang="en-US" sz="11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프라모델 · 완성품 · 한정판 · 경품 · G.E.M. 사는 곳이 다 다르다</a:t>
            </a:r>
            <a:endParaRPr lang="ko-KR" altLang="en-US" sz="1300" dirty="0"/>
          </a:p>
        </p:txBody>
      </p:sp>
      <p:sp>
        <p:nvSpPr>
          <p:cNvPr id="38" name="Text 26"/>
          <p:cNvSpPr txBox="1"/>
          <p:nvPr/>
        </p:nvSpPr>
        <p:spPr>
          <a:xfrm>
            <a:off x="777240" y="525780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호비 사이트  ·  TAMASHII  ·  프리미엄 반다이  ·  BANPRESTO  ·  MegaHouse</a:t>
            </a:r>
            <a:endParaRPr lang="ko-KR" altLang="en-US" sz="1400" dirty="0"/>
          </a:p>
        </p:txBody>
      </p:sp>
      <p:sp>
        <p:nvSpPr>
          <p:cNvPr id="39" name="Shape 27"/>
          <p:cNvSpPr/>
          <p:nvPr/>
        </p:nvSpPr>
        <p:spPr>
          <a:xfrm>
            <a:off x="7818120" y="1481328"/>
            <a:ext cx="3822192" cy="3063240"/>
          </a:xfrm>
          <a:prstGeom prst="roundRect">
            <a:avLst>
              <a:gd name="adj" fmla="val 4179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9000"/>
              </a:srgbClr>
            </a:outerShdw>
          </a:effectLst>
        </p:spPr>
      </p:sp>
      <p:sp>
        <p:nvSpPr>
          <p:cNvPr id="40" name="Text 28"/>
          <p:cNvSpPr txBox="1"/>
          <p:nvPr/>
        </p:nvSpPr>
        <p:spPr>
          <a:xfrm>
            <a:off x="809244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수집가가 겪는 일</a:t>
            </a:r>
            <a:endParaRPr lang="ko-KR" altLang="en-US" sz="1300" dirty="0"/>
          </a:p>
        </p:txBody>
      </p:sp>
      <p:sp>
        <p:nvSpPr>
          <p:cNvPr id="41" name="Shape 29"/>
          <p:cNvSpPr/>
          <p:nvPr/>
        </p:nvSpPr>
        <p:spPr>
          <a:xfrm>
            <a:off x="8092440" y="2121408"/>
            <a:ext cx="292608" cy="292608"/>
          </a:xfrm>
          <a:prstGeom prst="ellipse">
            <a:avLst/>
          </a:prstGeom>
          <a:solidFill>
            <a:srgbClr val="D93F44"/>
          </a:solidFill>
          <a:ln/>
        </p:spPr>
      </p:sp>
      <p:sp>
        <p:nvSpPr>
          <p:cNvPr id="42" name="Text 30"/>
          <p:cNvSpPr txBox="1"/>
          <p:nvPr/>
        </p:nvSpPr>
        <p:spPr>
          <a:xfrm>
            <a:off x="8092440" y="2121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altLang="en-US" sz="1100" dirty="0"/>
          </a:p>
        </p:txBody>
      </p:sp>
      <p:sp>
        <p:nvSpPr>
          <p:cNvPr id="43" name="Text 31"/>
          <p:cNvSpPr txBox="1"/>
          <p:nvPr/>
        </p:nvSpPr>
        <p:spPr>
          <a:xfrm>
            <a:off x="8503920" y="21031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사이트끼리 연결이 없다</a:t>
            </a:r>
            <a:endParaRPr lang="ko-KR" altLang="en-US" sz="1300" dirty="0"/>
          </a:p>
        </p:txBody>
      </p:sp>
      <p:sp>
        <p:nvSpPr>
          <p:cNvPr id="44" name="Text 32"/>
          <p:cNvSpPr txBox="1"/>
          <p:nvPr/>
        </p:nvSpPr>
        <p:spPr>
          <a:xfrm>
            <a:off x="8503920" y="239572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IP도 브랜드마다 따로 찾아야 한다</a:t>
            </a:r>
            <a:endParaRPr lang="ko-KR" altLang="en-US" sz="1100" dirty="0"/>
          </a:p>
        </p:txBody>
      </p:sp>
      <p:sp>
        <p:nvSpPr>
          <p:cNvPr id="45" name="Shape 33"/>
          <p:cNvSpPr/>
          <p:nvPr/>
        </p:nvSpPr>
        <p:spPr>
          <a:xfrm>
            <a:off x="8092440" y="2907792"/>
            <a:ext cx="292608" cy="292608"/>
          </a:xfrm>
          <a:prstGeom prst="ellipse">
            <a:avLst/>
          </a:prstGeom>
          <a:solidFill>
            <a:srgbClr val="D93F44"/>
          </a:solidFill>
          <a:ln/>
        </p:spPr>
      </p:sp>
      <p:sp>
        <p:nvSpPr>
          <p:cNvPr id="46" name="Text 34"/>
          <p:cNvSpPr txBox="1"/>
          <p:nvPr/>
        </p:nvSpPr>
        <p:spPr>
          <a:xfrm>
            <a:off x="8092440" y="2907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altLang="en-US" sz="1100" dirty="0"/>
          </a:p>
        </p:txBody>
      </p:sp>
      <p:sp>
        <p:nvSpPr>
          <p:cNvPr id="47" name="Text 35"/>
          <p:cNvSpPr txBox="1"/>
          <p:nvPr/>
        </p:nvSpPr>
        <p:spPr>
          <a:xfrm>
            <a:off x="8503920" y="288950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상품은 찾기 어렵다</a:t>
            </a:r>
            <a:endParaRPr lang="ko-KR" altLang="en-US" sz="1300" dirty="0"/>
          </a:p>
        </p:txBody>
      </p:sp>
      <p:sp>
        <p:nvSpPr>
          <p:cNvPr id="48" name="Text 36"/>
          <p:cNvSpPr txBox="1"/>
          <p:nvPr/>
        </p:nvSpPr>
        <p:spPr>
          <a:xfrm>
            <a:off x="8503920" y="318211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사이트마다 검색 · 분류가 달라 묻힌다</a:t>
            </a:r>
            <a:endParaRPr lang="ko-KR" altLang="en-US" sz="1100" dirty="0"/>
          </a:p>
        </p:txBody>
      </p:sp>
      <p:sp>
        <p:nvSpPr>
          <p:cNvPr id="49" name="Shape 37"/>
          <p:cNvSpPr/>
          <p:nvPr/>
        </p:nvSpPr>
        <p:spPr>
          <a:xfrm>
            <a:off x="8092440" y="3694176"/>
            <a:ext cx="292608" cy="292608"/>
          </a:xfrm>
          <a:prstGeom prst="ellipse">
            <a:avLst/>
          </a:prstGeom>
          <a:solidFill>
            <a:srgbClr val="D93F44"/>
          </a:solidFill>
          <a:ln/>
        </p:spPr>
      </p:sp>
      <p:sp>
        <p:nvSpPr>
          <p:cNvPr id="50" name="Text 38"/>
          <p:cNvSpPr txBox="1"/>
          <p:nvPr/>
        </p:nvSpPr>
        <p:spPr>
          <a:xfrm>
            <a:off x="8092440" y="3694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altLang="en-US" sz="1100" dirty="0"/>
          </a:p>
        </p:txBody>
      </p:sp>
      <p:sp>
        <p:nvSpPr>
          <p:cNvPr id="51" name="Text 39"/>
          <p:cNvSpPr txBox="1"/>
          <p:nvPr/>
        </p:nvSpPr>
        <p:spPr>
          <a:xfrm>
            <a:off x="8503920" y="367588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소식도 따로 온다</a:t>
            </a:r>
            <a:endParaRPr lang="ko-KR" altLang="en-US" sz="1300" dirty="0"/>
          </a:p>
        </p:txBody>
      </p:sp>
      <p:sp>
        <p:nvSpPr>
          <p:cNvPr id="52" name="Text 40"/>
          <p:cNvSpPr txBox="1"/>
          <p:nvPr/>
        </p:nvSpPr>
        <p:spPr>
          <a:xfrm>
            <a:off x="8503920" y="3968496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예고 · 발매일을 여기저기 돌며 확인</a:t>
            </a:r>
            <a:endParaRPr lang="ko-KR" altLang="en-US" sz="1100" dirty="0"/>
          </a:p>
        </p:txBody>
      </p:sp>
      <p:sp>
        <p:nvSpPr>
          <p:cNvPr id="53" name="Shape 41"/>
          <p:cNvSpPr/>
          <p:nvPr/>
        </p:nvSpPr>
        <p:spPr>
          <a:xfrm>
            <a:off x="7818120" y="4681728"/>
            <a:ext cx="3822192" cy="1307592"/>
          </a:xfrm>
          <a:prstGeom prst="roundRect">
            <a:avLst>
              <a:gd name="adj" fmla="val 9790"/>
            </a:avLst>
          </a:prstGeom>
          <a:solidFill>
            <a:srgbClr val="EAF4FC"/>
          </a:solidFill>
          <a:ln/>
        </p:spPr>
      </p:sp>
      <p:sp>
        <p:nvSpPr>
          <p:cNvPr id="54" name="Text 42"/>
          <p:cNvSpPr txBox="1"/>
          <p:nvPr/>
        </p:nvSpPr>
        <p:spPr>
          <a:xfrm>
            <a:off x="8092440" y="47914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Hobby Atlas</a:t>
            </a:r>
            <a:endParaRPr lang="ko-KR" altLang="en-US" sz="1200" dirty="0"/>
          </a:p>
        </p:txBody>
      </p:sp>
      <p:sp>
        <p:nvSpPr>
          <p:cNvPr id="55" name="Text 43"/>
          <p:cNvSpPr txBox="1"/>
          <p:nvPr/>
        </p:nvSpPr>
        <p:spPr>
          <a:xfrm>
            <a:off x="8092440" y="5065776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IP 채널 하나로, 여러 브랜드의 새 소식과 지난 상품까지 한곳에서</a:t>
            </a:r>
            <a:endParaRPr lang="ko-KR" altLang="en-US" sz="1350" dirty="0"/>
          </a:p>
        </p:txBody>
      </p:sp>
      <p:sp>
        <p:nvSpPr>
          <p:cNvPr id="56" name="Text 44"/>
          <p:cNvSpPr txBox="1"/>
          <p:nvPr/>
        </p:nvSpPr>
        <p:spPr>
          <a:xfrm>
            <a:off x="548640" y="610819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로고는 각 사의 상표 — 수업 목적 인용 (출처: 각 사 공식 사이트 · Wikimedia Commons, 2026.10 확인)</a:t>
            </a:r>
            <a:endParaRPr lang="ko-KR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ko-KR" sz="900">
                <a:solidFill>
                  <a:srgbClr val="9AA0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5</a:t>
            </a:fld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문제 정의 2/5 — 기존 앱 hobbyDB</a:t>
            </a:r>
            <a:endParaRPr lang="ko-KR" alt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앱 hobbyDB는 이렇게 생겼다</a:t>
            </a:r>
            <a:endParaRPr lang="ko-KR" alt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700784" cy="2815068"/>
          </a:xfrm>
          <a:prstGeom prst="roundRect">
            <a:avLst>
              <a:gd name="adj" fmla="val 76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C:\Users\Windows11\AppData\Local\Temp\claude\C--Users-Windows11-Desktop-New-folder--2-\a0c8a1d0-32ba-4ae6-9843-b5ebc69d925f\scratchpad\deck2/img/hdb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1737360" cy="28516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44244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</a:t>
            </a:r>
            <a:endParaRPr lang="ko-KR" alt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46987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 · 캐릭터 목록</a:t>
            </a:r>
            <a:endParaRPr lang="ko-KR" alt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432304" y="1481328"/>
            <a:ext cx="1700784" cy="2815068"/>
          </a:xfrm>
          <a:prstGeom prst="roundRect">
            <a:avLst>
              <a:gd name="adj" fmla="val 76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1" descr="C:\Users\Windows11\AppData\Local\Temp\claude\C--Users-Windows11-Desktop-New-folder--2-\a0c8a1d0-32ba-4ae6-9843-b5ebc69d925f\scratchpad\deck2/img/hdb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016" y="1463040"/>
            <a:ext cx="1737360" cy="28516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368296" y="44244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데이터베이스</a:t>
            </a:r>
            <a:endParaRPr lang="ko-KR" alt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2368296" y="46987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상세</a:t>
            </a:r>
            <a:endParaRPr lang="ko-KR" alt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297680" y="1481328"/>
            <a:ext cx="1700784" cy="2815068"/>
          </a:xfrm>
          <a:prstGeom prst="roundRect">
            <a:avLst>
              <a:gd name="adj" fmla="val 76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2" descr="C:\Users\Windows11\AppData\Local\Temp\claude\C--Users-Windows11-Desktop-New-folder--2-\a0c8a1d0-32ba-4ae6-9843-b5ebc69d925f\scratchpad\deck2/img/hdb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1463040"/>
            <a:ext cx="1737360" cy="28516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233672" y="44244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시세</a:t>
            </a:r>
            <a:endParaRPr lang="ko-KR" alt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4233672" y="46987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 출처 · 경매 기록</a:t>
            </a:r>
            <a:endParaRPr lang="ko-KR" alt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163056" y="1481328"/>
            <a:ext cx="1700784" cy="2815068"/>
          </a:xfrm>
          <a:prstGeom prst="roundRect">
            <a:avLst>
              <a:gd name="adj" fmla="val 76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pic>
        <p:nvPicPr>
          <p:cNvPr id="17" name="Image 3" descr="C:\Users\Windows11\AppData\Local\Temp\claude\C--Users-Windows11-Desktop-New-folder--2-\a0c8a1d0-32ba-4ae6-9843-b5ebc69d925f\scratchpad\deck2/img/hdb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1463040"/>
            <a:ext cx="1737360" cy="28516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099048" y="44244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마켓</a:t>
            </a:r>
            <a:endParaRPr lang="ko-KR" alt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6099048" y="46987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중고 거래</a:t>
            </a:r>
            <a:endParaRPr lang="ko-KR" alt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8028432" y="1481328"/>
            <a:ext cx="1700784" cy="2809667"/>
          </a:xfrm>
          <a:prstGeom prst="roundRect">
            <a:avLst>
              <a:gd name="adj" fmla="val 76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4" descr="C:\Users\Windows11\AppData\Local\Temp\claude\C--Users-Windows11-Desktop-New-folder--2-\a0c8a1d0-32ba-4ae6-9843-b5ebc69d925f\scratchpad\deck2/img/hdb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0144" y="1463040"/>
            <a:ext cx="1737360" cy="2846243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964424" y="4419011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컬렉션</a:t>
            </a:r>
            <a:endParaRPr lang="ko-KR" alt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7964424" y="4693331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· 수량 · 상태</a:t>
            </a:r>
            <a:endParaRPr lang="ko-KR" alt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9893808" y="1481328"/>
            <a:ext cx="1700784" cy="2815068"/>
          </a:xfrm>
          <a:prstGeom prst="roundRect">
            <a:avLst>
              <a:gd name="adj" fmla="val 76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pic>
        <p:nvPicPr>
          <p:cNvPr id="25" name="Image 5" descr="C:\Users\Windows11\AppData\Local\Temp\claude\C--Users-Windows11-Desktop-New-folder--2-\a0c8a1d0-32ba-4ae6-9843-b5ebc69d925f\scratchpad\deck2/img/hdb7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520" y="1463040"/>
            <a:ext cx="1737360" cy="2851644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9829800" y="44244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가치</a:t>
            </a:r>
            <a:endParaRPr lang="ko-KR" altLang="en-US" sz="1300" dirty="0"/>
          </a:p>
        </p:txBody>
      </p:sp>
      <p:sp>
        <p:nvSpPr>
          <p:cNvPr id="27" name="Text 19"/>
          <p:cNvSpPr txBox="1"/>
          <p:nvPr/>
        </p:nvSpPr>
        <p:spPr>
          <a:xfrm>
            <a:off x="9829800" y="46987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컬렉션 가치 그래프</a:t>
            </a:r>
            <a:endParaRPr lang="ko-KR" alt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548640" y="525780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FCEDED"/>
          </a:solidFill>
          <a:ln/>
        </p:spPr>
      </p:sp>
      <p:sp>
        <p:nvSpPr>
          <p:cNvPr id="29" name="Text 21"/>
          <p:cNvSpPr txBox="1"/>
          <p:nvPr/>
        </p:nvSpPr>
        <p:spPr>
          <a:xfrm>
            <a:off x="749808" y="525780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D93F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보이는 문제  </a:t>
            </a:r>
            <a:pPr indent="0" marL="0">
              <a:buNone/>
            </a:pPr>
            <a:r>
              <a:rPr lang="ko-KR" altLang="en-US" sz="11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맨 위에 웹사이트 메뉴 6개(Database · Subjects · Market · Members · Local · Blog)가 그대로 · 화면마다 버튼 · 아이콘이 한꺼번에 · 공식 예고 · 발매일 같은 새 소식은 없다</a:t>
            </a:r>
            <a:endParaRPr lang="ko-KR" altLang="en-US" sz="1100" dirty="0"/>
          </a:p>
        </p:txBody>
      </p:sp>
      <p:sp>
        <p:nvSpPr>
          <p:cNvPr id="30" name="Text 22"/>
          <p:cNvSpPr txBox="1"/>
          <p:nvPr/>
        </p:nvSpPr>
        <p:spPr>
          <a:xfrm>
            <a:off x="548640" y="617220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Store 공식 스크린샷 (hobbyDB: Collection Management, 2026.10 확인) — 수업 목적 인용 · 개인정보가 보이는 장은 뺐다</a:t>
            </a:r>
            <a:endParaRPr lang="ko-KR" alt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ko-KR" sz="900">
                <a:solidFill>
                  <a:srgbClr val="9AA0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6</a:t>
            </a:fld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문제 정의 3/5 — 현행 분석 · 리뷰 근거</a:t>
            </a:r>
            <a:endParaRPr lang="ko-KR" alt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앱 hobbyDB에 없는 기능 · 쓰기 불편한 점</a:t>
            </a:r>
            <a:endParaRPr lang="ko-KR" alt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017520" cy="4617720"/>
          </a:xfrm>
          <a:prstGeom prst="roundRect">
            <a:avLst>
              <a:gd name="adj" fmla="val 4242"/>
            </a:avLst>
          </a:prstGeom>
          <a:solidFill>
            <a:srgbClr val="F4F5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6276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별점 분포</a:t>
            </a:r>
            <a:pPr indent="0" marL="0">
              <a:buNone/>
            </a:pPr>
            <a:r>
              <a:rPr lang="ko-KR" altLang="en-US" sz="10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8,656개</a:t>
            </a:r>
            <a:endParaRPr lang="ko-KR" alt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96596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★5</a:t>
            </a:r>
            <a:endParaRPr lang="ko-KR" alt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143000" y="2011680"/>
            <a:ext cx="1828800" cy="128016"/>
          </a:xfrm>
          <a:prstGeom prst="rect">
            <a:avLst/>
          </a:prstGeom>
          <a:solidFill>
            <a:srgbClr val="C9CDD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017520" y="196596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7,690</a:t>
            </a:r>
            <a:endParaRPr lang="ko-KR" alt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24028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★4</a:t>
            </a:r>
            <a:endParaRPr lang="ko-KR" alt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143000" y="2286000"/>
            <a:ext cx="109395" cy="128016"/>
          </a:xfrm>
          <a:prstGeom prst="rect">
            <a:avLst/>
          </a:prstGeom>
          <a:solidFill>
            <a:srgbClr val="C9CDD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98115" y="22402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460</a:t>
            </a:r>
            <a:endParaRPr lang="ko-KR" alt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251460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★3</a:t>
            </a:r>
            <a:endParaRPr lang="ko-KR" alt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143000" y="2560320"/>
            <a:ext cx="37813" cy="128016"/>
          </a:xfrm>
          <a:prstGeom prst="rect">
            <a:avLst/>
          </a:prstGeom>
          <a:solidFill>
            <a:srgbClr val="C9CDD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26533" y="251460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159</a:t>
            </a:r>
            <a:endParaRPr lang="ko-KR" alt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278892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★2</a:t>
            </a:r>
            <a:endParaRPr lang="ko-KR" alt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143000" y="2834640"/>
            <a:ext cx="36576" cy="128016"/>
          </a:xfrm>
          <a:prstGeom prst="rect">
            <a:avLst/>
          </a:prstGeom>
          <a:solidFill>
            <a:srgbClr val="C9CDD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225296" y="27889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</a:t>
            </a:r>
            <a:endParaRPr lang="ko-KR" alt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" y="306324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★1</a:t>
            </a:r>
            <a:endParaRPr lang="ko-KR" alt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143000" y="3108960"/>
            <a:ext cx="65875" cy="128016"/>
          </a:xfrm>
          <a:prstGeom prst="rect">
            <a:avLst/>
          </a:prstGeom>
          <a:solidFill>
            <a:srgbClr val="D93F4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254595" y="30632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277</a:t>
            </a:r>
            <a:endParaRPr lang="ko-KR" alt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" y="34015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b="1" dirty="0">
                <a:solidFill>
                  <a:srgbClr val="D93F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★1이 ★2 + ★3보다 많다 — 한 번 막히면 떠난다</a:t>
            </a:r>
            <a:endParaRPr lang="ko-KR" alt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39319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유형</a:t>
            </a:r>
            <a:endParaRPr lang="ko-KR" alt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42245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기능</a:t>
            </a:r>
            <a:endParaRPr lang="ko-KR" alt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2834640" y="4224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ko-KR" alt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49808" y="449884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쓰기 불편 (유료 잠금 포함)</a:t>
            </a:r>
            <a:endParaRPr lang="ko-KR" alt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2834640" y="449884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ko-KR" alt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49808" y="477316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버그 · 광고 · 속도 — 이번엔 제외</a:t>
            </a:r>
            <a:endParaRPr lang="ko-KR" alt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2834640" y="477316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b="1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ko-KR" alt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49808" y="54406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2A0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잘된 점  </a:t>
            </a:r>
            <a:pPr indent="0" marL="0">
              <a:buNone/>
            </a:pPr>
            <a:r>
              <a:rPr lang="ko-KR" altLang="en-US" sz="100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P02 상자 사진 · 품번, P07 바코드 — v2도 지킨다</a:t>
            </a:r>
            <a:endParaRPr lang="ko-KR" alt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3794760" y="14813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리뷰가 말하는 것</a:t>
            </a:r>
            <a:pPr indent="0" marL="0">
              <a:buNone/>
            </a:pPr>
            <a:r>
              <a:rPr lang="ko-KR" altLang="en-US" sz="13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→   Hobby Atlas가 답하는 기능</a:t>
            </a:r>
            <a:endParaRPr lang="ko-KR" alt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794760" y="1828800"/>
            <a:ext cx="4892040" cy="969264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9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950208" y="1938528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D93F4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950208" y="193852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기능</a:t>
            </a:r>
            <a:endParaRPr lang="ko-KR" alt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5047488" y="192938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★4 · 2022.11.06 · Google Play</a:t>
            </a:r>
            <a:endParaRPr lang="ko-KR" alt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3950208" y="221284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"Would love to be able to organize by line."</a:t>
            </a:r>
            <a:endParaRPr lang="ko-KR" alt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3950208" y="24871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5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IP(라인)별로 정리해 볼 수 없다</a:t>
            </a:r>
            <a:endParaRPr lang="ko-KR" alt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759952" y="2313432"/>
            <a:ext cx="292608" cy="0"/>
          </a:xfrm>
          <a:prstGeom prst="line">
            <a:avLst/>
          </a:prstGeom>
          <a:noFill/>
          <a:ln w="19050">
            <a:solidFill>
              <a:srgbClr val="1C86D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144000" y="1901952"/>
            <a:ext cx="2496312" cy="822960"/>
          </a:xfrm>
          <a:prstGeom prst="roundRect">
            <a:avLst>
              <a:gd name="adj" fmla="val 11111"/>
            </a:avLst>
          </a:prstGeom>
          <a:solidFill>
            <a:srgbClr val="EAF4FC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281160" y="1901952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IP 채널 바 · 작품별 필터</a:t>
            </a:r>
            <a:endParaRPr lang="ko-KR" alt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794760" y="2907792"/>
            <a:ext cx="4892040" cy="969264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9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950208" y="3017520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B86E00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3950208" y="30175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쓰기 불편</a:t>
            </a:r>
            <a:endParaRPr lang="ko-KR" alt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5047488" y="300837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★5 · 2025.01.26 · Google Play</a:t>
            </a:r>
            <a:endParaRPr lang="ko-KR" alt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3950208" y="329184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"It takes a little for new pops to be added"</a:t>
            </a:r>
            <a:endParaRPr lang="ko-KR" alt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3950208" y="356616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5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신상품 정보가 늦게 올라온다</a:t>
            </a:r>
            <a:endParaRPr lang="ko-KR" alt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759952" y="3392424"/>
            <a:ext cx="292608" cy="0"/>
          </a:xfrm>
          <a:prstGeom prst="line">
            <a:avLst/>
          </a:prstGeom>
          <a:noFill/>
          <a:ln w="19050">
            <a:solidFill>
              <a:srgbClr val="1C86D9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9144000" y="2980944"/>
            <a:ext cx="2496312" cy="822960"/>
          </a:xfrm>
          <a:prstGeom prst="roundRect">
            <a:avLst>
              <a:gd name="adj" fmla="val 11111"/>
            </a:avLst>
          </a:prstGeom>
          <a:solidFill>
            <a:srgbClr val="EAF4FC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281160" y="2980944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예고 배너 · 발매 캘린더</a:t>
            </a:r>
            <a:endParaRPr lang="ko-KR" alt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794760" y="3986784"/>
            <a:ext cx="4892040" cy="969264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9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950208" y="4096512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B86E00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3950208" y="40965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쓰기 불편</a:t>
            </a:r>
            <a:endParaRPr lang="ko-KR" alt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5047488" y="408736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★3 · 2021.09.17 · App Store US</a:t>
            </a:r>
            <a:endParaRPr lang="ko-KR" alt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3950208" y="437083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"could be made much easier to add and remove items from your collection"</a:t>
            </a:r>
            <a:endParaRPr lang="ko-KR" altLang="en-US" sz="1150" dirty="0"/>
          </a:p>
        </p:txBody>
      </p:sp>
      <p:sp>
        <p:nvSpPr>
          <p:cNvPr id="54" name="Text 52"/>
          <p:cNvSpPr txBox="1"/>
          <p:nvPr/>
        </p:nvSpPr>
        <p:spPr>
          <a:xfrm>
            <a:off x="3950208" y="464515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5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컬렉션에 넣고 빼기가 번거롭다</a:t>
            </a:r>
            <a:endParaRPr lang="ko-KR" alt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8759952" y="4471416"/>
            <a:ext cx="292608" cy="0"/>
          </a:xfrm>
          <a:prstGeom prst="line">
            <a:avLst/>
          </a:prstGeom>
          <a:noFill/>
          <a:ln w="19050">
            <a:solidFill>
              <a:srgbClr val="1C86D9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9144000" y="4059936"/>
            <a:ext cx="2496312" cy="822960"/>
          </a:xfrm>
          <a:prstGeom prst="roundRect">
            <a:avLst>
              <a:gd name="adj" fmla="val 11111"/>
            </a:avLst>
          </a:prstGeom>
          <a:solidFill>
            <a:srgbClr val="EAF4FC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9281160" y="4059936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위 ♡ · 리본 한 번 · 휴지통</a:t>
            </a:r>
            <a:endParaRPr lang="ko-KR" alt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794760" y="5065776"/>
            <a:ext cx="4892040" cy="969264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9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3950208" y="5175504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D93F44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3950208" y="517550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기능</a:t>
            </a:r>
            <a:endParaRPr lang="ko-KR" altLang="en-US" sz="950" dirty="0"/>
          </a:p>
        </p:txBody>
      </p:sp>
      <p:sp>
        <p:nvSpPr>
          <p:cNvPr id="61" name="Text 59"/>
          <p:cNvSpPr txBox="1"/>
          <p:nvPr/>
        </p:nvSpPr>
        <p:spPr>
          <a:xfrm>
            <a:off x="5047488" y="516636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★4 · 2021.04.29 · App Store CA</a:t>
            </a:r>
            <a:endParaRPr lang="ko-KR" alt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3950208" y="544982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"I wish there was a Canadian Version showing PPG in CDN$ dollars"</a:t>
            </a:r>
            <a:endParaRPr lang="ko-KR" altLang="en-US" sz="1150" dirty="0"/>
          </a:p>
        </p:txBody>
      </p:sp>
      <p:sp>
        <p:nvSpPr>
          <p:cNvPr id="63" name="Text 61"/>
          <p:cNvSpPr txBox="1"/>
          <p:nvPr/>
        </p:nvSpPr>
        <p:spPr>
          <a:xfrm>
            <a:off x="3950208" y="5724144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5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나라 통화 시세가 없다</a:t>
            </a:r>
            <a:endParaRPr lang="ko-KR" alt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8759952" y="5550408"/>
            <a:ext cx="292608" cy="0"/>
          </a:xfrm>
          <a:prstGeom prst="line">
            <a:avLst/>
          </a:prstGeom>
          <a:noFill/>
          <a:ln w="19050">
            <a:solidFill>
              <a:srgbClr val="1C86D9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9144000" y="5138928"/>
            <a:ext cx="2496312" cy="822960"/>
          </a:xfrm>
          <a:prstGeom prst="roundRect">
            <a:avLst>
              <a:gd name="adj" fmla="val 11111"/>
            </a:avLst>
          </a:prstGeom>
          <a:solidFill>
            <a:srgbClr val="EAF4FC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9281160" y="5138928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일본 정가 + 국내 시세(원)</a:t>
            </a:r>
            <a:endParaRPr lang="ko-KR" altLang="en-US" sz="1200" dirty="0"/>
          </a:p>
        </p:txBody>
      </p:sp>
      <p:sp>
        <p:nvSpPr>
          <p:cNvPr id="67" name="Text 65"/>
          <p:cNvSpPr txBox="1"/>
          <p:nvPr/>
        </p:nvSpPr>
        <p:spPr>
          <a:xfrm>
            <a:off x="3794760" y="617220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리뷰는 원문 구절 · 작성자 이름 지움 · 수업 목적 인용 · 버그 · 광고 리뷰는 이번 분석에서 뺐다</a:t>
            </a:r>
            <a:endParaRPr lang="ko-KR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ko-KR" sz="900">
                <a:solidFill>
                  <a:srgbClr val="9AA0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7</a:t>
            </a:fld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문제 정의 4/5 — 퍼소나</a:t>
            </a:r>
            <a:endParaRPr lang="ko-KR" alt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앱을 쓸 사람: 수집 4년차 민준</a:t>
            </a:r>
            <a:endParaRPr lang="ko-KR" alt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66160" cy="4617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6192" y="1783080"/>
            <a:ext cx="1600200" cy="1600200"/>
          </a:xfrm>
          <a:prstGeom prst="ellipse">
            <a:avLst/>
          </a:prstGeom>
          <a:solidFill>
            <a:srgbClr val="EAF4FC"/>
          </a:solidFill>
          <a:ln w="38100">
            <a:solidFill>
              <a:srgbClr val="1C86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36192" y="1783080"/>
            <a:ext cx="1600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0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민준</a:t>
            </a:r>
            <a:endParaRPr lang="ko-KR" alt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204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민준 · 23</a:t>
            </a:r>
            <a:endParaRPr lang="ko-KR" alt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3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대학생 · 수집 4년차</a:t>
            </a:r>
            <a:endParaRPr lang="ko-KR" alt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4407408"/>
            <a:ext cx="3108960" cy="438912"/>
          </a:xfrm>
          <a:prstGeom prst="roundRect">
            <a:avLst>
              <a:gd name="adj" fmla="val 20833"/>
            </a:avLst>
          </a:prstGeom>
          <a:solidFill>
            <a:srgbClr val="F4F5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4407408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모으는 것</a:t>
            </a:r>
            <a:endParaRPr lang="ko-KR" alt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440740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건프라 · 베이블레이드 X · 포켓몬</a:t>
            </a:r>
            <a:endParaRPr lang="ko-KR" alt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" y="4937760"/>
            <a:ext cx="3108960" cy="438912"/>
          </a:xfrm>
          <a:prstGeom prst="roundRect">
            <a:avLst>
              <a:gd name="adj" fmla="val 20833"/>
            </a:avLst>
          </a:prstGeom>
          <a:solidFill>
            <a:srgbClr val="F4F5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93776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쓰는 기기</a:t>
            </a:r>
            <a:endParaRPr lang="ko-KR" alt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920240" y="493776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스마트폰</a:t>
            </a:r>
            <a:endParaRPr lang="ko-KR" alt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" y="5468112"/>
            <a:ext cx="3108960" cy="438912"/>
          </a:xfrm>
          <a:prstGeom prst="roundRect">
            <a:avLst>
              <a:gd name="adj" fmla="val 20833"/>
            </a:avLst>
          </a:prstGeom>
          <a:solidFill>
            <a:srgbClr val="F4F5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468112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같이 사는 사람</a:t>
            </a:r>
            <a:endParaRPr lang="ko-KR" alt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546811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동생 — 같은 방에 컬렉션</a:t>
            </a:r>
            <a:endParaRPr lang="ko-KR" alt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14813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민준의 하루</a:t>
            </a:r>
            <a:endParaRPr lang="ko-KR" alt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89120" y="1847088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90288" y="2029968"/>
            <a:ext cx="384048" cy="384048"/>
          </a:xfrm>
          <a:prstGeom prst="ellipse">
            <a:avLst/>
          </a:prstGeom>
          <a:solidFill>
            <a:srgbClr val="1C86D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90288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alt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120640" y="201168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등하굣길</a:t>
            </a:r>
            <a:endParaRPr lang="ko-KR" alt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949440" y="2048256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4F5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949440" y="20482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폰</a:t>
            </a:r>
            <a:endParaRPr lang="ko-KR" alt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590288" y="24688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재판 · 신상 소식을 공식 X · 유튜브 · 호비 사이트에서 따로 확인</a:t>
            </a:r>
            <a:endParaRPr lang="ko-KR" alt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89120" y="3264408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90288" y="3447288"/>
            <a:ext cx="384048" cy="384048"/>
          </a:xfrm>
          <a:prstGeom prst="ellipse">
            <a:avLst/>
          </a:prstGeom>
          <a:solidFill>
            <a:srgbClr val="1C86D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590288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alt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120640" y="34290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</a:t>
            </a:r>
            <a:endParaRPr lang="ko-KR" alt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949440" y="3465576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4F5F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949440" y="34655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</a:t>
            </a:r>
            <a:endParaRPr lang="ko-KR" alt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590288" y="38862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"이거 이미 샀나?" 기억이 안 나고, 시세는 중고 앱에서 따로</a:t>
            </a:r>
            <a:endParaRPr lang="ko-KR" alt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389120" y="4681728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9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90288" y="4864608"/>
            <a:ext cx="384048" cy="384048"/>
          </a:xfrm>
          <a:prstGeom prst="ellipse">
            <a:avLst/>
          </a:prstGeom>
          <a:solidFill>
            <a:srgbClr val="1C86D9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590288" y="4864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alt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5120640" y="48463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</a:t>
            </a:r>
            <a:endParaRPr lang="ko-KR" alt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949440" y="4882896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4F5F7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949440" y="488289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폰</a:t>
            </a:r>
            <a:endParaRPr lang="ko-KR" alt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4590288" y="53035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 것 · 갖고 싶은 것을 정리 — 동생 것과 겹친다</a:t>
            </a:r>
            <a:endParaRPr lang="ko-KR" alt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549640" y="1481328"/>
            <a:ext cx="3090672" cy="2240280"/>
          </a:xfrm>
          <a:prstGeom prst="roundRect">
            <a:avLst>
              <a:gd name="adj" fmla="val 5714"/>
            </a:avLst>
          </a:prstGeom>
          <a:solidFill>
            <a:srgbClr val="FCEDED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759952" y="1627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D93F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불편한 점</a:t>
            </a:r>
            <a:endParaRPr lang="ko-KR" alt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8759952" y="1965960"/>
            <a:ext cx="2697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12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소식 · 시세 · 기록이 앱마다 따로</a:t>
            </a:r>
            <a:endParaRPr lang="ko-KR" alt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12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지난 상품은 찾기 어렵다</a:t>
            </a:r>
            <a:endParaRPr lang="ko-KR" alt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12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이미 샀는지 헷갈려 겹쳐 산다</a:t>
            </a:r>
            <a:endParaRPr lang="ko-KR" alt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8549640" y="3858768"/>
            <a:ext cx="3090672" cy="2240280"/>
          </a:xfrm>
          <a:prstGeom prst="roundRect">
            <a:avLst>
              <a:gd name="adj" fmla="val 5714"/>
            </a:avLst>
          </a:prstGeom>
          <a:solidFill>
            <a:srgbClr val="EAF4FC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759952" y="4005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바라는 것</a:t>
            </a:r>
            <a:endParaRPr lang="ko-KR" alt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8759952" y="4343400"/>
            <a:ext cx="2697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12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내 IP 소식만 한곳에서</a:t>
            </a:r>
            <a:endParaRPr lang="ko-KR" alt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12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산 것 · 갖고 싶은 것을 한 번에 기록</a:t>
            </a:r>
            <a:endParaRPr lang="ko-KR" alt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12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동생 · 친구와 겹쳐 사지 않기</a:t>
            </a:r>
            <a:endParaRPr lang="ko-KR" alt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ko-KR" sz="900">
                <a:solidFill>
                  <a:srgbClr val="9AA0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8</a:t>
            </a:fld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문제 정의 5/5 — 저니 · 근본 원인</a:t>
            </a:r>
            <a:endParaRPr lang="ko-KR" alt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민준이 가장 막히는 곳과 그 이유</a:t>
            </a:r>
            <a:endParaRPr lang="ko-KR" alt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저니</a:t>
            </a:r>
            <a:pPr indent="0" marL="0">
              <a:buNone/>
            </a:pPr>
            <a:r>
              <a:rPr lang="ko-KR" altLang="en-US" sz="11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재판 소식을 보고 → 사서 → 도감에 기록하기까지</a:t>
            </a:r>
            <a:endParaRPr lang="ko-KR" alt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719072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874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alt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2140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소식 알기</a:t>
            </a:r>
            <a:endParaRPr lang="ko-KR" alt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96696" y="2560320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F4F5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96696" y="256032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보통</a:t>
            </a:r>
            <a:endParaRPr lang="ko-KR" alt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76856" y="2350008"/>
            <a:ext cx="137160" cy="0"/>
          </a:xfrm>
          <a:prstGeom prst="line">
            <a:avLst/>
          </a:prstGeom>
          <a:noFill/>
          <a:ln w="19050">
            <a:solidFill>
              <a:srgbClr val="9AA0A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23160" y="1783080"/>
            <a:ext cx="1719072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560320" y="1874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alt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514600" y="212140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찾기</a:t>
            </a:r>
            <a:endParaRPr lang="ko-KR" alt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871216" y="2560320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C9CDD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871216" y="256032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불편</a:t>
            </a:r>
            <a:endParaRPr lang="ko-KR" alt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51376" y="2350008"/>
            <a:ext cx="137160" cy="0"/>
          </a:xfrm>
          <a:prstGeom prst="line">
            <a:avLst/>
          </a:prstGeom>
          <a:noFill/>
          <a:ln w="19050">
            <a:solidFill>
              <a:srgbClr val="9AA0A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297680" y="1783080"/>
            <a:ext cx="1719072" cy="1143000"/>
          </a:xfrm>
          <a:prstGeom prst="roundRect">
            <a:avLst>
              <a:gd name="adj" fmla="val 9600"/>
            </a:avLst>
          </a:prstGeom>
          <a:solidFill>
            <a:srgbClr val="FCEDED"/>
          </a:solidFill>
          <a:ln w="25400">
            <a:solidFill>
              <a:srgbClr val="D93F4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34840" y="1874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D93F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alt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389120" y="212140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rgbClr val="D93F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살지 판단</a:t>
            </a:r>
            <a:endParaRPr lang="ko-KR" alt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745736" y="2560320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D93F4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745736" y="256032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최악</a:t>
            </a:r>
            <a:endParaRPr lang="ko-KR" alt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25896" y="2350008"/>
            <a:ext cx="137160" cy="0"/>
          </a:xfrm>
          <a:prstGeom prst="line">
            <a:avLst/>
          </a:prstGeom>
          <a:noFill/>
          <a:ln w="19050">
            <a:solidFill>
              <a:srgbClr val="9AA0A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172200" y="1783080"/>
            <a:ext cx="1719072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09360" y="1874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alt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263640" y="212140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</a:t>
            </a:r>
            <a:endParaRPr lang="ko-KR" alt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620256" y="2560320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C9CDD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620256" y="256032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불편</a:t>
            </a:r>
            <a:endParaRPr lang="ko-KR" alt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900416" y="2350008"/>
            <a:ext cx="137160" cy="0"/>
          </a:xfrm>
          <a:prstGeom prst="line">
            <a:avLst/>
          </a:prstGeom>
          <a:noFill/>
          <a:ln w="19050">
            <a:solidFill>
              <a:srgbClr val="9AA0A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046720" y="1783080"/>
            <a:ext cx="1719072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183880" y="1874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ko-KR" alt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138160" y="212140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모은 것 보기</a:t>
            </a:r>
            <a:endParaRPr lang="ko-KR" alt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8494776" y="2560320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F4F5F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494776" y="256032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보통</a:t>
            </a:r>
            <a:endParaRPr lang="ko-KR" alt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774936" y="2350008"/>
            <a:ext cx="137160" cy="0"/>
          </a:xfrm>
          <a:prstGeom prst="line">
            <a:avLst/>
          </a:prstGeom>
          <a:noFill/>
          <a:ln w="19050">
            <a:solidFill>
              <a:srgbClr val="9AA0A6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921240" y="1783080"/>
            <a:ext cx="1719072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058400" y="1874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ko-KR" alt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0012680" y="212140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나누기</a:t>
            </a:r>
            <a:endParaRPr lang="ko-KR" alt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10369296" y="2560320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12A07F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10369296" y="256032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좋음</a:t>
            </a:r>
            <a:endParaRPr lang="ko-KR" alt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297680" y="3035808"/>
            <a:ext cx="3593592" cy="457200"/>
          </a:xfrm>
          <a:prstGeom prst="roundRect">
            <a:avLst>
              <a:gd name="adj" fmla="val 20000"/>
            </a:avLst>
          </a:prstGeom>
          <a:solidFill>
            <a:srgbClr val="FCEDED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434840" y="30358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b="1" dirty="0">
                <a:solidFill>
                  <a:srgbClr val="D93F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정가 · 시세 · 이미 가졌는지를 한곳에서 못 본다</a:t>
            </a:r>
            <a:endParaRPr lang="ko-KR" alt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37307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그럴까? — 5 Why</a:t>
            </a:r>
            <a:pPr indent="0" marL="0">
              <a:buNone/>
            </a:pPr>
            <a:r>
              <a:rPr lang="ko-KR" altLang="en-US" sz="11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피쉬본 6시각 중 가장 많은 "사용성"에서 출발 (전체: 부록 B5-3)</a:t>
            </a:r>
            <a:endParaRPr lang="ko-KR" alt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48640" y="4114800"/>
            <a:ext cx="1645920" cy="1051560"/>
          </a:xfrm>
          <a:prstGeom prst="roundRect">
            <a:avLst>
              <a:gd name="adj" fmla="val 10435"/>
            </a:avLst>
          </a:prstGeom>
          <a:solidFill>
            <a:srgbClr val="F4F5F7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76656" y="41879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1</a:t>
            </a:r>
            <a:endParaRPr lang="ko-KR" alt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676656" y="4443984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메뉴가 많고 창이 따로 열린다</a:t>
            </a:r>
            <a:endParaRPr lang="ko-KR" alt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2203704" y="4636008"/>
            <a:ext cx="118872" cy="0"/>
          </a:xfrm>
          <a:prstGeom prst="line">
            <a:avLst/>
          </a:prstGeom>
          <a:noFill/>
          <a:ln w="19050">
            <a:solidFill>
              <a:srgbClr val="9AA0A6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2331720" y="4114800"/>
            <a:ext cx="1645920" cy="1051560"/>
          </a:xfrm>
          <a:prstGeom prst="roundRect">
            <a:avLst>
              <a:gd name="adj" fmla="val 10435"/>
            </a:avLst>
          </a:prstGeom>
          <a:solidFill>
            <a:srgbClr val="F4F5F7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2459736" y="41879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2</a:t>
            </a:r>
            <a:endParaRPr lang="ko-KR" alt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2459736" y="4443984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웹사이트 구조를 그대로 옮겼다</a:t>
            </a:r>
            <a:endParaRPr lang="ko-KR" alt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3986784" y="4636008"/>
            <a:ext cx="118872" cy="0"/>
          </a:xfrm>
          <a:prstGeom prst="line">
            <a:avLst/>
          </a:prstGeom>
          <a:noFill/>
          <a:ln w="19050">
            <a:solidFill>
              <a:srgbClr val="9AA0A6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4114800" y="4114800"/>
            <a:ext cx="1645920" cy="1051560"/>
          </a:xfrm>
          <a:prstGeom prst="roundRect">
            <a:avLst>
              <a:gd name="adj" fmla="val 10435"/>
            </a:avLst>
          </a:prstGeom>
          <a:solidFill>
            <a:srgbClr val="F4F5F7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4242816" y="41879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3</a:t>
            </a:r>
            <a:endParaRPr lang="ko-KR" alt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4242816" y="4443984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종류로 화면을 나눴다</a:t>
            </a:r>
            <a:endParaRPr lang="ko-KR" alt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5769864" y="4636008"/>
            <a:ext cx="118872" cy="0"/>
          </a:xfrm>
          <a:prstGeom prst="line">
            <a:avLst/>
          </a:prstGeom>
          <a:noFill/>
          <a:ln w="19050">
            <a:solidFill>
              <a:srgbClr val="9AA0A6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5897880" y="4114800"/>
            <a:ext cx="1645920" cy="1051560"/>
          </a:xfrm>
          <a:prstGeom prst="roundRect">
            <a:avLst>
              <a:gd name="adj" fmla="val 10435"/>
            </a:avLst>
          </a:prstGeom>
          <a:solidFill>
            <a:srgbClr val="F4F5F7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6025896" y="41879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4</a:t>
            </a:r>
            <a:endParaRPr lang="ko-KR" alt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6025896" y="4443984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관심 분야가 화면에 없다</a:t>
            </a:r>
            <a:endParaRPr lang="ko-KR" alt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7552944" y="4636008"/>
            <a:ext cx="118872" cy="0"/>
          </a:xfrm>
          <a:prstGeom prst="line">
            <a:avLst/>
          </a:prstGeom>
          <a:noFill/>
          <a:ln w="19050">
            <a:solidFill>
              <a:srgbClr val="9AA0A6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7680960" y="4114800"/>
            <a:ext cx="3959352" cy="1984248"/>
          </a:xfrm>
          <a:prstGeom prst="roundRect">
            <a:avLst>
              <a:gd name="adj" fmla="val 7373"/>
            </a:avLst>
          </a:prstGeom>
          <a:solidFill>
            <a:srgbClr val="1C86D9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7909560" y="42245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CFE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5 — 근본 원인</a:t>
            </a:r>
            <a:endParaRPr lang="ko-KR" alt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7909560" y="449884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관심 IP와 내가 하는 일의 순서가 화면의 기준이 아니다</a:t>
            </a:r>
            <a:endParaRPr lang="ko-KR" altLang="en-US" sz="1500" dirty="0"/>
          </a:p>
        </p:txBody>
      </p:sp>
      <p:sp>
        <p:nvSpPr>
          <p:cNvPr id="62" name="Text 60"/>
          <p:cNvSpPr txBox="1"/>
          <p:nvPr/>
        </p:nvSpPr>
        <p:spPr>
          <a:xfrm>
            <a:off x="7909560" y="53492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Hobby Atlas: </a:t>
            </a:r>
            <a:pPr indent="0" marL="0">
              <a:buNone/>
            </a:pPr>
            <a:r>
              <a:rPr lang="ko-KR" alt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위는 내 채널 바 하나, 아래 탭은 소식 · 찾기 · 발매 · 기록 순서</a:t>
            </a:r>
            <a:endParaRPr lang="ko-KR" alt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548640" y="5349240"/>
            <a:ext cx="69494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731520" y="5349240"/>
            <a:ext cx="6675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D93F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어긴 원칙  </a:t>
            </a:r>
            <a:pPr indent="0" marL="0">
              <a:buNone/>
            </a:pPr>
            <a:r>
              <a:rPr lang="ko-KR" altLang="en-US" sz="110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P07 지름길 없음 · P08 정보 과다 · P10 시세 출처 불명   </a:t>
            </a:r>
            <a:pPr indent="0" marL="0">
              <a:buNone/>
            </a:pPr>
            <a:r>
              <a:rPr lang="ko-KR" altLang="en-US" sz="11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데이터  </a:t>
            </a:r>
            <a:pPr indent="0" marL="0">
              <a:buNone/>
            </a:pPr>
            <a:r>
              <a:rPr lang="ko-KR" altLang="en-US" sz="110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kits.priceJpy · 내 구매함</a:t>
            </a:r>
            <a:endParaRPr lang="ko-KR" alt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ko-KR" sz="900">
                <a:solidFill>
                  <a:srgbClr val="9AA0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9</a:t>
            </a:fld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 해결 방법 — 홈 시안</a:t>
            </a:r>
            <a:endParaRPr lang="ko-KR" alt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시안 A · B · C — AI는 B를 추천했지만 나는 A를 골랐다</a:t>
            </a:r>
            <a:endParaRPr lang="ko-KR" alt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FF4E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463040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B86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요청 · 10/25 15:00</a:t>
            </a:r>
            <a:endParaRPr lang="ko-KR" alt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700784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“아바타는 그 줄 위에 두고, 홈에 검색은 필요해. 그런데 안의 기능들을 위에서 아래로 나열하지 말고, 더 좋은 UI 방식을 같이 고민해 보자.”</a:t>
            </a:r>
            <a:endParaRPr lang="ko-KR" alt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2240280" cy="292608"/>
          </a:xfrm>
          <a:prstGeom prst="roundRect">
            <a:avLst>
              <a:gd name="adj" fmla="val 50000"/>
            </a:avLst>
          </a:prstGeom>
          <a:solidFill>
            <a:srgbClr val="1C86D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4231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매거진 · 내 선택</a:t>
            </a:r>
            <a:endParaRPr lang="ko-KR" alt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39970" y="2830068"/>
            <a:ext cx="1457621" cy="2569464"/>
          </a:xfrm>
          <a:prstGeom prst="roundRect">
            <a:avLst>
              <a:gd name="adj" fmla="val 41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pic>
        <p:nvPicPr>
          <p:cNvPr id="10" name="Image 0" descr="C:\Users\Windows11\AppData\Local\Temp\claude\C--Users-Windows11-Desktop-New-folder--2-\a0c8a1d0-32ba-4ae6-9843-b5ebc69d925f\scratchpad\deck2/img/abc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682" y="2811780"/>
            <a:ext cx="1494197" cy="260604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48640" y="548640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사진 한 장 넘기기 + 태그 붙은 2열 사진</a:t>
            </a:r>
            <a:endParaRPr lang="ko-KR" alt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8704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사진이 가장 크고 많다</a:t>
            </a:r>
            <a:endParaRPr lang="ko-KR" alt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944368" y="2423160"/>
            <a:ext cx="2240280" cy="292608"/>
          </a:xfrm>
          <a:prstGeom prst="roundRect">
            <a:avLst>
              <a:gd name="adj" fmla="val 50000"/>
            </a:avLst>
          </a:prstGeom>
          <a:solidFill>
            <a:srgbClr val="B86E0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944368" y="24231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벤토 · AI 추천</a:t>
            </a:r>
            <a:endParaRPr lang="ko-KR" altLang="en-US" sz="1050" dirty="0"/>
          </a:p>
        </p:txBody>
      </p:sp>
      <p:pic>
        <p:nvPicPr>
          <p:cNvPr id="15" name="Image 1" descr="C:\Users\Windows11\AppData\Local\Temp\claude\C--Users-Windows11-Desktop-New-folder--2-\a0c8a1d0-32ba-4ae6-9843-b5ebc69d925f\scratchpad\deck2/img/abc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441" y="2811780"/>
            <a:ext cx="1484135" cy="260604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944368" y="548640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화면에 크기가 다른 4칸 (신규 8 · 10월 발매 3 · 예고 6 · 최근 본)</a:t>
            </a:r>
            <a:endParaRPr lang="ko-KR" alt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2944368" y="58704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D93F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숫자 위주 — 사진이 작다</a:t>
            </a:r>
            <a:endParaRPr lang="ko-KR" alt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340096" y="2423160"/>
            <a:ext cx="2240280" cy="292608"/>
          </a:xfrm>
          <a:prstGeom prst="roundRect">
            <a:avLst>
              <a:gd name="adj" fmla="val 50000"/>
            </a:avLst>
          </a:prstGeom>
          <a:solidFill>
            <a:srgbClr val="9AA0A6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5340096" y="24231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카드 덱</a:t>
            </a:r>
            <a:endParaRPr lang="ko-KR" altLang="en-US" sz="1050" dirty="0"/>
          </a:p>
        </p:txBody>
      </p:sp>
      <p:pic>
        <p:nvPicPr>
          <p:cNvPr id="20" name="Image 2" descr="C:\Users\Windows11\AppData\Local\Temp\claude\C--Users-Windows11-Desktop-New-folder--2-\a0c8a1d0-32ba-4ae6-9843-b5ebc69d925f\scratchpad\deck2/img/abc_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8169" y="2811780"/>
            <a:ext cx="1484135" cy="260604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340096" y="548640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 알약으로 종류 · 큰 카드를 하나씩 넘김</a:t>
            </a:r>
            <a:endParaRPr lang="ko-KR" altLang="en-US" sz="950" dirty="0"/>
          </a:p>
        </p:txBody>
      </p:sp>
      <p:sp>
        <p:nvSpPr>
          <p:cNvPr id="22" name="Text 17"/>
          <p:cNvSpPr txBox="1"/>
          <p:nvPr/>
        </p:nvSpPr>
        <p:spPr>
          <a:xfrm>
            <a:off x="5340096" y="58704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D93F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한 번에 하나 — 찾기 느리다</a:t>
            </a:r>
            <a:endParaRPr lang="ko-KR" alt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7818120" y="2423160"/>
            <a:ext cx="3822192" cy="3721608"/>
          </a:xfrm>
          <a:prstGeom prst="roundRect">
            <a:avLst>
              <a:gd name="adj" fmla="val 3440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9000"/>
              </a:srgbClr>
            </a:outerShdw>
          </a:effectLst>
        </p:spPr>
      </p:sp>
      <p:sp>
        <p:nvSpPr>
          <p:cNvPr id="24" name="Text 19"/>
          <p:cNvSpPr txBox="1"/>
          <p:nvPr/>
        </p:nvSpPr>
        <p:spPr>
          <a:xfrm>
            <a:off x="8046720" y="2560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정했나</a:t>
            </a:r>
            <a:endParaRPr lang="ko-KR" alt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8046720" y="2962656"/>
            <a:ext cx="457200" cy="237744"/>
          </a:xfrm>
          <a:prstGeom prst="roundRect">
            <a:avLst>
              <a:gd name="adj" fmla="val 50000"/>
            </a:avLst>
          </a:prstGeom>
          <a:solidFill>
            <a:srgbClr val="F4F5F7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046720" y="296265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endParaRPr lang="ko-KR" altLang="en-US" sz="950" dirty="0"/>
          </a:p>
        </p:txBody>
      </p:sp>
      <p:sp>
        <p:nvSpPr>
          <p:cNvPr id="27" name="Text 22"/>
          <p:cNvSpPr txBox="1"/>
          <p:nvPr/>
        </p:nvSpPr>
        <p:spPr>
          <a:xfrm>
            <a:off x="8595360" y="2926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· B · C를 보여 주고 "B에 사진을 넣자"고 추천</a:t>
            </a:r>
            <a:endParaRPr lang="ko-KR" alt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8046720" y="3511296"/>
            <a:ext cx="457200" cy="237744"/>
          </a:xfrm>
          <a:prstGeom prst="roundRect">
            <a:avLst>
              <a:gd name="adj" fmla="val 50000"/>
            </a:avLst>
          </a:prstGeom>
          <a:solidFill>
            <a:srgbClr val="1C86D9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8046720" y="351129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</a:t>
            </a:r>
            <a:endParaRPr lang="ko-KR" altLang="en-US" sz="950" dirty="0"/>
          </a:p>
        </p:txBody>
      </p:sp>
      <p:sp>
        <p:nvSpPr>
          <p:cNvPr id="30" name="Text 25"/>
          <p:cNvSpPr txBox="1"/>
          <p:nvPr/>
        </p:nvSpPr>
        <p:spPr>
          <a:xfrm>
            <a:off x="8595360" y="3474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"나는 A가 더 좋아, 시안을 더 보여 줘"</a:t>
            </a:r>
            <a:endParaRPr lang="ko-KR" alt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8046720" y="4059936"/>
            <a:ext cx="457200" cy="237744"/>
          </a:xfrm>
          <a:prstGeom prst="roundRect">
            <a:avLst>
              <a:gd name="adj" fmla="val 50000"/>
            </a:avLst>
          </a:prstGeom>
          <a:solidFill>
            <a:srgbClr val="F4F5F7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8046720" y="405993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endParaRPr lang="ko-KR" altLang="en-US" sz="950" dirty="0"/>
          </a:p>
        </p:txBody>
      </p:sp>
      <p:sp>
        <p:nvSpPr>
          <p:cNvPr id="33" name="Text 28"/>
          <p:cNvSpPr txBox="1"/>
          <p:nvPr/>
        </p:nvSpPr>
        <p:spPr>
          <a:xfrm>
            <a:off x="8595360" y="40233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 룩북 · A2 메이슨리 · A3 에디토리얼 · A4 타임라인 — A1 추천</a:t>
            </a:r>
            <a:endParaRPr lang="ko-KR" alt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8046720" y="4608576"/>
            <a:ext cx="457200" cy="237744"/>
          </a:xfrm>
          <a:prstGeom prst="roundRect">
            <a:avLst>
              <a:gd name="adj" fmla="val 50000"/>
            </a:avLst>
          </a:prstGeom>
          <a:solidFill>
            <a:srgbClr val="1C86D9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8046720" y="46085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</a:t>
            </a:r>
            <a:endParaRPr lang="ko-KR" altLang="en-US" sz="950" dirty="0"/>
          </a:p>
        </p:txBody>
      </p:sp>
      <p:sp>
        <p:nvSpPr>
          <p:cNvPr id="36" name="Text 31"/>
          <p:cNvSpPr txBox="1"/>
          <p:nvPr/>
        </p:nvSpPr>
        <p:spPr>
          <a:xfrm>
            <a:off x="8595360" y="45720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"처음 그 A 매거진이 좋아"</a:t>
            </a:r>
            <a:endParaRPr lang="ko-KR" alt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8046720" y="5166360"/>
            <a:ext cx="3383280" cy="868680"/>
          </a:xfrm>
          <a:prstGeom prst="roundRect">
            <a:avLst>
              <a:gd name="adj" fmla="val 10526"/>
            </a:avLst>
          </a:prstGeom>
          <a:solidFill>
            <a:srgbClr val="EAF4FC"/>
          </a:solidFill>
          <a:ln/>
        </p:spPr>
      </p:sp>
      <p:sp>
        <p:nvSpPr>
          <p:cNvPr id="38" name="Text 33"/>
          <p:cNvSpPr txBox="1"/>
          <p:nvPr/>
        </p:nvSpPr>
        <p:spPr>
          <a:xfrm>
            <a:off x="8183880" y="519379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5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A? </a:t>
            </a:r>
            <a:pPr indent="0" marL="0">
              <a:buNone/>
            </a:pPr>
            <a:r>
              <a:rPr lang="ko-KR" alt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수집가는 이름보다 사진으로 상품을 알아본다. 사진이 가장 크고 많은 A — B는 숫자 칸, C는 한 번에 하나뿐</a:t>
            </a:r>
            <a:endParaRPr lang="ko-KR" alt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ko-KR" sz="900">
                <a:solidFill>
                  <a:srgbClr val="9AA0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10</a:t>
            </a:fld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 해결 방법 — 화면이 바뀐 과정 1/5 · 홈 · 채널 · 가로 줄</a:t>
            </a:r>
            <a:endParaRPr lang="ko-KR" alt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홈: 다른 앱 캡처를 보여 주고, 채널 · 배너 · 가로 줄로</a:t>
            </a:r>
            <a:endParaRPr lang="ko-KR" alt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50920" cy="1847088"/>
          </a:xfrm>
          <a:prstGeom prst="roundRect">
            <a:avLst>
              <a:gd name="adj" fmla="val 4950"/>
            </a:avLst>
          </a:prstGeom>
          <a:solidFill>
            <a:srgbClr val="FFF4E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7512" y="1408176"/>
            <a:ext cx="3313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rgbClr val="B86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요청 · 10/25 14:25</a:t>
            </a:r>
            <a:endParaRPr lang="ko-KR" alt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1591056"/>
            <a:ext cx="3313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참고: 채널 관리 화면 캡처</a:t>
            </a:r>
            <a:endParaRPr lang="ko-KR" alt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667512" y="1773936"/>
            <a:ext cx="3313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바꾼 곳: 위쪽 IP 바 · 아바타 · 하단 탭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1975104"/>
            <a:ext cx="331317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“아바타는 왼쪽 위에. 캘린더는 좋은 기능이라 넣고 싶어. IP는 다 넣을 수 없고 사람마다 원하는 게 다르니까, IP가 있는 곳 오른쪽 위에 채널처럼 누르면 오른쪽에서 밀려 나오는 화면을 두고 보일 IP를 고르게 해 줘. 최근 업데이트는 홈에. 카메라 아이콘은 안 예뻐서 바꿔 줘. 하단 탭은 추천안대로, 앱은 흑백으로.”</a:t>
            </a:r>
            <a:endParaRPr lang="ko-KR" alt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34762" y="3328416"/>
            <a:ext cx="1146510" cy="2523744"/>
          </a:xfrm>
          <a:prstGeom prst="roundRect">
            <a:avLst>
              <a:gd name="adj" fmla="val 7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pic>
        <p:nvPicPr>
          <p:cNvPr id="10" name="Image 0" descr="C:\Users\Windows11\AppData\Local\Temp\claude\C--Users-Windows11-Desktop-New-folder--2-\a0c8a1d0-32ba-4ae6-9843-b5ebc69d925f\scratchpad\deck2/img/chan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6474" y="3310128"/>
            <a:ext cx="1183086" cy="2560320"/>
          </a:xfrm>
          <a:prstGeom prst="rect">
            <a:avLst/>
          </a:prstGeom>
        </p:spPr>
      </p:pic>
      <p:pic>
        <p:nvPicPr>
          <p:cNvPr id="11" name="Image 1" descr="C:\Users\Windows11\AppData\Local\Temp\claude\C--Users-Windows11-Desktop-New-folder--2-\a0c8a1d0-32ba-4ae6-9843-b5ebc69d925f\scratchpad\deck2/img/r_0525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348" y="3310128"/>
            <a:ext cx="1051249" cy="23774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02920" y="5696712"/>
            <a:ext cx="225810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750" b="1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· 채널 관리</a:t>
            </a:r>
            <a:endParaRPr lang="ko-KR" alt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2733594" y="4590288"/>
            <a:ext cx="146304" cy="0"/>
          </a:xfrm>
          <a:prstGeom prst="line">
            <a:avLst/>
          </a:prstGeom>
          <a:noFill/>
          <a:ln w="19050">
            <a:solidFill>
              <a:srgbClr val="1C86D9"/>
            </a:solidFill>
            <a:prstDash val="solid"/>
            <a:tailEnd type="triangle"/>
          </a:ln>
        </p:spPr>
      </p:sp>
      <p:sp>
        <p:nvSpPr>
          <p:cNvPr id="14" name="Text 10"/>
          <p:cNvSpPr txBox="1"/>
          <p:nvPr/>
        </p:nvSpPr>
        <p:spPr>
          <a:xfrm>
            <a:off x="548640" y="5925312"/>
            <a:ext cx="3550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☰ 채널 관리 — 오른쪽에서 밀려 나옴</a:t>
            </a:r>
            <a:endParaRPr lang="ko-KR" alt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172200"/>
            <a:ext cx="3550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a29b005 · d16ec27</a:t>
            </a:r>
            <a:endParaRPr lang="ko-KR" alt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4126992" y="2286000"/>
            <a:ext cx="164592" cy="0"/>
          </a:xfrm>
          <a:prstGeom prst="line">
            <a:avLst/>
          </a:prstGeom>
          <a:noFill/>
          <a:ln w="19050">
            <a:solidFill>
              <a:srgbClr val="9AA0A6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4319016" y="1371600"/>
            <a:ext cx="3550920" cy="1847088"/>
          </a:xfrm>
          <a:prstGeom prst="roundRect">
            <a:avLst>
              <a:gd name="adj" fmla="val 4950"/>
            </a:avLst>
          </a:prstGeom>
          <a:solidFill>
            <a:srgbClr val="FFF4E2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4437888" y="1408176"/>
            <a:ext cx="3313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rgbClr val="B86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요청 · 10/25 15:39</a:t>
            </a:r>
            <a:endParaRPr lang="ko-KR" altLang="en-US" sz="850" dirty="0"/>
          </a:p>
        </p:txBody>
      </p:sp>
      <p:sp>
        <p:nvSpPr>
          <p:cNvPr id="19" name="Text 15"/>
          <p:cNvSpPr txBox="1"/>
          <p:nvPr/>
        </p:nvSpPr>
        <p:spPr>
          <a:xfrm>
            <a:off x="4437888" y="1591056"/>
            <a:ext cx="3313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참고: PS Store · 네이버 플러스 스토어 · 푸드판다 · Prime Video</a:t>
            </a:r>
            <a:endParaRPr lang="ko-KR" alt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4437888" y="1773936"/>
            <a:ext cx="3313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바꾼 곳: 홈 — 맨 위 배너 · 가로 줄</a:t>
            </a:r>
            <a:endParaRPr lang="ko-KR" altLang="en-US" sz="850" dirty="0"/>
          </a:p>
        </p:txBody>
      </p:sp>
      <p:sp>
        <p:nvSpPr>
          <p:cNvPr id="21" name="Text 17"/>
          <p:cNvSpPr txBox="1"/>
          <p:nvPr/>
        </p:nvSpPr>
        <p:spPr>
          <a:xfrm>
            <a:off x="4437888" y="1975104"/>
            <a:ext cx="331317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“이 앱들을 봐. 한 항목 안에 '최근 업데이트' 같은 게 사진으로 좌우로 넘어가고, 날짜 · 가격 같은 건 없어 — 관심 있는 사람은 눌러서 상세를 보니까. 맨 위 큰 그림은 배경에 녹아들지 못하니, 예고처럼 완전한 그림을 어색하지 않게 넣으면 어때? 더 좋은 생각이 있으면 말해 줘.”</a:t>
            </a:r>
            <a:endParaRPr lang="ko-KR" alt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6705138" y="3328416"/>
            <a:ext cx="1146510" cy="2523744"/>
          </a:xfrm>
          <a:prstGeom prst="roundRect">
            <a:avLst>
              <a:gd name="adj" fmla="val 7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pic>
        <p:nvPicPr>
          <p:cNvPr id="23" name="Image 2" descr="C:\Users\Windows11\AppData\Local\Temp\claude\C--Users-Windows11-Desktop-New-folder--2-\a0c8a1d0-32ba-4ae6-9843-b5ebc69d925f\scratchpad\deck2/img/evo_b20d76f_ho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850" y="3310128"/>
            <a:ext cx="1183086" cy="2560320"/>
          </a:xfrm>
          <a:prstGeom prst="rect">
            <a:avLst/>
          </a:prstGeom>
        </p:spPr>
      </p:pic>
      <p:pic>
        <p:nvPicPr>
          <p:cNvPr id="24" name="Image 3" descr="C:\Users\Windows11\AppData\Local\Temp\claude\C--Users-Windows11-Desktop-New-folder--2-\a0c8a1d0-32ba-4ae6-9843-b5ebc69d925f\scratchpad\deck2/img/r_0639_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7873" y="3310128"/>
            <a:ext cx="435740" cy="106984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4273296" y="4389120"/>
            <a:ext cx="7648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750" b="1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PS Store</a:t>
            </a:r>
            <a:endParaRPr lang="ko-KR" altLang="en-US" sz="750" dirty="0"/>
          </a:p>
        </p:txBody>
      </p:sp>
      <p:pic>
        <p:nvPicPr>
          <p:cNvPr id="26" name="Image 4" descr="C:\Users\Windows11\AppData\Local\Temp\claude\C--Users-Windows11-Desktop-New-folder--2-\a0c8a1d0-32ba-4ae6-9843-b5ebc69d925f\scratchpad\deck2/img/r_0639_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4479" y="3310128"/>
            <a:ext cx="435740" cy="106984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019902" y="4389120"/>
            <a:ext cx="7648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750" b="1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PS Store</a:t>
            </a:r>
            <a:endParaRPr lang="ko-KR" altLang="en-US" sz="750" dirty="0"/>
          </a:p>
        </p:txBody>
      </p:sp>
      <p:pic>
        <p:nvPicPr>
          <p:cNvPr id="28" name="Image 5" descr="C:\Users\Windows11\AppData\Local\Temp\claude\C--Users-Windows11-Desktop-New-folder--2-\a0c8a1d0-32ba-4ae6-9843-b5ebc69d925f\scratchpad\deck2/img/r_0639_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1085" y="3310128"/>
            <a:ext cx="435740" cy="106984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766508" y="4389120"/>
            <a:ext cx="7648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750" b="1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N+스토어</a:t>
            </a:r>
            <a:endParaRPr lang="ko-KR" altLang="en-US" sz="750" dirty="0"/>
          </a:p>
        </p:txBody>
      </p:sp>
      <p:pic>
        <p:nvPicPr>
          <p:cNvPr id="30" name="Image 6" descr="C:\Users\Windows11\AppData\Local\Temp\claude\C--Users-Windows11-Desktop-New-folder--2-\a0c8a1d0-32ba-4ae6-9843-b5ebc69d925f\scratchpad\deck2/img/r_0639_4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7873" y="4617720"/>
            <a:ext cx="435740" cy="1069848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4273296" y="5696712"/>
            <a:ext cx="7648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750" b="1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푸드판다</a:t>
            </a:r>
            <a:endParaRPr lang="ko-KR" altLang="en-US" sz="750" dirty="0"/>
          </a:p>
        </p:txBody>
      </p:sp>
      <p:pic>
        <p:nvPicPr>
          <p:cNvPr id="32" name="Image 7" descr="C:\Users\Windows11\AppData\Local\Temp\claude\C--Users-Windows11-Desktop-New-folder--2-\a0c8a1d0-32ba-4ae6-9843-b5ebc69d925f\scratchpad\deck2/img/r_0639_5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84479" y="4617720"/>
            <a:ext cx="435740" cy="1069848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5019902" y="5696712"/>
            <a:ext cx="7648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750" b="1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Prime Video</a:t>
            </a:r>
            <a:endParaRPr lang="ko-KR" altLang="en-US" sz="750" dirty="0"/>
          </a:p>
        </p:txBody>
      </p:sp>
      <p:sp>
        <p:nvSpPr>
          <p:cNvPr id="34" name="Shape 24"/>
          <p:cNvSpPr/>
          <p:nvPr/>
        </p:nvSpPr>
        <p:spPr>
          <a:xfrm>
            <a:off x="6503970" y="4590288"/>
            <a:ext cx="146304" cy="0"/>
          </a:xfrm>
          <a:prstGeom prst="line">
            <a:avLst/>
          </a:prstGeom>
          <a:noFill/>
          <a:ln w="19050">
            <a:solidFill>
              <a:srgbClr val="1C86D9"/>
            </a:solidFill>
            <a:prstDash val="solid"/>
            <a:tailEnd type="triangle"/>
          </a:ln>
        </p:spPr>
      </p:sp>
      <p:sp>
        <p:nvSpPr>
          <p:cNvPr id="35" name="Text 25"/>
          <p:cNvSpPr txBox="1"/>
          <p:nvPr/>
        </p:nvSpPr>
        <p:spPr>
          <a:xfrm>
            <a:off x="4319016" y="5925312"/>
            <a:ext cx="3550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예고 배너 + 가로 줄 (날짜 · 가격 없음)</a:t>
            </a:r>
            <a:endParaRPr lang="ko-KR" altLang="en-US" sz="1100" dirty="0"/>
          </a:p>
        </p:txBody>
      </p:sp>
      <p:sp>
        <p:nvSpPr>
          <p:cNvPr id="36" name="Text 26"/>
          <p:cNvSpPr txBox="1"/>
          <p:nvPr/>
        </p:nvSpPr>
        <p:spPr>
          <a:xfrm>
            <a:off x="4319016" y="6172200"/>
            <a:ext cx="3550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b20d76f</a:t>
            </a:r>
            <a:endParaRPr lang="ko-KR" altLang="en-US" sz="850" dirty="0"/>
          </a:p>
        </p:txBody>
      </p:sp>
      <p:sp>
        <p:nvSpPr>
          <p:cNvPr id="37" name="Shape 27"/>
          <p:cNvSpPr/>
          <p:nvPr/>
        </p:nvSpPr>
        <p:spPr>
          <a:xfrm>
            <a:off x="7897368" y="2286000"/>
            <a:ext cx="164592" cy="0"/>
          </a:xfrm>
          <a:prstGeom prst="line">
            <a:avLst/>
          </a:prstGeom>
          <a:noFill/>
          <a:ln w="19050">
            <a:solidFill>
              <a:srgbClr val="9AA0A6"/>
            </a:solidFill>
            <a:prstDash val="solid"/>
            <a:tailEnd type="triangle"/>
          </a:ln>
        </p:spPr>
      </p:sp>
      <p:sp>
        <p:nvSpPr>
          <p:cNvPr id="38" name="Shape 28"/>
          <p:cNvSpPr/>
          <p:nvPr/>
        </p:nvSpPr>
        <p:spPr>
          <a:xfrm>
            <a:off x="8089392" y="1371600"/>
            <a:ext cx="3550920" cy="1847088"/>
          </a:xfrm>
          <a:prstGeom prst="roundRect">
            <a:avLst>
              <a:gd name="adj" fmla="val 4950"/>
            </a:avLst>
          </a:prstGeom>
          <a:solidFill>
            <a:srgbClr val="FFF4E2"/>
          </a:solidFill>
          <a:ln/>
        </p:spPr>
      </p:sp>
      <p:sp>
        <p:nvSpPr>
          <p:cNvPr id="39" name="Text 29"/>
          <p:cNvSpPr txBox="1"/>
          <p:nvPr/>
        </p:nvSpPr>
        <p:spPr>
          <a:xfrm>
            <a:off x="8208264" y="1408176"/>
            <a:ext cx="3313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rgbClr val="B86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요청 · 10/25 16:00</a:t>
            </a:r>
            <a:endParaRPr lang="ko-KR" altLang="en-US" sz="850" dirty="0"/>
          </a:p>
        </p:txBody>
      </p:sp>
      <p:sp>
        <p:nvSpPr>
          <p:cNvPr id="40" name="Text 30"/>
          <p:cNvSpPr txBox="1"/>
          <p:nvPr/>
        </p:nvSpPr>
        <p:spPr>
          <a:xfrm>
            <a:off x="8208264" y="1591056"/>
            <a:ext cx="3313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참고: IMDb · Instagram (말로 설명)</a:t>
            </a:r>
            <a:endParaRPr lang="ko-KR" altLang="en-US" sz="850" dirty="0"/>
          </a:p>
        </p:txBody>
      </p:sp>
      <p:sp>
        <p:nvSpPr>
          <p:cNvPr id="41" name="Text 31"/>
          <p:cNvSpPr txBox="1"/>
          <p:nvPr/>
        </p:nvSpPr>
        <p:spPr>
          <a:xfrm>
            <a:off x="8208264" y="1773936"/>
            <a:ext cx="3313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바꾼 곳: 줄 제목 막대 · 앱 색 · 층 · 사진 위 + 자리</a:t>
            </a:r>
            <a:endParaRPr lang="ko-KR" altLang="en-US" sz="850" dirty="0"/>
          </a:p>
        </p:txBody>
      </p:sp>
      <p:sp>
        <p:nvSpPr>
          <p:cNvPr id="42" name="Text 32"/>
          <p:cNvSpPr txBox="1"/>
          <p:nvPr/>
        </p:nvSpPr>
        <p:spPr>
          <a:xfrm>
            <a:off x="8208264" y="1975104"/>
            <a:ext cx="331317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“'최근 추가' 같은 줄 앞에 IMDb처럼 세로 막대를 넣고, 줄과 줄 사이가 층으로 나뉘어 보이게. 인스타 · IMDb처럼 앱만의 색이 있었으면 해 — 나는 프리덤 · 능천사 같은 하늘색이나 초록. 흑백회 속 곳곳에만 넣고, 전부 그 색이면 오히려 안 고급스러워. 사진 왼쪽 위에 + 나 하트 자리를 미리 비워 두고, 최근 추가 아래 날짜 범위도 그 색으로.”</a:t>
            </a:r>
            <a:endParaRPr lang="ko-KR" altLang="en-US" sz="950" dirty="0"/>
          </a:p>
        </p:txBody>
      </p:sp>
      <p:sp>
        <p:nvSpPr>
          <p:cNvPr id="43" name="Shape 33"/>
          <p:cNvSpPr/>
          <p:nvPr/>
        </p:nvSpPr>
        <p:spPr>
          <a:xfrm>
            <a:off x="9291597" y="3328416"/>
            <a:ext cx="1146510" cy="2523744"/>
          </a:xfrm>
          <a:prstGeom prst="roundRect">
            <a:avLst>
              <a:gd name="adj" fmla="val 7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pic>
        <p:nvPicPr>
          <p:cNvPr id="44" name="Image 8" descr="C:\Users\Windows11\AppData\Local\Temp\claude\C--Users-Windows11-Desktop-New-folder--2-\a0c8a1d0-32ba-4ae6-9843-b5ebc69d925f\scratchpad\deck2/img/evo_25f8bb1_hom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73309" y="3310128"/>
            <a:ext cx="1183086" cy="2560320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8089392" y="5925312"/>
            <a:ext cx="3550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하늘색 막대 · 흰 띠 층 · + 자리</a:t>
            </a:r>
            <a:endParaRPr lang="ko-KR" altLang="en-US" sz="1100" dirty="0"/>
          </a:p>
        </p:txBody>
      </p:sp>
      <p:sp>
        <p:nvSpPr>
          <p:cNvPr id="46" name="Text 35"/>
          <p:cNvSpPr txBox="1"/>
          <p:nvPr/>
        </p:nvSpPr>
        <p:spPr>
          <a:xfrm>
            <a:off x="8089392" y="6172200"/>
            <a:ext cx="3550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25f8bb1</a:t>
            </a:r>
            <a:endParaRPr lang="ko-KR" alt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ko-KR" sz="900">
                <a:solidFill>
                  <a:srgbClr val="9AA0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11</a:t>
            </a:fld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 해결 방법 — 화면이 바뀐 과정 2/5 · 홈 · 전체 목록 · 필터</a:t>
            </a:r>
            <a:endParaRPr lang="ko-KR" alt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목록: AI가 만든 새 화면 · 알약 → 토이저러스 같은 필터</a:t>
            </a:r>
            <a:endParaRPr lang="ko-KR" alt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50920" cy="1847088"/>
          </a:xfrm>
          <a:prstGeom prst="roundRect">
            <a:avLst>
              <a:gd name="adj" fmla="val 4950"/>
            </a:avLst>
          </a:prstGeom>
          <a:solidFill>
            <a:srgbClr val="FFF4E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7512" y="1408176"/>
            <a:ext cx="3313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rgbClr val="B86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요청 · 10/25 22:06–22:14</a:t>
            </a:r>
            <a:endParaRPr lang="ko-KR" alt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1591056"/>
            <a:ext cx="3313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참고: 내가 표시한 홈 캡처</a:t>
            </a:r>
            <a:endParaRPr lang="ko-KR" alt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667512" y="1773936"/>
            <a:ext cx="3313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바꾼 곳: 홈 › 전체 목록의 위치 · 거르는 기준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1975104"/>
            <a:ext cx="331317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“홈의 '전체 목록' 화면이 하나도 없어. → (AI가 새 화면을 만듦) 아니아니, 이것들은 이 그림 아래에 있어야 해. 분류도 좋아요 · 원함이 아니라 작품별로, 검색도 '최근 추가'나 '10월 발매' 안에서만. 그리고 전체 상품 보기가 없잖아 — 어디에 두면 좋을까?”</a:t>
            </a:r>
            <a:endParaRPr lang="ko-KR" alt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34762" y="3328416"/>
            <a:ext cx="1146510" cy="2523744"/>
          </a:xfrm>
          <a:prstGeom prst="roundRect">
            <a:avLst>
              <a:gd name="adj" fmla="val 7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pic>
        <p:nvPicPr>
          <p:cNvPr id="10" name="Image 0" descr="C:\Users\Windows11\AppData\Local\Temp\claude\C--Users-Windows11-Desktop-New-folder--2-\a0c8a1d0-32ba-4ae6-9843-b5ebc69d925f\scratchpad\deck2/img/evo_d8dd566_see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6474" y="3310128"/>
            <a:ext cx="1183086" cy="25603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48640" y="3310128"/>
            <a:ext cx="216666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· 내가 보여 준 홈 머리</a:t>
            </a:r>
            <a:endParaRPr lang="ko-KR" altLang="en-US" sz="800" dirty="0"/>
          </a:p>
        </p:txBody>
      </p:sp>
      <p:pic>
        <p:nvPicPr>
          <p:cNvPr id="12" name="Image 1" descr="C:\Users\Windows11\AppData\Local\Temp\claude\C--Users-Windows11-Desktop-New-folder--2-\a0c8a1d0-32ba-4ae6-9843-b5ebc69d925f\scratchpad\deck2/img/r_1314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83864"/>
            <a:ext cx="1120865" cy="292608"/>
          </a:xfrm>
          <a:prstGeom prst="rect">
            <a:avLst/>
          </a:prstGeom>
        </p:spPr>
      </p:pic>
      <p:pic>
        <p:nvPicPr>
          <p:cNvPr id="13" name="Image 2" descr="C:\Users\Windows11\AppData\Local\Temp\claude\C--Users-Windows11-Desktop-New-folder--2-\a0c8a1d0-32ba-4ae6-9843-b5ebc69d925f\scratchpad\deck2/img/evo_c29f0ff_seea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555" y="3867912"/>
            <a:ext cx="840836" cy="181965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02920" y="5696712"/>
            <a:ext cx="225810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750" b="1" dirty="0">
                <a:solidFill>
                  <a:srgbClr val="D93F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AI 안 · 새 화면 + 상태로 거르기</a:t>
            </a:r>
            <a:endParaRPr lang="ko-KR" altLang="en-US" sz="750" dirty="0"/>
          </a:p>
        </p:txBody>
      </p:sp>
      <p:sp>
        <p:nvSpPr>
          <p:cNvPr id="15" name="Shape 10"/>
          <p:cNvSpPr/>
          <p:nvPr/>
        </p:nvSpPr>
        <p:spPr>
          <a:xfrm>
            <a:off x="2733594" y="4590288"/>
            <a:ext cx="146304" cy="0"/>
          </a:xfrm>
          <a:prstGeom prst="line">
            <a:avLst/>
          </a:prstGeom>
          <a:noFill/>
          <a:ln w="19050">
            <a:solidFill>
              <a:srgbClr val="1C86D9"/>
            </a:solidFill>
            <a:prstDash val="solid"/>
            <a:tailEnd type="triangle"/>
          </a:ln>
        </p:spPr>
      </p:sp>
      <p:sp>
        <p:nvSpPr>
          <p:cNvPr id="16" name="Text 11"/>
          <p:cNvSpPr txBox="1"/>
          <p:nvPr/>
        </p:nvSpPr>
        <p:spPr>
          <a:xfrm>
            <a:off x="548640" y="5925312"/>
            <a:ext cx="3550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머리 아래 목록 · 작품별 · 목록 안 검색</a:t>
            </a:r>
            <a:endParaRPr lang="ko-KR" alt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6172200"/>
            <a:ext cx="3550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d8dd566</a:t>
            </a:r>
            <a:endParaRPr lang="ko-KR" alt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4126992" y="2286000"/>
            <a:ext cx="164592" cy="0"/>
          </a:xfrm>
          <a:prstGeom prst="line">
            <a:avLst/>
          </a:prstGeom>
          <a:noFill/>
          <a:ln w="19050">
            <a:solidFill>
              <a:srgbClr val="9AA0A6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4319016" y="1371600"/>
            <a:ext cx="3550920" cy="1847088"/>
          </a:xfrm>
          <a:prstGeom prst="roundRect">
            <a:avLst>
              <a:gd name="adj" fmla="val 4950"/>
            </a:avLst>
          </a:prstGeom>
          <a:solidFill>
            <a:srgbClr val="FFF4E2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4437888" y="1408176"/>
            <a:ext cx="3313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rgbClr val="B86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요청 · 10/25 22:24</a:t>
            </a:r>
            <a:endParaRPr lang="ko-KR" altLang="en-US" sz="850" dirty="0"/>
          </a:p>
        </p:txBody>
      </p:sp>
      <p:sp>
        <p:nvSpPr>
          <p:cNvPr id="21" name="Text 16"/>
          <p:cNvSpPr txBox="1"/>
          <p:nvPr/>
        </p:nvSpPr>
        <p:spPr>
          <a:xfrm>
            <a:off x="4437888" y="1591056"/>
            <a:ext cx="3313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참고: 토이저러스 필터</a:t>
            </a:r>
            <a:endParaRPr lang="ko-KR" altLang="en-US" sz="850" dirty="0"/>
          </a:p>
        </p:txBody>
      </p:sp>
      <p:sp>
        <p:nvSpPr>
          <p:cNvPr id="22" name="Text 17"/>
          <p:cNvSpPr txBox="1"/>
          <p:nvPr/>
        </p:nvSpPr>
        <p:spPr>
          <a:xfrm>
            <a:off x="4437888" y="1773936"/>
            <a:ext cx="3313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바꾼 곳: 거르기 → 오른쪽 필터 패널 · 배너</a:t>
            </a:r>
            <a:endParaRPr lang="ko-KR" altLang="en-US" sz="850" dirty="0"/>
          </a:p>
        </p:txBody>
      </p:sp>
      <p:sp>
        <p:nvSpPr>
          <p:cNvPr id="23" name="Text 18"/>
          <p:cNvSpPr txBox="1"/>
          <p:nvPr/>
        </p:nvSpPr>
        <p:spPr>
          <a:xfrm>
            <a:off x="4437888" y="1975104"/>
            <a:ext cx="331317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“이건 너무 못생겼어, 나는 이런 걸 원해. 전체 상품 기능은 어디 둘지 다시 생각해 줘. 세 번째 그림 같은 건 빼. 공식 발표는 몇 초마다 자동으로 다음 장으로 넘어가게.”</a:t>
            </a:r>
            <a:endParaRPr lang="ko-KR" alt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6705138" y="3328416"/>
            <a:ext cx="1146510" cy="2523744"/>
          </a:xfrm>
          <a:prstGeom prst="roundRect">
            <a:avLst>
              <a:gd name="adj" fmla="val 7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pic>
        <p:nvPicPr>
          <p:cNvPr id="25" name="Image 3" descr="C:\Users\Windows11\AppData\Local\Temp\claude\C--Users-Windows11-Desktop-New-folder--2-\a0c8a1d0-32ba-4ae6-9843-b5ebc69d925f\scratchpad\deck2/img/evo_a44d4b5_seeal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850" y="3310128"/>
            <a:ext cx="1183086" cy="256032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4319016" y="3310128"/>
            <a:ext cx="216666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00" b="1" dirty="0">
                <a:solidFill>
                  <a:srgbClr val="D93F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AI 안 · 작품 알약 줄 — 못생김</a:t>
            </a:r>
            <a:endParaRPr lang="ko-KR" altLang="en-US" sz="800" dirty="0"/>
          </a:p>
        </p:txBody>
      </p:sp>
      <p:pic>
        <p:nvPicPr>
          <p:cNvPr id="27" name="Image 4" descr="C:\Users\Windows11\AppData\Local\Temp\claude\C--Users-Windows11-Desktop-New-folder--2-\a0c8a1d0-32ba-4ae6-9843-b5ebc69d925f\scratchpad\deck2/img/r_1324_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9016" y="3483864"/>
            <a:ext cx="2166666" cy="20864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319016" y="3783946"/>
            <a:ext cx="216666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00" b="1" dirty="0">
                <a:solidFill>
                  <a:srgbClr val="D93F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AI 안 · 세 번째 그림 — 빼</a:t>
            </a:r>
            <a:endParaRPr lang="ko-KR" altLang="en-US" sz="800" dirty="0"/>
          </a:p>
        </p:txBody>
      </p:sp>
      <p:pic>
        <p:nvPicPr>
          <p:cNvPr id="29" name="Image 5" descr="C:\Users\Windows11\AppData\Local\Temp\claude\C--Users-Windows11-Desktop-New-folder--2-\a0c8a1d0-32ba-4ae6-9843-b5ebc69d925f\scratchpad\deck2/img/r_1324_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9016" y="3957682"/>
            <a:ext cx="2166666" cy="170554"/>
          </a:xfrm>
          <a:prstGeom prst="rect">
            <a:avLst/>
          </a:prstGeom>
        </p:spPr>
      </p:pic>
      <p:pic>
        <p:nvPicPr>
          <p:cNvPr id="30" name="Image 6" descr="C:\Users\Windows11\AppData\Local\Temp\claude\C--Users-Windows11-Desktop-New-folder--2-\a0c8a1d0-32ba-4ae6-9843-b5ebc69d925f\scratchpad\deck2/img/r_1324_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5838" y="4219676"/>
            <a:ext cx="813021" cy="1467892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4273296" y="5696712"/>
            <a:ext cx="225810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750" b="1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토이저러스 필터</a:t>
            </a:r>
            <a:endParaRPr lang="ko-KR" altLang="en-US" sz="750" dirty="0"/>
          </a:p>
        </p:txBody>
      </p:sp>
      <p:sp>
        <p:nvSpPr>
          <p:cNvPr id="32" name="Shape 23"/>
          <p:cNvSpPr/>
          <p:nvPr/>
        </p:nvSpPr>
        <p:spPr>
          <a:xfrm>
            <a:off x="6503970" y="4590288"/>
            <a:ext cx="146304" cy="0"/>
          </a:xfrm>
          <a:prstGeom prst="line">
            <a:avLst/>
          </a:prstGeom>
          <a:noFill/>
          <a:ln w="19050">
            <a:solidFill>
              <a:srgbClr val="1C86D9"/>
            </a:solidFill>
            <a:prstDash val="solid"/>
            <a:tailEnd type="triangle"/>
          </a:ln>
        </p:spPr>
      </p:sp>
      <p:sp>
        <p:nvSpPr>
          <p:cNvPr id="33" name="Text 24"/>
          <p:cNvSpPr txBox="1"/>
          <p:nvPr/>
        </p:nvSpPr>
        <p:spPr>
          <a:xfrm>
            <a:off x="4319016" y="5925312"/>
            <a:ext cx="3550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오른쪽 필터 패널 · 배너 자동 넘김</a:t>
            </a:r>
            <a:endParaRPr lang="ko-KR" altLang="en-US" sz="1100" dirty="0"/>
          </a:p>
        </p:txBody>
      </p:sp>
      <p:sp>
        <p:nvSpPr>
          <p:cNvPr id="34" name="Text 25"/>
          <p:cNvSpPr txBox="1"/>
          <p:nvPr/>
        </p:nvSpPr>
        <p:spPr>
          <a:xfrm>
            <a:off x="4319016" y="6172200"/>
            <a:ext cx="3550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a44d4b5</a:t>
            </a:r>
            <a:endParaRPr lang="ko-KR" altLang="en-US" sz="850" dirty="0"/>
          </a:p>
        </p:txBody>
      </p:sp>
      <p:sp>
        <p:nvSpPr>
          <p:cNvPr id="35" name="Shape 26"/>
          <p:cNvSpPr/>
          <p:nvPr/>
        </p:nvSpPr>
        <p:spPr>
          <a:xfrm>
            <a:off x="7897368" y="2286000"/>
            <a:ext cx="164592" cy="0"/>
          </a:xfrm>
          <a:prstGeom prst="line">
            <a:avLst/>
          </a:prstGeom>
          <a:noFill/>
          <a:ln w="19050">
            <a:solidFill>
              <a:srgbClr val="9AA0A6"/>
            </a:solidFill>
            <a:prstDash val="solid"/>
            <a:tailEnd type="triangle"/>
          </a:ln>
        </p:spPr>
      </p:sp>
      <p:sp>
        <p:nvSpPr>
          <p:cNvPr id="36" name="Shape 27"/>
          <p:cNvSpPr/>
          <p:nvPr/>
        </p:nvSpPr>
        <p:spPr>
          <a:xfrm>
            <a:off x="8089392" y="1371600"/>
            <a:ext cx="3550920" cy="1847088"/>
          </a:xfrm>
          <a:prstGeom prst="roundRect">
            <a:avLst>
              <a:gd name="adj" fmla="val 4950"/>
            </a:avLst>
          </a:prstGeom>
          <a:solidFill>
            <a:srgbClr val="FFF4E2"/>
          </a:solidFill>
          <a:ln/>
        </p:spPr>
      </p:sp>
      <p:sp>
        <p:nvSpPr>
          <p:cNvPr id="37" name="Text 28"/>
          <p:cNvSpPr txBox="1"/>
          <p:nvPr/>
        </p:nvSpPr>
        <p:spPr>
          <a:xfrm>
            <a:off x="8208264" y="1408176"/>
            <a:ext cx="3313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rgbClr val="B86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요청 · 10/25 22:36–22:47</a:t>
            </a:r>
            <a:endParaRPr lang="ko-KR" altLang="en-US" sz="850" dirty="0"/>
          </a:p>
        </p:txBody>
      </p:sp>
      <p:sp>
        <p:nvSpPr>
          <p:cNvPr id="38" name="Text 29"/>
          <p:cNvSpPr txBox="1"/>
          <p:nvPr/>
        </p:nvSpPr>
        <p:spPr>
          <a:xfrm>
            <a:off x="8208264" y="1591056"/>
            <a:ext cx="3313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참고: AI가 만든 정렬 팝업</a:t>
            </a:r>
            <a:endParaRPr lang="ko-KR" altLang="en-US" sz="850" dirty="0"/>
          </a:p>
        </p:txBody>
      </p:sp>
      <p:sp>
        <p:nvSpPr>
          <p:cNvPr id="39" name="Text 30"/>
          <p:cNvSpPr txBox="1"/>
          <p:nvPr/>
        </p:nvSpPr>
        <p:spPr>
          <a:xfrm>
            <a:off x="8208264" y="1773936"/>
            <a:ext cx="3313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바꾼 곳: 필터 개수 · 검색 탭 · 정렬</a:t>
            </a:r>
            <a:endParaRPr lang="ko-KR" altLang="en-US" sz="850" dirty="0"/>
          </a:p>
        </p:txBody>
      </p:sp>
      <p:sp>
        <p:nvSpPr>
          <p:cNvPr id="40" name="Text 31"/>
          <p:cNvSpPr txBox="1"/>
          <p:nvPr/>
        </p:nvSpPr>
        <p:spPr>
          <a:xfrm>
            <a:off x="8208264" y="1975104"/>
            <a:ext cx="331317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“(필터 칸 숫자는) 다른 조건을 따라 바뀌어야 해. 예전 검색 화면에 있던 것들이 좋았는데 다시 쓸 수 없을까 — 검색을 열면 기본은 전체 상품, 검색창을 누르면 그것들이 나오게. 지금은 반대야. 그리고 이 정렬 메뉴는 촌스럽고 앱과 안 어울려. 화면 비율마다 깨지는 것도 고쳐 줘.”</a:t>
            </a:r>
            <a:endParaRPr lang="ko-KR" altLang="en-US" sz="950" dirty="0"/>
          </a:p>
        </p:txBody>
      </p:sp>
      <p:sp>
        <p:nvSpPr>
          <p:cNvPr id="41" name="Shape 32"/>
          <p:cNvSpPr/>
          <p:nvPr/>
        </p:nvSpPr>
        <p:spPr>
          <a:xfrm>
            <a:off x="10475514" y="3328416"/>
            <a:ext cx="1146510" cy="2523744"/>
          </a:xfrm>
          <a:prstGeom prst="roundRect">
            <a:avLst>
              <a:gd name="adj" fmla="val 7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pic>
        <p:nvPicPr>
          <p:cNvPr id="42" name="Image 7" descr="C:\Users\Windows11\AppData\Local\Temp\claude\C--Users-Windows11-Desktop-New-folder--2-\a0c8a1d0-32ba-4ae6-9843-b5ebc69d925f\scratchpad\deck2/img/search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57226" y="3310128"/>
            <a:ext cx="1183086" cy="2560320"/>
          </a:xfrm>
          <a:prstGeom prst="rect">
            <a:avLst/>
          </a:prstGeom>
        </p:spPr>
      </p:pic>
      <p:pic>
        <p:nvPicPr>
          <p:cNvPr id="43" name="Image 8" descr="C:\Users\Windows11\AppData\Local\Temp\claude\C--Users-Windows11-Desktop-New-folder--2-\a0c8a1d0-32ba-4ae6-9843-b5ebc69d925f\scratchpad\deck2/img/r_1347_1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20193" y="3310128"/>
            <a:ext cx="1305063" cy="2377440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8043672" y="5696712"/>
            <a:ext cx="225810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750" b="1" dirty="0">
                <a:solidFill>
                  <a:srgbClr val="D93F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AI 안 · 기본 정렬 팝업 — 촌스러움</a:t>
            </a:r>
            <a:endParaRPr lang="ko-KR" altLang="en-US" sz="750" dirty="0"/>
          </a:p>
        </p:txBody>
      </p:sp>
      <p:sp>
        <p:nvSpPr>
          <p:cNvPr id="45" name="Shape 34"/>
          <p:cNvSpPr/>
          <p:nvPr/>
        </p:nvSpPr>
        <p:spPr>
          <a:xfrm>
            <a:off x="10274346" y="4590288"/>
            <a:ext cx="146304" cy="0"/>
          </a:xfrm>
          <a:prstGeom prst="line">
            <a:avLst/>
          </a:prstGeom>
          <a:noFill/>
          <a:ln w="19050">
            <a:solidFill>
              <a:srgbClr val="1C86D9"/>
            </a:solidFill>
            <a:prstDash val="solid"/>
            <a:tailEnd type="triangle"/>
          </a:ln>
        </p:spPr>
      </p:sp>
      <p:sp>
        <p:nvSpPr>
          <p:cNvPr id="46" name="Text 35"/>
          <p:cNvSpPr txBox="1"/>
          <p:nvPr/>
        </p:nvSpPr>
        <p:spPr>
          <a:xfrm>
            <a:off x="8089392" y="5925312"/>
            <a:ext cx="3550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탭 = 전체 상품 · 앱 모양 정렬 시트</a:t>
            </a:r>
            <a:endParaRPr lang="ko-KR" altLang="en-US" sz="1100" dirty="0"/>
          </a:p>
        </p:txBody>
      </p:sp>
      <p:sp>
        <p:nvSpPr>
          <p:cNvPr id="47" name="Text 36"/>
          <p:cNvSpPr txBox="1"/>
          <p:nvPr/>
        </p:nvSpPr>
        <p:spPr>
          <a:xfrm>
            <a:off x="8089392" y="6172200"/>
            <a:ext cx="3550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23dc963 · f08fffb</a:t>
            </a:r>
            <a:endParaRPr lang="ko-KR" alt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ko-KR" sz="900">
                <a:solidFill>
                  <a:srgbClr val="9AA0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12</a:t>
            </a:fld>
            <a:endParaRPr lang="ko-KR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 해결 방법 — 화면이 바뀐 과정 3/5 · 상품 상세</a:t>
            </a:r>
            <a:endParaRPr lang="ko-KR" alt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상세: 타오바오 캡처처럼 공식 정보를 작게, 검정 면은 빼고</a:t>
            </a:r>
            <a:endParaRPr lang="ko-KR" alt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50920" cy="1847088"/>
          </a:xfrm>
          <a:prstGeom prst="roundRect">
            <a:avLst>
              <a:gd name="adj" fmla="val 4950"/>
            </a:avLst>
          </a:prstGeom>
          <a:solidFill>
            <a:srgbClr val="FFF4E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7512" y="1408176"/>
            <a:ext cx="3313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rgbClr val="B86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요청 · 10/25 16:47</a:t>
            </a:r>
            <a:endParaRPr lang="ko-KR" alt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1591056"/>
            <a:ext cx="3313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참고: —</a:t>
            </a:r>
            <a:endParaRPr lang="ko-KR" alt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667512" y="1773936"/>
            <a:ext cx="3313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바꾼 곳: 상품 상세 화면 첫 버전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1975104"/>
            <a:ext cx="331317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“상품 상세 화면을 만들자.”</a:t>
            </a:r>
            <a:endParaRPr lang="ko-KR" alt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750845" y="3328416"/>
            <a:ext cx="1146510" cy="2523744"/>
          </a:xfrm>
          <a:prstGeom prst="roundRect">
            <a:avLst>
              <a:gd name="adj" fmla="val 7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pic>
        <p:nvPicPr>
          <p:cNvPr id="10" name="Image 0" descr="C:\Users\Windows11\AppData\Local\Temp\claude\C--Users-Windows11-Desktop-New-folder--2-\a0c8a1d0-32ba-4ae6-9843-b5ebc69d925f\scratchpad\deck2/img/evo_78d6c50_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2557" y="3310128"/>
            <a:ext cx="1183086" cy="25603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48640" y="5925312"/>
            <a:ext cx="3550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첫 상세 · 검정 구매함 버튼</a:t>
            </a:r>
            <a:endParaRPr lang="ko-KR" alt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172200"/>
            <a:ext cx="3550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78d6c50</a:t>
            </a:r>
            <a:endParaRPr lang="ko-KR" alt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126992" y="2286000"/>
            <a:ext cx="164592" cy="0"/>
          </a:xfrm>
          <a:prstGeom prst="line">
            <a:avLst/>
          </a:prstGeom>
          <a:noFill/>
          <a:ln w="19050">
            <a:solidFill>
              <a:srgbClr val="9AA0A6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319016" y="1371600"/>
            <a:ext cx="3550920" cy="1847088"/>
          </a:xfrm>
          <a:prstGeom prst="roundRect">
            <a:avLst>
              <a:gd name="adj" fmla="val 4950"/>
            </a:avLst>
          </a:prstGeom>
          <a:solidFill>
            <a:srgbClr val="FFF4E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437888" y="1408176"/>
            <a:ext cx="3313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rgbClr val="B86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요청 · 10/25 17:06</a:t>
            </a:r>
            <a:endParaRPr lang="ko-KR" alt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4437888" y="1591056"/>
            <a:ext cx="3313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참고: 타오바오 상품 상세 (3장)</a:t>
            </a:r>
            <a:endParaRPr lang="ko-KR" alt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4437888" y="1773936"/>
            <a:ext cx="3313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바꾼 곳: 공식 정보 줄 · 담기 토스트 · 검정 면 · 아래 사진</a:t>
            </a:r>
            <a:endParaRPr lang="ko-KR" alt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4437888" y="1975104"/>
            <a:ext cx="331317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“원함 · 구매함을 동시에 누를 수 있게. 공식 정보는 첫 번째 그림처럼 작은 아이콘 줄로 좌우로 넘기고, 누르면 두 번째 그림처럼 펼쳐지게. 담으면 세 번째 그림 같은 게 아래에서 몇 초 떴다 사라지게. 큰 검정 바탕 흰 글자는 앱과 안 맞으니 전부 빼 줘. 맨 아래에 상품 상세 사진을 나열하고, 공식 링크는 일본어 이름 아래, 이름 옆에는 복사 아이콘.”</a:t>
            </a:r>
            <a:endParaRPr lang="ko-KR" alt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705138" y="3328416"/>
            <a:ext cx="1146510" cy="2523744"/>
          </a:xfrm>
          <a:prstGeom prst="roundRect">
            <a:avLst>
              <a:gd name="adj" fmla="val 7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pic>
        <p:nvPicPr>
          <p:cNvPr id="20" name="Image 1" descr="C:\Users\Windows11\AppData\Local\Temp\claude\C--Users-Windows11-Desktop-New-folder--2-\a0c8a1d0-32ba-4ae6-9843-b5ebc69d925f\scratchpad\deck2/img/evo_0b65ac4_det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850" y="3310128"/>
            <a:ext cx="1183086" cy="256032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4319016" y="3310128"/>
            <a:ext cx="216666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00" b="1" dirty="0">
                <a:solidFill>
                  <a:srgbClr val="D93F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AI 안 · 검정 토스트 — 빼</a:t>
            </a:r>
            <a:endParaRPr lang="ko-KR" altLang="en-US" sz="800" dirty="0"/>
          </a:p>
        </p:txBody>
      </p:sp>
      <p:pic>
        <p:nvPicPr>
          <p:cNvPr id="22" name="Image 2" descr="C:\Users\Windows11\AppData\Local\Temp\claude\C--Users-Windows11-Desktop-New-folder--2-\a0c8a1d0-32ba-4ae6-9843-b5ebc69d925f\scratchpad\deck2/img/r_0806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016" y="3483864"/>
            <a:ext cx="2166666" cy="265645"/>
          </a:xfrm>
          <a:prstGeom prst="rect">
            <a:avLst/>
          </a:prstGeom>
        </p:spPr>
      </p:pic>
      <p:pic>
        <p:nvPicPr>
          <p:cNvPr id="23" name="Image 3" descr="C:\Users\Windows11\AppData\Local\Temp\claude\C--Users-Windows11-Desktop-New-folder--2-\a0c8a1d0-32ba-4ae6-9843-b5ebc69d925f\scratchpad\deck2/img/r_0806_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9016" y="3840949"/>
            <a:ext cx="1046757" cy="79116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4273296" y="4641261"/>
            <a:ext cx="113819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750" b="1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타오바오 · 정보 줄</a:t>
            </a:r>
            <a:endParaRPr lang="ko-KR" altLang="en-US" sz="750" dirty="0"/>
          </a:p>
        </p:txBody>
      </p:sp>
      <p:pic>
        <p:nvPicPr>
          <p:cNvPr id="25" name="Image 4" descr="C:\Users\Windows11\AppData\Local\Temp\claude\C--Users-Windows11-Desktop-New-folder--2-\a0c8a1d0-32ba-4ae6-9843-b5ebc69d925f\scratchpad\deck2/img/r_0806_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8925" y="3840949"/>
            <a:ext cx="1046757" cy="136142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393205" y="5211519"/>
            <a:ext cx="113819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750" b="1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타오바오 · 펼친 표</a:t>
            </a:r>
            <a:endParaRPr lang="ko-KR" altLang="en-US" sz="750" dirty="0"/>
          </a:p>
        </p:txBody>
      </p:sp>
      <p:sp>
        <p:nvSpPr>
          <p:cNvPr id="27" name="Shape 20"/>
          <p:cNvSpPr/>
          <p:nvPr/>
        </p:nvSpPr>
        <p:spPr>
          <a:xfrm>
            <a:off x="6503970" y="4590288"/>
            <a:ext cx="146304" cy="0"/>
          </a:xfrm>
          <a:prstGeom prst="line">
            <a:avLst/>
          </a:prstGeom>
          <a:noFill/>
          <a:ln w="19050">
            <a:solidFill>
              <a:srgbClr val="1C86D9"/>
            </a:solidFill>
            <a:prstDash val="solid"/>
            <a:tailEnd type="triangle"/>
          </a:ln>
        </p:spPr>
      </p:sp>
      <p:sp>
        <p:nvSpPr>
          <p:cNvPr id="28" name="Text 21"/>
          <p:cNvSpPr txBox="1"/>
          <p:nvPr/>
        </p:nvSpPr>
        <p:spPr>
          <a:xfrm>
            <a:off x="4319016" y="5925312"/>
            <a:ext cx="3550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정보 요약 줄 · 동시 선택 · 밝은 토스트</a:t>
            </a:r>
            <a:endParaRPr lang="ko-KR" altLang="en-US" sz="1100" dirty="0"/>
          </a:p>
        </p:txBody>
      </p:sp>
      <p:sp>
        <p:nvSpPr>
          <p:cNvPr id="29" name="Text 22"/>
          <p:cNvSpPr txBox="1"/>
          <p:nvPr/>
        </p:nvSpPr>
        <p:spPr>
          <a:xfrm>
            <a:off x="4319016" y="6172200"/>
            <a:ext cx="3550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0b65ac4</a:t>
            </a:r>
            <a:endParaRPr lang="ko-KR" altLang="en-US" sz="850" dirty="0"/>
          </a:p>
        </p:txBody>
      </p:sp>
      <p:sp>
        <p:nvSpPr>
          <p:cNvPr id="30" name="Shape 23"/>
          <p:cNvSpPr/>
          <p:nvPr/>
        </p:nvSpPr>
        <p:spPr>
          <a:xfrm>
            <a:off x="7897368" y="2286000"/>
            <a:ext cx="164592" cy="0"/>
          </a:xfrm>
          <a:prstGeom prst="line">
            <a:avLst/>
          </a:prstGeom>
          <a:noFill/>
          <a:ln w="19050">
            <a:solidFill>
              <a:srgbClr val="9AA0A6"/>
            </a:solidFill>
            <a:prstDash val="solid"/>
            <a:tailEnd type="triangle"/>
          </a:ln>
        </p:spPr>
      </p:sp>
      <p:sp>
        <p:nvSpPr>
          <p:cNvPr id="31" name="Shape 24"/>
          <p:cNvSpPr/>
          <p:nvPr/>
        </p:nvSpPr>
        <p:spPr>
          <a:xfrm>
            <a:off x="8089392" y="1371600"/>
            <a:ext cx="3550920" cy="1847088"/>
          </a:xfrm>
          <a:prstGeom prst="roundRect">
            <a:avLst>
              <a:gd name="adj" fmla="val 4950"/>
            </a:avLst>
          </a:prstGeom>
          <a:solidFill>
            <a:srgbClr val="FFF4E2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8208264" y="1408176"/>
            <a:ext cx="3313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rgbClr val="B86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요청 · 10/25 18:53</a:t>
            </a:r>
            <a:endParaRPr lang="ko-KR" altLang="en-US" sz="850" dirty="0"/>
          </a:p>
        </p:txBody>
      </p:sp>
      <p:sp>
        <p:nvSpPr>
          <p:cNvPr id="33" name="Text 26"/>
          <p:cNvSpPr txBox="1"/>
          <p:nvPr/>
        </p:nvSpPr>
        <p:spPr>
          <a:xfrm>
            <a:off x="8208264" y="1591056"/>
            <a:ext cx="3313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참고: 내가 표시한 상세 캡처</a:t>
            </a:r>
            <a:endParaRPr lang="ko-KR" altLang="en-US" sz="850" dirty="0"/>
          </a:p>
        </p:txBody>
      </p:sp>
      <p:sp>
        <p:nvSpPr>
          <p:cNvPr id="34" name="Text 27"/>
          <p:cNvSpPr txBox="1"/>
          <p:nvPr/>
        </p:nvSpPr>
        <p:spPr>
          <a:xfrm>
            <a:off x="8208264" y="1773936"/>
            <a:ext cx="3313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바꾼 곳: 분류 줄 · 복사 · 시장가 · 버튼 크기</a:t>
            </a:r>
            <a:endParaRPr lang="ko-KR" altLang="en-US" sz="850" dirty="0"/>
          </a:p>
        </p:txBody>
      </p:sp>
      <p:sp>
        <p:nvSpPr>
          <p:cNvPr id="35" name="Text 28"/>
          <p:cNvSpPr txBox="1"/>
          <p:nvPr/>
        </p:nvSpPr>
        <p:spPr>
          <a:xfrm>
            <a:off x="8208264" y="1975104"/>
            <a:ext cx="331317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“이 줄은 필요 없어. 아래 복사는 한국어 이름으로. 시장가 부분은 너무 나열돼 보이니 UI를 바꿔 줘. 그리고 원함 · 구매함 버튼도 너무 자리를 차지해.”</a:t>
            </a:r>
            <a:endParaRPr lang="ko-KR" alt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10475514" y="3328416"/>
            <a:ext cx="1146510" cy="2523744"/>
          </a:xfrm>
          <a:prstGeom prst="roundRect">
            <a:avLst>
              <a:gd name="adj" fmla="val 7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pic>
        <p:nvPicPr>
          <p:cNvPr id="37" name="Image 5" descr="C:\Users\Windows11\AppData\Local\Temp\claude\C--Users-Windows11-Desktop-New-folder--2-\a0c8a1d0-32ba-4ae6-9843-b5ebc69d925f\scratchpad\deck2/img/evo_d4d2774_detai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57226" y="3310128"/>
            <a:ext cx="1183086" cy="2560320"/>
          </a:xfrm>
          <a:prstGeom prst="rect">
            <a:avLst/>
          </a:prstGeom>
        </p:spPr>
      </p:pic>
      <p:pic>
        <p:nvPicPr>
          <p:cNvPr id="38" name="Image 6" descr="C:\Users\Windows11\AppData\Local\Temp\claude\C--Users-Windows11-Desktop-New-folder--2-\a0c8a1d0-32ba-4ae6-9843-b5ebc69d925f\scratchpad\deck2/img/r_0953_1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9392" y="3310128"/>
            <a:ext cx="2166666" cy="1099264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8043672" y="4418536"/>
            <a:ext cx="225810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750" b="1" dirty="0">
                <a:solidFill>
                  <a:srgbClr val="D93F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AI 안 · 분류 줄 — 필요 없음</a:t>
            </a:r>
            <a:endParaRPr lang="ko-KR" altLang="en-US" sz="750" dirty="0"/>
          </a:p>
        </p:txBody>
      </p:sp>
      <p:sp>
        <p:nvSpPr>
          <p:cNvPr id="40" name="Shape 31"/>
          <p:cNvSpPr/>
          <p:nvPr/>
        </p:nvSpPr>
        <p:spPr>
          <a:xfrm>
            <a:off x="10274346" y="4590288"/>
            <a:ext cx="146304" cy="0"/>
          </a:xfrm>
          <a:prstGeom prst="line">
            <a:avLst/>
          </a:prstGeom>
          <a:noFill/>
          <a:ln w="19050">
            <a:solidFill>
              <a:srgbClr val="1C86D9"/>
            </a:solidFill>
            <a:prstDash val="solid"/>
            <a:tailEnd type="triangle"/>
          </a:ln>
        </p:spPr>
      </p:sp>
      <p:sp>
        <p:nvSpPr>
          <p:cNvPr id="41" name="Text 32"/>
          <p:cNvSpPr txBox="1"/>
          <p:nvPr/>
        </p:nvSpPr>
        <p:spPr>
          <a:xfrm>
            <a:off x="8089392" y="5925312"/>
            <a:ext cx="3550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 줄 삭제 · 작은 알약 · 시세 카드 한 장</a:t>
            </a:r>
            <a:endParaRPr lang="ko-KR" altLang="en-US" sz="1100" dirty="0"/>
          </a:p>
        </p:txBody>
      </p:sp>
      <p:sp>
        <p:nvSpPr>
          <p:cNvPr id="42" name="Text 33"/>
          <p:cNvSpPr txBox="1"/>
          <p:nvPr/>
        </p:nvSpPr>
        <p:spPr>
          <a:xfrm>
            <a:off x="8089392" y="6172200"/>
            <a:ext cx="3550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d4d2774</a:t>
            </a:r>
            <a:endParaRPr lang="ko-KR" alt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ko-KR" sz="900">
                <a:solidFill>
                  <a:srgbClr val="9AA0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13</a:t>
            </a:fld>
            <a:endParaRPr lang="ko-KR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 해결 방법 — 화면이 바뀐 과정 4/5 · 좋아요 · 구매함 · 도감</a:t>
            </a:r>
            <a:endParaRPr lang="ko-KR" alt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좋아요 · 구매함 · 도감: 사진 위에서 바로, IMDb처럼, 모을수록 레벨업</a:t>
            </a:r>
            <a:endParaRPr lang="ko-KR" alt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50920" cy="1847088"/>
          </a:xfrm>
          <a:prstGeom prst="roundRect">
            <a:avLst>
              <a:gd name="adj" fmla="val 4950"/>
            </a:avLst>
          </a:prstGeom>
          <a:solidFill>
            <a:srgbClr val="FFF4E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7512" y="1408176"/>
            <a:ext cx="3313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rgbClr val="B86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요청 · 10/25 21:11</a:t>
            </a:r>
            <a:endParaRPr lang="ko-KR" alt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1591056"/>
            <a:ext cx="3313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참고: AI가 만든 범례 줄 캡처</a:t>
            </a:r>
            <a:endParaRPr lang="ko-KR" alt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667512" y="1773936"/>
            <a:ext cx="3313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바꾼 곳: 도감 칸 단계 · 레벨 · ? 버튼 · 사진 위 ♡ +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1975104"/>
            <a:ext cx="331317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“구매함은 색 + 테두리, 원함은 색만. 아래 사진에서 바로 하트와 + 를 눌러 원함 · 구매함에 넣게 — + 의 뜻은 뭐가 좋을까? 도감에서는 하나 더 모으면 조금씩 레벨이 오르는 느낌으로. 원함은 '좋아요'로 바꾸고, 이런 긴 줄은 물음표 아이콘 하나로, 누르면 설명이 나오게.”</a:t>
            </a:r>
            <a:endParaRPr lang="ko-KR" alt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34762" y="3328416"/>
            <a:ext cx="1146510" cy="2523744"/>
          </a:xfrm>
          <a:prstGeom prst="roundRect">
            <a:avLst>
              <a:gd name="adj" fmla="val 7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pic>
        <p:nvPicPr>
          <p:cNvPr id="10" name="Image 0" descr="C:\Users\Windows11\AppData\Local\Temp\claude\C--Users-Windows11-Desktop-New-folder--2-\a0c8a1d0-32ba-4ae6-9843-b5ebc69d925f\scratchpad\deck2/img/evo_46a4b56_gu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6474" y="3310128"/>
            <a:ext cx="1183086" cy="25603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48640" y="3310128"/>
            <a:ext cx="216666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00" b="1" dirty="0">
                <a:solidFill>
                  <a:srgbClr val="D93F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AI 안 · 긴 범례 줄 — ? 하나로</a:t>
            </a:r>
            <a:endParaRPr lang="ko-KR" altLang="en-US" sz="800" dirty="0"/>
          </a:p>
        </p:txBody>
      </p:sp>
      <p:pic>
        <p:nvPicPr>
          <p:cNvPr id="12" name="Image 1" descr="C:\Users\Windows11\AppData\Local\Temp\claude\C--Users-Windows11-Desktop-New-folder--2-\a0c8a1d0-32ba-4ae6-9843-b5ebc69d925f\scratchpad\deck2/img/r_1211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83864"/>
            <a:ext cx="2166666" cy="18783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733594" y="4590288"/>
            <a:ext cx="146304" cy="0"/>
          </a:xfrm>
          <a:prstGeom prst="line">
            <a:avLst/>
          </a:prstGeom>
          <a:noFill/>
          <a:ln w="19050">
            <a:solidFill>
              <a:srgbClr val="1C86D9"/>
            </a:solidFill>
            <a:prstDash val="solid"/>
            <a:tailEnd type="triangle"/>
          </a:ln>
        </p:spPr>
      </p:sp>
      <p:sp>
        <p:nvSpPr>
          <p:cNvPr id="14" name="Text 10"/>
          <p:cNvSpPr txBox="1"/>
          <p:nvPr/>
        </p:nvSpPr>
        <p:spPr>
          <a:xfrm>
            <a:off x="548640" y="5925312"/>
            <a:ext cx="3550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도감 4단계 + Lv · ? 읽는 법 · ♡ +</a:t>
            </a:r>
            <a:endParaRPr lang="ko-KR" alt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172200"/>
            <a:ext cx="3550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065f9b2 · 8040d86 · 46a4b56</a:t>
            </a:r>
            <a:endParaRPr lang="ko-KR" alt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4126992" y="2286000"/>
            <a:ext cx="164592" cy="0"/>
          </a:xfrm>
          <a:prstGeom prst="line">
            <a:avLst/>
          </a:prstGeom>
          <a:noFill/>
          <a:ln w="19050">
            <a:solidFill>
              <a:srgbClr val="9AA0A6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4319016" y="1371600"/>
            <a:ext cx="3550920" cy="1847088"/>
          </a:xfrm>
          <a:prstGeom prst="roundRect">
            <a:avLst>
              <a:gd name="adj" fmla="val 4950"/>
            </a:avLst>
          </a:prstGeom>
          <a:solidFill>
            <a:srgbClr val="FFF4E2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4437888" y="1408176"/>
            <a:ext cx="3313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rgbClr val="B86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요청 · 10/25 21:41</a:t>
            </a:r>
            <a:endParaRPr lang="ko-KR" altLang="en-US" sz="850" dirty="0"/>
          </a:p>
        </p:txBody>
      </p:sp>
      <p:sp>
        <p:nvSpPr>
          <p:cNvPr id="19" name="Text 15"/>
          <p:cNvSpPr txBox="1"/>
          <p:nvPr/>
        </p:nvSpPr>
        <p:spPr>
          <a:xfrm>
            <a:off x="4437888" y="1591056"/>
            <a:ext cx="3313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참고: IMDb</a:t>
            </a:r>
            <a:endParaRPr lang="ko-KR" alt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4437888" y="1773936"/>
            <a:ext cx="3313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바꾼 곳: 사진 위 표시 · 3점 배지</a:t>
            </a:r>
            <a:endParaRPr lang="ko-KR" altLang="en-US" sz="850" dirty="0"/>
          </a:p>
        </p:txBody>
      </p:sp>
      <p:sp>
        <p:nvSpPr>
          <p:cNvPr id="21" name="Text 17"/>
          <p:cNvSpPr txBox="1"/>
          <p:nvPr/>
        </p:nvSpPr>
        <p:spPr>
          <a:xfrm>
            <a:off x="4437888" y="1975104"/>
            <a:ext cx="331317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“3점(사진 인증)은 하트 · 체크 대신 배지 같은 아이콘으로. 홈 사진의 하트와 담기는 이 캡처와 같은 표시로 바꿔 줘. 친구의 도감 · 좋아요 · 구매함도 볼 수 있게.”</a:t>
            </a:r>
            <a:endParaRPr lang="ko-KR" alt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6705138" y="3328416"/>
            <a:ext cx="1146510" cy="2523744"/>
          </a:xfrm>
          <a:prstGeom prst="roundRect">
            <a:avLst>
              <a:gd name="adj" fmla="val 7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pic>
        <p:nvPicPr>
          <p:cNvPr id="23" name="Image 2" descr="C:\Users\Windows11\AppData\Local\Temp\claude\C--Users-Windows11-Desktop-New-folder--2-\a0c8a1d0-32ba-4ae6-9843-b5ebc69d925f\scratchpad\deck2/img/evo_f85eb66_ho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850" y="3310128"/>
            <a:ext cx="1183086" cy="2560320"/>
          </a:xfrm>
          <a:prstGeom prst="rect">
            <a:avLst/>
          </a:prstGeom>
        </p:spPr>
      </p:pic>
      <p:pic>
        <p:nvPicPr>
          <p:cNvPr id="24" name="Image 3" descr="C:\Users\Windows11\AppData\Local\Temp\claude\C--Users-Windows11-Desktop-New-folder--2-\a0c8a1d0-32ba-4ae6-9843-b5ebc69d925f\scratchpad\deck2/img/r_1241_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7999" y="3310128"/>
            <a:ext cx="1028700" cy="237744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4273296" y="5696712"/>
            <a:ext cx="225810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750" b="1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IMDb</a:t>
            </a:r>
            <a:endParaRPr lang="ko-KR" altLang="en-US" sz="750" dirty="0"/>
          </a:p>
        </p:txBody>
      </p:sp>
      <p:sp>
        <p:nvSpPr>
          <p:cNvPr id="26" name="Shape 20"/>
          <p:cNvSpPr/>
          <p:nvPr/>
        </p:nvSpPr>
        <p:spPr>
          <a:xfrm>
            <a:off x="6503970" y="4590288"/>
            <a:ext cx="146304" cy="0"/>
          </a:xfrm>
          <a:prstGeom prst="line">
            <a:avLst/>
          </a:prstGeom>
          <a:noFill/>
          <a:ln w="19050">
            <a:solidFill>
              <a:srgbClr val="1C86D9"/>
            </a:solidFill>
            <a:prstDash val="solid"/>
            <a:tailEnd type="triangle"/>
          </a:ln>
        </p:spPr>
      </p:sp>
      <p:sp>
        <p:nvSpPr>
          <p:cNvPr id="27" name="Text 21"/>
          <p:cNvSpPr txBox="1"/>
          <p:nvPr/>
        </p:nvSpPr>
        <p:spPr>
          <a:xfrm>
            <a:off x="4319016" y="5925312"/>
            <a:ext cx="3550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IMDb 식 리본 + · ♡ · 3점 배지</a:t>
            </a:r>
            <a:endParaRPr lang="ko-KR" alt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4319016" y="6172200"/>
            <a:ext cx="3550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f85eb66</a:t>
            </a:r>
            <a:endParaRPr lang="ko-KR" alt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7897368" y="2286000"/>
            <a:ext cx="164592" cy="0"/>
          </a:xfrm>
          <a:prstGeom prst="line">
            <a:avLst/>
          </a:prstGeom>
          <a:noFill/>
          <a:ln w="19050">
            <a:solidFill>
              <a:srgbClr val="9AA0A6"/>
            </a:solidFill>
            <a:prstDash val="solid"/>
            <a:tailEnd type="triangle"/>
          </a:ln>
        </p:spPr>
      </p:sp>
      <p:sp>
        <p:nvSpPr>
          <p:cNvPr id="30" name="Shape 24"/>
          <p:cNvSpPr/>
          <p:nvPr/>
        </p:nvSpPr>
        <p:spPr>
          <a:xfrm>
            <a:off x="8089392" y="1371600"/>
            <a:ext cx="3550920" cy="1847088"/>
          </a:xfrm>
          <a:prstGeom prst="roundRect">
            <a:avLst>
              <a:gd name="adj" fmla="val 4950"/>
            </a:avLst>
          </a:prstGeom>
          <a:solidFill>
            <a:srgbClr val="FFF4E2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8208264" y="1408176"/>
            <a:ext cx="3313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rgbClr val="B86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요청 · 10/25 23:54</a:t>
            </a:r>
            <a:endParaRPr lang="ko-KR" altLang="en-US" sz="850" dirty="0"/>
          </a:p>
        </p:txBody>
      </p:sp>
      <p:sp>
        <p:nvSpPr>
          <p:cNvPr id="32" name="Text 26"/>
          <p:cNvSpPr txBox="1"/>
          <p:nvPr/>
        </p:nvSpPr>
        <p:spPr>
          <a:xfrm>
            <a:off x="8208264" y="1591056"/>
            <a:ext cx="3313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참고: AI 반론 (17장)</a:t>
            </a:r>
            <a:endParaRPr lang="ko-KR" altLang="en-US" sz="850" dirty="0"/>
          </a:p>
        </p:txBody>
      </p:sp>
      <p:sp>
        <p:nvSpPr>
          <p:cNvPr id="33" name="Text 27"/>
          <p:cNvSpPr txBox="1"/>
          <p:nvPr/>
        </p:nvSpPr>
        <p:spPr>
          <a:xfrm>
            <a:off x="8208264" y="1773936"/>
            <a:ext cx="3313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바꾼 곳: 모든 화면의 ♡ · 리본</a:t>
            </a:r>
            <a:endParaRPr lang="ko-KR" altLang="en-US" sz="850" dirty="0"/>
          </a:p>
        </p:txBody>
      </p:sp>
      <p:sp>
        <p:nvSpPr>
          <p:cNvPr id="34" name="Text 28"/>
          <p:cNvSpPr txBox="1"/>
          <p:nvPr/>
        </p:nvSpPr>
        <p:spPr>
          <a:xfrm>
            <a:off x="8208264" y="1975104"/>
            <a:ext cx="331317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“(AI: 같은 '구매함'이 리본 · ✓원 · 동그라미 3–4가지 모양이야) → 로고 말고 나머지는 네 말대로 다 고쳐 줘.”</a:t>
            </a:r>
            <a:endParaRPr lang="ko-KR" alt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9291597" y="3328416"/>
            <a:ext cx="1146510" cy="2523744"/>
          </a:xfrm>
          <a:prstGeom prst="roundRect">
            <a:avLst>
              <a:gd name="adj" fmla="val 7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pic>
        <p:nvPicPr>
          <p:cNvPr id="36" name="Image 4" descr="C:\Users\Windows11\AppData\Local\Temp\claude\C--Users-Windows11-Desktop-New-folder--2-\a0c8a1d0-32ba-4ae6-9843-b5ebc69d925f\scratchpad\deck2/img/guid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3309" y="3310128"/>
            <a:ext cx="1183086" cy="256032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8089392" y="5925312"/>
            <a:ext cx="3550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♡ 좋아요 · 리본 구매함 하나로 · 민트 = 가진 것</a:t>
            </a:r>
            <a:endParaRPr lang="ko-KR" altLang="en-US" sz="1100" dirty="0"/>
          </a:p>
        </p:txBody>
      </p:sp>
      <p:sp>
        <p:nvSpPr>
          <p:cNvPr id="38" name="Text 31"/>
          <p:cNvSpPr txBox="1"/>
          <p:nvPr/>
        </p:nvSpPr>
        <p:spPr>
          <a:xfrm>
            <a:off x="8089392" y="6172200"/>
            <a:ext cx="3550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b29785b</a:t>
            </a:r>
            <a:endParaRPr lang="ko-KR" alt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ko-KR" sz="900">
                <a:solidFill>
                  <a:srgbClr val="9AA0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14</a:t>
            </a:fld>
            <a:endParaRPr lang="ko-KR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 해결 방법 — 화면이 바뀐 과정 5/5 · 친구 · 내 정보 · 넓은 창</a:t>
            </a:r>
            <a:endParaRPr lang="ko-KR" alt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친구는 QQ 캡처처럼 옆 서랍, 넓은 창은 QQ 폴드처럼 반반</a:t>
            </a:r>
            <a:endParaRPr lang="ko-KR" alt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50920" cy="1847088"/>
          </a:xfrm>
          <a:prstGeom prst="roundRect">
            <a:avLst>
              <a:gd name="adj" fmla="val 4950"/>
            </a:avLst>
          </a:prstGeom>
          <a:solidFill>
            <a:srgbClr val="FFF4E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7512" y="1408176"/>
            <a:ext cx="3313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rgbClr val="B86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요청 · 10/25 21:11</a:t>
            </a:r>
            <a:endParaRPr lang="ko-KR" alt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1591056"/>
            <a:ext cx="3313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참고: —</a:t>
            </a:r>
            <a:endParaRPr lang="ko-KR" alt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667512" y="1773936"/>
            <a:ext cx="3313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바꾼 곳: 내 정보 숫자 · 사진 벽 · 워터마크 · 휴지통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1975104"/>
            <a:ext cx="331317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“내 정보에서 좋아요 · 도감 점등 · 구매함 수를 보고, 누르면 그 목록으로. 사진 벽은 도감에 올린 내 사진과 연결. 다른 사람이 저장하면 오른쪽 아래에 워터마크(앱 이름 약자 + 올린 사람 ID), 끌 수도 있게. 친구도 볼 수 있게. 실수로 지운 좋아요 · 구매함은 휴지통에서 되찾게.”</a:t>
            </a:r>
            <a:endParaRPr lang="ko-KR" alt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750845" y="3328416"/>
            <a:ext cx="1146510" cy="2523744"/>
          </a:xfrm>
          <a:prstGeom prst="roundRect">
            <a:avLst>
              <a:gd name="adj" fmla="val 7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pic>
        <p:nvPicPr>
          <p:cNvPr id="10" name="Image 0" descr="C:\Users\Windows11\AppData\Local\Temp\claude\C--Users-Windows11-Desktop-New-folder--2-\a0c8a1d0-32ba-4ae6-9843-b5ebc69d925f\scratchpad\deck2/img/evo_ba7a5de_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2557" y="3310128"/>
            <a:ext cx="1183086" cy="25603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48640" y="5925312"/>
            <a:ext cx="3550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→ 이동 · 사진 벽 · 워터마크</a:t>
            </a:r>
            <a:endParaRPr lang="ko-KR" alt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172200"/>
            <a:ext cx="3550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ba7a5de</a:t>
            </a:r>
            <a:endParaRPr lang="ko-KR" alt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126992" y="2286000"/>
            <a:ext cx="164592" cy="0"/>
          </a:xfrm>
          <a:prstGeom prst="line">
            <a:avLst/>
          </a:prstGeom>
          <a:noFill/>
          <a:ln w="19050">
            <a:solidFill>
              <a:srgbClr val="9AA0A6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319016" y="1371600"/>
            <a:ext cx="3550920" cy="1847088"/>
          </a:xfrm>
          <a:prstGeom prst="roundRect">
            <a:avLst>
              <a:gd name="adj" fmla="val 4950"/>
            </a:avLst>
          </a:prstGeom>
          <a:solidFill>
            <a:srgbClr val="FFF4E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437888" y="1408176"/>
            <a:ext cx="3313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rgbClr val="B86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요청 · 10/25 21:41–21:56</a:t>
            </a:r>
            <a:endParaRPr lang="ko-KR" alt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4437888" y="1591056"/>
            <a:ext cx="3313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참고: QQ (2장)</a:t>
            </a:r>
            <a:endParaRPr lang="ko-KR" alt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4437888" y="1773936"/>
            <a:ext cx="3313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바꾼 곳: 친구 화면 = 옆 서랍</a:t>
            </a:r>
            <a:endParaRPr lang="ko-KR" alt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4437888" y="1975104"/>
            <a:ext cx="331317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“친구 화면은 이렇게 보이면 좋겠어: 홈에서 왼쪽으로 밀면 이런 화면, 다만 아래 메뉴들은 두 번째 그림처럼 친구 목록으로. 아바타를 눌러도 같은 화면, 거기서 아바타를 또 누르면 내 정보.”</a:t>
            </a:r>
            <a:endParaRPr lang="ko-KR" alt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705138" y="3328416"/>
            <a:ext cx="1146510" cy="2523744"/>
          </a:xfrm>
          <a:prstGeom prst="roundRect">
            <a:avLst>
              <a:gd name="adj" fmla="val 7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pic>
        <p:nvPicPr>
          <p:cNvPr id="20" name="Image 1" descr="C:\Users\Windows11\AppData\Local\Temp\claude\C--Users-Windows11-Desktop-New-folder--2-\a0c8a1d0-32ba-4ae6-9843-b5ebc69d925f\scratchpad\deck2/img/evo_ad41d69_draw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850" y="3310128"/>
            <a:ext cx="1183086" cy="2560320"/>
          </a:xfrm>
          <a:prstGeom prst="rect">
            <a:avLst/>
          </a:prstGeom>
        </p:spPr>
      </p:pic>
      <p:pic>
        <p:nvPicPr>
          <p:cNvPr id="21" name="Image 2" descr="C:\Users\Windows11\AppData\Local\Temp\claude\C--Users-Windows11-Desktop-New-folder--2-\a0c8a1d0-32ba-4ae6-9843-b5ebc69d925f\scratchpad\deck2/img/r_1241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0606" y="3310128"/>
            <a:ext cx="483577" cy="105156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4273296" y="4370832"/>
            <a:ext cx="113819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750" b="1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QQ · 옆 서랍</a:t>
            </a:r>
            <a:endParaRPr lang="ko-KR" altLang="en-US" sz="750" dirty="0"/>
          </a:p>
        </p:txBody>
      </p:sp>
      <p:pic>
        <p:nvPicPr>
          <p:cNvPr id="23" name="Image 3" descr="C:\Users\Windows11\AppData\Local\Temp\claude\C--Users-Windows11-Desktop-New-folder--2-\a0c8a1d0-32ba-4ae6-9843-b5ebc69d925f\scratchpad\deck2/img/r_1241_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4294" y="3310128"/>
            <a:ext cx="496019" cy="10515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393205" y="4370832"/>
            <a:ext cx="113819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750" b="1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QQ · 친구 목록</a:t>
            </a:r>
            <a:endParaRPr lang="ko-KR" altLang="en-US" sz="750" dirty="0"/>
          </a:p>
        </p:txBody>
      </p:sp>
      <p:sp>
        <p:nvSpPr>
          <p:cNvPr id="25" name="Shape 19"/>
          <p:cNvSpPr/>
          <p:nvPr/>
        </p:nvSpPr>
        <p:spPr>
          <a:xfrm>
            <a:off x="6503970" y="4590288"/>
            <a:ext cx="146304" cy="0"/>
          </a:xfrm>
          <a:prstGeom prst="line">
            <a:avLst/>
          </a:prstGeom>
          <a:noFill/>
          <a:ln w="19050">
            <a:solidFill>
              <a:srgbClr val="1C86D9"/>
            </a:solidFill>
            <a:prstDash val="solid"/>
            <a:tailEnd type="triangle"/>
          </a:ln>
        </p:spPr>
      </p:sp>
      <p:sp>
        <p:nvSpPr>
          <p:cNvPr id="26" name="Text 20"/>
          <p:cNvSpPr txBox="1"/>
          <p:nvPr/>
        </p:nvSpPr>
        <p:spPr>
          <a:xfrm>
            <a:off x="4319016" y="5925312"/>
            <a:ext cx="3550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QQ 식 친구 서랍</a:t>
            </a:r>
            <a:endParaRPr lang="ko-KR" alt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4319016" y="6172200"/>
            <a:ext cx="3550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fbfbb2c · ad41d69</a:t>
            </a:r>
            <a:endParaRPr lang="ko-KR" alt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7897368" y="2286000"/>
            <a:ext cx="164592" cy="0"/>
          </a:xfrm>
          <a:prstGeom prst="line">
            <a:avLst/>
          </a:prstGeom>
          <a:noFill/>
          <a:ln w="19050">
            <a:solidFill>
              <a:srgbClr val="9AA0A6"/>
            </a:solidFill>
            <a:prstDash val="solid"/>
            <a:tailEnd type="triangle"/>
          </a:ln>
        </p:spPr>
      </p:sp>
      <p:sp>
        <p:nvSpPr>
          <p:cNvPr id="29" name="Shape 23"/>
          <p:cNvSpPr/>
          <p:nvPr/>
        </p:nvSpPr>
        <p:spPr>
          <a:xfrm>
            <a:off x="8089392" y="1371600"/>
            <a:ext cx="3550920" cy="1847088"/>
          </a:xfrm>
          <a:prstGeom prst="roundRect">
            <a:avLst>
              <a:gd name="adj" fmla="val 4950"/>
            </a:avLst>
          </a:prstGeom>
          <a:solidFill>
            <a:srgbClr val="FFF4E2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8208264" y="1408176"/>
            <a:ext cx="3313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rgbClr val="B86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요청 · 10/25 22:59–23:05</a:t>
            </a:r>
            <a:endParaRPr lang="ko-KR" altLang="en-US" sz="850" dirty="0"/>
          </a:p>
        </p:txBody>
      </p:sp>
      <p:sp>
        <p:nvSpPr>
          <p:cNvPr id="31" name="Text 25"/>
          <p:cNvSpPr txBox="1"/>
          <p:nvPr/>
        </p:nvSpPr>
        <p:spPr>
          <a:xfrm>
            <a:off x="8208264" y="1591056"/>
            <a:ext cx="3313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참고: QQ (삼성 폴드, 2장)</a:t>
            </a:r>
            <a:endParaRPr lang="ko-KR" altLang="en-US" sz="850" dirty="0"/>
          </a:p>
        </p:txBody>
      </p:sp>
      <p:sp>
        <p:nvSpPr>
          <p:cNvPr id="32" name="Text 26"/>
          <p:cNvSpPr txBox="1"/>
          <p:nvPr/>
        </p:nvSpPr>
        <p:spPr>
          <a:xfrm>
            <a:off x="8208264" y="1773936"/>
            <a:ext cx="3313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바꾼 곳: 넓은 창 → 반반 화면</a:t>
            </a:r>
            <a:endParaRPr lang="ko-KR" altLang="en-US" sz="850" dirty="0"/>
          </a:p>
        </p:txBody>
      </p:sp>
      <p:sp>
        <p:nvSpPr>
          <p:cNvPr id="33" name="Text 27"/>
          <p:cNvSpPr txBox="1"/>
          <p:nvPr/>
        </p:nvSpPr>
        <p:spPr>
          <a:xfrm>
            <a:off x="8208264" y="1975104"/>
            <a:ext cx="331317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“삼성 폴드처럼 잘 맞춘 앱은 반반이야 — 어떻게 생각해? 바꾸지 말고 먼저 말해 줘. → (AI: 목록-상세만 반반, 홈은 빼자) QQ는 이래. 분할부터 먼저 해 줘.”</a:t>
            </a:r>
            <a:endParaRPr lang="ko-KR" alt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9883140" y="3870584"/>
            <a:ext cx="1738884" cy="1439409"/>
          </a:xfrm>
          <a:prstGeom prst="roundRect">
            <a:avLst>
              <a:gd name="adj" fmla="val 35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pic>
        <p:nvPicPr>
          <p:cNvPr id="35" name="Image 4" descr="C:\Users\Windows11\AppData\Local\Temp\claude\C--Users-Windows11-Desktop-New-folder--2-\a0c8a1d0-32ba-4ae6-9843-b5ebc69d925f\scratchpad\deck2/img/f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4852" y="3852296"/>
            <a:ext cx="1775460" cy="1475985"/>
          </a:xfrm>
          <a:prstGeom prst="rect">
            <a:avLst/>
          </a:prstGeom>
        </p:spPr>
      </p:pic>
      <p:pic>
        <p:nvPicPr>
          <p:cNvPr id="36" name="Image 5" descr="C:\Users\Windows11\AppData\Local\Temp\claude\C--Users-Windows11-Desktop-New-folder--2-\a0c8a1d0-32ba-4ae6-9843-b5ebc69d925f\scratchpad\deck2/img/r_1359_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5122" y="3310128"/>
            <a:ext cx="922832" cy="105156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8043672" y="4370832"/>
            <a:ext cx="16657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750" b="1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QQ · 폴드</a:t>
            </a:r>
            <a:endParaRPr lang="ko-KR" altLang="en-US" sz="750" dirty="0"/>
          </a:p>
        </p:txBody>
      </p:sp>
      <p:pic>
        <p:nvPicPr>
          <p:cNvPr id="38" name="Image 6" descr="C:\Users\Windows11\AppData\Local\Temp\claude\C--Users-Windows11-Desktop-New-folder--2-\a0c8a1d0-32ba-4ae6-9843-b5ebc69d925f\scratchpad\deck2/img/r_1405_1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2531" y="4617720"/>
            <a:ext cx="908014" cy="105156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8043672" y="5678424"/>
            <a:ext cx="16657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750" b="1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QQ · 폴드</a:t>
            </a:r>
            <a:endParaRPr lang="ko-KR" altLang="en-US" sz="750" dirty="0"/>
          </a:p>
        </p:txBody>
      </p:sp>
      <p:sp>
        <p:nvSpPr>
          <p:cNvPr id="40" name="Shape 31"/>
          <p:cNvSpPr/>
          <p:nvPr/>
        </p:nvSpPr>
        <p:spPr>
          <a:xfrm>
            <a:off x="9681972" y="4590288"/>
            <a:ext cx="146304" cy="0"/>
          </a:xfrm>
          <a:prstGeom prst="line">
            <a:avLst/>
          </a:prstGeom>
          <a:noFill/>
          <a:ln w="19050">
            <a:solidFill>
              <a:srgbClr val="1C86D9"/>
            </a:solidFill>
            <a:prstDash val="solid"/>
            <a:tailEnd type="triangle"/>
          </a:ln>
        </p:spPr>
      </p:sp>
      <p:sp>
        <p:nvSpPr>
          <p:cNvPr id="41" name="Text 32"/>
          <p:cNvSpPr txBox="1"/>
          <p:nvPr/>
        </p:nvSpPr>
        <p:spPr>
          <a:xfrm>
            <a:off x="8089392" y="5925312"/>
            <a:ext cx="3550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반반 화면 — 왼쪽은 폰 화면 그대로</a:t>
            </a:r>
            <a:endParaRPr lang="ko-KR" altLang="en-US" sz="1100" dirty="0"/>
          </a:p>
        </p:txBody>
      </p:sp>
      <p:sp>
        <p:nvSpPr>
          <p:cNvPr id="42" name="Text 33"/>
          <p:cNvSpPr txBox="1"/>
          <p:nvPr/>
        </p:nvSpPr>
        <p:spPr>
          <a:xfrm>
            <a:off x="8089392" y="6172200"/>
            <a:ext cx="3550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f7ed455 → 최종</a:t>
            </a:r>
            <a:endParaRPr lang="ko-KR" alt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ko-KR" sz="900">
                <a:solidFill>
                  <a:srgbClr val="9AA0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15</a:t>
            </a:fld>
            <a:endParaRPr lang="ko-KR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 셀프 논증 1/2 — 내가 AI를 반박</a:t>
            </a:r>
            <a:endParaRPr lang="ko-KR" alt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반복된 버릇 4가지 — 내가 지적해서 고쳤다</a:t>
            </a:r>
            <a:endParaRPr lang="ko-KR" alt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49824" cy="230428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9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4996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D93F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버릇 1  </a:t>
            </a:r>
            <a:pPr indent="0" marL="0">
              <a:buNone/>
            </a:pPr>
            <a:r>
              <a:rPr lang="ko-KR" alt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재사용 안 함 — 매번 새로 만듦</a:t>
            </a:r>
            <a:endParaRPr lang="ko-KR" alt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4708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rgbClr val="B86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한 말 · 10/25 16:33</a:t>
            </a:r>
            <a:endParaRPr lang="ko-KR" alt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208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“홈 검색창과 검색 탭 검색창의 크기 · 글꼴 · 아이콘이 다 달라. 재사용해 줘”</a:t>
            </a:r>
            <a:endParaRPr lang="ko-KR" alt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41401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rgbClr val="B86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한 말 · 16:36 · 21:56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58775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“재사용해야 하는데 안 한 게 또 있는지 다시 확인해”</a:t>
            </a:r>
            <a:endParaRPr lang="ko-KR" alt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3035808"/>
            <a:ext cx="3291840" cy="512064"/>
          </a:xfrm>
          <a:prstGeom prst="roundRect">
            <a:avLst>
              <a:gd name="adj" fmla="val 14286"/>
            </a:avLst>
          </a:prstGeom>
          <a:solidFill>
            <a:srgbClr val="E8F6F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035808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공용 위젯으로: GpSearchBar · ProductTile · ThumbRow 등</a:t>
            </a:r>
            <a:endParaRPr lang="ko-KR" altLang="en-US" sz="1000" dirty="0"/>
          </a:p>
          <a:p>
            <a:pPr indent="0" marL="0">
              <a:buNone/>
            </a:pPr>
            <a:r>
              <a:rPr lang="ko-KR" altLang="en-US" sz="8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9fa6fd0 · 89d0704 · 52b0c59 · ad41d69</a:t>
            </a:r>
            <a:endParaRPr lang="ko-KR" altLang="en-US" sz="1000" dirty="0"/>
          </a:p>
        </p:txBody>
      </p:sp>
      <p:pic>
        <p:nvPicPr>
          <p:cNvPr id="12" name="Image 0" descr="C:\Users\Windows11\AppData\Local\Temp\claude\C--Users-Windows11-Desktop-New-folder--2-\a0c8a1d0-32ba-4ae6-9843-b5ebc69d925f\scratchpad\deck2/img/evo_6c64c91_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645920"/>
            <a:ext cx="845062" cy="1828800"/>
          </a:xfrm>
          <a:prstGeom prst="rect">
            <a:avLst/>
          </a:prstGeom>
        </p:spPr>
      </p:pic>
      <p:pic>
        <p:nvPicPr>
          <p:cNvPr id="13" name="Image 1" descr="C:\Users\Windows11\AppData\Local\Temp\claude\C--Users-Windows11-Desktop-New-folder--2-\a0c8a1d0-32ba-4ae6-9843-b5ebc69d925f\scratchpad\deck2/img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352" y="1645920"/>
            <a:ext cx="845062" cy="18288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160520" y="34564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D93F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</a:t>
            </a:r>
            <a:endParaRPr lang="ko-KR" altLang="en-US" sz="850" dirty="0"/>
          </a:p>
        </p:txBody>
      </p:sp>
      <p:sp>
        <p:nvSpPr>
          <p:cNvPr id="15" name="Text 11"/>
          <p:cNvSpPr txBox="1"/>
          <p:nvPr/>
        </p:nvSpPr>
        <p:spPr>
          <a:xfrm>
            <a:off x="5056632" y="34564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</a:t>
            </a:r>
            <a:endParaRPr lang="ko-KR" alt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6190488" y="1371600"/>
            <a:ext cx="5449824" cy="230428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9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6373368" y="14996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D93F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버릇 2  </a:t>
            </a:r>
            <a:pPr indent="0" marL="0">
              <a:buNone/>
            </a:pPr>
            <a:r>
              <a:rPr lang="ko-KR" alt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소재 재사용 안 함 — 다른 모양</a:t>
            </a:r>
            <a:endParaRPr lang="ko-KR" alt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6373368" y="184708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rgbClr val="B86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한 말 · 10/25 16:29</a:t>
            </a:r>
            <a:endParaRPr lang="ko-KR" altLang="en-US" sz="850" dirty="0"/>
          </a:p>
        </p:txBody>
      </p:sp>
      <p:sp>
        <p:nvSpPr>
          <p:cNvPr id="19" name="Text 15"/>
          <p:cNvSpPr txBox="1"/>
          <p:nvPr/>
        </p:nvSpPr>
        <p:spPr>
          <a:xfrm>
            <a:off x="6373368" y="20208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“이 세 개, 같은 거 아니야?”</a:t>
            </a:r>
            <a:endParaRPr lang="ko-KR" alt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6373368" y="241401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rgbClr val="B86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한 말 · 16:45</a:t>
            </a:r>
            <a:endParaRPr lang="ko-KR" altLang="en-US" sz="850" dirty="0"/>
          </a:p>
        </p:txBody>
      </p:sp>
      <p:sp>
        <p:nvSpPr>
          <p:cNvPr id="21" name="Text 17"/>
          <p:cNvSpPr txBox="1"/>
          <p:nvPr/>
        </p:nvSpPr>
        <p:spPr>
          <a:xfrm>
            <a:off x="6373368" y="258775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“이름 · 번호 · 생김새로 찾기 — 글자 간격이 화면마다 달라”</a:t>
            </a:r>
            <a:endParaRPr lang="ko-KR" alt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373368" y="3035808"/>
            <a:ext cx="3291840" cy="512064"/>
          </a:xfrm>
          <a:prstGeom prst="roundRect">
            <a:avLst>
              <a:gd name="adj" fmla="val 14286"/>
            </a:avLst>
          </a:prstGeom>
          <a:solidFill>
            <a:srgbClr val="E8F6F1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464808" y="3035808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같은 입력창 · 같은 아이콘 하나 (구매함 = 리본)</a:t>
            </a:r>
            <a:endParaRPr lang="ko-KR" altLang="en-US" sz="1000" dirty="0"/>
          </a:p>
          <a:p>
            <a:pPr indent="0" marL="0">
              <a:buNone/>
            </a:pPr>
            <a:r>
              <a:rPr lang="ko-KR" altLang="en-US" sz="8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ff2f599 · b29785b</a:t>
            </a:r>
            <a:endParaRPr lang="ko-KR" altLang="en-US" sz="1000" dirty="0"/>
          </a:p>
        </p:txBody>
      </p:sp>
      <p:pic>
        <p:nvPicPr>
          <p:cNvPr id="24" name="Image 2" descr="C:\Users\Windows11\AppData\Local\Temp\claude\C--Users-Windows11-Desktop-New-folder--2-\a0c8a1d0-32ba-4ae6-9843-b5ebc69d925f\scratchpad\deck2/img/evo_8040d86_ho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8088" y="1645920"/>
            <a:ext cx="845062" cy="1828800"/>
          </a:xfrm>
          <a:prstGeom prst="rect">
            <a:avLst/>
          </a:prstGeom>
        </p:spPr>
      </p:pic>
      <p:pic>
        <p:nvPicPr>
          <p:cNvPr id="25" name="Image 3" descr="C:\Users\Windows11\AppData\Local\Temp\claude\C--Users-Windows11-Desktop-New-folder--2-\a0c8a1d0-32ba-4ae6-9843-b5ebc69d925f\scratchpad\deck2/img/hom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0" y="1645920"/>
            <a:ext cx="845062" cy="18288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802368" y="34564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D93F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</a:t>
            </a:r>
            <a:endParaRPr lang="ko-KR" altLang="en-US" sz="850" dirty="0"/>
          </a:p>
        </p:txBody>
      </p:sp>
      <p:sp>
        <p:nvSpPr>
          <p:cNvPr id="27" name="Text 21"/>
          <p:cNvSpPr txBox="1"/>
          <p:nvPr/>
        </p:nvSpPr>
        <p:spPr>
          <a:xfrm>
            <a:off x="10698480" y="34564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</a:t>
            </a:r>
            <a:endParaRPr lang="ko-KR" alt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548640" y="3813048"/>
            <a:ext cx="5449824" cy="230428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9000"/>
              </a:srgbClr>
            </a:outerShdw>
          </a:effectLst>
        </p:spPr>
      </p:sp>
      <p:sp>
        <p:nvSpPr>
          <p:cNvPr id="29" name="Text 23"/>
          <p:cNvSpPr txBox="1"/>
          <p:nvPr/>
        </p:nvSpPr>
        <p:spPr>
          <a:xfrm>
            <a:off x="731520" y="39410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D93F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버릇 3  </a:t>
            </a:r>
            <a:pPr indent="0" marL="0">
              <a:buNone/>
            </a:pPr>
            <a:r>
              <a:rPr lang="ko-KR" alt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걸 위아래로 나열</a:t>
            </a:r>
            <a:endParaRPr lang="ko-KR" alt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731520" y="428853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rgbClr val="B86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한 말 · 10/25 15:00</a:t>
            </a:r>
            <a:endParaRPr lang="ko-KR" altLang="en-US" sz="850" dirty="0"/>
          </a:p>
        </p:txBody>
      </p:sp>
      <p:sp>
        <p:nvSpPr>
          <p:cNvPr id="31" name="Text 25"/>
          <p:cNvSpPr txBox="1"/>
          <p:nvPr/>
        </p:nvSpPr>
        <p:spPr>
          <a:xfrm>
            <a:off x="731520" y="44622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“안의 기능들을 위에서 아래로 나열하지 말고, 더 좋은 UI 방식을”</a:t>
            </a:r>
            <a:endParaRPr lang="ko-KR" alt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731520" y="485546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rgbClr val="B86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한 말 · 18:53</a:t>
            </a:r>
            <a:endParaRPr lang="ko-KR" altLang="en-US" sz="850" dirty="0"/>
          </a:p>
        </p:txBody>
      </p:sp>
      <p:sp>
        <p:nvSpPr>
          <p:cNvPr id="33" name="Text 27"/>
          <p:cNvSpPr txBox="1"/>
          <p:nvPr/>
        </p:nvSpPr>
        <p:spPr>
          <a:xfrm>
            <a:off x="731520" y="502920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“시장가 부분은 너무 나열돼 보여”</a:t>
            </a:r>
            <a:endParaRPr lang="ko-KR" alt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731520" y="5477256"/>
            <a:ext cx="3291840" cy="512064"/>
          </a:xfrm>
          <a:prstGeom prst="roundRect">
            <a:avLst>
              <a:gd name="adj" fmla="val 14286"/>
            </a:avLst>
          </a:prstGeom>
          <a:solidFill>
            <a:srgbClr val="E8F6F1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822960" y="5477256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홈 = 배너 + 가로 줄 · 시세는 카드 한 장</a:t>
            </a:r>
            <a:endParaRPr lang="ko-KR" altLang="en-US" sz="1000" dirty="0"/>
          </a:p>
          <a:p>
            <a:pPr indent="0" marL="0">
              <a:buNone/>
            </a:pPr>
            <a:r>
              <a:rPr lang="ko-KR" altLang="en-US" sz="8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5adf83d · b20d76f · d4d2774</a:t>
            </a:r>
            <a:endParaRPr lang="ko-KR" altLang="en-US" sz="1000" dirty="0"/>
          </a:p>
        </p:txBody>
      </p:sp>
      <p:pic>
        <p:nvPicPr>
          <p:cNvPr id="36" name="Image 4" descr="C:\Users\Windows11\AppData\Local\Temp\claude\C--Users-Windows11-Desktop-New-folder--2-\a0c8a1d0-32ba-4ae6-9843-b5ebc69d925f\scratchpad\deck2/img/evo_99dd2b9_hom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4087368"/>
            <a:ext cx="845062" cy="1828800"/>
          </a:xfrm>
          <a:prstGeom prst="rect">
            <a:avLst/>
          </a:prstGeom>
        </p:spPr>
      </p:pic>
      <p:pic>
        <p:nvPicPr>
          <p:cNvPr id="37" name="Image 5" descr="C:\Users\Windows11\AppData\Local\Temp\claude\C--Users-Windows11-Desktop-New-folder--2-\a0c8a1d0-32ba-4ae6-9843-b5ebc69d925f\scratchpad\deck2/img/evo_b20d76f_hom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2352" y="4087368"/>
            <a:ext cx="845062" cy="1828800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4160520" y="5897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D93F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</a:t>
            </a:r>
            <a:endParaRPr lang="ko-KR" altLang="en-US" sz="850" dirty="0"/>
          </a:p>
        </p:txBody>
      </p:sp>
      <p:sp>
        <p:nvSpPr>
          <p:cNvPr id="39" name="Text 31"/>
          <p:cNvSpPr txBox="1"/>
          <p:nvPr/>
        </p:nvSpPr>
        <p:spPr>
          <a:xfrm>
            <a:off x="5056632" y="5897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</a:t>
            </a:r>
            <a:endParaRPr lang="ko-KR" altLang="en-US" sz="850" dirty="0"/>
          </a:p>
        </p:txBody>
      </p:sp>
      <p:sp>
        <p:nvSpPr>
          <p:cNvPr id="40" name="Shape 32"/>
          <p:cNvSpPr/>
          <p:nvPr/>
        </p:nvSpPr>
        <p:spPr>
          <a:xfrm>
            <a:off x="6190488" y="3813048"/>
            <a:ext cx="5449824" cy="230428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9000"/>
              </a:srgbClr>
            </a:outerShdw>
          </a:effectLst>
        </p:spPr>
      </p:sp>
      <p:sp>
        <p:nvSpPr>
          <p:cNvPr id="41" name="Text 33"/>
          <p:cNvSpPr txBox="1"/>
          <p:nvPr/>
        </p:nvSpPr>
        <p:spPr>
          <a:xfrm>
            <a:off x="6373368" y="39410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D93F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버릇 4  </a:t>
            </a:r>
            <a:pPr indent="0" marL="0">
              <a:buNone/>
            </a:pPr>
            <a:r>
              <a:rPr lang="ko-KR" alt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내용을 여러 곳에 반복</a:t>
            </a:r>
            <a:endParaRPr lang="ko-KR" altLang="en-US" sz="1200" dirty="0"/>
          </a:p>
        </p:txBody>
      </p:sp>
      <p:sp>
        <p:nvSpPr>
          <p:cNvPr id="42" name="Text 34"/>
          <p:cNvSpPr txBox="1"/>
          <p:nvPr/>
        </p:nvSpPr>
        <p:spPr>
          <a:xfrm>
            <a:off x="6373368" y="428853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rgbClr val="B86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한 말 · 10/25 20:34</a:t>
            </a:r>
            <a:endParaRPr lang="ko-KR" altLang="en-US" sz="850" dirty="0"/>
          </a:p>
        </p:txBody>
      </p:sp>
      <p:sp>
        <p:nvSpPr>
          <p:cNvPr id="43" name="Text 35"/>
          <p:cNvSpPr txBox="1"/>
          <p:nvPr/>
        </p:nvSpPr>
        <p:spPr>
          <a:xfrm>
            <a:off x="6373368" y="44622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“시장가와 국내 시세는 아직도 너무 겹쳐”</a:t>
            </a:r>
            <a:endParaRPr lang="ko-KR" altLang="en-US" sz="1000" dirty="0"/>
          </a:p>
        </p:txBody>
      </p:sp>
      <p:sp>
        <p:nvSpPr>
          <p:cNvPr id="44" name="Text 36"/>
          <p:cNvSpPr txBox="1"/>
          <p:nvPr/>
        </p:nvSpPr>
        <p:spPr>
          <a:xfrm>
            <a:off x="6373368" y="485546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rgbClr val="B86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한 말 · 23:37</a:t>
            </a:r>
            <a:endParaRPr lang="ko-KR" altLang="en-US" sz="850" dirty="0"/>
          </a:p>
        </p:txBody>
      </p:sp>
      <p:sp>
        <p:nvSpPr>
          <p:cNvPr id="45" name="Text 37"/>
          <p:cNvSpPr txBox="1"/>
          <p:nvPr/>
        </p:nvSpPr>
        <p:spPr>
          <a:xfrm>
            <a:off x="6373368" y="502920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“6번, 중복된 친구 목록은 지워”</a:t>
            </a:r>
            <a:endParaRPr lang="ko-KR" altLang="en-US" sz="1000" dirty="0"/>
          </a:p>
        </p:txBody>
      </p:sp>
      <p:sp>
        <p:nvSpPr>
          <p:cNvPr id="46" name="Shape 38"/>
          <p:cNvSpPr/>
          <p:nvPr/>
        </p:nvSpPr>
        <p:spPr>
          <a:xfrm>
            <a:off x="6373368" y="5477256"/>
            <a:ext cx="3291840" cy="512064"/>
          </a:xfrm>
          <a:prstGeom prst="roundRect">
            <a:avLst>
              <a:gd name="adj" fmla="val 14286"/>
            </a:avLst>
          </a:prstGeom>
          <a:solidFill>
            <a:srgbClr val="E8F6F1"/>
          </a:solidFill>
          <a:ln/>
        </p:spPr>
      </p:sp>
      <p:sp>
        <p:nvSpPr>
          <p:cNvPr id="47" name="Text 39"/>
          <p:cNvSpPr txBox="1"/>
          <p:nvPr/>
        </p:nvSpPr>
        <p:spPr>
          <a:xfrm>
            <a:off x="6464808" y="5477256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시세는 정가 아래 한 줄 · 친구 목록은 서랍 한 곳</a:t>
            </a:r>
            <a:endParaRPr lang="ko-KR" altLang="en-US" sz="1000" dirty="0"/>
          </a:p>
          <a:p>
            <a:pPr indent="0" marL="0">
              <a:buNone/>
            </a:pPr>
            <a:r>
              <a:rPr lang="ko-KR" altLang="en-US" sz="8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18b0f10 · 132c398</a:t>
            </a:r>
            <a:endParaRPr lang="ko-KR" altLang="en-US" sz="1000" dirty="0"/>
          </a:p>
        </p:txBody>
      </p:sp>
      <p:pic>
        <p:nvPicPr>
          <p:cNvPr id="48" name="Image 6" descr="C:\Users\Windows11\AppData\Local\Temp\claude\C--Users-Windows11-Desktop-New-folder--2-\a0c8a1d0-32ba-4ae6-9843-b5ebc69d925f\scratchpad\deck2/img/evo_80b665e_detai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48088" y="4087368"/>
            <a:ext cx="845062" cy="1828800"/>
          </a:xfrm>
          <a:prstGeom prst="rect">
            <a:avLst/>
          </a:prstGeom>
        </p:spPr>
      </p:pic>
      <p:pic>
        <p:nvPicPr>
          <p:cNvPr id="49" name="Image 7" descr="C:\Users\Windows11\AppData\Local\Temp\claude\C--Users-Windows11-Desktop-New-folder--2-\a0c8a1d0-32ba-4ae6-9843-b5ebc69d925f\scratchpad\deck2/img/detai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44200" y="4087368"/>
            <a:ext cx="845062" cy="1828800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9802368" y="5897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D93F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</a:t>
            </a:r>
            <a:endParaRPr lang="ko-KR" altLang="en-US" sz="850" dirty="0"/>
          </a:p>
        </p:txBody>
      </p:sp>
      <p:sp>
        <p:nvSpPr>
          <p:cNvPr id="51" name="Text 41"/>
          <p:cNvSpPr txBox="1"/>
          <p:nvPr/>
        </p:nvSpPr>
        <p:spPr>
          <a:xfrm>
            <a:off x="10698480" y="5897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</a:t>
            </a:r>
            <a:endParaRPr lang="ko-KR" alt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ko-KR" sz="900">
                <a:solidFill>
                  <a:srgbClr val="9AA0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16</a:t>
            </a:fld>
            <a:endParaRPr lang="ko-KR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 셀프 논증 2/2 — AI의 반론 · 버린 AI 제안</a:t>
            </a:r>
            <a:endParaRPr lang="ko-KR" alt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반론은 근거가 있을 때만 받아들이고, 아니면 버렸다</a:t>
            </a:r>
            <a:endParaRPr lang="ko-KR" alt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257800" cy="47548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536192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12A0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5361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받아들임 · 쟁점 1 (지적 1 · 3)</a:t>
            </a:r>
            <a:endParaRPr lang="ko-KR" alt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8745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b="1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질문: </a:t>
            </a:r>
            <a:pPr indent="0" marL="0">
              <a:buNone/>
            </a:pPr>
            <a:r>
              <a:rPr lang="ko-KR" altLang="en-US" sz="105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"UI 설계에 아직 어떤 문제가 있어?" → AI 13가지 지적, 로고만 빼고 반영 (부록 B3)</a:t>
            </a:r>
            <a:endParaRPr lang="ko-KR" altLang="en-US" sz="1050" dirty="0"/>
          </a:p>
          <a:p>
            <a:pPr indent="0" marL="0">
              <a:buNone/>
            </a:pPr>
            <a:r>
              <a:rPr lang="ko-KR" altLang="en-US" sz="1050" b="1" dirty="0">
                <a:solidFill>
                  <a:srgbClr val="B86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반론: </a:t>
            </a:r>
            <a:pPr indent="0" marL="0">
              <a:buNone/>
            </a:pPr>
            <a:r>
              <a:rPr lang="ko-KR" altLang="en-US" sz="105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구매함이 3–4가지 모양 → P04 위반</a:t>
            </a:r>
            <a:endParaRPr lang="ko-KR" alt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77240" y="2697480"/>
            <a:ext cx="2331720" cy="292608"/>
          </a:xfrm>
          <a:prstGeom prst="roundRect">
            <a:avLst>
              <a:gd name="adj" fmla="val 50000"/>
            </a:avLst>
          </a:prstGeom>
          <a:solidFill>
            <a:srgbClr val="9AA0A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6974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— 132c398</a:t>
            </a:r>
            <a:endParaRPr lang="ko-KR" alt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2697480"/>
            <a:ext cx="2331720" cy="292608"/>
          </a:xfrm>
          <a:prstGeom prst="roundRect">
            <a:avLst>
              <a:gd name="adj" fmla="val 50000"/>
            </a:avLst>
          </a:prstGeom>
          <a:solidFill>
            <a:srgbClr val="1C86D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291840" y="26974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 — b29785b</a:t>
            </a:r>
            <a:endParaRPr lang="ko-KR" alt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95528" y="3054096"/>
            <a:ext cx="2295144" cy="2384826"/>
          </a:xfrm>
          <a:prstGeom prst="roundRect">
            <a:avLst>
              <a:gd name="adj" fmla="val 50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0" descr="C:\Users\Windows11\AppData\Local\Temp\claude\C--Users-Windows11-Desktop-New-folder--2-\a0c8a1d0-32ba-4ae6-9843-b5ebc69d925f\scratchpad\deck2/img/before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035808"/>
            <a:ext cx="2331720" cy="242140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3310128" y="3054096"/>
            <a:ext cx="2295144" cy="2384826"/>
          </a:xfrm>
          <a:prstGeom prst="roundRect">
            <a:avLst>
              <a:gd name="adj" fmla="val 50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pic>
        <p:nvPicPr>
          <p:cNvPr id="15" name="Image 1" descr="C:\Users\Windows11\AppData\Local\Temp\claude\C--Users-Windows11-Desktop-New-folder--2-\a0c8a1d0-32ba-4ae6-9843-b5ebc69d925f\scratchpad\deck2/img/after_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3035808"/>
            <a:ext cx="2331720" cy="242140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77240" y="55321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구매함 = 파랑 ✓원 · 칸마다 ♡ + 동그라미 → 구매함 = 민트 리본 · ♡ (홈 · 상세와 같은 모양)</a:t>
            </a:r>
            <a:endParaRPr lang="ko-KR" alt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016752" y="1371600"/>
            <a:ext cx="5623560" cy="47548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9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45352" y="1536192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D93F44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6245352" y="15361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버린 AI 제안</a:t>
            </a:r>
            <a:endParaRPr lang="ko-KR" alt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245352" y="1938528"/>
            <a:ext cx="5166360" cy="91440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/>
        </p:spPr>
      </p:sp>
      <p:pic>
        <p:nvPicPr>
          <p:cNvPr id="21" name="Image 2" descr="C:\Users\Windows11\AppData\Local\Temp\claude\C--Users-Windows11-Desktop-New-folder--2-\a0c8a1d0-32ba-4ae6-9843-b5ebc69d925f\scratchpad\deck2/img/evo_99dd2b9_ho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0864" y="2002536"/>
            <a:ext cx="363376" cy="786384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178040" y="201168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D93F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AI 첫 화면 (hobbyDB식 목록)</a:t>
            </a:r>
            <a:endParaRPr lang="ko-KR" alt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7178040" y="230428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"UI가 왜 이렇게 됐어? 내가 다시 설계할게"</a:t>
            </a:r>
            <a:endParaRPr lang="ko-KR" alt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245352" y="2962656"/>
            <a:ext cx="5166360" cy="91440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/>
        </p:spPr>
      </p:sp>
      <p:pic>
        <p:nvPicPr>
          <p:cNvPr id="25" name="Image 3" descr="C:\Users\Windows11\AppData\Local\Temp\claude\C--Users-Windows11-Desktop-New-folder--2-\a0c8a1d0-32ba-4ae6-9843-b5ebc69d925f\scratchpad\deck2/img/abc_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8630" y="3026664"/>
            <a:ext cx="447844" cy="78638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178040" y="303580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D93F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홈 시안: AI 추천 B · A1</a:t>
            </a:r>
            <a:endParaRPr lang="ko-KR" alt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7178040" y="3328416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"처음 그 A 매거진이 좋아" (10장)</a:t>
            </a:r>
            <a:endParaRPr lang="ko-KR" alt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6245352" y="3986784"/>
            <a:ext cx="5166360" cy="91440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/>
        </p:spPr>
      </p:sp>
      <p:pic>
        <p:nvPicPr>
          <p:cNvPr id="29" name="Image 4" descr="C:\Users\Windows11\AppData\Local\Temp\claude\C--Users-Windows11-Desktop-New-folder--2-\a0c8a1d0-32ba-4ae6-9843-b5ebc69d925f\scratchpad\deck2/img/r_1324_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4775" y="4050792"/>
            <a:ext cx="435554" cy="786384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178040" y="405993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D93F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전체 목록: 상태로 거르기 · 작품 알약 줄</a:t>
            </a:r>
            <a:endParaRPr lang="ko-KR" altLang="en-US" sz="1100" dirty="0"/>
          </a:p>
        </p:txBody>
      </p:sp>
      <p:sp>
        <p:nvSpPr>
          <p:cNvPr id="31" name="Text 24"/>
          <p:cNvSpPr txBox="1"/>
          <p:nvPr/>
        </p:nvSpPr>
        <p:spPr>
          <a:xfrm>
            <a:off x="7178040" y="4352544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"작품별로" · "너무 못생겼어, 이런 걸 원해" (12장)</a:t>
            </a:r>
            <a:endParaRPr lang="ko-KR" alt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6245352" y="5010912"/>
            <a:ext cx="5166360" cy="91440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/>
        </p:spPr>
      </p:sp>
      <p:pic>
        <p:nvPicPr>
          <p:cNvPr id="33" name="Image 5" descr="C:\Users\Windows11\AppData\Local\Temp\claude\C--Users-Windows11-Desktop-New-folder--2-\a0c8a1d0-32ba-4ae6-9843-b5ebc69d925f\scratchpad\deck2/img/r_1405_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3034" y="5074920"/>
            <a:ext cx="679036" cy="78638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7178040" y="508406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D93F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반반 화면: 목록-상세만, 홈은 제외</a:t>
            </a:r>
            <a:endParaRPr lang="ko-KR" altLang="en-US" sz="1100" dirty="0"/>
          </a:p>
        </p:txBody>
      </p:sp>
      <p:sp>
        <p:nvSpPr>
          <p:cNvPr id="35" name="Text 27"/>
          <p:cNvSpPr txBox="1"/>
          <p:nvPr/>
        </p:nvSpPr>
        <p:spPr>
          <a:xfrm>
            <a:off x="7178040" y="537667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"QQ는 이래, 분할부터" — 왼쪽은 폰 화면 그대로 (15장)</a:t>
            </a:r>
            <a:endParaRPr lang="ko-KR" alt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ko-KR" sz="900">
                <a:solidFill>
                  <a:srgbClr val="9AA0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17</a:t>
            </a:fld>
            <a:endParaRPr lang="ko-KR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 Flutter 기술을 활용한 기능 설명</a:t>
            </a:r>
            <a:endParaRPr lang="ko-KR" alt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Flutter 구현: 위젯 트리 하나로 폰부터 넓은 화면까지</a:t>
            </a:r>
            <a:endParaRPr lang="ko-KR" alt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840480" cy="46177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9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위젯 트리</a:t>
            </a:r>
            <a:pPr indent="0" marL="0">
              <a:buNone/>
            </a:pPr>
            <a:r>
              <a:rPr lang="ko-KR" altLang="en-US" sz="10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lib/main.dart</a:t>
            </a:r>
            <a:endParaRPr lang="ko-KR" alt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2057400"/>
            <a:ext cx="33832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20939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MaterialApp</a:t>
            </a:r>
            <a:endParaRPr lang="ko-KR" alt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29514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쌓기: CupertinoPageRoute</a:t>
            </a:r>
            <a:endParaRPr lang="ko-KR" alt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77824" y="2514600"/>
            <a:ext cx="0" cy="320040"/>
          </a:xfrm>
          <a:prstGeom prst="line">
            <a:avLst/>
          </a:prstGeom>
          <a:noFill/>
          <a:ln w="12700">
            <a:solidFill>
              <a:srgbClr val="C9CD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2834640"/>
            <a:ext cx="118872" cy="0"/>
          </a:xfrm>
          <a:prstGeom prst="line">
            <a:avLst/>
          </a:prstGeom>
          <a:noFill/>
          <a:ln w="12700">
            <a:solidFill>
              <a:srgbClr val="C9CD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6696" y="2606040"/>
            <a:ext cx="3163824" cy="457200"/>
          </a:xfrm>
          <a:prstGeom prst="roundRect">
            <a:avLst>
              <a:gd name="adj" fmla="val 20000"/>
            </a:avLst>
          </a:prstGeom>
          <a:solidFill>
            <a:srgbClr val="E8F6F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06424" y="2642616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12A0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MarksHost · PaneHost</a:t>
            </a:r>
            <a:endParaRPr lang="ko-KR" alt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06424" y="2843784"/>
            <a:ext cx="2980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setState + InheritedWidget</a:t>
            </a:r>
            <a:endParaRPr lang="ko-KR" alt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97280" y="3063240"/>
            <a:ext cx="0" cy="320040"/>
          </a:xfrm>
          <a:prstGeom prst="line">
            <a:avLst/>
          </a:prstGeom>
          <a:noFill/>
          <a:ln w="12700">
            <a:solidFill>
              <a:srgbClr val="C9CD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3383280"/>
            <a:ext cx="118872" cy="0"/>
          </a:xfrm>
          <a:prstGeom prst="line">
            <a:avLst/>
          </a:prstGeom>
          <a:noFill/>
          <a:ln w="12700">
            <a:solidFill>
              <a:srgbClr val="C9CD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16152" y="3154680"/>
            <a:ext cx="2944368" cy="457200"/>
          </a:xfrm>
          <a:prstGeom prst="roundRect">
            <a:avLst>
              <a:gd name="adj" fmla="val 20000"/>
            </a:avLst>
          </a:prstGeom>
          <a:solidFill>
            <a:srgbClr val="EAF4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325880" y="3191256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AppShell (LayoutBuilder)</a:t>
            </a:r>
            <a:endParaRPr lang="ko-KR" alt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392424"/>
            <a:ext cx="2761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폰 · 가로 폰 · 반반 화면</a:t>
            </a:r>
            <a:endParaRPr lang="ko-KR" alt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316736" y="3611880"/>
            <a:ext cx="0" cy="320040"/>
          </a:xfrm>
          <a:prstGeom prst="line">
            <a:avLst/>
          </a:prstGeom>
          <a:noFill/>
          <a:ln w="12700">
            <a:solidFill>
              <a:srgbClr val="C9CD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16736" y="3931920"/>
            <a:ext cx="118872" cy="0"/>
          </a:xfrm>
          <a:prstGeom prst="line">
            <a:avLst/>
          </a:prstGeom>
          <a:noFill/>
          <a:ln w="12700">
            <a:solidFill>
              <a:srgbClr val="C9CD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35608" y="3703320"/>
            <a:ext cx="2724912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545336" y="3739896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IndexedStack</a:t>
            </a:r>
            <a:endParaRPr lang="ko-KR" alt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545336" y="3941064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탭 4개 — 옆으로</a:t>
            </a:r>
            <a:endParaRPr lang="ko-KR" alt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536192" y="4160520"/>
            <a:ext cx="0" cy="320040"/>
          </a:xfrm>
          <a:prstGeom prst="line">
            <a:avLst/>
          </a:prstGeom>
          <a:noFill/>
          <a:ln w="12700">
            <a:solidFill>
              <a:srgbClr val="C9CDD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36192" y="4480560"/>
            <a:ext cx="118872" cy="0"/>
          </a:xfrm>
          <a:prstGeom prst="line">
            <a:avLst/>
          </a:prstGeom>
          <a:noFill/>
          <a:ln w="12700">
            <a:solidFill>
              <a:srgbClr val="C9CDD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55064" y="4251960"/>
            <a:ext cx="2505456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764792" y="4288536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FutureBuilder</a:t>
            </a:r>
            <a:endParaRPr lang="ko-KR" alt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764792" y="4489704"/>
            <a:ext cx="2322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 → 로딩 · 오류 · 빈</a:t>
            </a:r>
            <a:endParaRPr lang="ko-KR" alt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316736" y="3611880"/>
            <a:ext cx="0" cy="1417320"/>
          </a:xfrm>
          <a:prstGeom prst="line">
            <a:avLst/>
          </a:prstGeom>
          <a:noFill/>
          <a:ln w="12700">
            <a:solidFill>
              <a:srgbClr val="C9CDD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16736" y="5029200"/>
            <a:ext cx="118872" cy="0"/>
          </a:xfrm>
          <a:prstGeom prst="line">
            <a:avLst/>
          </a:prstGeom>
          <a:noFill/>
          <a:ln w="12700">
            <a:solidFill>
              <a:srgbClr val="C9CDD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435608" y="4800600"/>
            <a:ext cx="2724912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545336" y="4837176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Navigator (오른쪽 칸)</a:t>
            </a:r>
            <a:endParaRPr lang="ko-KR" alt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545336" y="5038344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반반 화면에서 쌓기</a:t>
            </a:r>
            <a:endParaRPr lang="ko-KR" alt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316736" y="3611880"/>
            <a:ext cx="0" cy="1965960"/>
          </a:xfrm>
          <a:prstGeom prst="line">
            <a:avLst/>
          </a:prstGeom>
          <a:noFill/>
          <a:ln w="12700">
            <a:solidFill>
              <a:srgbClr val="C9CDD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316736" y="5577840"/>
            <a:ext cx="118872" cy="0"/>
          </a:xfrm>
          <a:prstGeom prst="line">
            <a:avLst/>
          </a:prstGeom>
          <a:noFill/>
          <a:ln w="12700">
            <a:solidFill>
              <a:srgbClr val="C9CDD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435608" y="5349240"/>
            <a:ext cx="2724912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545336" y="5385816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Sheet · Dialog · Drawer</a:t>
            </a:r>
            <a:endParaRPr lang="ko-KR" alt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545336" y="5586984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덮기</a:t>
            </a:r>
            <a:endParaRPr lang="ko-KR" alt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17720" y="1481328"/>
            <a:ext cx="3374136" cy="1755648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9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18888" y="1682496"/>
            <a:ext cx="329184" cy="329184"/>
          </a:xfrm>
          <a:prstGeom prst="ellipse">
            <a:avLst/>
          </a:prstGeom>
          <a:solidFill>
            <a:srgbClr val="1C86D9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818888" y="1682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alt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257800" y="166420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이동 3방식</a:t>
            </a:r>
            <a:endParaRPr lang="ko-KR" altLang="en-US" sz="1450" dirty="0"/>
          </a:p>
        </p:txBody>
      </p:sp>
      <p:sp>
        <p:nvSpPr>
          <p:cNvPr id="43" name="Text 41"/>
          <p:cNvSpPr txBox="1"/>
          <p:nvPr/>
        </p:nvSpPr>
        <p:spPr>
          <a:xfrm>
            <a:off x="4846320" y="21671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쌓기 · 옆으로 · 덮기</a:t>
            </a:r>
            <a:endParaRPr lang="ko-KR" alt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4846320" y="257860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CupertinoPageRoute · IndexedStack · Sheet / Dialog / Drawer</a:t>
            </a:r>
            <a:endParaRPr lang="ko-KR" alt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174736" y="1481328"/>
            <a:ext cx="3374136" cy="1755648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9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375904" y="1682496"/>
            <a:ext cx="329184" cy="329184"/>
          </a:xfrm>
          <a:prstGeom prst="ellipse">
            <a:avLst/>
          </a:prstGeom>
          <a:solidFill>
            <a:srgbClr val="1C86D9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375904" y="1682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alt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8814816" y="166420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FutureBuilder 3상태</a:t>
            </a:r>
            <a:endParaRPr lang="ko-KR" altLang="en-US" sz="1450" dirty="0"/>
          </a:p>
        </p:txBody>
      </p:sp>
      <p:sp>
        <p:nvSpPr>
          <p:cNvPr id="49" name="Text 47"/>
          <p:cNvSpPr txBox="1"/>
          <p:nvPr/>
        </p:nvSpPr>
        <p:spPr>
          <a:xfrm>
            <a:off x="8403336" y="21671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로딩 · 오류(다시 시도) · 빈 상태</a:t>
            </a:r>
            <a:endParaRPr lang="ko-KR" alt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8403336" y="257860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 하는 화면 전부</a:t>
            </a:r>
            <a:endParaRPr lang="ko-KR" alt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617720" y="3383280"/>
            <a:ext cx="3374136" cy="1755648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9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818888" y="3584448"/>
            <a:ext cx="329184" cy="329184"/>
          </a:xfrm>
          <a:prstGeom prst="ellipse">
            <a:avLst/>
          </a:prstGeom>
          <a:solidFill>
            <a:srgbClr val="1C86D9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4818888" y="3584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alt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5257800" y="35661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json-server GET만</a:t>
            </a:r>
            <a:endParaRPr lang="ko-KR" altLang="en-US" sz="1450" dirty="0"/>
          </a:p>
        </p:txBody>
      </p:sp>
      <p:sp>
        <p:nvSpPr>
          <p:cNvPr id="55" name="Text 53"/>
          <p:cNvSpPr txBox="1"/>
          <p:nvPr/>
        </p:nvSpPr>
        <p:spPr>
          <a:xfrm>
            <a:off x="4846320" y="40690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· 전송 없음</a:t>
            </a:r>
            <a:endParaRPr lang="ko-KR" altLang="en-US" sz="1500" dirty="0"/>
          </a:p>
        </p:txBody>
      </p:sp>
      <p:sp>
        <p:nvSpPr>
          <p:cNvPr id="56" name="Text 54"/>
          <p:cNvSpPr txBox="1"/>
          <p:nvPr/>
        </p:nvSpPr>
        <p:spPr>
          <a:xfrm>
            <a:off x="4846320" y="44805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http.get 하나 — lib/api.dart</a:t>
            </a:r>
            <a:endParaRPr lang="ko-KR" alt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174736" y="3383280"/>
            <a:ext cx="3374136" cy="1755648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9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8375904" y="3584448"/>
            <a:ext cx="329184" cy="329184"/>
          </a:xfrm>
          <a:prstGeom prst="ellipse">
            <a:avLst/>
          </a:prstGeom>
          <a:solidFill>
            <a:srgbClr val="1C86D9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8375904" y="3584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alt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8814816" y="35661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적응형</a:t>
            </a:r>
            <a:endParaRPr lang="ko-KR" altLang="en-US" sz="1450" dirty="0"/>
          </a:p>
        </p:txBody>
      </p:sp>
      <p:sp>
        <p:nvSpPr>
          <p:cNvPr id="61" name="Text 59"/>
          <p:cNvSpPr txBox="1"/>
          <p:nvPr/>
        </p:nvSpPr>
        <p:spPr>
          <a:xfrm>
            <a:off x="8403336" y="40690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 너비로 폰 · 가로 폰 · 반반</a:t>
            </a:r>
            <a:endParaRPr lang="ko-KR" altLang="en-US" sz="1500" dirty="0"/>
          </a:p>
        </p:txBody>
      </p:sp>
      <p:sp>
        <p:nvSpPr>
          <p:cNvPr id="62" name="Text 60"/>
          <p:cNvSpPr txBox="1"/>
          <p:nvPr/>
        </p:nvSpPr>
        <p:spPr>
          <a:xfrm>
            <a:off x="8403336" y="44805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LayoutBuilder · MediaQuery · 폴드 접힘선 · 테스트 53개</a:t>
            </a:r>
            <a:endParaRPr lang="ko-KR" alt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617720" y="5349240"/>
            <a:ext cx="7022592" cy="749808"/>
          </a:xfrm>
          <a:prstGeom prst="roundRect">
            <a:avLst>
              <a:gd name="adj" fmla="val 14634"/>
            </a:avLst>
          </a:prstGeom>
          <a:solidFill>
            <a:srgbClr val="E8F6F1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4846320" y="5349240"/>
            <a:ext cx="6675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b="1" dirty="0">
                <a:solidFill>
                  <a:srgbClr val="12A0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상태관리 패키지 0</a:t>
            </a:r>
            <a:endParaRPr lang="ko-KR" altLang="en-US" sz="1150" dirty="0"/>
          </a:p>
          <a:p>
            <a:pPr indent="0" marL="0">
              <a:buNone/>
            </a:pPr>
            <a:r>
              <a:rPr lang="ko-KR" altLang="en-US" sz="11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좋아요 · 구매함은 맨 위 setState + InheritedWidget — 홈에서 누르면 컬렉션 · 내 정보 숫자가 같이 바뀐다</a:t>
            </a:r>
            <a:endParaRPr lang="ko-KR" alt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ko-KR" sz="900">
                <a:solidFill>
                  <a:srgbClr val="9AA0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18</a:t>
            </a:fld>
            <a:endParaRPr lang="ko-KR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 데모 — 라이브 시연</a:t>
            </a:r>
            <a:endParaRPr lang="ko-KR" alt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데모: 리본 한 번이 앱 전체에 반영된다</a:t>
            </a:r>
            <a:endParaRPr lang="ko-KR" alt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배포된 앱으로 시연 — 서버 없이 브라우저만 있으면 된다</a:t>
            </a:r>
            <a:endParaRPr lang="ko-KR" alt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15184" cy="20116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68096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32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alt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</a:t>
            </a:r>
            <a:endParaRPr lang="ko-KR" alt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67919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배너가 넘어간다 · 카드 리본 한 번 → ✓</a:t>
            </a:r>
            <a:endParaRPr lang="ko-KR" alt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8096" y="333756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AF4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68096" y="33375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화면 전환</a:t>
            </a:r>
            <a:endParaRPr lang="ko-KR" alt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10128" y="1783080"/>
            <a:ext cx="2615184" cy="20116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9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529584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32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alt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4133088" y="2057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찍어서 찾기</a:t>
            </a:r>
            <a:endParaRPr lang="ko-KR" alt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529584" y="267919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"AI가 비교하는 중…" → 후보 · 일치도</a:t>
            </a:r>
            <a:endParaRPr lang="ko-KR" alt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529584" y="333756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AF4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529584" y="33375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임의 결과</a:t>
            </a:r>
            <a:endParaRPr lang="ko-KR" alt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71616" y="1783080"/>
            <a:ext cx="2615184" cy="20116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9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291072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32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alt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6894576" y="2057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컬렉션</a:t>
            </a:r>
            <a:endParaRPr lang="ko-KR" alt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291072" y="267919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방금 담은 상품이 이미 있다</a:t>
            </a:r>
            <a:endParaRPr lang="ko-KR" alt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91072" y="333756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AF4F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291072" y="33375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json-server GET</a:t>
            </a:r>
            <a:endParaRPr lang="ko-KR" alt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977640"/>
            <a:ext cx="2615184" cy="20116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9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768096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32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altLang="en-US" sz="32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42519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도감</a:t>
            </a:r>
            <a:endParaRPr lang="ko-KR" alt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68096" y="487375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칸이 켜지고 Lv 막대가 오른다</a:t>
            </a:r>
            <a:endParaRPr lang="ko-KR" alt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68096" y="553212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AF4F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68096" y="55321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상태 표시</a:t>
            </a:r>
            <a:endParaRPr lang="ko-KR" alt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10128" y="3977640"/>
            <a:ext cx="2615184" cy="20116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9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3529584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32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ko-KR" altLang="en-US" sz="3200" dirty="0"/>
          </a:p>
        </p:txBody>
      </p:sp>
      <p:sp>
        <p:nvSpPr>
          <p:cNvPr id="31" name="Text 29"/>
          <p:cNvSpPr txBox="1"/>
          <p:nvPr/>
        </p:nvSpPr>
        <p:spPr>
          <a:xfrm>
            <a:off x="4133088" y="42519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 넓히기</a:t>
            </a:r>
            <a:endParaRPr lang="ko-KR" alt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3529584" y="487375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 앱 · 오른쪽 상세 (반반 화면)</a:t>
            </a:r>
            <a:endParaRPr lang="ko-KR" alt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529584" y="553212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AF4FC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3529584" y="55321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적응형</a:t>
            </a:r>
            <a:endParaRPr lang="ko-KR" alt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071616" y="3977640"/>
            <a:ext cx="2615184" cy="20116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9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6291072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3200" b="1" dirty="0">
                <a:solidFill>
                  <a:srgbClr val="D93F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ko-KR" altLang="en-US" sz="3200" dirty="0"/>
          </a:p>
        </p:txBody>
      </p:sp>
      <p:sp>
        <p:nvSpPr>
          <p:cNvPr id="37" name="Text 35"/>
          <p:cNvSpPr txBox="1"/>
          <p:nvPr/>
        </p:nvSpPr>
        <p:spPr>
          <a:xfrm>
            <a:off x="6894576" y="42519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 끄기</a:t>
            </a:r>
            <a:endParaRPr lang="ko-KR" alt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6291072" y="487375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채널을 바꾸면 오류 + 다시 시도</a:t>
            </a:r>
            <a:endParaRPr lang="ko-KR" alt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91072" y="553212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AF4FC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291072" y="55321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로딩 · 오류 · 빈</a:t>
            </a:r>
            <a:endParaRPr lang="ko-KR" alt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915400" y="1783080"/>
            <a:ext cx="2724912" cy="4206240"/>
          </a:xfrm>
          <a:prstGeom prst="roundRect">
            <a:avLst>
              <a:gd name="adj" fmla="val 5369"/>
            </a:avLst>
          </a:prstGeom>
          <a:solidFill>
            <a:srgbClr val="F4F5F7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125712" y="1938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열어 보기</a:t>
            </a:r>
            <a:endParaRPr lang="ko-KR" alt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9326880" y="2331720"/>
            <a:ext cx="1901952" cy="1901952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/>
        </p:spPr>
      </p:sp>
      <p:pic>
        <p:nvPicPr>
          <p:cNvPr id="44" name="Image 0" descr="C:\Users\Windows11\AppData\Local\Temp\claude\C--Users-Windows11-Desktop-New-folder--2-\a0c8a1d0-32ba-4ae6-9843-b5ebc69d925f\scratchpad\deck2/img/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2423160"/>
            <a:ext cx="1719072" cy="1719072"/>
          </a:xfrm>
          <a:prstGeom prst="rect">
            <a:avLst/>
          </a:prstGeom>
        </p:spPr>
      </p:pic>
      <p:sp>
        <p:nvSpPr>
          <p:cNvPr id="45" name="Text 42"/>
          <p:cNvSpPr txBox="1"/>
          <p:nvPr/>
        </p:nvSpPr>
        <p:spPr>
          <a:xfrm>
            <a:off x="9125712" y="43708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mdefitko777.github.io/gunpula-flutter</a:t>
            </a:r>
            <a:endParaRPr lang="ko-KR" altLang="en-US" sz="1050" dirty="0"/>
          </a:p>
        </p:txBody>
      </p:sp>
      <p:sp>
        <p:nvSpPr>
          <p:cNvPr id="46" name="Text 43"/>
          <p:cNvSpPr txBox="1"/>
          <p:nvPr/>
        </p:nvSpPr>
        <p:spPr>
          <a:xfrm>
            <a:off x="9125712" y="48463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</a:t>
            </a:r>
            <a:pPr algn="ctr" indent="0" marL="0">
              <a:buNone/>
            </a:pPr>
            <a:r>
              <a:rPr lang="ko-KR" altLang="en-US" sz="100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GitHub Pages</a:t>
            </a:r>
            <a:endParaRPr lang="ko-KR" altLang="en-US" sz="1000" dirty="0"/>
          </a:p>
          <a:p>
            <a:pPr algn="ctr" indent="0" marL="0">
              <a:buNone/>
            </a:pPr>
            <a:r>
              <a:rPr lang="ko-KR" altLang="en-US" sz="1000" b="1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pPr algn="ctr" indent="0" marL="0">
              <a:buNone/>
            </a:pPr>
            <a:r>
              <a:rPr lang="ko-KR" altLang="en-US" sz="100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Vercel 목업 서버 (GET만)</a:t>
            </a:r>
            <a:endParaRPr lang="ko-KR" altLang="en-US" sz="1000" dirty="0"/>
          </a:p>
          <a:p>
            <a:pPr algn="ctr" indent="0" marL="0">
              <a:buNone/>
            </a:pPr>
            <a:r>
              <a:rPr lang="ko-KR" altLang="en-US" sz="10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창을 넓히면 반반 화면</a:t>
            </a:r>
            <a:endParaRPr lang="ko-KR" alt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ko-KR" sz="900">
                <a:solidFill>
                  <a:srgbClr val="9AA0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19</a:t>
            </a:fld>
            <a:endParaRPr lang="ko-KR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 Personal Learnings</a:t>
            </a:r>
            <a:endParaRPr lang="ko-KR" alt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것: 화면은 ‘사용자가 하는 일의 순서’로 나눈다</a:t>
            </a:r>
            <a:endParaRPr lang="ko-KR" alt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57016" cy="3291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9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810512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40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alt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것</a:t>
            </a:r>
            <a:endParaRPr lang="ko-KR" alt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260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화면은 하는 일의 순서로</a:t>
            </a:r>
            <a:endParaRPr lang="ko-KR" alt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9319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Why를 내려가 보니 문제는 기능이 아니라 구조였다</a:t>
            </a:r>
            <a:endParaRPr lang="ko-KR" alt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15968" y="1600200"/>
            <a:ext cx="3557016" cy="3291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9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90288" y="1810512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4000" b="1" dirty="0">
                <a:solidFill>
                  <a:srgbClr val="B86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alt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590288" y="2606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B86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셀프 논증 회고</a:t>
            </a:r>
            <a:endParaRPr lang="ko-KR" alt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29260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반론은 받아들이기도, 버리기도</a:t>
            </a:r>
            <a:endParaRPr lang="ko-KR" alt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39319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반론으로 모양을 하나로 · AI 알약 필터는 폐기</a:t>
            </a:r>
            <a:endParaRPr lang="ko-KR" alt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83296" y="1600200"/>
            <a:ext cx="3557016" cy="3291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9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357616" y="1810512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4000" b="1" dirty="0">
                <a:solidFill>
                  <a:srgbClr val="12A0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alt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8357616" y="2606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12A0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v3</a:t>
            </a:r>
            <a:endParaRPr lang="ko-KR" alt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357616" y="29260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남는 기록과 로고</a:t>
            </a:r>
            <a:endParaRPr lang="ko-KR" alt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357616" y="39319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상태관리 수업에서 좋아요 · 도감 저장 · 로고 확정</a:t>
            </a:r>
            <a:endParaRPr lang="ko-KR" alt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ko-KR" sz="900">
                <a:solidFill>
                  <a:srgbClr val="9AA0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20</a:t>
            </a:fld>
            <a:endParaRPr lang="ko-KR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 Q&amp;A</a:t>
            </a:r>
            <a:endParaRPr lang="ko-KR" alt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 — 질문 받겠습니다</a:t>
            </a:r>
            <a:endParaRPr lang="ko-KR" alt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08660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9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8013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8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</a:t>
            </a:r>
            <a:endParaRPr lang="ko-KR" alt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0136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하필 hobbyDB를 바탕으로 골랐나요?</a:t>
            </a:r>
            <a:endParaRPr lang="ko-KR" alt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33172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ko-KR" altLang="en-US" sz="130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브랜드의 수집품을 한 앱에 모으는 거의 유일한 앱이라, 브랜드마다 흩어진 정보라는 제 문제에 가장 가깝습니다. 하지만 웹사이트 메뉴를 그대로 옮긴 구조라 "없는 기능 · 불편" 리뷰가 많아 다시 설계할 가치가 있었습니다.</a:t>
            </a:r>
            <a:endParaRPr lang="ko-KR" alt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708660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9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04672" y="4041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8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</a:t>
            </a:r>
            <a:endParaRPr lang="ko-KR" alt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404164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버전(v3)에서 가장 먼저 추가할 기능은?</a:t>
            </a:r>
            <a:endParaRPr lang="ko-KR" alt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457200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ko-KR" altLang="en-US" sz="130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좋아요 · 구매함 · 도감 기록 저장 (상태관리 수업에서)</a:t>
            </a:r>
            <a:endParaRPr lang="ko-KR" alt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ko-KR" altLang="en-US" sz="130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브랜드마다 흩어진 공식 예고를 자동으로 모으기</a:t>
            </a:r>
            <a:endParaRPr lang="ko-KR" alt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ko-KR" altLang="en-US" sz="130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실제 사진 인식 · 로고와 앱 아이콘 확정</a:t>
            </a:r>
            <a:endParaRPr lang="ko-KR" alt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01000" y="1600200"/>
            <a:ext cx="3639312" cy="4389120"/>
          </a:xfrm>
          <a:prstGeom prst="roundRect">
            <a:avLst>
              <a:gd name="adj" fmla="val 4020"/>
            </a:avLst>
          </a:prstGeom>
          <a:solidFill>
            <a:srgbClr val="F4F5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75320" y="18105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부록으로 바로 이동</a:t>
            </a:r>
            <a:endParaRPr lang="ko-KR" alt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08483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쇼에서 장 번호 + Enter</a:t>
            </a:r>
            <a:endParaRPr lang="ko-KR" alt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75320" y="2487168"/>
            <a:ext cx="3090672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200" y="2487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B1</a:t>
            </a:r>
            <a:endParaRPr lang="ko-KR" alt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006840" y="248716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및 스크린샷</a:t>
            </a:r>
            <a:endParaRPr lang="ko-KR" alt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607040" y="248716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23장</a:t>
            </a:r>
            <a:endParaRPr lang="ko-KR" alt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75320" y="3163824"/>
            <a:ext cx="3090672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458200" y="3163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</a:t>
            </a:r>
            <a:endParaRPr lang="ko-KR" alt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006840" y="316382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 카드 P01–P10</a:t>
            </a:r>
            <a:endParaRPr lang="ko-KR" alt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607040" y="316382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26장</a:t>
            </a:r>
            <a:endParaRPr lang="ko-KR" alt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75320" y="3840480"/>
            <a:ext cx="3090672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45820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B3</a:t>
            </a:r>
            <a:endParaRPr lang="ko-KR" alt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006840" y="3840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prompt-log</a:t>
            </a:r>
            <a:endParaRPr lang="ko-KR" alt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607040" y="38404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36장</a:t>
            </a:r>
            <a:endParaRPr lang="ko-KR" alt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75320" y="4517136"/>
            <a:ext cx="3090672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458200" y="45171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B4</a:t>
            </a:r>
            <a:endParaRPr lang="ko-KR" alt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006840" y="451713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자가평가 요약</a:t>
            </a:r>
            <a:endParaRPr lang="ko-KR" alt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0607040" y="45171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38장</a:t>
            </a:r>
            <a:endParaRPr lang="ko-KR" alt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75320" y="5193792"/>
            <a:ext cx="3090672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458200" y="5193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B5</a:t>
            </a:r>
            <a:endParaRPr lang="ko-KR" alt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006840" y="51937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상세 · 요소 분석</a:t>
            </a:r>
            <a:endParaRPr lang="ko-KR" alt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0607040" y="519379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39장</a:t>
            </a:r>
            <a:endParaRPr lang="ko-KR" alt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ko-KR" sz="900">
                <a:solidFill>
                  <a:srgbClr val="9AA0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21</a:t>
            </a:fld>
            <a:endParaRPr lang="ko-KR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</a:t>
            </a:r>
            <a:endParaRPr lang="ko-KR" alt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830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60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</a:t>
            </a:r>
            <a:endParaRPr lang="ko-KR" alt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8803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80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 6분에는 넘기지 않습니다.</a:t>
            </a:r>
            <a:endParaRPr lang="ko-KR" altLang="en-US" sz="1800" dirty="0"/>
          </a:p>
          <a:p>
            <a:pPr indent="0" marL="0">
              <a:buNone/>
            </a:pPr>
            <a:r>
              <a:rPr lang="ko-KR" altLang="en-US" sz="180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질문이 가리키는 장으로 바로 갑니다.</a:t>
            </a:r>
            <a:endParaRPr lang="ko-KR" alt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309360" y="1234440"/>
            <a:ext cx="5330952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537960" y="1234440"/>
            <a:ext cx="640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B1</a:t>
            </a:r>
            <a:endParaRPr lang="ko-KR" alt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223760" y="136245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및 스크린샷</a:t>
            </a:r>
            <a:endParaRPr lang="ko-KR" alt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16642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화면 · 3상태 · 적응형</a:t>
            </a:r>
            <a:endParaRPr lang="ko-KR" alt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0698480" y="1234440"/>
            <a:ext cx="777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2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23장</a:t>
            </a:r>
            <a:endParaRPr lang="ko-KR" alt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2167128"/>
            <a:ext cx="5330952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00000">
                <a:alpha val="9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37960" y="2167128"/>
            <a:ext cx="640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</a:t>
            </a:r>
            <a:endParaRPr lang="ko-KR" alt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229514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 카드 P01–P10</a:t>
            </a:r>
            <a:endParaRPr lang="ko-KR" alt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25968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 · 근거 · 적용 · 시연 · 판단</a:t>
            </a:r>
            <a:endParaRPr lang="ko-KR" alt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0698480" y="2167128"/>
            <a:ext cx="777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2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26장</a:t>
            </a:r>
            <a:endParaRPr lang="ko-KR" alt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3099816"/>
            <a:ext cx="5330952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00000">
                <a:alpha val="9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537960" y="3099816"/>
            <a:ext cx="640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B3</a:t>
            </a:r>
            <a:endParaRPr lang="ko-KR" alt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223760" y="32278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prompt-log</a:t>
            </a:r>
            <a:endParaRPr lang="ko-KR" alt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35295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요청 · 결과 · 내 판단 · 이유</a:t>
            </a:r>
            <a:endParaRPr lang="ko-KR" alt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0698480" y="3099816"/>
            <a:ext cx="777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2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36장</a:t>
            </a:r>
            <a:endParaRPr lang="ko-KR" alt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4032504"/>
            <a:ext cx="5330952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00000">
                <a:alpha val="9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537960" y="4032504"/>
            <a:ext cx="640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B4</a:t>
            </a:r>
            <a:endParaRPr lang="ko-KR" alt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41605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자가평가 요약</a:t>
            </a:r>
            <a:endParaRPr lang="ko-KR" alt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44622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배점 그대로</a:t>
            </a:r>
            <a:endParaRPr lang="ko-KR" alt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0698480" y="4032504"/>
            <a:ext cx="777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2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38장</a:t>
            </a:r>
            <a:endParaRPr lang="ko-KR" alt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09360" y="4965192"/>
            <a:ext cx="5330952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00000">
                <a:alpha val="9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537960" y="4965192"/>
            <a:ext cx="640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B5</a:t>
            </a:r>
            <a:endParaRPr lang="ko-KR" alt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223760" y="50932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상세</a:t>
            </a:r>
            <a:endParaRPr lang="ko-KR" alt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223760" y="53949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요약 · 저니 · 피쉬본 · 요소 분석 · 상태</a:t>
            </a:r>
            <a:endParaRPr lang="ko-KR" alt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10698480" y="4965192"/>
            <a:ext cx="777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2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39장</a:t>
            </a:r>
            <a:endParaRPr lang="ko-KR" alt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ko-KR" sz="900">
                <a:solidFill>
                  <a:srgbClr val="9AA0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22</a:t>
            </a:fld>
            <a:endParaRPr lang="ko-KR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B1 · 데모 및 스크린샷 1/3</a:t>
            </a:r>
            <a:endParaRPr lang="ko-KR" alt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탭 화면 — 요소 번호는 디자인 가이드 3장과 같다</a:t>
            </a:r>
            <a:endParaRPr lang="ko-KR" alt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892808"/>
            <a:ext cx="1759180" cy="3849624"/>
          </a:xfrm>
          <a:prstGeom prst="roundRect">
            <a:avLst>
              <a:gd name="adj" fmla="val 76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C:\Users\Windows11\AppData\Local\Temp\claude\C--Users-Windows11-Desktop-New-folder--2-\a0c8a1d0-32ba-4ae6-9843-b5ebc69d925f\scratchpad\deck2/img/home_n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1795756" cy="3886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1795756" cy="292608"/>
          </a:xfrm>
          <a:prstGeom prst="roundRect">
            <a:avLst>
              <a:gd name="adj" fmla="val 50000"/>
            </a:avLst>
          </a:prstGeom>
          <a:solidFill>
            <a:srgbClr val="1C86D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1481328"/>
            <a:ext cx="179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홈</a:t>
            </a:r>
            <a:endParaRPr lang="ko-KR" alt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5852160"/>
            <a:ext cx="18871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a_home_screen</a:t>
            </a:r>
            <a:endParaRPr lang="ko-KR" alt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423160" y="1892808"/>
            <a:ext cx="1759180" cy="3849624"/>
          </a:xfrm>
          <a:prstGeom prst="roundRect">
            <a:avLst>
              <a:gd name="adj" fmla="val 76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C:\Users\Windows11\AppData\Local\Temp\claude\C--Users-Windows11-Desktop-New-folder--2-\a0c8a1d0-32ba-4ae6-9843-b5ebc69d925f\scratchpad\deck2/img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872" y="1874520"/>
            <a:ext cx="1795756" cy="38862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404872" y="1481328"/>
            <a:ext cx="1795756" cy="292608"/>
          </a:xfrm>
          <a:prstGeom prst="roundRect">
            <a:avLst>
              <a:gd name="adj" fmla="val 50000"/>
            </a:avLst>
          </a:prstGeom>
          <a:solidFill>
            <a:srgbClr val="1C86D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2404872" y="1481328"/>
            <a:ext cx="179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· O 전체 상품</a:t>
            </a:r>
            <a:endParaRPr lang="ko-KR" alt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2359152" y="5852160"/>
            <a:ext cx="18871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b_search · o_see_all</a:t>
            </a:r>
            <a:endParaRPr lang="ko-KR" alt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279392" y="1892808"/>
            <a:ext cx="1759180" cy="3849624"/>
          </a:xfrm>
          <a:prstGeom prst="roundRect">
            <a:avLst>
              <a:gd name="adj" fmla="val 76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pic>
        <p:nvPicPr>
          <p:cNvPr id="15" name="Image 2" descr="C:\Users\Windows11\AppData\Local\Temp\claude\C--Users-Windows11-Desktop-New-folder--2-\a0c8a1d0-32ba-4ae6-9843-b5ebc69d925f\scratchpad\deck2/img/detail_nu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1874520"/>
            <a:ext cx="1795756" cy="38862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261104" y="1481328"/>
            <a:ext cx="1795756" cy="292608"/>
          </a:xfrm>
          <a:prstGeom prst="roundRect">
            <a:avLst>
              <a:gd name="adj" fmla="val 50000"/>
            </a:avLst>
          </a:prstGeom>
          <a:solidFill>
            <a:srgbClr val="1C86D9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4261104" y="1481328"/>
            <a:ext cx="179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 상품 상세</a:t>
            </a:r>
            <a:endParaRPr lang="ko-KR" alt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4215384" y="5852160"/>
            <a:ext cx="18871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d_kit_detail_screen</a:t>
            </a:r>
            <a:endParaRPr lang="ko-KR" alt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6135624" y="1892808"/>
            <a:ext cx="1759180" cy="3849624"/>
          </a:xfrm>
          <a:prstGeom prst="roundRect">
            <a:avLst>
              <a:gd name="adj" fmla="val 76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pic>
        <p:nvPicPr>
          <p:cNvPr id="20" name="Image 3" descr="C:\Users\Windows11\AppData\Local\Temp\claude\C--Users-Windows11-Desktop-New-folder--2-\a0c8a1d0-32ba-4ae6-9843-b5ebc69d925f\scratchpad\deck2/img/collec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336" y="1874520"/>
            <a:ext cx="1795756" cy="388620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117336" y="1481328"/>
            <a:ext cx="1795756" cy="292608"/>
          </a:xfrm>
          <a:prstGeom prst="roundRect">
            <a:avLst>
              <a:gd name="adj" fmla="val 50000"/>
            </a:avLst>
          </a:prstGeom>
          <a:solidFill>
            <a:srgbClr val="1C86D9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6117336" y="1481328"/>
            <a:ext cx="179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 컬렉션</a:t>
            </a:r>
            <a:endParaRPr lang="ko-KR" altLang="en-US" sz="1050" dirty="0"/>
          </a:p>
        </p:txBody>
      </p:sp>
      <p:sp>
        <p:nvSpPr>
          <p:cNvPr id="23" name="Text 17"/>
          <p:cNvSpPr txBox="1"/>
          <p:nvPr/>
        </p:nvSpPr>
        <p:spPr>
          <a:xfrm>
            <a:off x="6071616" y="5852160"/>
            <a:ext cx="18871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f_collection_screen</a:t>
            </a:r>
            <a:endParaRPr lang="ko-KR" alt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7991856" y="1892808"/>
            <a:ext cx="1759180" cy="3849624"/>
          </a:xfrm>
          <a:prstGeom prst="roundRect">
            <a:avLst>
              <a:gd name="adj" fmla="val 76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pic>
        <p:nvPicPr>
          <p:cNvPr id="25" name="Image 4" descr="C:\Users\Windows11\AppData\Local\Temp\claude\C--Users-Windows11-Desktop-New-folder--2-\a0c8a1d0-32ba-4ae6-9843-b5ebc69d925f\scratchpad\deck2/img/guide_nu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3568" y="1874520"/>
            <a:ext cx="1795756" cy="388620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7973568" y="1481328"/>
            <a:ext cx="1795756" cy="292608"/>
          </a:xfrm>
          <a:prstGeom prst="roundRect">
            <a:avLst>
              <a:gd name="adj" fmla="val 50000"/>
            </a:avLst>
          </a:prstGeom>
          <a:solidFill>
            <a:srgbClr val="1C86D9"/>
          </a:solidFill>
          <a:ln/>
        </p:spPr>
      </p:sp>
      <p:sp>
        <p:nvSpPr>
          <p:cNvPr id="27" name="Text 20"/>
          <p:cNvSpPr txBox="1"/>
          <p:nvPr/>
        </p:nvSpPr>
        <p:spPr>
          <a:xfrm>
            <a:off x="7973568" y="1481328"/>
            <a:ext cx="179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 도감</a:t>
            </a:r>
            <a:endParaRPr lang="ko-KR" altLang="en-US" sz="1050" dirty="0"/>
          </a:p>
        </p:txBody>
      </p:sp>
      <p:sp>
        <p:nvSpPr>
          <p:cNvPr id="28" name="Text 21"/>
          <p:cNvSpPr txBox="1"/>
          <p:nvPr/>
        </p:nvSpPr>
        <p:spPr>
          <a:xfrm>
            <a:off x="7927848" y="5852160"/>
            <a:ext cx="18871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g_guide_view</a:t>
            </a:r>
            <a:endParaRPr lang="ko-KR" alt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9848088" y="1892808"/>
            <a:ext cx="1759180" cy="3849624"/>
          </a:xfrm>
          <a:prstGeom prst="roundRect">
            <a:avLst>
              <a:gd name="adj" fmla="val 76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pic>
        <p:nvPicPr>
          <p:cNvPr id="30" name="Image 5" descr="C:\Users\Windows11\AppData\Local\Temp\claude\C--Users-Windows11-Desktop-New-folder--2-\a0c8a1d0-32ba-4ae6-9843-b5ebc69d925f\scratchpad\deck2/img/calend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00" y="1874520"/>
            <a:ext cx="1795756" cy="3886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9829800" y="1481328"/>
            <a:ext cx="1795756" cy="292608"/>
          </a:xfrm>
          <a:prstGeom prst="roundRect">
            <a:avLst>
              <a:gd name="adj" fmla="val 50000"/>
            </a:avLst>
          </a:prstGeom>
          <a:solidFill>
            <a:srgbClr val="1C86D9"/>
          </a:solidFill>
          <a:ln/>
        </p:spPr>
      </p:sp>
      <p:sp>
        <p:nvSpPr>
          <p:cNvPr id="32" name="Text 24"/>
          <p:cNvSpPr txBox="1"/>
          <p:nvPr/>
        </p:nvSpPr>
        <p:spPr>
          <a:xfrm>
            <a:off x="9829800" y="1481328"/>
            <a:ext cx="179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 캘린더</a:t>
            </a:r>
            <a:endParaRPr lang="ko-KR" altLang="en-US" sz="1050" dirty="0"/>
          </a:p>
        </p:txBody>
      </p:sp>
      <p:sp>
        <p:nvSpPr>
          <p:cNvPr id="33" name="Text 25"/>
          <p:cNvSpPr txBox="1"/>
          <p:nvPr/>
        </p:nvSpPr>
        <p:spPr>
          <a:xfrm>
            <a:off x="9784080" y="5852160"/>
            <a:ext cx="18871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h_calendar_screen</a:t>
            </a:r>
            <a:endParaRPr lang="ko-KR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ko-KR" sz="900">
                <a:solidFill>
                  <a:srgbClr val="9AA0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23</a:t>
            </a:fld>
            <a:endParaRPr lang="ko-KR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B1 · 데모 및 스크린샷 2/3</a:t>
            </a:r>
            <a:endParaRPr lang="ko-KR" alt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 화면 — 채널 · 친구 · 내 정보 · 알림 · 설정 · 카메라</a:t>
            </a:r>
            <a:endParaRPr lang="ko-KR" alt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892808"/>
            <a:ext cx="1484535" cy="3255264"/>
          </a:xfrm>
          <a:prstGeom prst="roundRect">
            <a:avLst>
              <a:gd name="adj" fmla="val 76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C:\Users\Windows11\AppData\Local\Temp\claude\C--Users-Windows11-Desktop-New-folder--2-\a0c8a1d0-32ba-4ae6-9843-b5ebc69d925f\scratchpad\deck2/img/chan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1521111" cy="3291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1521111" cy="292608"/>
          </a:xfrm>
          <a:prstGeom prst="roundRect">
            <a:avLst>
              <a:gd name="adj" fmla="val 50000"/>
            </a:avLst>
          </a:prstGeom>
          <a:solidFill>
            <a:srgbClr val="1C86D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1481328"/>
            <a:ext cx="15211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채널 관리</a:t>
            </a:r>
            <a:endParaRPr lang="ko-KR" alt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5257800"/>
            <a:ext cx="161255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c_channel_screen</a:t>
            </a:r>
            <a:endParaRPr lang="ko-KR" alt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157984" y="1892808"/>
            <a:ext cx="1484535" cy="3255264"/>
          </a:xfrm>
          <a:prstGeom prst="roundRect">
            <a:avLst>
              <a:gd name="adj" fmla="val 76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C:\Users\Windows11\AppData\Local\Temp\claude\C--Users-Windows11-Desktop-New-folder--2-\a0c8a1d0-32ba-4ae6-9843-b5ebc69d925f\scratchpad\deck2/img/draw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696" y="1874520"/>
            <a:ext cx="1521111" cy="32918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139696" y="1481328"/>
            <a:ext cx="1521111" cy="292608"/>
          </a:xfrm>
          <a:prstGeom prst="roundRect">
            <a:avLst>
              <a:gd name="adj" fmla="val 50000"/>
            </a:avLst>
          </a:prstGeom>
          <a:solidFill>
            <a:srgbClr val="1C86D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2139696" y="1481328"/>
            <a:ext cx="15211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 친구 서랍</a:t>
            </a:r>
            <a:endParaRPr lang="ko-KR" alt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2093976" y="5257800"/>
            <a:ext cx="161255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m_friends_drawer</a:t>
            </a:r>
            <a:endParaRPr lang="ko-KR" alt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749040" y="1892808"/>
            <a:ext cx="1484535" cy="3255264"/>
          </a:xfrm>
          <a:prstGeom prst="roundRect">
            <a:avLst>
              <a:gd name="adj" fmla="val 76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pic>
        <p:nvPicPr>
          <p:cNvPr id="15" name="Image 2" descr="C:\Users\Windows11\AppData\Local\Temp\claude\C--Users-Windows11-Desktop-New-folder--2-\a0c8a1d0-32ba-4ae6-9843-b5ebc69d925f\scratchpad\deck2/img/prof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0752" y="1874520"/>
            <a:ext cx="1521111" cy="32918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3730752" y="1481328"/>
            <a:ext cx="1521111" cy="292608"/>
          </a:xfrm>
          <a:prstGeom prst="roundRect">
            <a:avLst>
              <a:gd name="adj" fmla="val 50000"/>
            </a:avLst>
          </a:prstGeom>
          <a:solidFill>
            <a:srgbClr val="1C86D9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3730752" y="1481328"/>
            <a:ext cx="15211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 내 정보</a:t>
            </a:r>
            <a:endParaRPr lang="ko-KR" altLang="en-US" sz="950" dirty="0"/>
          </a:p>
        </p:txBody>
      </p:sp>
      <p:sp>
        <p:nvSpPr>
          <p:cNvPr id="18" name="Text 13"/>
          <p:cNvSpPr txBox="1"/>
          <p:nvPr/>
        </p:nvSpPr>
        <p:spPr>
          <a:xfrm>
            <a:off x="3685032" y="5257800"/>
            <a:ext cx="161255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i_profile_screen</a:t>
            </a:r>
            <a:endParaRPr lang="ko-KR" alt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5340096" y="1892808"/>
            <a:ext cx="1484535" cy="3255264"/>
          </a:xfrm>
          <a:prstGeom prst="roundRect">
            <a:avLst>
              <a:gd name="adj" fmla="val 76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pic>
        <p:nvPicPr>
          <p:cNvPr id="20" name="Image 3" descr="C:\Users\Windows11\AppData\Local\Temp\claude\C--Users-Windows11-Desktop-New-folder--2-\a0c8a1d0-32ba-4ae6-9843-b5ebc69d925f\scratchpad\deck2/img/frie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808" y="1874520"/>
            <a:ext cx="1521111" cy="329184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5321808" y="1481328"/>
            <a:ext cx="1521111" cy="292608"/>
          </a:xfrm>
          <a:prstGeom prst="roundRect">
            <a:avLst>
              <a:gd name="adj" fmla="val 50000"/>
            </a:avLst>
          </a:prstGeom>
          <a:solidFill>
            <a:srgbClr val="1C86D9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5321808" y="1481328"/>
            <a:ext cx="15211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 친구 컬렉션</a:t>
            </a:r>
            <a:endParaRPr lang="ko-KR" altLang="en-US" sz="950" dirty="0"/>
          </a:p>
        </p:txBody>
      </p:sp>
      <p:sp>
        <p:nvSpPr>
          <p:cNvPr id="23" name="Text 17"/>
          <p:cNvSpPr txBox="1"/>
          <p:nvPr/>
        </p:nvSpPr>
        <p:spPr>
          <a:xfrm>
            <a:off x="5276088" y="5257800"/>
            <a:ext cx="161255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l_friend_collection</a:t>
            </a:r>
            <a:endParaRPr lang="ko-KR" alt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6931152" y="1892808"/>
            <a:ext cx="1484535" cy="3255264"/>
          </a:xfrm>
          <a:prstGeom prst="roundRect">
            <a:avLst>
              <a:gd name="adj" fmla="val 76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pic>
        <p:nvPicPr>
          <p:cNvPr id="25" name="Image 4" descr="C:\Users\Windows11\AppData\Local\Temp\claude\C--Users-Windows11-Desktop-New-folder--2-\a0c8a1d0-32ba-4ae6-9843-b5ebc69d925f\scratchpad\deck2/img/noti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2864" y="1874520"/>
            <a:ext cx="1521111" cy="329184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6912864" y="1481328"/>
            <a:ext cx="1521111" cy="292608"/>
          </a:xfrm>
          <a:prstGeom prst="roundRect">
            <a:avLst>
              <a:gd name="adj" fmla="val 50000"/>
            </a:avLst>
          </a:prstGeom>
          <a:solidFill>
            <a:srgbClr val="1C86D9"/>
          </a:solidFill>
          <a:ln/>
        </p:spPr>
      </p:sp>
      <p:sp>
        <p:nvSpPr>
          <p:cNvPr id="27" name="Text 20"/>
          <p:cNvSpPr txBox="1"/>
          <p:nvPr/>
        </p:nvSpPr>
        <p:spPr>
          <a:xfrm>
            <a:off x="6912864" y="1481328"/>
            <a:ext cx="15211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 알림</a:t>
            </a:r>
            <a:endParaRPr lang="ko-KR" altLang="en-US" sz="950" dirty="0"/>
          </a:p>
        </p:txBody>
      </p:sp>
      <p:sp>
        <p:nvSpPr>
          <p:cNvPr id="28" name="Text 21"/>
          <p:cNvSpPr txBox="1"/>
          <p:nvPr/>
        </p:nvSpPr>
        <p:spPr>
          <a:xfrm>
            <a:off x="6867144" y="5257800"/>
            <a:ext cx="161255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n_notifications_screen</a:t>
            </a:r>
            <a:endParaRPr lang="ko-KR" alt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8522208" y="1892808"/>
            <a:ext cx="1484535" cy="3255264"/>
          </a:xfrm>
          <a:prstGeom prst="roundRect">
            <a:avLst>
              <a:gd name="adj" fmla="val 76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pic>
        <p:nvPicPr>
          <p:cNvPr id="30" name="Image 5" descr="C:\Users\Windows11\AppData\Local\Temp\claude\C--Users-Windows11-Desktop-New-folder--2-\a0c8a1d0-32ba-4ae6-9843-b5ebc69d925f\scratchpad\deck2/img/setting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1874520"/>
            <a:ext cx="1521111" cy="329184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8503920" y="1481328"/>
            <a:ext cx="1521111" cy="292608"/>
          </a:xfrm>
          <a:prstGeom prst="roundRect">
            <a:avLst>
              <a:gd name="adj" fmla="val 50000"/>
            </a:avLst>
          </a:prstGeom>
          <a:solidFill>
            <a:srgbClr val="1C86D9"/>
          </a:solidFill>
          <a:ln/>
        </p:spPr>
      </p:sp>
      <p:sp>
        <p:nvSpPr>
          <p:cNvPr id="32" name="Text 24"/>
          <p:cNvSpPr txBox="1"/>
          <p:nvPr/>
        </p:nvSpPr>
        <p:spPr>
          <a:xfrm>
            <a:off x="8503920" y="1481328"/>
            <a:ext cx="15211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 설정</a:t>
            </a:r>
            <a:endParaRPr lang="ko-KR" altLang="en-US" sz="950" dirty="0"/>
          </a:p>
        </p:txBody>
      </p:sp>
      <p:sp>
        <p:nvSpPr>
          <p:cNvPr id="33" name="Text 25"/>
          <p:cNvSpPr txBox="1"/>
          <p:nvPr/>
        </p:nvSpPr>
        <p:spPr>
          <a:xfrm>
            <a:off x="8458200" y="5257800"/>
            <a:ext cx="161255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k_settings_screen</a:t>
            </a:r>
            <a:endParaRPr lang="ko-KR" alt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10113264" y="1892808"/>
            <a:ext cx="1484535" cy="3255264"/>
          </a:xfrm>
          <a:prstGeom prst="roundRect">
            <a:avLst>
              <a:gd name="adj" fmla="val 76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pic>
        <p:nvPicPr>
          <p:cNvPr id="35" name="Image 6" descr="C:\Users\Windows11\AppData\Local\Temp\claude\C--Users-Windows11-Desktop-New-folder--2-\a0c8a1d0-32ba-4ae6-9843-b5ebc69d925f\scratchpad\deck2/img/camer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94976" y="1874520"/>
            <a:ext cx="1521111" cy="3291840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10094976" y="1481328"/>
            <a:ext cx="1521111" cy="292608"/>
          </a:xfrm>
          <a:prstGeom prst="roundRect">
            <a:avLst>
              <a:gd name="adj" fmla="val 50000"/>
            </a:avLst>
          </a:prstGeom>
          <a:solidFill>
            <a:srgbClr val="1C86D9"/>
          </a:solidFill>
          <a:ln/>
        </p:spPr>
      </p:sp>
      <p:sp>
        <p:nvSpPr>
          <p:cNvPr id="37" name="Text 28"/>
          <p:cNvSpPr txBox="1"/>
          <p:nvPr/>
        </p:nvSpPr>
        <p:spPr>
          <a:xfrm>
            <a:off x="10094976" y="1481328"/>
            <a:ext cx="15211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 찍어서 찾기</a:t>
            </a:r>
            <a:endParaRPr lang="ko-KR" altLang="en-US" sz="950" dirty="0"/>
          </a:p>
        </p:txBody>
      </p:sp>
      <p:sp>
        <p:nvSpPr>
          <p:cNvPr id="38" name="Text 29"/>
          <p:cNvSpPr txBox="1"/>
          <p:nvPr/>
        </p:nvSpPr>
        <p:spPr>
          <a:xfrm>
            <a:off x="10049256" y="5257800"/>
            <a:ext cx="161255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e_camera_screen</a:t>
            </a:r>
            <a:endParaRPr lang="ko-KR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ko-KR" sz="900">
                <a:solidFill>
                  <a:srgbClr val="9AA0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24</a:t>
            </a:fld>
            <a:endParaRPr lang="ko-KR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B1 · 데모 및 스크린샷 3/3</a:t>
            </a:r>
            <a:endParaRPr lang="ko-KR" alt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3상태 · 적응형 — 오류가 나면? 넓은 화면은?</a:t>
            </a:r>
            <a:endParaRPr lang="ko-KR" alt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892808"/>
            <a:ext cx="1759180" cy="3849624"/>
          </a:xfrm>
          <a:prstGeom prst="roundRect">
            <a:avLst>
              <a:gd name="adj" fmla="val 76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C:\Users\Windows11\AppData\Local\Temp\claude\C--Users-Windows11-Desktop-New-folder--2-\a0c8a1d0-32ba-4ae6-9843-b5ebc69d925f\scratchpad\deck2/img/loa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1795756" cy="3886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1795756" cy="292608"/>
          </a:xfrm>
          <a:prstGeom prst="roundRect">
            <a:avLst>
              <a:gd name="adj" fmla="val 50000"/>
            </a:avLst>
          </a:prstGeom>
          <a:solidFill>
            <a:srgbClr val="1C86D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1481328"/>
            <a:ext cx="179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로딩</a:t>
            </a:r>
            <a:endParaRPr lang="ko-KR" alt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5852160"/>
            <a:ext cx="18871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DEMO_STATE=loading</a:t>
            </a:r>
            <a:endParaRPr lang="ko-KR" alt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423160" y="1892808"/>
            <a:ext cx="1759180" cy="3849624"/>
          </a:xfrm>
          <a:prstGeom prst="roundRect">
            <a:avLst>
              <a:gd name="adj" fmla="val 76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C:\Users\Windows11\AppData\Local\Temp\claude\C--Users-Windows11-Desktop-New-folder--2-\a0c8a1d0-32ba-4ae6-9843-b5ebc69d925f\scratchpad\deck2/img/err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872" y="1874520"/>
            <a:ext cx="1795756" cy="38862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404872" y="1481328"/>
            <a:ext cx="1795756" cy="292608"/>
          </a:xfrm>
          <a:prstGeom prst="roundRect">
            <a:avLst>
              <a:gd name="adj" fmla="val 50000"/>
            </a:avLst>
          </a:prstGeom>
          <a:solidFill>
            <a:srgbClr val="1C86D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2404872" y="1481328"/>
            <a:ext cx="179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+ 다시 시도</a:t>
            </a:r>
            <a:endParaRPr lang="ko-KR" alt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2359152" y="5852160"/>
            <a:ext cx="18871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DEMO_STATE=error</a:t>
            </a:r>
            <a:endParaRPr lang="ko-KR" alt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279392" y="1892808"/>
            <a:ext cx="1759180" cy="3849624"/>
          </a:xfrm>
          <a:prstGeom prst="roundRect">
            <a:avLst>
              <a:gd name="adj" fmla="val 76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pic>
        <p:nvPicPr>
          <p:cNvPr id="15" name="Image 2" descr="C:\Users\Windows11\AppData\Local\Temp\claude\C--Users-Windows11-Desktop-New-folder--2-\a0c8a1d0-32ba-4ae6-9843-b5ebc69d925f\scratchpad\deck2/img/empt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1874520"/>
            <a:ext cx="1795756" cy="38862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261104" y="1481328"/>
            <a:ext cx="1795756" cy="292608"/>
          </a:xfrm>
          <a:prstGeom prst="roundRect">
            <a:avLst>
              <a:gd name="adj" fmla="val 50000"/>
            </a:avLst>
          </a:prstGeom>
          <a:solidFill>
            <a:srgbClr val="1C86D9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4261104" y="1481328"/>
            <a:ext cx="179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상태</a:t>
            </a:r>
            <a:endParaRPr lang="ko-KR" alt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4215384" y="5852160"/>
            <a:ext cx="18871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DEMO_STATE=empty</a:t>
            </a:r>
            <a:endParaRPr lang="ko-KR" alt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6309360" y="1481328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6309360" y="14813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가로 폰 — 측면 탭 (S-5)</a:t>
            </a:r>
            <a:endParaRPr lang="ko-KR" alt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327648" y="1892808"/>
            <a:ext cx="4535424" cy="2076078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pic>
        <p:nvPicPr>
          <p:cNvPr id="22" name="Image 3" descr="C:\Users\Windows11\AppData\Local\Temp\claude\C--Users-Windows11-Desktop-New-folder--2-\a0c8a1d0-32ba-4ae6-9843-b5ebc69d925f\scratchpad\deck2/img/landscap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874520"/>
            <a:ext cx="4572000" cy="2112654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309360" y="411480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6309360" y="41148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폴드 · 넓은 창 — 반반 (S-12)</a:t>
            </a:r>
            <a:endParaRPr lang="ko-KR" alt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6327648" y="4526280"/>
            <a:ext cx="1888302" cy="1563624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pic>
        <p:nvPicPr>
          <p:cNvPr id="26" name="Image 4" descr="C:\Users\Windows11\AppData\Local\Temp\claude\C--Users-Windows11-Desktop-New-folder--2-\a0c8a1d0-32ba-4ae6-9843-b5ebc69d925f\scratchpad\deck2/img/f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4507992"/>
            <a:ext cx="1924878" cy="160020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8385048" y="4526280"/>
            <a:ext cx="2523744" cy="1563624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pic>
        <p:nvPicPr>
          <p:cNvPr id="28" name="Image 5" descr="C:\Users\Windows11\AppData\Local\Temp\claude\C--Users-Windows11-Desktop-New-folder--2-\a0c8a1d0-32ba-4ae6-9843-b5ebc69d925f\scratchpad\deck2/img/wid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4507992"/>
            <a:ext cx="2560320" cy="160020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0954512" y="1920240"/>
            <a:ext cx="685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844×390</a:t>
            </a:r>
            <a:endParaRPr lang="ko-KR" altLang="en-US" sz="950" dirty="0"/>
          </a:p>
        </p:txBody>
      </p:sp>
      <p:sp>
        <p:nvSpPr>
          <p:cNvPr id="30" name="Text 22"/>
          <p:cNvSpPr txBox="1"/>
          <p:nvPr/>
        </p:nvSpPr>
        <p:spPr>
          <a:xfrm>
            <a:off x="6309360" y="614476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830×690 · 1280×800 — test/layout_test.dart 7가지 크기에서 넘침 0</a:t>
            </a:r>
            <a:endParaRPr lang="ko-KR" alt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ko-KR" sz="900">
                <a:solidFill>
                  <a:srgbClr val="9AA0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25</a:t>
            </a:fld>
            <a:endParaRPr lang="ko-KR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B2 · 원칙 카드 1/10</a:t>
            </a:r>
            <a:endParaRPr lang="ko-KR" alt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8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P01  </a:t>
            </a:r>
            <a:pPr indent="0" marL="0">
              <a:buNone/>
            </a:pPr>
            <a:r>
              <a:rPr lang="ko-KR" alt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상태의 가시성</a:t>
            </a:r>
            <a:endParaRPr lang="ko-KR" altLang="en-US" sz="2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2952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원칙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닐슨 1 — 지금 무슨 일이 일어나는지 늘 알려 준다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2025.07.28 ★3 "PLEASE FIX THE SCANNER" — 스캐너가 멈춰도 앱이 아무것도 알려 주지 않는다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E-4 "AI가 비교하는 중…" · E-6 일치도 막대 · G-4a Lv 막대(다음 레벨까지 n점) · N-3 안 읽음 점 · 모든 GET 화면 LoadingView — 코드 // E-4 P01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시연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카메라 → 찍기 → "비교하는 중…" → 일치도 94%  (p01.mp4)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B86E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돌아가는 원만 보여 주기 — 버림: 무엇을 하는 중인지 모른다. 문구 + 결과 일치도로 바꿈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ko-KR" sz="900">
                <a:solidFill>
                  <a:srgbClr val="9AA0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26</a:t>
            </a:fld>
            <a:endParaRPr lang="ko-KR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B2 · 원칙 카드 2/10</a:t>
            </a:r>
            <a:endParaRPr lang="ko-KR" alt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8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P02  </a:t>
            </a:r>
            <a:pPr indent="0" marL="0">
              <a:buNone/>
            </a:pPr>
            <a:r>
              <a:rPr lang="ko-KR" alt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시스템과 실세계의 일치</a:t>
            </a:r>
            <a:endParaRPr lang="ko-KR" altLang="en-US" sz="2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2952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원칙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닐슨 2 — 사용자가 아는 말 · 물건 · 순서로 보여 준다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캡처: 미국 경매가(달러) 위주, 일본 정가 · 원래 이름이 없다 / 잘된 점: 상자 사진 · 품번은 그대로 가져감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D-4 일본어 원래 이름 · D-5 "일본 정가" ¥ · D-2 공식 사진 · A-3 공식 예고 이미지 그대로 · 건담 작품명은 영어 공식명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시연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상세 → 일본어 이름 → "일본 정가" → 국내 시세 한 줄  (p02.mp4)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B86E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정가를 원화로 바꿔 보여 주기 — 버림: 환율 계산은 "실제 계산"이고 매장 가격표와 달라진다(p27). 작품명 한글 줄임말 — 버림(p25)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ko-KR" sz="900">
                <a:solidFill>
                  <a:srgbClr val="9AA0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27</a:t>
            </a:fld>
            <a:endParaRPr lang="ko-KR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B2 · 원칙 카드 3/10</a:t>
            </a:r>
            <a:endParaRPr lang="ko-KR" alt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8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P03  </a:t>
            </a:r>
            <a:pPr indent="0" marL="0">
              <a:buNone/>
            </a:pPr>
            <a:r>
              <a:rPr lang="ko-KR" alt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통제와 자유</a:t>
            </a:r>
            <a:endParaRPr lang="ko-KR" altLang="en-US" sz="28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2952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원칙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닐슨 3 — 실수했을 때 쉽게 되돌아갈 비상구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2023.04.18 ★5 "the layout is a pain" — 누를 때마다 다른 창 · 2025.08.08 ★1 — 원치 않게 처음 화면으로 튕김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켜고 끄기 토스트에 "되돌리기" · F-10 휴지통 · S-6 IndexedStack(탭을 바꿔도 보던 자리) · 전체 목록 = 같은 탭 안 보기 + ‹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시연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편집 → 2개 삭제 → 휴지통 배지 → 복원  (p03.mp4)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B86E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삭제 전 확인만 묻기 — 부족: 확인 뒤엔 방법이 없다 → 휴지통(p13). 전체 목록을 새 화면으로 — 버림 → 탭 안 보기(p20)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ko-KR" sz="900">
                <a:solidFill>
                  <a:srgbClr val="9AA0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28</a:t>
            </a:fld>
            <a:endParaRPr lang="ko-KR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B2 · 원칙 카드 4/10</a:t>
            </a:r>
            <a:endParaRPr lang="ko-KR" alt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8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P04  </a:t>
            </a:r>
            <a:pPr indent="0" marL="0">
              <a:buNone/>
            </a:pPr>
            <a:r>
              <a:rPr lang="ko-KR" alt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일관성과 표준</a:t>
            </a:r>
            <a:endParaRPr lang="ko-KR" altLang="en-US" sz="2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2952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원칙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닐슨 4 — 같은 것은 어디서나 같은 모양 · 같은 말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2023.11.23 ★5 "쇼케이스와 컬렉션의 차이를 모르겠다" — 비슷한 기능이 다른 이름 · 모양으로 흩어져 있다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모양 둘: ♡ = 좋아요, 리본 = 구매함(A-9 · G-4b · D-6) · 색 둘: 파랑 = 고름, 민트 = 가진 것(S-15) · 앱 전체 한 벌(S-16 MarksHost)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시연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홈 ♡ → 컬렉션 좋아요 +1 → 상세 ♡ 켜짐  (p04.mp4)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B86E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화면마다 다른 표시 — 버림: AI 반론 "같은 행동이 3–4가지 모양"(쟁점 1) → 하나로(p26). 파랑 하나로 모든 상태 — 버림(쟁점 2)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ko-KR" sz="900">
                <a:solidFill>
                  <a:srgbClr val="9AA0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29</a:t>
            </a:fld>
            <a:endParaRPr lang="ko-KR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B2 · 원칙 카드 5/10</a:t>
            </a:r>
            <a:endParaRPr lang="ko-KR" alt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8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P05  </a:t>
            </a:r>
            <a:pPr indent="0" marL="0">
              <a:buNone/>
            </a:pPr>
            <a:r>
              <a:rPr lang="ko-KR" alt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예방</a:t>
            </a:r>
            <a:endParaRPr lang="ko-KR" altLang="en-US" sz="28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2952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원칙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닐슨 5 — 실수가 일어나기 전에 막는다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2025.08.08 ★1 — 원치 않는 새로고침 · 리셋, 사용자가 의도하지 않은 큰 변화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F-7 여러 개 삭제 · D-12 오류 제보 · K-5 로그아웃 → 확인 대화상자 · G-5c 그 기체가 찍힌 사진이어야 켜짐 · 맞는 상품 0이면 필터 적용 잠김(O-2)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시연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도감 기체 → 내 사진 → 다른 사진 → "찾지 못했어요" → 맞는 사진 → 인증  (p05.mp4)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B86E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"내 사진으로" 한 번에 점등 — 버림: "사진에 그 기체가 있어야 켜져야"(p09) → 사진 고르기 + 판정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ko-KR" sz="900">
                <a:solidFill>
                  <a:srgbClr val="9AA0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30</a:t>
            </a:fld>
            <a:endParaRPr lang="ko-KR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B2 · 원칙 카드 6/10</a:t>
            </a:r>
            <a:endParaRPr lang="ko-KR" alt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8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P06  </a:t>
            </a:r>
            <a:pPr indent="0" marL="0">
              <a:buNone/>
            </a:pPr>
            <a:r>
              <a:rPr lang="ko-KR" alt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기억보다 재인</a:t>
            </a:r>
            <a:endParaRPr lang="ko-KR" altLang="en-US" sz="28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2952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원칙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닐슨 6 — 외우지 않아도 보고 고를 수 있게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2023.11.23 ★5 — 오래 썼지만 인터페이스를 익히기 어렵다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늘 보이는 내 채널 바(C-1) · 밑줄 탭(F-2 · N-1) · 검색창을 누르면 최근 · 인기 검색어 · AI 예시 문장(B-3~B-5) · 필터 패널 체크 목록(O-2)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시연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 탭(전체 상품) → 검색창 → 최근 검색 → 결과  (p06.mp4)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B86E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필터를 알약 줄로 — 버림: "상태가 아니라 작품별로" → 오른쪽 패널(p21). 검색 첫 화면 = 최근 · 인기 판 — 버림(p22)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ko-KR" sz="900">
                <a:solidFill>
                  <a:srgbClr val="9AA0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31</a:t>
            </a:fld>
            <a:endParaRPr lang="ko-KR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B2 · 원칙 카드 7/10</a:t>
            </a:r>
            <a:endParaRPr lang="ko-KR" alt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8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P07  </a:t>
            </a:r>
            <a:pPr indent="0" marL="0">
              <a:buNone/>
            </a:pPr>
            <a:r>
              <a:rPr lang="ko-KR" alt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사용의 유연성과 효율성</a:t>
            </a:r>
            <a:endParaRPr lang="ko-KR" altLang="en-US" sz="28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2952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원칙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닐슨 7 — 익숙한 사람은 지름길로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2025.11.30 ★1 — 시세를 한 달 10번만 볼 수 있게 막았다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사진 위 ♡ · 리본 바로 누르기(A-9 · G-4b) · 탭 바 가운데 카메라(S-4) · 국내 시세 한 줄, 횟수 제한 없음(D-5b) · 내 정보 숫자 → 그 목록(I-4)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시연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홈 카드 리본 한 번 → ✓ (상세에 들어가지 않고)  (p07.mp4)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B86E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시세를 "시장가" 칸 + 국내 시세 칸 두 곳에 — 버림: "겹친다" → 정가 아래 한 줄 + 누르면 시트(p08)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ko-KR" sz="900">
                <a:solidFill>
                  <a:srgbClr val="9AA0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32</a:t>
            </a:fld>
            <a:endParaRPr lang="ko-KR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B2 · 원칙 카드 8/10</a:t>
            </a:r>
            <a:endParaRPr lang="ko-KR" alt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8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P08  </a:t>
            </a:r>
            <a:pPr indent="0" marL="0">
              <a:buNone/>
            </a:pPr>
            <a:r>
              <a:rPr lang="ko-KR" alt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미학적이고 미니멀한 디자인</a:t>
            </a:r>
            <a:endParaRPr lang="ko-KR" altLang="en-US" sz="28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2952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원칙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닐슨 8 — 지금 필요 없는 정보는 뺀다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2023.04.18 ★5 "the layout is a pain" · 2025.11.30 ★1 "TOO MANY ADS ON ONE SCREEN"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흑백 + 포인트 두 색 · 글자 6단계(S-15) · 홈 줄은 사진 + 이름만(A-6) · 스크롤하면 탭 바 · 아바타 줄 접힘(S-8 · S-13) · 광고 없음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시연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홈을 내려 읽으면 위 · 아래가 접힘  (p08.mp4)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B86E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큰 검정 바탕 + 흰 글자 면 — 버림(흰 바탕 위 떠 있는 버튼). 장식 많은 로고 — 버림: 작은 아이콘에서 뭉개짐(로고 보류)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ko-KR" sz="900">
                <a:solidFill>
                  <a:srgbClr val="9AA0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33</a:t>
            </a:fld>
            <a:endParaRPr lang="ko-KR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B2 · 원칙 카드 9/10</a:t>
            </a:r>
            <a:endParaRPr lang="ko-KR" alt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8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P09  </a:t>
            </a:r>
            <a:pPr indent="0" marL="0">
              <a:buNone/>
            </a:pPr>
            <a:r>
              <a:rPr lang="ko-KR" alt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인식 · 진단 · 복구 돕기</a:t>
            </a:r>
            <a:endParaRPr lang="ko-KR" altLang="en-US" sz="28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2952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원칙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닐슨 9 — 무엇이 잘못됐는지 말하고 빠져나갈 길을 준다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2021.03.22 ★2 — 목록에 없는 상품을 추가 · 오류 표시할 방법이 없다 · 2023.11.23 — 일반판이 자주 빠져 있다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GET 화면 ErrorView + "다시 시도" · 빈 상태 + 빠져나갈 길(F-9 "검색하러 가기", O-8 "필터 초기화") · D-12 정보 오류 제보 · E-9 다시 찍기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시연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DEMO_STATE=error → 오류 안내 → 다시 시도  (p09.mp4)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B86E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토스트로만 "불러오기 실패" — 버림: 몇 초 뒤 사라지면 다음 행동을 모른다 → 화면에 남는 ErrorView + 버튼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ko-KR" sz="900">
                <a:solidFill>
                  <a:srgbClr val="9AA0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34</a:t>
            </a:fld>
            <a:endParaRPr lang="ko-KR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B2 · 원칙 카드 10/10</a:t>
            </a:r>
            <a:endParaRPr lang="ko-KR" alt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8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P10  </a:t>
            </a:r>
            <a:pPr indent="0" marL="0">
              <a:buNone/>
            </a:pPr>
            <a:r>
              <a:rPr lang="ko-KR" alt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도움말과 문서</a:t>
            </a:r>
            <a:endParaRPr lang="ko-KR" altLang="en-US" sz="28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2952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원칙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닐슨 10 — 필요할 때 그 자리에서 짧게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2021.09.17 ★3 — 시세가 어디서 나온 값인지 모르겠다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G-2 도감 읽는 법(? → 4단계 · 점수) · D-5b 국내 시세 "거래 n건" + 플랫폼 3곳 · J-5 "공식으로 가기"(출처) · B-5 "말로 설명해서 찾기" 예시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시연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작품 도감 → ? → 도감 읽는 법 시트  (p10.mp4)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300" b="1" dirty="0">
                          <a:solidFill>
                            <a:srgbClr val="B86E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위 긴 범례 줄 — 버림: "긴 줄 대신 ? 아이콘"(p12). 시세 출처를 문장으로 길게 — 버림: 거래 건수 + 플랫폼 이름만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ko-KR" sz="900">
                <a:solidFill>
                  <a:srgbClr val="9AA0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35</a:t>
            </a:fld>
            <a:endParaRPr lang="ko-KR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B3 · prompt-log 1/2</a:t>
            </a:r>
            <a:endParaRPr lang="ko-KR" alt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맡긴 일과 나의 판단</a:t>
            </a:r>
            <a:endParaRPr lang="ko-KR" altLang="en-US" sz="28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2971800"/>
                <a:gridCol w="2743200"/>
                <a:gridCol w="731520"/>
                <a:gridCol w="3255264"/>
                <a:gridCol w="7315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날짜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 (지문 요약)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결과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이유 (원칙 · 리뷰 · 커밋)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10/24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 (ChatGPT) 기존 Gunpula · hobbyDB 화면의 문제를 비판해 달라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메뉴 과다 · 정보 흩어짐 · 화면마다 다른 조작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수정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그대로 따르지 않고 "아래 탭 + 위 채널 바"로 다시 설계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P06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10/24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아래 탭을 무엇으로 나눌지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캘린더 · 컬렉션, 도감은 컬렉션 안 보기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12A07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수용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저니 ⑤ 모은 것 보기를 컬렉션 안에 — 탭 수 줄이기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P06 P08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10/24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홈 레이아웃 시안 여러 개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매거진형 · 목록형 등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수정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PS Store · IMDb 참고 → "배너 + 가로 줄"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P08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10/25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홈 · 검색 검색창이 다르다, 재사용 안 된 것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GpSearchBar 하나로 · 중복 7종 공용 위젯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12A07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수용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것은 같은 모양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P04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10/25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상세의 "시장가"와 "국내 시세"가 겹친다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정가 아래 시세 한 줄 + 시트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12A07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수용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정보 두 번 = 미니멀 위반 (p08)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P07 P08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10/25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도감을 내 사진으로 켜고 싶다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"내 사진으로" 토글 한 번에 점등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수정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 기체가 찍힌 사진이어야 → 사진 고르기 + 판정 (p09)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P05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10/25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좋아요 · 구매함 표시를 IMDb 처럼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사진 왼쪽 위 리본 · 아래 ♡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12A07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수용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상세에 들어가지 않고 바로 담기 (p14)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P07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10/25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친구 화면을 QQ 옆 서랍처럼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아바타 → 서랍 → 내 정보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12A07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수용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친구 목록을 한 곳에 (p16 · p17)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P07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10/25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홈 "›" 전체 목록 화면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화면 + 좋아요/구매함 알약 거르기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B86E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폐기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홈 머리 아래 · 작품별로 → 탭 안 보기 + 필터 패널 (p20 · p21)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P03 P06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10/25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 탭 첫 화면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"전체 상품 둘러보기" 카드 + 최근 · 인기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수정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= 전체 상품, 검색창을 누르면 판 (p22)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P06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19963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= AI에게 반론을 요청한 줄 (셀프 논증의 증거)  ·  수용 = 그대로 · 수정 = 고쳐서 · 폐기 = 버림  ·  원본 docs/prompt-log.md</a:t>
            </a:r>
            <a:endParaRPr lang="ko-KR" alt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ko-KR" sz="900">
                <a:solidFill>
                  <a:srgbClr val="9AA0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36</a:t>
            </a:fld>
            <a:endParaRPr lang="ko-KR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B3 · prompt-log 2/2</a:t>
            </a:r>
            <a:endParaRPr lang="ko-KR" alt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맡긴 일과 나의 판단</a:t>
            </a:r>
            <a:endParaRPr lang="ko-KR" altLang="en-US" sz="28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2971800"/>
                <a:gridCol w="2743200"/>
                <a:gridCol w="731520"/>
                <a:gridCol w="3255264"/>
                <a:gridCol w="7315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날짜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 (지문 요약)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결과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이유 (원칙 · 리뷰 · 커밋)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10/25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정렬 메뉴가 앱과 안 어울림 · 비율 문제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바텀 시트 · 측면 탭 · 7가지 크기 테스트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12A07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수용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적응형 = 창 너비 기준, 넘침 0 확인 (p23)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P04 P08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10/25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폴드처럼 반반 화면 — 의견 먼저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목록-상세만 반반, 홈 제외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수정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QQ처럼 왼쪽 = 폰 화면 전체 (p24)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P07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10/25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 UI 설계에 어떤 문제가 있는지 지적해 달라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13가지: 표시 모양 3–4종 · 파랑 과다 · 위쪽 높이 · 동기화 …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수정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로고만 보류, 12개 반영 — 셀프 논증 쟁점 1–5 (p25–p32)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P04 P08 P01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10/25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로고 디자인 (원형 아카이브 · 명품 로고 참고)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시안 4차례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B86E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폐기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고급스럽지 않음 → 로고는 다음 단계로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P08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10/26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반반 화면 선택 표시를 ValueNotifier 로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동작함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수정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"setState 만" → 맨 위 setState + InheritedWidget (p33)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10/26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좋아요 · 구매함이 화면마다 따로 바뀜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맨 위 MarksHost(setState)로 한 벌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12A07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수용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패키지 없이 setState 를 위로 · 저장 안 함 (p31)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P04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10/26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디자인 가이드를 지금 코드와 맞게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대응표 → 요소표 생성기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12A07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수용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"기획과 일치" — 번호 · 명칭이 코드와 같게 (p34)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10/26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제출물 준비 (README · 스크린샷 · 문서)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스크린샷 생성 · 리뷰 확인 · 초안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수정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셀프 논증 · 자가 점수는 내가 확인 후 확정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10/26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앱 스크린샷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이메일이 보이는 이미지 제외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수정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개인정보 사용 금지 (안내문 5장)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77900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= AI에게 반론을 요청한 줄 (셀프 논증의 증거)  ·  수용 = 그대로 · 수정 = 고쳐서 · 폐기 = 버림  ·  원본 docs/prompt-log.md</a:t>
            </a:r>
            <a:endParaRPr lang="ko-KR" alt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ko-KR" sz="900">
                <a:solidFill>
                  <a:srgbClr val="9AA0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37</a:t>
            </a:fld>
            <a:endParaRPr lang="ko-KR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B4 · 자가평가 요약 (제출 전 점검)</a:t>
            </a:r>
            <a:endParaRPr lang="ko-KR" alt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배점 그대로 — 근거 위치를 모두 채웠다</a:t>
            </a:r>
            <a:endParaRPr lang="ko-KR" altLang="en-US" sz="28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148840"/>
                <a:gridCol w="777240"/>
                <a:gridCol w="3657600"/>
                <a:gridCol w="2606040"/>
                <a:gridCol w="71323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세부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배점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확인할 것 (안내문 문구)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위치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자가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분석 · 리뷰 근거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잘된 점 원칙 번호 · 별점 분포 · 인용 · 유형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05–07장 · docs/기획.md 1장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9AA0A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 / 10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 요약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 · 퍼소나 · 문제 · v2 핵심 가치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03 · 05 · 08장 · B5-1 (39장)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9AA0A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 / 5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저니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 · 단계별 리뷰 · 감정 최저점 · 확장 4줄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08–09장 · B5-2 (40장)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9AA0A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 / 8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피쉬본 · 5 Why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여섯 시각 · 우선순위 1개 · 근본 원인까지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09장 · B5-3 (41장)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9AA0A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 / 5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 분석 · 기준 · 가이드 글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 · 위젯명 · 비즈니스 명칭 · 명칭 일관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10–15장 · B5-4 (42–44장)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9AA0A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 / 8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상태관리 포인트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바뀌는 데이터 → 위젯 · 구현 안 함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18장 · B5-5 (45장) · STATE 74곳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9AA0A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 / 4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셀프 논증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주장 · 반론 · 결론 · 전후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쟁점마다 주장 · AI 반론 · 재반론 · 결론 · 근거 · 전후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16–17장 · B3 · docs/셀프논증.md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9AA0A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 / 20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구현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일치 · 기능 · 3상태 · 적응형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전환 · 임의 결과 · GET · 로딩/오류/빈 · 넓은 화면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18–19장 · B1 · 테스트 53개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9AA0A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 / 25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발표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6분 · 데모 · 질의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리허설 6분 이내 · 데모 · 질의 2분에 부록으로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리허설 기록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9AA0A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 / 15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가산 · 감점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Vercel · 감점 항목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+5 / −5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배포 URL(선택) · 감점 항목 없음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GitHub Pages + Vercel 목업 서버 · grep 결과 없음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12A07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+5 −0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가산 · 감점 반영 전후 모두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9AA0A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 / 100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14476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점수는 강사가 안내문 7장 배점 안에서 매긴다 — 이 표는 빠진 칸을 찾는 점검 도구, 자가 칸은 제출 전에 직접 채운다</a:t>
            </a:r>
            <a:endParaRPr lang="ko-KR" alt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ko-KR" sz="900">
                <a:solidFill>
                  <a:srgbClr val="9AA0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38</a:t>
            </a:fld>
            <a:endParaRPr lang="ko-KR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B5-1 · 기획 상세 — 사업 요약</a:t>
            </a:r>
            <a:endParaRPr lang="ko-KR" alt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민준의 흩어진 소식 · 기록을 한 앱으로</a:t>
            </a:r>
            <a:endParaRPr lang="ko-KR" alt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40680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9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68249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ko-KR" alt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29968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ko-KR" altLang="en-US" sz="12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 IP의 새 소식과 내 컬렉션을 한 앱에서</a:t>
            </a:r>
            <a:endParaRPr lang="ko-KR" alt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ko-KR" altLang="en-US" sz="125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소식 → 기록까지: 브랜드 공식 사이트 10곳 + 중고 앱 → 1곳</a:t>
            </a:r>
            <a:endParaRPr lang="ko-KR" alt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ko-KR" altLang="en-US" sz="125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구매함 기록: 상세에 들어가서 → 사진 위 리본 1번</a:t>
            </a:r>
            <a:endParaRPr lang="ko-KR" alt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ko-KR" altLang="en-US" sz="125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시세 보기 제한: 한 달 10번 → 없음</a:t>
            </a:r>
            <a:endParaRPr lang="ko-KR" alt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99632" y="1481328"/>
            <a:ext cx="5440680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73952" y="1783080"/>
            <a:ext cx="822960" cy="822960"/>
          </a:xfrm>
          <a:prstGeom prst="ellipse">
            <a:avLst/>
          </a:prstGeom>
          <a:solidFill>
            <a:srgbClr val="1C86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73952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</a:t>
            </a:r>
            <a:endParaRPr lang="ko-KR" alt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498080" y="1737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사용자 — 퍼소나</a:t>
            </a:r>
            <a:endParaRPr lang="ko-KR" alt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202996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민준 · 23 · 대학생 · 수집 4년차</a:t>
            </a:r>
            <a:endParaRPr lang="ko-KR" alt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2395728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ko-KR" altLang="en-US" sz="115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건프라 · 베이블레이드 X · 포켓몬 피규어</a:t>
            </a:r>
            <a:endParaRPr lang="ko-KR" alt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5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소식은 공식 X · 유튜브, 가격은 중고 앱에서 따로</a:t>
            </a:r>
            <a:endParaRPr lang="ko-KR" alt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5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중엔 폰으로 소식, 매장에서 바로 확인</a:t>
            </a:r>
            <a:endParaRPr lang="ko-KR" alt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15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동생과 같은 방 — 겹쳐 사는 일이 생긴다</a:t>
            </a:r>
            <a:endParaRPr lang="ko-KR" alt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904488"/>
            <a:ext cx="5440680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9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2960" y="410565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해결할 문제</a:t>
            </a:r>
            <a:endParaRPr lang="ko-KR" alt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453128"/>
            <a:ext cx="4892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ko-KR" altLang="en-US" sz="12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정보가 흩어져 있다</a:t>
            </a:r>
            <a:pPr indent="0" marL="0">
              <a:spcAft>
                <a:spcPts val="500"/>
              </a:spcAft>
              <a:buNone/>
            </a:pPr>
            <a:r>
              <a:rPr lang="ko-KR" altLang="en-US" sz="125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브랜드마다 따로: 호비 사이트 · TAMASHII · 프리미엄 반다이 · KOTOBUKIYA …</a:t>
            </a:r>
            <a:endParaRPr lang="ko-KR" alt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ko-KR" altLang="en-US" sz="12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익히기 어렵다</a:t>
            </a:r>
            <a:pPr indent="0" marL="0">
              <a:spcAft>
                <a:spcPts val="500"/>
              </a:spcAft>
              <a:buNone/>
            </a:pPr>
            <a:r>
              <a:rPr lang="ko-KR" altLang="en-US" sz="125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웹 메뉴 구조, 창이 따로 열림</a:t>
            </a:r>
            <a:endParaRPr lang="ko-KR" alt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ko-KR" altLang="en-US" sz="12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막히면 떠난다</a:t>
            </a:r>
            <a:pPr indent="0" marL="0">
              <a:spcAft>
                <a:spcPts val="500"/>
              </a:spcAft>
              <a:buNone/>
            </a:pPr>
            <a:r>
              <a:rPr lang="ko-KR" altLang="en-US" sz="125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스캐너 멈춤 · 광고 · 시세 제한</a:t>
            </a:r>
            <a:endParaRPr lang="ko-KR" alt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ko-KR" altLang="en-US" sz="12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나눌 곳이 없다</a:t>
            </a:r>
            <a:pPr indent="0" marL="0">
              <a:spcAft>
                <a:spcPts val="500"/>
              </a:spcAft>
              <a:buNone/>
            </a:pPr>
            <a:r>
              <a:rPr lang="ko-KR" altLang="en-US" sz="125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동생과 겹쳐 사고, 보여 줄 곳이 없다</a:t>
            </a:r>
            <a:endParaRPr lang="ko-KR" alt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99632" y="3904488"/>
            <a:ext cx="5440680" cy="2377440"/>
          </a:xfrm>
          <a:prstGeom prst="roundRect">
            <a:avLst>
              <a:gd name="adj" fmla="val 5385"/>
            </a:avLst>
          </a:prstGeom>
          <a:solidFill>
            <a:srgbClr val="EAF4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73952" y="41056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v2의 핵심 가치</a:t>
            </a:r>
            <a:endParaRPr lang="ko-KR" alt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73952" y="44805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채널 소식</a:t>
            </a:r>
            <a:endParaRPr lang="ko-KR" alt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092440" y="4480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홈 · H 캘린더 · C-1 채널 바</a:t>
            </a:r>
            <a:endParaRPr lang="ko-KR" alt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0607040" y="44805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P06</a:t>
            </a:r>
            <a:endParaRPr lang="ko-KR" alt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473952" y="491032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기록</a:t>
            </a:r>
            <a:endParaRPr lang="ko-KR" alt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092440" y="49103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♡ · 리본, 앱 전체 한 벌</a:t>
            </a:r>
            <a:endParaRPr lang="ko-KR" alt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0607040" y="491032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P04 P07</a:t>
            </a:r>
            <a:endParaRPr lang="ko-KR" alt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73952" y="534009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도감 레벨</a:t>
            </a:r>
            <a:endParaRPr lang="ko-KR" alt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092440" y="534009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G-4 4단계 · G-4a Lv</a:t>
            </a:r>
            <a:endParaRPr lang="ko-KR" alt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10607040" y="5340096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P01</a:t>
            </a:r>
            <a:endParaRPr lang="ko-KR" alt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473952" y="576986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겹쳐 사지 않기</a:t>
            </a:r>
            <a:endParaRPr lang="ko-KR" alt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092440" y="576986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 친구 서랍 · L "나도 있음"</a:t>
            </a:r>
            <a:endParaRPr lang="ko-KR" alt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10607040" y="576986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P07</a:t>
            </a:r>
            <a:endParaRPr lang="ko-KR" alt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ko-KR" sz="900">
                <a:solidFill>
                  <a:srgbClr val="9AA0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39</a:t>
            </a:fld>
            <a:endParaRPr lang="ko-KR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B5-2 · 기획 상세 — 사용자 저니 전체</a:t>
            </a:r>
            <a:endParaRPr lang="ko-KR" alt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최저점은 ③ 살지 판단 — 시세 제한 · 광고</a:t>
            </a:r>
            <a:endParaRPr lang="ko-KR" alt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 </a:t>
            </a:r>
            <a:pPr indent="0" marL="0">
              <a:buNone/>
            </a:pPr>
            <a:r>
              <a:rPr lang="ko-KR" altLang="en-US" sz="12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재판 소식을 보고 → 사서 → 도감에 기록하기</a:t>
            </a:r>
            <a:endParaRPr lang="ko-KR" alt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1444752"/>
            <a:ext cx="5239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250" b="1" dirty="0">
                <a:solidFill>
                  <a:srgbClr val="D93F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 최저점  </a:t>
            </a:r>
            <a:pPr algn="r" indent="0" marL="0">
              <a:buNone/>
            </a:pPr>
            <a:r>
              <a:rPr lang="ko-KR" altLang="en-US" sz="12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살지 판단 · 어긴 원칙 P07 P08 P10</a:t>
            </a:r>
            <a:endParaRPr lang="ko-KR" altLang="en-US" sz="125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1600200"/>
                <a:gridCol w="1600200"/>
                <a:gridCol w="1600200"/>
                <a:gridCol w="1600200"/>
                <a:gridCol w="1600200"/>
                <a:gridCol w="1600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 →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소식 알기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찾기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살지 판단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 기록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 모은 것 보기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 나누기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 행동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재판 · 신상 소식 확인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 · 번호 · 생김새로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정가 · 시세 · 가졌나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 것 · 갖고 싶은 것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무엇이 남았나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동생 · 친구에게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앱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소식 없음 (외부 SNS)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 메뉴 · 스캐너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D93F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시세 월 10회 · 광고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쇼케이스/컬렉션 모호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목록만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쇼케이스(공개만)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리뷰 근거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#4 스캐너 · 없는 상품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D93F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#3 · 시세 출처 불명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#1 쇼케이스 vs 컬렉션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#2 창이 따로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감정 (+2 ~ −2)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−1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D93F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−2 최저점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−1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 기기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폰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폰(매장) · 카메라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폰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폰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폰 · 태블릿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폰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활용 기회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채널 소식 요약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말로 찾기 · 사진 인식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시세 범위 설명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사진 속 기체 판정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어긴 원칙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P01 · P09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P07 · P08 · P10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P04 · P06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P03 · P08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필요한 데이터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announcements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kits · keywords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kits.priceJpy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좋아요 · 구매함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guideWorks · Units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profile.friends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v2에서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홈 배너 · 캘린더 · 알림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 · 카메라 · 필터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정가 + 시세 한 줄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♡ · 리본 바로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도감 4단계 · Lv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친구 서랍 · 게시물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603504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주황 칸 = 확장 4줄(사용 기기 · AI 활용 기회 · 어긴 원칙 · 필요한 데이터) · 저니 요약은 08장 · 원본 docs/기획.md 3장</a:t>
            </a:r>
            <a:endParaRPr lang="ko-KR" alt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ko-KR" sz="900">
                <a:solidFill>
                  <a:srgbClr val="9AA0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40</a:t>
            </a:fld>
            <a:endParaRPr lang="ko-KR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B5-3 · 기획 상세 — 피쉬본 · 5 Why</a:t>
            </a:r>
            <a:endParaRPr lang="ko-KR" alt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근본 원인: 채널과 일의 순서가 화면의 기준이 아니다</a:t>
            </a:r>
            <a:endParaRPr lang="ko-KR" alt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피쉬본 — 여섯 시각</a:t>
            </a:r>
            <a:pPr indent="0" marL="0">
              <a:buNone/>
            </a:pPr>
            <a:r>
              <a:rPr lang="ko-KR" altLang="en-US" sz="110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머리 = 수집가가 컬렉션 관리를 그만둔다</a:t>
            </a:r>
            <a:endParaRPr lang="ko-KR" altLang="en-US" sz="13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10512"/>
          <a:ext cx="57150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52628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시각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원인 (리뷰 #)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모바일 UX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 메뉴를 앱에 그대로 · 기능마다 새 창 (#2)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사용성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쇼케이스 · 컬렉션 차이가 안 보임 · 상태가 모양으로 안 갈림 (#1)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일반판 누락 · 사용자가 추가 · 오류 표시 못 함 · 시세 출처 불명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시세 조회 횟수 제한(유료 유도) · 스캔 → 검색 연결 멈춤 (#3)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네트워크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스캐너 멈춤 · 원치 않는 새로고침 · 처음 화면으로 튕김 (#4)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프로세스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화면마다 광고 · 구독 정책 변경 · 사이트를 흡수하며 복잡해짐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537960" y="1481328"/>
            <a:ext cx="5102352" cy="777240"/>
          </a:xfrm>
          <a:prstGeom prst="roundRect">
            <a:avLst>
              <a:gd name="adj" fmla="val 14118"/>
            </a:avLst>
          </a:prstGeom>
          <a:solidFill>
            <a:srgbClr val="FFF4E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766560" y="1572768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b="1" dirty="0">
                <a:solidFill>
                  <a:srgbClr val="B86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1  </a:t>
            </a:r>
            <a:pPr indent="0" marL="0">
              <a:buNone/>
            </a:pPr>
            <a:r>
              <a:rPr lang="ko-KR" altLang="en-US" sz="11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사용성 “익히기 어렵다” — ★5 리뷰도 지적, 모든 단계에 영향, UI로 고칠 수 있다</a:t>
            </a:r>
            <a:endParaRPr lang="ko-KR" alt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537960" y="239572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1</a:t>
            </a:r>
            <a:endParaRPr lang="ko-KR" alt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223760" y="2395728"/>
            <a:ext cx="4416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익히기 어렵나? → 메뉴가 많고 누를 때마다 다른 창이 열린다</a:t>
            </a:r>
            <a:endParaRPr lang="ko-KR" alt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6537960" y="294436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2</a:t>
            </a:r>
            <a:endParaRPr lang="ko-KR" alt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223760" y="2944368"/>
            <a:ext cx="4416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메뉴가 많나? → 웹사이트 정보 구조를 그대로 앱에 넣었다</a:t>
            </a:r>
            <a:endParaRPr lang="ko-KR" alt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6537960" y="349300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3</a:t>
            </a:r>
            <a:endParaRPr lang="ko-KR" alt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223760" y="3493008"/>
            <a:ext cx="4416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웹 구조 그대로? → "데이터베이스를 보여 주는 창"으로 설계했다</a:t>
            </a:r>
            <a:endParaRPr lang="ko-KR" alt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6537960" y="404164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4</a:t>
            </a:r>
            <a:endParaRPr lang="ko-KR" alt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223760" y="4041648"/>
            <a:ext cx="4416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데이터 종류로? → 모든 분야를 한 메뉴로 — 관심 분야가 화면에 없다</a:t>
            </a:r>
            <a:endParaRPr lang="ko-KR" alt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537960" y="4636008"/>
            <a:ext cx="5102352" cy="1645920"/>
          </a:xfrm>
          <a:prstGeom prst="roundRect">
            <a:avLst>
              <a:gd name="adj" fmla="val 7778"/>
            </a:avLst>
          </a:prstGeom>
          <a:solidFill>
            <a:srgbClr val="EAF4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766560" y="475488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5 — 근본 원인</a:t>
            </a:r>
            <a:endParaRPr lang="ko-KR" alt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766560" y="501091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관심 분야(채널)와 내가 하는 일의 순서가 화면 구조의 기준이 아니다</a:t>
            </a:r>
            <a:endParaRPr lang="ko-KR" alt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6766560" y="559612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v2: 위 내 채널 바 하나(C-1) · 아래 탭 = 홈 · 검색 · 카메라 · 캘린더 · 컬렉션(S-3) · 새 창 대신 시트 · 같은 탭 안 보기</a:t>
            </a:r>
            <a:endParaRPr lang="ko-KR" alt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ko-KR" sz="900">
                <a:solidFill>
                  <a:srgbClr val="9AA0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41</a:t>
            </a:fld>
            <a:endParaRPr lang="ko-KR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B5-4 · 화면별 요소 분석표 1/3</a:t>
            </a:r>
            <a:endParaRPr lang="ko-KR" alt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8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A  </a:t>
            </a:r>
            <a:pPr indent="0" marL="0">
              <a:buNone/>
            </a:pPr>
            <a:r>
              <a:rPr lang="ko-KR" alt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</a:t>
            </a:r>
            <a:endParaRPr lang="ko-KR" alt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499616"/>
            <a:ext cx="2076078" cy="4535424"/>
          </a:xfrm>
          <a:prstGeom prst="roundRect">
            <a:avLst>
              <a:gd name="adj" fmla="val 7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C:\Users\Windows11\AppData\Local\Temp\claude\C--Users-Windows11-Desktop-New-folder--2-\a0c8a1d0-32ba-4ae6-9843-b5ebc69d925f\scratchpad\deck2/img/home_n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2112654" cy="4572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11480" y="610819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a_home_screen.dart</a:t>
            </a:r>
            <a:endParaRPr lang="ko-KR" altLang="en-US" sz="95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71800" y="1481328"/>
          <a:ext cx="8668512" cy="914400"/>
        </p:xfrm>
        <a:graphic>
          <a:graphicData uri="http://schemas.openxmlformats.org/drawingml/2006/table">
            <a:tbl>
              <a:tblPr/>
              <a:tblGrid>
                <a:gridCol w="621792"/>
                <a:gridCol w="1783080"/>
                <a:gridCol w="1600200"/>
                <a:gridCol w="1371600"/>
                <a:gridCol w="777240"/>
                <a:gridCol w="1280160"/>
                <a:gridCol w="12344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Flutter 위젯명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비즈니스 명칭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정보 전달 기준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P번호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편의성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가이드 글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A-1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ChannelHeader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아바타 줄 + 내 채널 바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채널이 먼저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P04 P06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채널을 외우지 않음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 탭 같은 머리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A-2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GpSearchBar 입구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검색창 · 카메라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찾기는 늘 위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P07 P04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탭 이동 없이 검색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 화면과 같은 모양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A-3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PageView + 점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공식 예고 배너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가장 큰 소식 1장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P08 P02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4초마다 자동 넘김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공식 이미지 그대로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A-4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배너 아래 상태 · 제목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예고 상태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발표 → 확정 → 예약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P01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 단계를 한눈에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 글자 고정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A-5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SectionHeader (막대 + ›)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줄 이름 · 전체 보기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줄마다 이름 하나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P06 P07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› 로 같은 탭 전체 목록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창 대신 탭 안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A-6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가로 ListView + ProductTile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최근 추가 · 발매 · 예고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사진 + 이름만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P08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옆으로 훑기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날짜 · 가격은 상세에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A-7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Loading / Error / Empty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불러오는 중 · 오류 · 빈 채널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상태를 화면에 남김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P01 P09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다시 시도 버튼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3상태 모든 GET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A-8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흰 띠 + 회백색 틈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줄 사이 층 구분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 없이 경계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P08 P04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덜 복잡해 보임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흰 띠 10dp 틈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A-9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QuickMarks (리본 · ♡)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좋아요 · 구매함 바로 담기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왼쪽 위 리본 · 아래 ♡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P07 P04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상세에 안 들어감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전체 한 벌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2971800" y="598017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16화면 147요소 전체: docs/디자인가이드.md 3장 (코드 맨 위 대응표에서 생성) · 코드 주석 // A-1 P0x</a:t>
            </a:r>
            <a:endParaRPr lang="ko-KR" alt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ko-KR" sz="900">
                <a:solidFill>
                  <a:srgbClr val="9AA0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42</a:t>
            </a:fld>
            <a:endParaRPr lang="ko-KR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B5-4 · 화면별 요소 분석표 2/3</a:t>
            </a:r>
            <a:endParaRPr lang="ko-KR" alt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8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D  </a:t>
            </a:r>
            <a:pPr indent="0" marL="0">
              <a:buNone/>
            </a:pPr>
            <a:r>
              <a:rPr lang="ko-KR" alt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상세</a:t>
            </a:r>
            <a:endParaRPr lang="ko-KR" alt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499616"/>
            <a:ext cx="2076078" cy="4535424"/>
          </a:xfrm>
          <a:prstGeom prst="roundRect">
            <a:avLst>
              <a:gd name="adj" fmla="val 7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C:\Users\Windows11\AppData\Local\Temp\claude\C--Users-Windows11-Desktop-New-folder--2-\a0c8a1d0-32ba-4ae6-9843-b5ebc69d925f\scratchpad\deck2/img/detail_n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2112654" cy="4572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11480" y="610819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d_kit_detail_screen.dart</a:t>
            </a:r>
            <a:endParaRPr lang="ko-KR" altLang="en-US" sz="95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71800" y="1481328"/>
          <a:ext cx="8668512" cy="914400"/>
        </p:xfrm>
        <a:graphic>
          <a:graphicData uri="http://schemas.openxmlformats.org/drawingml/2006/table">
            <a:tbl>
              <a:tblPr/>
              <a:tblGrid>
                <a:gridCol w="621792"/>
                <a:gridCol w="1783080"/>
                <a:gridCol w="1600200"/>
                <a:gridCol w="1371600"/>
                <a:gridCol w="777240"/>
                <a:gridCol w="1280160"/>
                <a:gridCol w="12344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Flutter 위젯명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비즈니스 명칭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정보 전달 기준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P번호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편의성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가이드 글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D-2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PageView + 점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공식 사진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사진이 먼저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P02 P08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넘겨 보기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공식 사진만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D-4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제목 + 일본어 이름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상품명 (원문)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 → 원래 이름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P02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공식 검색에 복사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원문 그대로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D-5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Text(¥) + 발매일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일본 정가 · 발매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가장 큰 숫자 = 정가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P02 P01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정가 한눈에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엔화 = 일본 정가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D-5b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시세 한 줄 → 시트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국내 시세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정가 바로 아래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P01 P08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횟수 제한 없음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시세는 이 한 곳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D-5c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"내 구매가" 줄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낸 돈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구매함일 때만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P01 P03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수정 시트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원화 = 내 구매가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D-6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하단 고정 ♡ · 리본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좋아요 · 구매함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아래 늘 보임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P03 P04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내려 읽어도 바로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쇼핑 앱 같은 자리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D-8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요약 줄 → 시트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공식 정보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요약 → 전체 표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P08 P06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필요할 때만 펼침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분류 · 작품 · 라인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D-9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시세 시트 3칸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국내 시세 자세히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범위 · 플랫폼 3곳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P01 P08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없으면 찾을 곳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 n건 표시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D-12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TextButton → 확인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정보 오류 제보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보내기 전 확인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P05 P09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실수 전송 막음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수정 폼 대신 한 줄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D-14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하단 왼쪽 복사 · 공식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복사 · 공식 페이지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출처는 작게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P07 P10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번에 복사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공식 = 출처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2971800" y="621792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 D-1 · D-10 · D-11 · D-13 → 16화면 147요소 전체: docs/디자인가이드.md 3장 (코드 맨 위 대응표에서 생성) · 코드 주석 // D-2 P0x</a:t>
            </a:r>
            <a:endParaRPr lang="ko-KR" alt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ko-KR" sz="900">
                <a:solidFill>
                  <a:srgbClr val="9AA0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43</a:t>
            </a:fld>
            <a:endParaRPr lang="ko-KR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B5-4 · 화면별 요소 분석표 3/3</a:t>
            </a:r>
            <a:endParaRPr lang="ko-KR" alt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8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G  </a:t>
            </a:r>
            <a:pPr indent="0" marL="0">
              <a:buNone/>
            </a:pPr>
            <a:r>
              <a:rPr lang="ko-KR" alt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도감</a:t>
            </a:r>
            <a:endParaRPr lang="ko-KR" alt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499616"/>
            <a:ext cx="2076078" cy="4535424"/>
          </a:xfrm>
          <a:prstGeom prst="roundRect">
            <a:avLst>
              <a:gd name="adj" fmla="val 7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C:\Users\Windows11\AppData\Local\Temp\claude\C--Users-Windows11-Desktop-New-folder--2-\a0c8a1d0-32ba-4ae6-9843-b5ebc69d925f\scratchpad\deck2/img/guide_n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2112654" cy="4572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11480" y="610819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g_guide_view.dart</a:t>
            </a:r>
            <a:endParaRPr lang="ko-KR" altLang="en-US" sz="95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71800" y="1481328"/>
          <a:ext cx="8668512" cy="914400"/>
        </p:xfrm>
        <a:graphic>
          <a:graphicData uri="http://schemas.openxmlformats.org/drawingml/2006/table">
            <a:tbl>
              <a:tblPr/>
              <a:tblGrid>
                <a:gridCol w="621792"/>
                <a:gridCol w="1783080"/>
                <a:gridCol w="1600200"/>
                <a:gridCol w="1371600"/>
                <a:gridCol w="777240"/>
                <a:gridCol w="1280160"/>
                <a:gridCol w="12344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Flutter 위젯명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비즈니스 명칭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정보 전달 기준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P번호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편의성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가이드 글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G-2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? → 바텀 시트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도감 읽는 법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범례는 숨김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P10 P08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필요할 때 ?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긴 범례 줄 대신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G-3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작품 카드 + 진행 막대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작품 도감 (n/전체)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작품 → 수집 수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P01 P06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남은 개수 보임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막대 = 민트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G-4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기체 칸 격자 4단계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흑백 → 컬러 → 테두리 → 사진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모을수록 밝아짐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P01 P04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한눈에 진행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4단계 고정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G-4a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Lv 막대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작품 레벨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· 2 · 3점, 5점마다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P01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레벨까지 n점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오르는 느낌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G-4b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칸 위 MarkOverlay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칸에서 바로 담기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상품 사진과 같은 자리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P07 P04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시트 없이 바로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리본 · ♡ 같은 모양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G-5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바텀 시트: 기체 → 상품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기체의 상품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기체 → 상품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P07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상세로 바로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덮기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G-5b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시트 TogglePill 3개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좋아요 · 구매함 · 내 사진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 단계 따로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P03 P07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따로 켜고 끔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되돌리기 토스트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G-5c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사진 고르기 → 확인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사진 인증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 기체가 찍혀야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P05 P09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실패하면 안내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미리 쓴 판정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G-8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Loading / Error / Empty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불러오는 중 · 오류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상태를 화면에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P01 P09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다시 시도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3상태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2971800" y="598017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6B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 G-1 · G-6 · G-7 → 16화면 147요소 전체: docs/디자인가이드.md 3장 (코드 맨 위 대응표에서 생성) · 코드 주석 // G-2 P0x</a:t>
            </a:r>
            <a:endParaRPr lang="ko-KR" alt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ko-KR" sz="900">
                <a:solidFill>
                  <a:srgbClr val="9AA0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44</a:t>
            </a:fld>
            <a:endParaRPr lang="ko-KR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C8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B5-5 · 기획 상세 — 상태관리 포인트 (표시만)</a:t>
            </a:r>
            <a:endParaRPr lang="ko-KR" alt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바뀌는 데이터와 그것을 보여 줄 위젯</a:t>
            </a:r>
            <a:endParaRPr lang="ko-KR" altLang="en-US" sz="28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1188720"/>
                <a:gridCol w="1737360"/>
                <a:gridCol w="2834640"/>
                <a:gridCol w="2514600"/>
                <a:gridCol w="23134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바뀌는 데이터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언제 바뀌나 (사용자 행동)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보여질 위젯 (요소 번호)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// STATE: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S1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전체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좋아요 · 구매함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A-9 · D-6 · G-4b 누름 · F-6 삭제 · F-10 복원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♡ · 리본 · F-2 개수 · I-4 숫자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marks.dart:25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S2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반반 화면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오른쪽 칸에 연 것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카드를 눌러 openPage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왼쪽 카드 테두리 · 줄 바탕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detail_pane.dart:30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S3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 앱 셸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채널 목록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C-4 · C-5 더하기 · 빼기 · 순서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 탭의 채널 바 · 목록 범위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s_app_shell.dart:83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S4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 앱 셸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탭 바 · 위 줄 보임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아래로 / 위로 스크롤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S-8 탭 바 · S-13 아바타 줄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s_app_shell.dart:236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S5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 전체 목록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필터 · 정렬 · 보기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O-2 패널 적용 · O-3 정렬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O-4 격자/목록 · 조건 줄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o_see_all_screen.dart:243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S6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 도감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칸 단계 · 내 사진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G-4b · G-5b · G-5c 인증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G-4 칸 · G-4a Lv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g_guide_view.dart:486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S7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 알림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읽음 · 지움 · 탭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N-4 모두 읽음 · 밀어 지우기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N-3 점 · 굵은 제목 · 탭 개수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n_notifications_screen.dart:112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1C86D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S8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 내 정보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공개 범위 · 워터마크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I-9 · I-10 · I-7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I-6 게시물 칸 · 제목 줄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3D4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i_profile_screen.dart:119</a:t>
                      </a:r>
                      <a:endParaRPr lang="ko-KR" alt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71500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S1 · S2 (초록) = 맨 위 StatefulWidget 의 setState + InheritedWidget, 나머지 = 그 화면의 setState.  </a:t>
            </a:r>
            <a:pPr indent="0" marL="0">
              <a:buNone/>
            </a:pPr>
            <a:r>
              <a:rPr lang="ko-KR" altLang="en-US" sz="1050" dirty="0">
                <a:solidFill>
                  <a:srgbClr val="3D4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 74곳: grep -rn "STATE:" lib  ·  구현하지 않는 것: Provider · Riverpod · Bloc 같은 상태관리 패키지, 영구 저장 — 앱을 끄면 db.json 처음 값</a:t>
            </a:r>
            <a:endParaRPr lang="ko-KR" alt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3737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ko-KR" sz="900">
                <a:solidFill>
                  <a:srgbClr val="9AA0A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45</a:t>
            </a:fld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Hobby Atlas — GAI3008-01 중간고사 발표</dc:title>
  <dc:subject>PptxGenJS Presentation</dc:subject>
  <dc:creator>ZHENG BOWEN</dc:creator>
  <cp:lastModifiedBy>ZHENG BOWEN</cp:lastModifiedBy>
  <cp:revision>1</cp:revision>
  <dcterms:created xsi:type="dcterms:W3CDTF">2026-10-29T05:39:40Z</dcterms:created>
  <dcterms:modified xsi:type="dcterms:W3CDTF">2026-10-29T05:39:40Z</dcterms:modified>
</cp:coreProperties>
</file>