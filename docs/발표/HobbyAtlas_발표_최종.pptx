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본문" id="{2b0437de-02da-98ce-8873-eff14664b6a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부록" id="{93b838f4-49e6-4bd7-f4be-285835104af1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1장 · 표지
안녕하세요. Hobby Atlas를 발표할 ZHENG BOWEN입니다.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2장 · 목차
개요, 문제 정의, 화면이 바뀐 과정, 셀프 논증, 구현, 데모 순서로 말씀드리겠습니다.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3장 · 프로젝트 개요 1/2
Hobby Atlas는 피규어와 프라모델 수집가를 위한 앱입니다. 관심 있는 IP의 새 소식을 먼저 보고, 하트와 리본으로 한 번에 기록하면 도감이 켜집니다.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4장 · 프로젝트 개요 2/2
왼쪽이 AI가 처음 만든 버전, 오른쪽이 지금입니다. 처음엔 hobbyDB처럼 상품 목록뿐이어서, 제가 화면을 다시 설계했습니다.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5장 · 문제 정의 1/4 — 왜 만들었나
건담 하나만 해도 프라모델, 완성품, 한정판, 경품을 사는 곳이 다 다릅니다. 공식 사이트끼리 연결이 없어서 지난 상품은 찾기도 어렵습니다.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6장 · 문제 정의 2/4 — 기존 앱 리뷰
이런 정보를 모아 주는 기존 앱 hobbyDB의 리뷰를 보면, 버그보다 없는 기능과 불편함이 많습니다. 라인별 정리, 신상품, 넣고 빼기, 자기 나라 통화 시세입니다. 오른쪽이 Hobby Atlas의 답입니다.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7장 · 문제 정의 3/4 — 퍼소나
이 앱을 쓸 사람은 수집 4년차 대학생 민준입니다. 등하굣길에는 여러 사이트를 따로 보고, 매장에서는 이미 샀는지 헷갈리고, 집에서는 동생과 겹쳐 산 것을 발견합니다.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8장 · 문제 정의 4/4 — 근본 원인
민준이 가장 막히는 곳은 살지 판단하는 순간입니다. 5 Why로 내려가 보니 근본 원인은, 화면이 내 관심 IP와 내가 하는 일의 순서로 짜여 있지 않다는 것이었습니다.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9장 · 해결 방법 — 홈 시안
홈은 위아래로 나열하지 말자고 했고, AI가 세 가지 시안을 보여 줬습니다. AI는 B를 추천했지만, 저는 사진이 가장 크고 많은 A를 골랐습니다. 수집가는 이름보다 사진으로 상품을 알아보기 때문입니다.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10장 · 해결 방법 — 홈 · 채널 · 가로 줄
노란 칸이 제 요청 원문, 아래가 제가 보여 준 다른 앱 캡처와 바뀐 화면입니다. 채널 관리 화면, PS Store와 Prime Video 같은 앱을 보여 주고 배너와 가로 줄로 바꿨고, IMDb처럼 세로 막대와 앱 색을 넣었습니다.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11장 · 해결 방법 — 전체 목록 · 필터
AI가 전체 목록을 새 화면으로, 상태로 거르게 만들었지만, 저는 홈 아래에서 작품별로 거르게 했습니다. 알약 줄은 너무 못생겨서 토이저러스 필터를 보여 주고 오른쪽 패널로 바꿨습니다.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12장 · 해결 방법 — 상품 상세 1/2
상품 상세는 타오바오 캡처처럼 공식 정보를 작은 줄로 접고, 검정 바탕 흰 글자는 모두 뺐습니다. 필요 없는 분류 줄도 지우고 버튼을 줄였습니다.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13장 · 해결 방법 — 좋아요 · 구매함 · 도감
사진에서 바로 하트와 리본을 누르게 했고, 하나 더 모으면 레벨이 오르는 도감을 만들었습니다. 홈 사진의 표시는 IMDb 캡처처럼 바꿨습니다.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14장 · 해결 방법 — 친구 · 넓은 창
친구 화면은 QQ처럼 옆으로 여는 서랍으로, 넓은 창은 QQ 폴드 화면처럼 반반으로 만들었습니다.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15장 · 셀프 논증 1/3 — AI가 반박
셀프 논증은 내 설계를 반론으로 다져 보는 것입니다. 먼저 AI에게 UI 설계에 아직 어떤 문제가 있는지 물었고, 13가지 지적을 받았습니다. AI는 일부만 고치자고 했지만, 저는 로고만 빼고 전부 고쳤습니다.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16장 · 셀프 논증 2/3 — 내가 AI를 반박
반대로 저도 AI를 반박했습니다. AI는 코드와 부품을 재사용하지 않고 매번 새로 만들었고, 같은 뜻에 다른 아이콘을 쓰고, 모든 걸 위아래로 나열하고, 같은 내용을 여러 곳에 반복했습니다. 그때마다 지적해서 공용 위젯, 가로 줄, 한 곳 표시로 고쳤습니다.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17장 · 셀프 논증 3/3
근거가 있는 반론은 받아들였고, 왼쪽이 전, 오른쪽이 후입니다. 근거가 없는 AI 제안은 오른쪽처럼 버렸습니다.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18장 · Flutter 구현
구현은 위젯 트리 하나입니다. 화면 이동 세 가지, json-server GET, 로딩 · 오류 · 빈 상태, 창 너비에 따른 반반 화면이 있고, 상태관리 패키지 없이 setState를 맨 위로 올렸습니다.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19장 · 데모 (라이브)
배포된 주소로 직접 보여 드리겠습니다. QR로 여셔도 됩니다. [홈] 이 상품의 리본을 누르면 구매함에 들어갑니다. [카메라] 찍으면 후보가 나옵니다. 미리 정해 둔 결과입니다. [컬렉션] 방금 담은 상품이 여기 있습니다. [도감] 칸이 켜지고 레벨이 오릅니다. [창 넓히기] 왼쪽은 앱, 오른쪽은 상세입니다. [오류] 인터넷을 끄고 채널을 바꾸면 다시 시도 버튼이 나옵니다.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20장 · Personal Learnings
가장 크게 배운 것은 화면을 사용자가 하는 일의 순서로 나눠야 한다는 것입니다. 감사합니다.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21장 · Q&amp;A
질문 받겠습니다.
Q1. 왜 하필 hobbyDB를 바탕으로 골랐나요?
A. 여러 브랜드의 수집품을 한 앱에 모으는 거의 유일한 앱이라, 브랜드마다 흩어진 정보라는 제 문제에 가장 가깝습니다. 별점은 4.8이지만 웹사이트 메뉴를 그대로 옮긴 구조라, 라인별 정리 · 신상품 · 넣고 빼기 같은 "없는 기능 · 불편" 리뷰가 많았습니다. 그래서 구조를 다시 설계할 가치가 있다고 봤습니다.
Q2. 다음 버전(v3)에서 가장 먼저 추가할 기능은?
A. 첫째, 지금은 앱을 끄면 사라지는 좋아요 · 구매함 · 도감 기록을 저장하겠습니다. 둘째, 브랜드마다 흩어진 공식 예고를 자동으로 모으는 것, 셋째, 실제 사진 인식입니다. 로고와 앱 아이콘도 확정하겠습니다.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본문에서는 넘기지 않는다. 질문에 맞는 부록 장으로 바로 이동(장 번호 + Enter).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'다른 화면은요?' — 화면 16개 목록은 README 3장 · 디자인 가이드 1장.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나머지 화면. 카메라 결과 · AI 후보는 미리 쓴 임의 결과(디자인 가이드 4장).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같은 홈 화면을 --dart-define=DEMO_STATE 로 실행한 3상태. 서버를 끄고 채널을 바꿔도 오류 + 다시 시도가 나온다.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P01 시스템 상태의 가시성 — 원칙 → 근거(리뷰) → 적용(요소 번호) → 시연 → 판단(버린 대안) 순서로. 원본 docs/원칙카드.md, 코드 grep -rn "P01"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P02 시스템과 실세계의 일치 — 원칙 → 근거(리뷰) → 적용(요소 번호) → 시연 → 판단(버린 대안) 순서로. 원본 docs/원칙카드.md, 코드 grep -rn "P02"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P03 사용자 통제와 자유 — 원칙 → 근거(리뷰) → 적용(요소 번호) → 시연 → 판단(버린 대안) 순서로. 원본 docs/원칙카드.md, 코드 grep -rn "P03"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P04 일관성과 표준 — 원칙 → 근거(리뷰) → 적용(요소 번호) → 시연 → 판단(버린 대안) 순서로. 원본 docs/원칙카드.md, 코드 grep -rn "P04"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P05 오류 예방 — 원칙 → 근거(리뷰) → 적용(요소 번호) → 시연 → 판단(버린 대안) 순서로. 원본 docs/원칙카드.md, 코드 grep -rn "P05"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P06 기억보다 재인 — 원칙 → 근거(리뷰) → 적용(요소 번호) → 시연 → 판단(버린 대안) 순서로. 원본 docs/원칙카드.md, 코드 grep -rn "P06"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P07 사용의 유연성과 효율성 — 원칙 → 근거(리뷰) → 적용(요소 번호) → 시연 → 판단(버린 대안) 순서로. 원본 docs/원칙카드.md, 코드 grep -rn "P07"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P08 미학적이고 미니멀한 디자인 — 원칙 → 근거(리뷰) → 적용(요소 번호) → 시연 → 판단(버린 대안) 순서로. 원본 docs/원칙카드.md, 코드 grep -rn "P08"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P09 오류 인식 · 진단 · 복구 돕기 — 원칙 → 근거(리뷰) → 적용(요소 번호) → 시연 → 판단(버린 대안) 순서로. 원본 docs/원칙카드.md, 코드 grep -rn "P09"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P10 도움말과 문서 — 원칙 → 근거(리뷰) → 적용(요소 번호) → 시연 → 판단(버린 대안) 순서로. 원본 docs/원칙카드.md, 코드 grep -rn "P10"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'AI를 어떻게 썼나요?' — 요청 → AI 결과 → 내 판단 → 이유. 받아들이지 않은 예: 10/25 홈 › 전체 목록(알약 거르기 폐기), 로고 시안 폐기.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'AI를 어떻게 썼나요?' — 요청 → AI 결과 → 내 판단 → 이유. 받아들이지 않은 예: 10/25 홈 › 전체 목록(알약 거르기 폐기), 로고 시안 폐기.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발표 때 넘기지 않는다 — 제출 전 자가 칸을 직접 채운다. 감점 grep 결과 없음(2026.10.26).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'누구를 위해 왜 고치나요?' — 목표 → 퍼소나 → 문제 4가지 → 핵심 가치. 범위는 UI만(저장 · 로그인 · 결제 · 실제 인식 없음). 원본 docs/기획.md 2장.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목표에서 출발해 단계별 리뷰와 감정을 짚고, 최저점 ③ 살지 판단과 어긴 원칙 P07 · P08 · P10. 필요한 데이터 = json-server GET 필드.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피쉬본 머리 → 여섯 시각 → 우선순위 "익히기 어렵다" → 5 Why → 근본 원인 → v2 C-1 · S-3. 원본 docs/기획.md 4 · 5장.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A 요소를 번호로 — 위젯명 · 비즈니스 명칭 · 정보 전달 기준 · P번호 · 편의성 · 가이드 글. 번호는 캡처 · 코드 주석과 같다.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D 요소를 번호로 — 위젯명 · 비즈니스 명칭 · 정보 전달 기준 · P번호 · 편의성 · 가이드 글. 번호는 캡처 · 코드 주석과 같다.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G 요소를 번호로 — 위젯명 · 비즈니스 명칭 · 정보 전달 기준 · P번호 · 편의성 · 가이드 글. 번호는 캡처 · 코드 주석과 같다.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'어떤 데이터가 바뀌고 어느 위젯이 보여 주나'를 S번호로. 패키지 없음 · 저장 안 함. 원본 docs/디자인가이드.md 5장.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GAI3008-01 응용모바일프로그래밍 · 중간고사 · Hobby Atlas · ZHENG BOWEN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1003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PX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질의 응답 때만 · Hobby Atlas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1004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1005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null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lang="ko-KR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lang="ko-KR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GAI3008-01 응용모바일프로그래밍 · 중간고사 발표</a:t>
            </a:r>
            <a:endParaRPr lang="ko-KR" alt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2026. 10. 29</a:t>
            </a:r>
            <a:endParaRPr lang="ko-KR" alt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48840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hobbyDB v2 재설계 · UX/UI 기획 + Flutter UI 프로토타입</a:t>
            </a:r>
            <a:endParaRPr lang="ko-KR" alt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5146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6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 Atlas</a:t>
            </a:r>
            <a:endParaRPr lang="ko-KR" alt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4787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4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소식부터 내 도감까지, 수집가의 한 앱</a:t>
            </a:r>
            <a:endParaRPr lang="ko-KR" alt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ZHENG BOWEN</a:t>
            </a:r>
            <a:endParaRPr lang="ko-KR" alt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422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2023106124 · 1인 1팀</a:t>
            </a:r>
            <a:endParaRPr lang="ko-KR" alt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8521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</a:t>
            </a:r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mdefitko777.github.io/gunpula-flutter</a:t>
            </a:r>
            <a:endParaRPr lang="ko-KR" alt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086600" y="548640"/>
            <a:ext cx="4553712" cy="5760720"/>
          </a:xfrm>
          <a:prstGeom prst="roundRect">
            <a:avLst>
              <a:gd name="adj" fmla="val 6024"/>
            </a:avLst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8219784" y="932688"/>
            <a:ext cx="2287343" cy="4992624"/>
          </a:xfrm>
          <a:prstGeom prst="roundRect">
            <a:avLst>
              <a:gd name="adj" fmla="val 762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C:\Users\Windows11\AppData\Local\Temp\claude\C--Users-Windows11-Desktop-New-folder--2-\a0c8a1d0-32ba-4ae6-9843-b5ebc69d925f\scratchpad\deck2/img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1496" y="914400"/>
            <a:ext cx="232391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목차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7335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73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550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ko-KR" alt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165506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앱인가 · 내 앱이 바뀐 과정 한눈에</a:t>
            </a:r>
            <a:endParaRPr lang="ko-KR" alt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0" y="212140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2199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221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2037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</a:t>
            </a:r>
            <a:endParaRPr lang="ko-KR" alt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220370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만들었나 · 기존 앱에 없는 기능 · 근본 원인</a:t>
            </a:r>
            <a:endParaRPr lang="ko-KR" alt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97280" y="267004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77063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706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7523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방법</a:t>
            </a:r>
            <a:endParaRPr lang="ko-KR" alt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27523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화면이 바뀐 과정 — 내 요청 → 바뀐 화면</a:t>
            </a:r>
            <a:endParaRPr lang="ko-KR" alt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97280" y="321868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31927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319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alt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3009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셀프 논증</a:t>
            </a:r>
            <a:endParaRPr lang="ko-KR" alt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반론을 요청해 다진 결정</a:t>
            </a:r>
            <a:endParaRPr lang="ko-KR" alt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97280" y="376732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86791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867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384962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구현</a:t>
            </a:r>
            <a:endParaRPr lang="ko-KR" alt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931920" y="384962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위젯 트리 · 화면 이동 · 3상태 · 적응형</a:t>
            </a:r>
            <a:endParaRPr lang="ko-KR" alt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097280" y="431596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41655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44165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alt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43982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</a:t>
            </a:r>
            <a:endParaRPr lang="ko-KR" alt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3931920" y="439826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시연</a:t>
            </a:r>
            <a:endParaRPr lang="ko-KR" alt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097280" y="486460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496519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4965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alt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97280" y="49469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Learnings</a:t>
            </a:r>
            <a:endParaRPr lang="ko-KR" alt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3931920" y="494690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 · 다음 v3</a:t>
            </a:r>
            <a:endParaRPr lang="ko-KR" alt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097280" y="541324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5513832"/>
            <a:ext cx="347472" cy="347472"/>
          </a:xfrm>
          <a:prstGeom prst="ellipse">
            <a:avLst/>
          </a:prstGeom>
          <a:solidFill>
            <a:srgbClr val="9AA0A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55138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alt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97280" y="54955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</a:t>
            </a:r>
            <a:endParaRPr lang="ko-KR" alt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3931920" y="54955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부록으로 바로 답하기</a:t>
            </a:r>
            <a:endParaRPr lang="ko-KR" alt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8321040" y="1600200"/>
            <a:ext cx="3319272" cy="4389120"/>
          </a:xfrm>
          <a:prstGeom prst="roundRect">
            <a:avLst>
              <a:gd name="adj" fmla="val 4408"/>
            </a:avLst>
          </a:prstGeom>
          <a:solidFill>
            <a:srgbClr val="F4F5F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595360" y="18105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질의 때만</a:t>
            </a:r>
            <a:endParaRPr lang="ko-KR" alt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595360" y="22860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ko-KR" alt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909828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및 스크린샷</a:t>
            </a:r>
            <a:endParaRPr lang="ko-KR" alt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9098280" y="2560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23장</a:t>
            </a:r>
            <a:endParaRPr lang="ko-KR" alt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8595360" y="299923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ko-KR" alt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9098280" y="2999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카드 P01–P10</a:t>
            </a:r>
            <a:endParaRPr lang="ko-KR" alt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9098280" y="32735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26장</a:t>
            </a:r>
            <a:endParaRPr lang="ko-KR" alt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8595360" y="37124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ko-KR" alt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9098280" y="37124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prompt-log</a:t>
            </a:r>
            <a:endParaRPr lang="ko-KR" alt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9098280" y="39867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36장</a:t>
            </a:r>
            <a:endParaRPr lang="ko-KR" alt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8595360" y="442569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ko-KR" alt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9098280" y="44256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자가평가 요약</a:t>
            </a:r>
            <a:endParaRPr lang="ko-KR" alt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9098280" y="470001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38장</a:t>
            </a:r>
            <a:endParaRPr lang="ko-KR" alt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8595360" y="513892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ko-KR" alt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9098280" y="51389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상세</a:t>
            </a:r>
            <a:endParaRPr lang="ko-KR" alt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9098280" y="54132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39장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프로젝트 개요 1/2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 Atlas는 어떤 앱인가요?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이름 · 부제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1051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3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 Atlas</a:t>
            </a:r>
            <a:pPr indent="0" marL="0">
              <a:buNone/>
            </a:pPr>
            <a:r>
              <a:rPr lang="ko-KR" altLang="en-US" sz="120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약칭 HA</a:t>
            </a:r>
            <a:endParaRPr lang="ko-KR" alt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59152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소식부터 내 도감까지, 수집가의 한 앱</a:t>
            </a:r>
            <a:endParaRPr lang="ko-KR" alt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260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   </a:t>
            </a:r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라이프스타일 · 수집</a:t>
            </a:r>
            <a:endParaRPr lang="ko-KR" alt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72968" y="292608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172968" y="292608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  </a:t>
            </a:r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20대 피규어 · 프라모델 수집가</a:t>
            </a:r>
            <a:endParaRPr lang="ko-KR" alt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346704"/>
            <a:ext cx="5916168" cy="32918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346704"/>
            <a:ext cx="5916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상황   </a:t>
            </a:r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중엔 폰 → 매장에선 카메라 → 집에선 폴드</a:t>
            </a:r>
            <a:endParaRPr lang="ko-KR" alt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014216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4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15568" y="39776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채널 새 소식</a:t>
            </a:r>
            <a:endParaRPr lang="ko-KR" alt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42885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IP만 골라 공식 예고 · 발매일을 먼저</a:t>
            </a:r>
            <a:endParaRPr lang="ko-KR" alt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72744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" y="4690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기록</a:t>
            </a:r>
            <a:endParaRPr lang="ko-KR" alt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" y="500176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위 ♡ 좋아요 · 리본 구매함</a:t>
            </a:r>
            <a:endParaRPr lang="ko-KR" alt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440680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" y="540410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모을수록 켜지는 도감</a:t>
            </a:r>
            <a:endParaRPr lang="ko-KR" alt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115568" y="57150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칸이 켜지고 레벨이 오른다</a:t>
            </a:r>
            <a:endParaRPr lang="ko-KR" alt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315200" y="1572768"/>
            <a:ext cx="4325112" cy="4526280"/>
          </a:xfrm>
          <a:prstGeom prst="roundRect">
            <a:avLst>
              <a:gd name="adj" fmla="val 338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635240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및 리뷰 — 바탕이 된 앱 hobbyDB</a:t>
            </a:r>
            <a:endParaRPr lang="ko-KR" alt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635240" y="21214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4.8</a:t>
            </a:r>
            <a:endParaRPr lang="ko-KR" altLang="en-US" sz="40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22128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8,656개</a:t>
            </a:r>
            <a:endParaRPr lang="ko-KR" alt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601200" y="25054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Store(US) · 2026.10</a:t>
            </a:r>
            <a:endParaRPr lang="ko-KR" alt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35240" y="3108960"/>
            <a:ext cx="3685032" cy="1207008"/>
          </a:xfrm>
          <a:prstGeom prst="roundRect">
            <a:avLst>
              <a:gd name="adj" fmla="val 7576"/>
            </a:avLst>
          </a:prstGeom>
          <a:solidFill>
            <a:srgbClr val="F4F5F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818120" y="323697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"Would love to be able to organize by line."</a:t>
            </a:r>
            <a:endParaRPr lang="ko-KR" alt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38404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IP(라인)별로 정리해 볼 수 없다</a:t>
            </a:r>
            <a:endParaRPr lang="ko-KR" alt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818120" y="40599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 · 2022.11.06</a:t>
            </a:r>
            <a:endParaRPr lang="ko-KR" alt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635240" y="4480560"/>
            <a:ext cx="3685032" cy="1207008"/>
          </a:xfrm>
          <a:prstGeom prst="roundRect">
            <a:avLst>
              <a:gd name="adj" fmla="val 7576"/>
            </a:avLst>
          </a:prstGeom>
          <a:solidFill>
            <a:srgbClr val="F4F5F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818120" y="460857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"It takes a little for new pops to be added"</a:t>
            </a:r>
            <a:endParaRPr lang="ko-KR" alt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7818120" y="52120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 정보가 늦게 올라온다</a:t>
            </a:r>
            <a:endParaRPr lang="ko-KR" alt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818120" y="54315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★5 · 2025.01.26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프로젝트 개요 2/2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버전 → 지금: 내 앱은 이렇게 바뀌었다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83288" y="1618488"/>
            <a:ext cx="2033825" cy="4443984"/>
          </a:xfrm>
          <a:prstGeom prst="roundRect">
            <a:avLst>
              <a:gd name="adj" fmla="val 76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evo_99dd2b9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000" y="1600200"/>
            <a:ext cx="2070401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5000" y="1481328"/>
            <a:ext cx="2070401" cy="292608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65000" y="1481328"/>
            <a:ext cx="20704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버전 · 10/24</a:t>
            </a:r>
            <a:endParaRPr lang="ko-KR" alt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571840" y="1618488"/>
            <a:ext cx="2033825" cy="4443984"/>
          </a:xfrm>
          <a:prstGeom prst="roundRect">
            <a:avLst>
              <a:gd name="adj" fmla="val 76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C:\Users\Windows11\AppData\Local\Temp\claude\C--Users-Windows11-Desktop-New-folder--2-\a0c8a1d0-32ba-4ae6-9843-b5ebc69d925f\scratchpad\deck2/img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3552" y="1600200"/>
            <a:ext cx="2070401" cy="44805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553552" y="1481328"/>
            <a:ext cx="207040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553552" y="1481328"/>
            <a:ext cx="20704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· 10/29</a:t>
            </a:r>
            <a:endParaRPr lang="ko-KR" alt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3063240" y="14813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바뀐 순서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4일 · 커밋 54번 · 내 요청 39번</a:t>
            </a:r>
            <a:endParaRPr lang="ko-KR" alt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3246120" y="1965960"/>
            <a:ext cx="0" cy="3695700"/>
          </a:xfrm>
          <a:prstGeom prst="line">
            <a:avLst/>
          </a:prstGeom>
          <a:noFill/>
          <a:ln w="25400">
            <a:solidFill>
              <a:srgbClr val="C9CDD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154680" y="187452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520440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10/24</a:t>
            </a:r>
            <a:endParaRPr lang="ko-KR" alt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434840" y="182880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버전</a:t>
            </a:r>
            <a:endParaRPr lang="ko-KR" alt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4434840" y="209397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키트 목록 · 상세 · 도감 — hobbyDB 구조 그대로</a:t>
            </a:r>
            <a:endParaRPr lang="ko-KR" alt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154680" y="26136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520440" y="25679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오후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4434840" y="256794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탭 · 내 채널 바 · 흑백</a:t>
            </a:r>
            <a:endParaRPr lang="ko-KR" alt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4434840" y="283311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= 공식 예고 배너 + 가로 줄</a:t>
            </a:r>
            <a:endParaRPr lang="ko-KR" alt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154680" y="33528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20440" y="3307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저녁</a:t>
            </a:r>
            <a:endParaRPr lang="ko-KR" alt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434840" y="330708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· 검색 · 카메라 · 컬렉션 · 캘린더</a:t>
            </a:r>
            <a:endParaRPr lang="ko-KR" alt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4434840" y="357225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정가 아래 시세 한 줄 · 아래 고정 버튼</a:t>
            </a:r>
            <a:endParaRPr lang="ko-KR" alt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154680" y="40919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520440" y="40462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밤</a:t>
            </a:r>
            <a:endParaRPr lang="ko-KR" alt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4434840" y="404622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구매함 · 도감 레벨 · 친구 서랍</a:t>
            </a:r>
            <a:endParaRPr lang="ko-KR" alt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4434840" y="431139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목록 · 필터 패널 · 반반 화면</a:t>
            </a:r>
            <a:endParaRPr lang="ko-KR" alt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3154680" y="48310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520440" y="4785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10/26</a:t>
            </a:r>
            <a:endParaRPr lang="ko-KR" alt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4434840" y="478536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반론 반영</a:t>
            </a:r>
            <a:endParaRPr lang="ko-KR" alt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4434840" y="505053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모양 하나로 · 색 둘 · 앱 전체 한 벌</a:t>
            </a:r>
            <a:endParaRPr lang="ko-KR" alt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3154680" y="5570220"/>
            <a:ext cx="182880" cy="182880"/>
          </a:xfrm>
          <a:prstGeom prst="ellipse">
            <a:avLst/>
          </a:prstGeom>
          <a:solidFill>
            <a:srgbClr val="1C86D9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3520440" y="55245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10/29</a:t>
            </a:r>
            <a:endParaRPr lang="ko-KR" alt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4434840" y="552450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Hobby Atlas</a:t>
            </a:r>
            <a:endParaRPr lang="ko-KR" alt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4434840" y="578967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브랜드마다 흩어진 정보를 한곳에</a:t>
            </a:r>
            <a:endParaRPr lang="ko-KR" alt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9098280" y="3840480"/>
            <a:ext cx="411480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1/4 — 왜 만들었나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좋아하는 것 하나에도, 공식 사이트는 여러 곳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BANDAI 계열만 해도 5곳</a:t>
            </a:r>
            <a:endParaRPr lang="ko-KR" alt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6" name="Image 0" descr="C:\Users\Windows11\AppData\Local\Temp\claude\C--Users-Windows11-Desktop-New-folder--2-\a0c8a1d0-32ba-4ae6-9843-b5ebc69d925f\scratchpad\deck2/logos/bandai_spirits/logo_mo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36465"/>
            <a:ext cx="1024128" cy="887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호비 사이트 · 건프라</a:t>
            </a:r>
            <a:endParaRPr lang="ko-KR" alt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1947672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9" name="Image 1" descr="C:\Users\Windows11\AppData\Local\Temp\claude\C--Users-Windows11-Desktop-New-folder--2-\a0c8a1d0-32ba-4ae6-9843-b5ebc69d925f\scratchpad\deck2/logos/tamashii_nations/logo_mo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832" y="1929384"/>
            <a:ext cx="522129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993392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완성품 피규어</a:t>
            </a:r>
            <a:endParaRPr lang="ko-KR" alt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3346704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12" name="Image 2" descr="C:\Users\Windows11\AppData\Local\Temp\claude\C--Users-Windows11-Desktop-New-folder--2-\a0c8a1d0-32ba-4ae6-9843-b5ebc69d925f\scratchpad\deck2/logos/premium_bandai/logo_mon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2082698"/>
            <a:ext cx="1024128" cy="19629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392424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한정판</a:t>
            </a:r>
            <a:endParaRPr lang="ko-KR" alt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4745736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15" name="Image 3" descr="C:\Users\Windows11\AppData\Local\Temp\claude\C--Users-Windows11-Desktop-New-folder--2-\a0c8a1d0-32ba-4ae6-9843-b5ebc69d925f\scratchpad\deck2/logos/banpresto/logo_mon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1973458"/>
            <a:ext cx="1024128" cy="41477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791456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경품 피규어</a:t>
            </a:r>
            <a:endParaRPr lang="ko-KR" alt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144768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18" name="Image 4" descr="C:\Users\Windows11\AppData\Local\Temp\claude\C--Users-Windows11-Desktop-New-folder--2-\a0c8a1d0-32ba-4ae6-9843-b5ebc69d925f\scratchpad\deck2/logos/megahouse/logo_mon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423" y="1929384"/>
            <a:ext cx="439139" cy="5029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190488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G.E.M. · 완성품</a:t>
            </a:r>
            <a:endParaRPr lang="ko-KR" altLang="en-US" sz="950" dirty="0"/>
          </a:p>
        </p:txBody>
      </p:sp>
      <p:sp>
        <p:nvSpPr>
          <p:cNvPr id="20" name="Text 13"/>
          <p:cNvSpPr txBox="1"/>
          <p:nvPr/>
        </p:nvSpPr>
        <p:spPr>
          <a:xfrm>
            <a:off x="548640" y="3054096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IP마다 또 다른 제조사 · 공식 숍</a:t>
            </a:r>
            <a:endParaRPr lang="ko-KR" alt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548640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22" name="Image 5" descr="C:\Users\Windows11\AppData\Local\Temp\claude\C--Users-Windows11-Desktop-New-folder--2-\a0c8a1d0-32ba-4ae6-9843-b5ebc69d925f\scratchpad\deck2/logos/kotobukiya/logo_mon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599993"/>
            <a:ext cx="1024128" cy="30723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94360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아머드 코어 키트</a:t>
            </a:r>
            <a:endParaRPr lang="ko-KR" alt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1947672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25" name="Image 6" descr="C:\Users\Windows11\AppData\Local\Temp\claude\C--Users-Windows11-Desktop-New-folder--2-\a0c8a1d0-32ba-4ae6-9843-b5ebc69d925f\scratchpad\deck2/logos/good_smile/logo_mon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84832" y="3609381"/>
            <a:ext cx="1024128" cy="288463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993392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넨도로이드 · figma</a:t>
            </a:r>
            <a:endParaRPr lang="ko-KR" altLang="en-US" sz="950" dirty="0"/>
          </a:p>
        </p:txBody>
      </p:sp>
      <p:sp>
        <p:nvSpPr>
          <p:cNvPr id="27" name="Shape 18"/>
          <p:cNvSpPr/>
          <p:nvPr/>
        </p:nvSpPr>
        <p:spPr>
          <a:xfrm>
            <a:off x="3346704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28" name="Image 7" descr="C:\Users\Windows11\AppData\Local\Temp\claude\C--Users-Windows11-Desktop-New-folder--2-\a0c8a1d0-32ba-4ae6-9843-b5ebc69d925f\scratchpad\deck2/logos/takara_tomy/logo_mon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37338" y="3502152"/>
            <a:ext cx="917179" cy="50292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3392424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베이블레이드 X</a:t>
            </a:r>
            <a:endParaRPr lang="ko-KR" altLang="en-US" sz="950" dirty="0"/>
          </a:p>
        </p:txBody>
      </p:sp>
      <p:sp>
        <p:nvSpPr>
          <p:cNvPr id="30" name="Shape 20"/>
          <p:cNvSpPr/>
          <p:nvPr/>
        </p:nvSpPr>
        <p:spPr>
          <a:xfrm>
            <a:off x="4745736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31" name="Image 8" descr="C:\Users\Windows11\AppData\Local\Temp\claude\C--Users-Windows11-Desktop-New-folder--2-\a0c8a1d0-32ba-4ae6-9843-b5ebc69d925f\scratchpad\deck2/logos/pokemon_center/logo_mon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2896" y="3673389"/>
            <a:ext cx="1024128" cy="160447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4791456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포켓몬 공식 굿즈</a:t>
            </a:r>
            <a:endParaRPr lang="ko-KR" altLang="en-US" sz="950" dirty="0"/>
          </a:p>
        </p:txBody>
      </p:sp>
      <p:sp>
        <p:nvSpPr>
          <p:cNvPr id="33" name="Shape 22"/>
          <p:cNvSpPr/>
          <p:nvPr/>
        </p:nvSpPr>
        <p:spPr>
          <a:xfrm>
            <a:off x="6144768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34" name="Image 9" descr="C:\Users\Windows11\AppData\Local\Temp\claude\C--Users-Windows11-Desktop-New-folder--2-\a0c8a1d0-32ba-4ae6-9843-b5ebc69d925f\scratchpad\deck2/logos/aniplex_plus/logo_mono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1928" y="3547080"/>
            <a:ext cx="1024128" cy="413065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6190488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Fate 등 애니 굿즈</a:t>
            </a:r>
            <a:endParaRPr lang="ko-KR" altLang="en-US" sz="950" dirty="0"/>
          </a:p>
        </p:txBody>
      </p:sp>
      <p:sp>
        <p:nvSpPr>
          <p:cNvPr id="36" name="Shape 24"/>
          <p:cNvSpPr/>
          <p:nvPr/>
        </p:nvSpPr>
        <p:spPr>
          <a:xfrm>
            <a:off x="548640" y="4754880"/>
            <a:ext cx="6949440" cy="1234440"/>
          </a:xfrm>
          <a:prstGeom prst="roundRect">
            <a:avLst>
              <a:gd name="adj" fmla="val 10370"/>
            </a:avLst>
          </a:prstGeom>
          <a:solidFill>
            <a:srgbClr val="F4F5F7"/>
          </a:solidFill>
          <a:ln/>
        </p:spPr>
      </p:sp>
      <p:sp>
        <p:nvSpPr>
          <p:cNvPr id="37" name="Text 25"/>
          <p:cNvSpPr txBox="1"/>
          <p:nvPr/>
        </p:nvSpPr>
        <p:spPr>
          <a:xfrm>
            <a:off x="777240" y="486460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건담 하나만 해도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프라모델 · 완성품 · 한정판 · 경품 · G.E.M. 사는 곳이 다 다르다</a:t>
            </a:r>
            <a:endParaRPr lang="ko-KR" altLang="en-US" sz="1300" dirty="0"/>
          </a:p>
        </p:txBody>
      </p:sp>
      <p:sp>
        <p:nvSpPr>
          <p:cNvPr id="38" name="Text 26"/>
          <p:cNvSpPr txBox="1"/>
          <p:nvPr/>
        </p:nvSpPr>
        <p:spPr>
          <a:xfrm>
            <a:off x="777240" y="525780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호비 사이트  ·  TAMASHII  ·  프리미엄 반다이  ·  BANPRESTO  ·  MegaHouse</a:t>
            </a:r>
            <a:endParaRPr lang="ko-KR" altLang="en-US" sz="1400" dirty="0"/>
          </a:p>
        </p:txBody>
      </p:sp>
      <p:sp>
        <p:nvSpPr>
          <p:cNvPr id="39" name="Shape 27"/>
          <p:cNvSpPr/>
          <p:nvPr/>
        </p:nvSpPr>
        <p:spPr>
          <a:xfrm>
            <a:off x="7818120" y="1481328"/>
            <a:ext cx="3822192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0" name="Text 28"/>
          <p:cNvSpPr txBox="1"/>
          <p:nvPr/>
        </p:nvSpPr>
        <p:spPr>
          <a:xfrm>
            <a:off x="809244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수집가가 겪는 일</a:t>
            </a:r>
            <a:endParaRPr lang="ko-KR" altLang="en-US" sz="1300" dirty="0"/>
          </a:p>
        </p:txBody>
      </p:sp>
      <p:sp>
        <p:nvSpPr>
          <p:cNvPr id="41" name="Shape 29"/>
          <p:cNvSpPr/>
          <p:nvPr/>
        </p:nvSpPr>
        <p:spPr>
          <a:xfrm>
            <a:off x="8092440" y="2121408"/>
            <a:ext cx="292608" cy="292608"/>
          </a:xfrm>
          <a:prstGeom prst="ellipse">
            <a:avLst/>
          </a:prstGeom>
          <a:solidFill>
            <a:srgbClr val="D93F44"/>
          </a:solidFill>
          <a:ln/>
        </p:spPr>
      </p:sp>
      <p:sp>
        <p:nvSpPr>
          <p:cNvPr id="42" name="Text 30"/>
          <p:cNvSpPr txBox="1"/>
          <p:nvPr/>
        </p:nvSpPr>
        <p:spPr>
          <a:xfrm>
            <a:off x="8092440" y="2121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100" dirty="0"/>
          </a:p>
        </p:txBody>
      </p:sp>
      <p:sp>
        <p:nvSpPr>
          <p:cNvPr id="43" name="Text 31"/>
          <p:cNvSpPr txBox="1"/>
          <p:nvPr/>
        </p:nvSpPr>
        <p:spPr>
          <a:xfrm>
            <a:off x="8503920" y="21031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사이트끼리 연결이 없다</a:t>
            </a:r>
            <a:endParaRPr lang="ko-KR" altLang="en-US" sz="1300" dirty="0"/>
          </a:p>
        </p:txBody>
      </p:sp>
      <p:sp>
        <p:nvSpPr>
          <p:cNvPr id="44" name="Text 32"/>
          <p:cNvSpPr txBox="1"/>
          <p:nvPr/>
        </p:nvSpPr>
        <p:spPr>
          <a:xfrm>
            <a:off x="8503920" y="239572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IP도 브랜드마다 따로 찾아야 한다</a:t>
            </a:r>
            <a:endParaRPr lang="ko-KR" altLang="en-US" sz="1100" dirty="0"/>
          </a:p>
        </p:txBody>
      </p:sp>
      <p:sp>
        <p:nvSpPr>
          <p:cNvPr id="45" name="Shape 33"/>
          <p:cNvSpPr/>
          <p:nvPr/>
        </p:nvSpPr>
        <p:spPr>
          <a:xfrm>
            <a:off x="8092440" y="2907792"/>
            <a:ext cx="292608" cy="292608"/>
          </a:xfrm>
          <a:prstGeom prst="ellipse">
            <a:avLst/>
          </a:prstGeom>
          <a:solidFill>
            <a:srgbClr val="D93F44"/>
          </a:solidFill>
          <a:ln/>
        </p:spPr>
      </p:sp>
      <p:sp>
        <p:nvSpPr>
          <p:cNvPr id="46" name="Text 34"/>
          <p:cNvSpPr txBox="1"/>
          <p:nvPr/>
        </p:nvSpPr>
        <p:spPr>
          <a:xfrm>
            <a:off x="8092440" y="2907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100" dirty="0"/>
          </a:p>
        </p:txBody>
      </p:sp>
      <p:sp>
        <p:nvSpPr>
          <p:cNvPr id="47" name="Text 35"/>
          <p:cNvSpPr txBox="1"/>
          <p:nvPr/>
        </p:nvSpPr>
        <p:spPr>
          <a:xfrm>
            <a:off x="8503920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상품은 찾기 어렵다</a:t>
            </a:r>
            <a:endParaRPr lang="ko-KR" altLang="en-US" sz="1300" dirty="0"/>
          </a:p>
        </p:txBody>
      </p:sp>
      <p:sp>
        <p:nvSpPr>
          <p:cNvPr id="48" name="Text 36"/>
          <p:cNvSpPr txBox="1"/>
          <p:nvPr/>
        </p:nvSpPr>
        <p:spPr>
          <a:xfrm>
            <a:off x="8503920" y="318211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사이트마다 검색 · 분류가 달라 묻힌다</a:t>
            </a:r>
            <a:endParaRPr lang="ko-KR" altLang="en-US" sz="1100" dirty="0"/>
          </a:p>
        </p:txBody>
      </p:sp>
      <p:sp>
        <p:nvSpPr>
          <p:cNvPr id="49" name="Shape 37"/>
          <p:cNvSpPr/>
          <p:nvPr/>
        </p:nvSpPr>
        <p:spPr>
          <a:xfrm>
            <a:off x="8092440" y="3694176"/>
            <a:ext cx="292608" cy="292608"/>
          </a:xfrm>
          <a:prstGeom prst="ellipse">
            <a:avLst/>
          </a:prstGeom>
          <a:solidFill>
            <a:srgbClr val="D93F44"/>
          </a:solidFill>
          <a:ln/>
        </p:spPr>
      </p:sp>
      <p:sp>
        <p:nvSpPr>
          <p:cNvPr id="50" name="Text 38"/>
          <p:cNvSpPr txBox="1"/>
          <p:nvPr/>
        </p:nvSpPr>
        <p:spPr>
          <a:xfrm>
            <a:off x="8092440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100" dirty="0"/>
          </a:p>
        </p:txBody>
      </p:sp>
      <p:sp>
        <p:nvSpPr>
          <p:cNvPr id="51" name="Text 39"/>
          <p:cNvSpPr txBox="1"/>
          <p:nvPr/>
        </p:nvSpPr>
        <p:spPr>
          <a:xfrm>
            <a:off x="8503920" y="367588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소식도 따로 온다</a:t>
            </a:r>
            <a:endParaRPr lang="ko-KR" altLang="en-US" sz="1300" dirty="0"/>
          </a:p>
        </p:txBody>
      </p:sp>
      <p:sp>
        <p:nvSpPr>
          <p:cNvPr id="52" name="Text 40"/>
          <p:cNvSpPr txBox="1"/>
          <p:nvPr/>
        </p:nvSpPr>
        <p:spPr>
          <a:xfrm>
            <a:off x="8503920" y="3968496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예고 · 발매일을 여기저기 돌며 확인</a:t>
            </a:r>
            <a:endParaRPr lang="ko-KR" altLang="en-US" sz="1100" dirty="0"/>
          </a:p>
        </p:txBody>
      </p:sp>
      <p:sp>
        <p:nvSpPr>
          <p:cNvPr id="53" name="Shape 41"/>
          <p:cNvSpPr/>
          <p:nvPr/>
        </p:nvSpPr>
        <p:spPr>
          <a:xfrm>
            <a:off x="7818120" y="4681728"/>
            <a:ext cx="3822192" cy="1307592"/>
          </a:xfrm>
          <a:prstGeom prst="roundRect">
            <a:avLst>
              <a:gd name="adj" fmla="val 9790"/>
            </a:avLst>
          </a:prstGeom>
          <a:solidFill>
            <a:srgbClr val="EAF4FC"/>
          </a:solidFill>
          <a:ln/>
        </p:spPr>
      </p:sp>
      <p:sp>
        <p:nvSpPr>
          <p:cNvPr id="54" name="Text 42"/>
          <p:cNvSpPr txBox="1"/>
          <p:nvPr/>
        </p:nvSpPr>
        <p:spPr>
          <a:xfrm>
            <a:off x="8092440" y="47914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Hobby Atlas</a:t>
            </a:r>
            <a:endParaRPr lang="ko-KR" altLang="en-US" sz="1200" dirty="0"/>
          </a:p>
        </p:txBody>
      </p:sp>
      <p:sp>
        <p:nvSpPr>
          <p:cNvPr id="55" name="Text 43"/>
          <p:cNvSpPr txBox="1"/>
          <p:nvPr/>
        </p:nvSpPr>
        <p:spPr>
          <a:xfrm>
            <a:off x="8092440" y="5065776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IP 채널 하나로, 여러 브랜드의 새 소식과 지난 상품까지 한곳에서</a:t>
            </a:r>
            <a:endParaRPr lang="ko-KR" altLang="en-US" sz="1350" dirty="0"/>
          </a:p>
        </p:txBody>
      </p:sp>
      <p:sp>
        <p:nvSpPr>
          <p:cNvPr id="56" name="Text 44"/>
          <p:cNvSpPr txBox="1"/>
          <p:nvPr/>
        </p:nvSpPr>
        <p:spPr>
          <a:xfrm>
            <a:off x="548640" y="610819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로고는 각 사의 상표 — 수업 목적 인용 (출처: 각 사 공식 사이트 · Wikimedia Commons, 2026.10 확인)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5</a:t>
            </a:fld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2/4 — 현행 분석 · 리뷰 근거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앱 hobbyDB에 없는 기능 · 쓰기 불편한 점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017520" cy="4617720"/>
          </a:xfrm>
          <a:prstGeom prst="roundRect">
            <a:avLst>
              <a:gd name="adj" fmla="val 4242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62763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분포</a:t>
            </a:r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8,656개</a:t>
            </a:r>
            <a:endParaRPr lang="ko-KR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★5</a:t>
            </a:r>
            <a:endParaRPr lang="ko-KR" alt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143000" y="2011680"/>
            <a:ext cx="1828800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17520" y="1965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7,690</a:t>
            </a:r>
            <a:endParaRPr lang="ko-KR" alt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24028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143000" y="2286000"/>
            <a:ext cx="109395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98115" y="2240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460</a:t>
            </a:r>
            <a:endParaRPr lang="ko-KR" alt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251460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★3</a:t>
            </a:r>
            <a:endParaRPr lang="ko-KR" alt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43000" y="2560320"/>
            <a:ext cx="37813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26533" y="25146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159</a:t>
            </a:r>
            <a:endParaRPr lang="ko-KR" alt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278892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★2</a:t>
            </a:r>
            <a:endParaRPr lang="ko-KR" alt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43000" y="2834640"/>
            <a:ext cx="36576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25296" y="27889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</a:t>
            </a:r>
            <a:endParaRPr lang="ko-KR" alt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306324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★1</a:t>
            </a:r>
            <a:endParaRPr lang="ko-KR" alt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43000" y="3108960"/>
            <a:ext cx="65875" cy="128016"/>
          </a:xfrm>
          <a:prstGeom prst="rect">
            <a:avLst/>
          </a:prstGeom>
          <a:solidFill>
            <a:srgbClr val="D93F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54595" y="3063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277</a:t>
            </a:r>
            <a:endParaRPr lang="ko-KR" alt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34015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★1이 ★2 + ★3보다 많다 — 한 번 막히면 떠난다</a:t>
            </a:r>
            <a:endParaRPr lang="ko-KR" alt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9319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유형</a:t>
            </a:r>
            <a:endParaRPr lang="ko-KR" alt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22452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기능</a:t>
            </a:r>
            <a:endParaRPr lang="ko-KR" alt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834640" y="42245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49884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불편 (유료 잠금 포함)</a:t>
            </a:r>
            <a:endParaRPr lang="ko-KR" alt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834640" y="4498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47731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버그 · 광고 · 속도 — 이번엔 제외</a:t>
            </a:r>
            <a:endParaRPr lang="ko-KR" alt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834640" y="47731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ko-KR" alt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54406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잘된 점  </a:t>
            </a:r>
            <a:pPr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상자 사진 · 품번, P07 바코드 — v2도 지킨다</a:t>
            </a:r>
            <a:endParaRPr lang="ko-KR" alt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794760" y="14813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리뷰가 말하는 것</a:t>
            </a:r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Hobby Atlas가 답하는 기능</a:t>
            </a:r>
            <a:endParaRPr lang="ko-KR" alt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94760" y="1828800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950208" y="1938528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950208" y="193852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기능</a:t>
            </a:r>
            <a:endParaRPr lang="ko-KR" alt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047488" y="192938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 · 2022.11.06 · Google Play</a:t>
            </a:r>
            <a:endParaRPr lang="ko-KR" alt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3950208" y="22128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"Would love to be able to organize by line."</a:t>
            </a:r>
            <a:endParaRPr lang="ko-KR" alt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3950208" y="24871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IP(라인)별로 정리해 볼 수 없다</a:t>
            </a:r>
            <a:endParaRPr lang="ko-KR" alt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759952" y="2313432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144000" y="1901952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281160" y="1901952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IP 채널 바 · 작품별 필터</a:t>
            </a:r>
            <a:endParaRPr lang="ko-KR" alt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94760" y="2907792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950208" y="3017520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950208" y="301752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불편</a:t>
            </a:r>
            <a:endParaRPr lang="ko-KR" alt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047488" y="300837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★5 · 2025.01.26 · Google Play</a:t>
            </a:r>
            <a:endParaRPr lang="ko-KR" alt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3950208" y="329184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"It takes a little for new pops to be added"</a:t>
            </a:r>
            <a:endParaRPr lang="ko-KR" alt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3950208" y="356616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 정보가 늦게 올라온다</a:t>
            </a:r>
            <a:endParaRPr lang="ko-KR" alt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759952" y="3392424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9144000" y="2980944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281160" y="2980944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예고 배너 · 발매 캘린더</a:t>
            </a:r>
            <a:endParaRPr lang="ko-KR" alt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94760" y="3986784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3950208" y="4096512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950208" y="40965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불편</a:t>
            </a:r>
            <a:endParaRPr lang="ko-KR" alt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5047488" y="408736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★3 · 2021.09.17 · App Store US</a:t>
            </a:r>
            <a:endParaRPr lang="ko-KR" alt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3950208" y="437083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"could be made much easier to add and remove items from your collection"</a:t>
            </a:r>
            <a:endParaRPr lang="ko-KR" alt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3950208" y="464515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컬렉션에 넣고 빼기가 번거롭다</a:t>
            </a:r>
            <a:endParaRPr lang="ko-KR" alt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759952" y="4471416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9144000" y="4059936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9281160" y="4059936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위 ♡ · 리본 한 번 · 휴지통</a:t>
            </a:r>
            <a:endParaRPr lang="ko-KR" alt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794760" y="5065776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3950208" y="5175504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950208" y="517550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기능</a:t>
            </a:r>
            <a:endParaRPr lang="ko-KR" alt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5047488" y="51663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 · 2021.04.29 · App Store CA</a:t>
            </a:r>
            <a:endParaRPr lang="ko-KR" alt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950208" y="544982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 wish there was a Canadian Version showing PPG in CDN$ dollars"</a:t>
            </a:r>
            <a:endParaRPr lang="ko-KR" altLang="en-US" sz="1150" dirty="0"/>
          </a:p>
        </p:txBody>
      </p:sp>
      <p:sp>
        <p:nvSpPr>
          <p:cNvPr id="63" name="Text 61"/>
          <p:cNvSpPr txBox="1"/>
          <p:nvPr/>
        </p:nvSpPr>
        <p:spPr>
          <a:xfrm>
            <a:off x="3950208" y="572414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나라 통화 시세가 없다</a:t>
            </a:r>
            <a:endParaRPr lang="ko-KR" alt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8759952" y="5550408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9144000" y="5138928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281160" y="5138928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일본 정가 + 국내 시세(원)</a:t>
            </a:r>
            <a:endParaRPr lang="ko-KR" alt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3794760" y="617220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리뷰는 원문 구절 · 작성자 이름 지움 · 수업 목적 인용 · 버그 · 광고 리뷰는 이번 분석에서 뺐다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6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3/4 — 퍼소나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앱을 쓸 사람: 수집 4년차 민준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66160" cy="4617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6192" y="1783080"/>
            <a:ext cx="1600200" cy="1600200"/>
          </a:xfrm>
          <a:prstGeom prst="ellipse">
            <a:avLst/>
          </a:prstGeom>
          <a:solidFill>
            <a:srgbClr val="EAF4FC"/>
          </a:solidFill>
          <a:ln w="38100">
            <a:solidFill>
              <a:srgbClr val="1C86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36192" y="1783080"/>
            <a:ext cx="1600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</a:t>
            </a:r>
            <a:endParaRPr lang="ko-KR" alt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204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 · 23</a:t>
            </a:r>
            <a:endParaRPr lang="ko-KR" alt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대학생 · 수집 4년차</a:t>
            </a:r>
            <a:endParaRPr lang="ko-KR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4407408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407408"/>
            <a:ext cx="1051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모으는 것</a:t>
            </a:r>
            <a:endParaRPr lang="ko-KR" alt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44074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건프라 · 베이블레이드 X · 포켓몬</a:t>
            </a:r>
            <a:endParaRPr lang="ko-KR" alt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937760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F4F5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937760"/>
            <a:ext cx="1051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기기</a:t>
            </a:r>
            <a:endParaRPr lang="ko-KR" alt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493776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갤럭시 폴드 (접고 · 펼치고)</a:t>
            </a:r>
            <a:endParaRPr lang="ko-KR" alt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5468112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F4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5468112"/>
            <a:ext cx="1051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사는 사람</a:t>
            </a:r>
            <a:endParaRPr lang="ko-KR" alt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546811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 — 같은 방에 컬렉션</a:t>
            </a:r>
            <a:endParaRPr lang="ko-KR" alt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14813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민준의 하루</a:t>
            </a:r>
            <a:endParaRPr lang="ko-KR" alt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89120" y="1847088"/>
            <a:ext cx="3931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90288" y="202996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90288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20116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등하굣길</a:t>
            </a:r>
            <a:endParaRPr lang="ko-KR" alt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49440" y="204825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949440" y="20482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</a:t>
            </a:r>
            <a:endParaRPr lang="ko-KR" alt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246888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 · 신상 소식을 공식 X · 유튜브 · 호비 사이트에서 따로 확인</a:t>
            </a:r>
            <a:endParaRPr lang="ko-KR" alt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89120" y="3264408"/>
            <a:ext cx="3931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90288" y="344728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9028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34290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ko-KR" alt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949440" y="346557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49440" y="346557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ko-KR" alt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590288" y="38862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"이거 이미 샀나?" 기억이 안 나고, 시세는 중고 앱에서 따로</a:t>
            </a:r>
            <a:endParaRPr lang="ko-KR" alt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89120" y="4681728"/>
            <a:ext cx="3931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90288" y="486460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590288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120640" y="48463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</a:t>
            </a:r>
            <a:endParaRPr lang="ko-KR" alt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949440" y="488289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49440" y="48828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폴드 펼침</a:t>
            </a:r>
            <a:endParaRPr lang="ko-KR" alt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90288" y="5303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 것 · 갖고 싶은 것을 정리 — 동생 것과 겹친다</a:t>
            </a:r>
            <a:endParaRPr lang="ko-KR" alt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549640" y="1481328"/>
            <a:ext cx="3090672" cy="2240280"/>
          </a:xfrm>
          <a:prstGeom prst="roundRect">
            <a:avLst>
              <a:gd name="adj" fmla="val 5714"/>
            </a:avLst>
          </a:prstGeom>
          <a:solidFill>
            <a:srgbClr val="FCEDE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59952" y="1627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불편한 점</a:t>
            </a:r>
            <a:endParaRPr lang="ko-KR" alt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8759952" y="1965960"/>
            <a:ext cx="2697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소식 · 시세 · 기록이 앱마다 따로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지난 상품은 찾기 어렵다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이미 샀는지 헷갈려 겹쳐 산다</a:t>
            </a:r>
            <a:endParaRPr lang="ko-KR" alt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8549640" y="3858768"/>
            <a:ext cx="3090672" cy="2240280"/>
          </a:xfrm>
          <a:prstGeom prst="roundRect">
            <a:avLst>
              <a:gd name="adj" fmla="val 5714"/>
            </a:avLst>
          </a:prstGeom>
          <a:solidFill>
            <a:srgbClr val="EAF4F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59952" y="40050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바라는 것</a:t>
            </a:r>
            <a:endParaRPr lang="ko-KR" alt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759952" y="4343400"/>
            <a:ext cx="2697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내 IP 소식만 한곳에서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산 것 · 갖고 싶은 것을 한 번에 기록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동생 · 친구와 겹쳐 사지 않기</a:t>
            </a:r>
            <a:endParaRPr lang="ko-KR" alt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7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4/4 — 저니 · 근본 원인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민준이 가장 막히는 곳과 그 이유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저니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재판 소식을 보고 → 사서 → 도감에 기록하기까지</a:t>
            </a:r>
            <a:endParaRPr lang="ko-KR" alt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소식 알기</a:t>
            </a:r>
            <a:endParaRPr lang="ko-KR" alt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9669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9669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7685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2316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6032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ko-KR" alt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87121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C9CDD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87121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</a:t>
            </a:r>
            <a:endParaRPr lang="ko-KR" alt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5137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29768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CEDED"/>
          </a:solidFill>
          <a:ln w="25400">
            <a:solidFill>
              <a:srgbClr val="D93F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3484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살지 판단</a:t>
            </a:r>
            <a:endParaRPr lang="ko-KR" alt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74573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4573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최악</a:t>
            </a:r>
            <a:endParaRPr lang="ko-KR" alt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2589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17220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0936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ko-KR" alt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62025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C9CDD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2025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</a:t>
            </a:r>
            <a:endParaRPr lang="ko-KR" alt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90041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04672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8388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alt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13816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모은 것 보기</a:t>
            </a:r>
            <a:endParaRPr lang="ko-KR" alt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49477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9477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ko-KR" alt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77493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92124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05840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01268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나누기</a:t>
            </a:r>
            <a:endParaRPr lang="ko-KR" alt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1036929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12A07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036929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좋음</a:t>
            </a:r>
            <a:endParaRPr lang="ko-KR" alt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297680" y="3035808"/>
            <a:ext cx="3593592" cy="457200"/>
          </a:xfrm>
          <a:prstGeom prst="roundRect">
            <a:avLst>
              <a:gd name="adj" fmla="val 20000"/>
            </a:avLst>
          </a:prstGeom>
          <a:solidFill>
            <a:srgbClr val="FCEDE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434840" y="30358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정가 · 시세 · 이미 가졌는지를 한곳에서 못 본다</a:t>
            </a:r>
            <a:endParaRPr lang="ko-KR" alt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37307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그럴까? — 5 Why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피쉬본 6시각 중 가장 많은 "사용성"에서 출발 (전체: 부록 B5-3)</a:t>
            </a:r>
            <a:endParaRPr lang="ko-KR" alt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4864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7665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1</a:t>
            </a:r>
            <a:endParaRPr lang="ko-KR" alt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7665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메뉴가 많고 창이 따로 열린다</a:t>
            </a:r>
            <a:endParaRPr lang="ko-KR" alt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20370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33172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45973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2</a:t>
            </a:r>
            <a:endParaRPr lang="ko-KR" alt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245973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웹사이트 구조를 그대로 옮겼다</a:t>
            </a:r>
            <a:endParaRPr lang="ko-KR" alt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398678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411480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4281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3</a:t>
            </a:r>
            <a:endParaRPr lang="ko-KR" alt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424281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종류로 화면을 나눴다</a:t>
            </a:r>
            <a:endParaRPr lang="ko-KR" alt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576986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89788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02589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4</a:t>
            </a:r>
            <a:endParaRPr lang="ko-KR" alt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602589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관심 분야가 화면에 없다</a:t>
            </a:r>
            <a:endParaRPr lang="ko-KR" alt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755294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7680960" y="4114800"/>
            <a:ext cx="3959352" cy="1984248"/>
          </a:xfrm>
          <a:prstGeom prst="roundRect">
            <a:avLst>
              <a:gd name="adj" fmla="val 7373"/>
            </a:avLst>
          </a:prstGeom>
          <a:solidFill>
            <a:srgbClr val="1C86D9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909560" y="42245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CFE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5 — 근본 원인</a:t>
            </a:r>
            <a:endParaRPr lang="ko-KR" alt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7909560" y="449884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관심 IP와 내가 하는 일의 순서가 화면의 기준이 아니다</a:t>
            </a:r>
            <a:endParaRPr lang="ko-KR" alt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7909560" y="53492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Hobby Atlas: </a:t>
            </a:r>
            <a:pPr indent="0" marL="0">
              <a:buNone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위는 내 채널 바 하나, 아래 탭은 소식 · 찾기 · 발매 · 기록 순서</a:t>
            </a:r>
            <a:endParaRPr lang="ko-KR" alt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548640" y="5349240"/>
            <a:ext cx="69494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31520" y="5349240"/>
            <a:ext cx="6675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어긴 원칙  </a:t>
            </a:r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P07 지름길 없음 · P08 정보 과다 · P10 시세 출처 불명   </a:t>
            </a:r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데이터  </a:t>
            </a:r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kits.priceJpy · 내 구매함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8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홈 시안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시안 A · B · C — AI는 B를 추천했지만 나는 A를 골랐다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463040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15:00</a:t>
            </a:r>
            <a:endParaRPr lang="ko-KR" alt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7007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“아바타는 그 줄 위에 두고, 홈에 검색은 필요해. 그런데 안의 기능들을 위에서 아래로 나열하지 말고, 더 좋은 UI 방식을 같이 고민해 보자.”</a:t>
            </a:r>
            <a:endParaRPr lang="ko-KR" alt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매거진 · 내 선택</a:t>
            </a:r>
            <a:endParaRPr lang="ko-KR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39970" y="2830068"/>
            <a:ext cx="1457621" cy="2569464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abc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682" y="2811780"/>
            <a:ext cx="1494197" cy="260604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486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사진 한 장 넘기기 + 태그 붙은 2열 사진</a:t>
            </a:r>
            <a:endParaRPr lang="ko-KR" alt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870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사진이 가장 크고 많다</a:t>
            </a:r>
            <a:endParaRPr lang="ko-KR" alt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944368" y="2423160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944368" y="24231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벤토 · AI 추천</a:t>
            </a:r>
            <a:endParaRPr lang="ko-KR" altLang="en-US" sz="1050" dirty="0"/>
          </a:p>
        </p:txBody>
      </p:sp>
      <p:pic>
        <p:nvPicPr>
          <p:cNvPr id="15" name="Image 1" descr="C:\Users\Windows11\AppData\Local\Temp\claude\C--Users-Windows11-Desktop-New-folder--2-\a0c8a1d0-32ba-4ae6-9843-b5ebc69d925f\scratchpad\deck2/img/abc_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2441" y="2811780"/>
            <a:ext cx="1484135" cy="260604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944368" y="5486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 크기가 다른 4칸 (신규 8 · 10월 발매 3 · 예고 6 · 최근 본)</a:t>
            </a:r>
            <a:endParaRPr lang="ko-KR" alt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2944368" y="5870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숫자 위주 — 사진이 작다</a:t>
            </a:r>
            <a:endParaRPr lang="ko-KR" alt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340096" y="2423160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340096" y="24231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카드 덱</a:t>
            </a:r>
            <a:endParaRPr lang="ko-KR" altLang="en-US" sz="1050" dirty="0"/>
          </a:p>
        </p:txBody>
      </p:sp>
      <p:pic>
        <p:nvPicPr>
          <p:cNvPr id="20" name="Image 2" descr="C:\Users\Windows11\AppData\Local\Temp\claude\C--Users-Windows11-Desktop-New-folder--2-\a0c8a1d0-32ba-4ae6-9843-b5ebc69d925f\scratchpad\deck2/img/abc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8169" y="2811780"/>
            <a:ext cx="1484135" cy="260604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340096" y="5486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알약으로 종류 · 큰 카드를 하나씩 넘김</a:t>
            </a:r>
            <a:endParaRPr lang="ko-KR" alt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5340096" y="5870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한 번에 하나 — 찾기 느리다</a:t>
            </a:r>
            <a:endParaRPr lang="ko-KR" alt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7818120" y="2423160"/>
            <a:ext cx="3822192" cy="3721608"/>
          </a:xfrm>
          <a:prstGeom prst="roundRect">
            <a:avLst>
              <a:gd name="adj" fmla="val 344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046720" y="2560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정했나</a:t>
            </a:r>
            <a:endParaRPr lang="ko-KR" alt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8046720" y="296265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46720" y="29626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ko-KR" alt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8595360" y="2926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· B · C를 보여 주고 "B에 사진을 넣자"고 추천</a:t>
            </a:r>
            <a:endParaRPr lang="ko-KR" alt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8046720" y="351129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46720" y="351129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ko-KR" alt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8595360" y="3474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"나는 A가 더 좋아, 시안을 더 보여 줘"</a:t>
            </a:r>
            <a:endParaRPr lang="ko-KR" alt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8046720" y="405993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46720" y="405993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ko-KR" alt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8595360" y="40233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 룩북 · A2 메이슨리 · A3 에디토리얼 · A4 타임라인 — A1 추천</a:t>
            </a:r>
            <a:endParaRPr lang="ko-KR" alt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8046720" y="460857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46720" y="460857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ko-KR" altLang="en-US" sz="950" dirty="0"/>
          </a:p>
        </p:txBody>
      </p:sp>
      <p:sp>
        <p:nvSpPr>
          <p:cNvPr id="36" name="Text 31"/>
          <p:cNvSpPr txBox="1"/>
          <p:nvPr/>
        </p:nvSpPr>
        <p:spPr>
          <a:xfrm>
            <a:off x="8595360" y="4572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"처음 그 A 매거진이 좋아"</a:t>
            </a:r>
            <a:endParaRPr lang="ko-KR" alt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8046720" y="5166360"/>
            <a:ext cx="3383280" cy="868680"/>
          </a:xfrm>
          <a:prstGeom prst="roundRect">
            <a:avLst>
              <a:gd name="adj" fmla="val 10526"/>
            </a:avLst>
          </a:prstGeom>
          <a:solidFill>
            <a:srgbClr val="EAF4FC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8183880" y="5193792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A? </a:t>
            </a:r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수집가는 이름보다 사진으로 상품을 알아본다. 사진이 가장 크고 많은 A — B는 숫자 칸, C는 한 번에 하나뿐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9</a:t>
            </a:fld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1/5 · 홈 · 채널 · 가로 줄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홈: 다른 앱 캡처를 보여 주고, 채널 · 배너 · 가로 줄로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14:25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채널 관리 화면 캡처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위쪽 IP 바 · 아바타 · 하단 탭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“아바타는 왼쪽 위에. 캘린더는 좋은 기능이라 넣고 싶어. IP는 다 넣을 수 없고 사람마다 원하는 게 다르니까, IP가 있는 곳 오른쪽 위에 채널처럼 누르면 오른쪽에서 밀려 나오는 화면을 두고 보일 IP를 고르게 해 줘. 최근 업데이트는 홈에. 카메라 아이콘은 안 예뻐서 바꿔 줘. 하단 탭은 추천안대로, 앱은 흑백으로.”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34762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cha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6474" y="3310128"/>
            <a:ext cx="1183086" cy="2560320"/>
          </a:xfrm>
          <a:prstGeom prst="rect">
            <a:avLst/>
          </a:prstGeom>
        </p:spPr>
      </p:pic>
      <p:pic>
        <p:nvPicPr>
          <p:cNvPr id="11" name="Image 1" descr="C:\Users\Windows11\AppData\Local\Temp\claude\C--Users-Windows11-Desktop-New-folder--2-\a0c8a1d0-32ba-4ae6-9843-b5ebc69d925f\scratchpad\deck2/img/r_0525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348" y="3310128"/>
            <a:ext cx="1051249" cy="23774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2920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· 채널 관리</a:t>
            </a:r>
            <a:endParaRPr lang="ko-KR" altLang="en-US" sz="750" dirty="0"/>
          </a:p>
        </p:txBody>
      </p:sp>
      <p:sp>
        <p:nvSpPr>
          <p:cNvPr id="13" name="Shape 9"/>
          <p:cNvSpPr/>
          <p:nvPr/>
        </p:nvSpPr>
        <p:spPr>
          <a:xfrm>
            <a:off x="2733594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☰ 채널 관리 — 오른쪽에서 밀려 나옴</a:t>
            </a:r>
            <a:endParaRPr lang="ko-KR" alt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a29b005 · d16ec27</a:t>
            </a:r>
            <a:endParaRPr lang="ko-KR" alt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15:39</a:t>
            </a:r>
            <a:endParaRPr lang="ko-KR" alt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PS Store · 네이버 플러스 스토어 · 푸드판다 · Prime Video</a:t>
            </a:r>
            <a:endParaRPr lang="ko-KR" alt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홈 — 맨 위 배너 · 가로 줄</a:t>
            </a:r>
            <a:endParaRPr lang="ko-KR" alt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앱들을 봐. 한 항목 안에 '최근 업데이트' 같은 게 사진으로 좌우로 넘어가고, 날짜 · 가격 같은 건 없어 — 관심 있는 사람은 눌러서 상세를 보니까. 맨 위 큰 그림은 배경에 녹아들지 못하니, 예고처럼 완전한 그림을 어색하지 않게 넣으면 어때? 더 좋은 생각이 있으면 말해 줘.”</a:t>
            </a:r>
            <a:endParaRPr lang="ko-KR" alt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2" descr="C:\Users\Windows11\AppData\Local\Temp\claude\C--Users-Windows11-Desktop-New-folder--2-\a0c8a1d0-32ba-4ae6-9843-b5ebc69d925f\scratchpad\deck2/img/evo_b20d76f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pic>
        <p:nvPicPr>
          <p:cNvPr id="24" name="Image 3" descr="C:\Users\Windows11\AppData\Local\Temp\claude\C--Users-Windows11-Desktop-New-folder--2-\a0c8a1d0-32ba-4ae6-9843-b5ebc69d925f\scratchpad\deck2/img/r_0639_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873" y="3310128"/>
            <a:ext cx="435740" cy="106984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273296" y="4389120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 Store</a:t>
            </a:r>
            <a:endParaRPr lang="ko-KR" altLang="en-US" sz="750" dirty="0"/>
          </a:p>
        </p:txBody>
      </p:sp>
      <p:pic>
        <p:nvPicPr>
          <p:cNvPr id="26" name="Image 4" descr="C:\Users\Windows11\AppData\Local\Temp\claude\C--Users-Windows11-Desktop-New-folder--2-\a0c8a1d0-32ba-4ae6-9843-b5ebc69d925f\scratchpad\deck2/img/r_0639_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479" y="3310128"/>
            <a:ext cx="435740" cy="106984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019902" y="4389120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 Store</a:t>
            </a:r>
            <a:endParaRPr lang="ko-KR" altLang="en-US" sz="750" dirty="0"/>
          </a:p>
        </p:txBody>
      </p:sp>
      <p:pic>
        <p:nvPicPr>
          <p:cNvPr id="28" name="Image 5" descr="C:\Users\Windows11\AppData\Local\Temp\claude\C--Users-Windows11-Desktop-New-folder--2-\a0c8a1d0-32ba-4ae6-9843-b5ebc69d925f\scratchpad\deck2/img/r_0639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1085" y="3310128"/>
            <a:ext cx="435740" cy="106984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766508" y="4389120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N+스토어</a:t>
            </a:r>
            <a:endParaRPr lang="ko-KR" altLang="en-US" sz="750" dirty="0"/>
          </a:p>
        </p:txBody>
      </p:sp>
      <p:pic>
        <p:nvPicPr>
          <p:cNvPr id="30" name="Image 6" descr="C:\Users\Windows11\AppData\Local\Temp\claude\C--Users-Windows11-Desktop-New-folder--2-\a0c8a1d0-32ba-4ae6-9843-b5ebc69d925f\scratchpad\deck2/img/r_0639_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7873" y="4617720"/>
            <a:ext cx="435740" cy="10698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4273296" y="5696712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푸드판다</a:t>
            </a:r>
            <a:endParaRPr lang="ko-KR" altLang="en-US" sz="750" dirty="0"/>
          </a:p>
        </p:txBody>
      </p:sp>
      <p:pic>
        <p:nvPicPr>
          <p:cNvPr id="32" name="Image 7" descr="C:\Users\Windows11\AppData\Local\Temp\claude\C--Users-Windows11-Desktop-New-folder--2-\a0c8a1d0-32ba-4ae6-9843-b5ebc69d925f\scratchpad\deck2/img/r_0639_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4479" y="4617720"/>
            <a:ext cx="435740" cy="106984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5019902" y="5696712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Prime Video</a:t>
            </a:r>
            <a:endParaRPr lang="ko-KR" altLang="en-US" sz="750" dirty="0"/>
          </a:p>
        </p:txBody>
      </p:sp>
      <p:sp>
        <p:nvSpPr>
          <p:cNvPr id="34" name="Shape 24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35" name="Text 25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예고 배너 + 가로 줄 (날짜 · 가격 없음)</a:t>
            </a:r>
            <a:endParaRPr lang="ko-KR" altLang="en-US" sz="1100" dirty="0"/>
          </a:p>
        </p:txBody>
      </p:sp>
      <p:sp>
        <p:nvSpPr>
          <p:cNvPr id="36" name="Text 26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b20d76f</a:t>
            </a:r>
            <a:endParaRPr lang="ko-KR" altLang="en-US" sz="850" dirty="0"/>
          </a:p>
        </p:txBody>
      </p:sp>
      <p:sp>
        <p:nvSpPr>
          <p:cNvPr id="37" name="Shape 27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8" name="Shape 28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9" name="Text 29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16:00</a:t>
            </a:r>
            <a:endParaRPr lang="ko-KR" altLang="en-US" sz="850" dirty="0"/>
          </a:p>
        </p:txBody>
      </p:sp>
      <p:sp>
        <p:nvSpPr>
          <p:cNvPr id="40" name="Text 30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IMDb · Instagram (말로 설명)</a:t>
            </a:r>
            <a:endParaRPr lang="ko-KR" altLang="en-US" sz="850" dirty="0"/>
          </a:p>
        </p:txBody>
      </p:sp>
      <p:sp>
        <p:nvSpPr>
          <p:cNvPr id="41" name="Text 31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줄 제목 막대 · 앱 색 · 층 · 사진 위 + 자리</a:t>
            </a:r>
            <a:endParaRPr lang="ko-KR" altLang="en-US" sz="850" dirty="0"/>
          </a:p>
        </p:txBody>
      </p:sp>
      <p:sp>
        <p:nvSpPr>
          <p:cNvPr id="42" name="Text 32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“'최근 추가' 같은 줄 앞에 IMDb처럼 세로 막대를 넣고, 줄과 줄 사이가 층으로 나뉘어 보이게. 인스타 · IMDb처럼 앱만의 색이 있었으면 해 — 나는 프리덤 · 능천사 같은 하늘색이나 초록. 흑백회 속 곳곳에만 넣고, 전부 그 색이면 오히려 안 고급스러워. 사진 왼쪽 위에 + 나 하트 자리를 미리 비워 두고, 최근 추가 아래 날짜 범위도 그 색으로.”</a:t>
            </a:r>
            <a:endParaRPr lang="ko-KR" altLang="en-US" sz="950" dirty="0"/>
          </a:p>
        </p:txBody>
      </p:sp>
      <p:sp>
        <p:nvSpPr>
          <p:cNvPr id="43" name="Shape 33"/>
          <p:cNvSpPr/>
          <p:nvPr/>
        </p:nvSpPr>
        <p:spPr>
          <a:xfrm>
            <a:off x="9291597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44" name="Image 8" descr="C:\Users\Windows11\AppData\Local\Temp\claude\C--Users-Windows11-Desktop-New-folder--2-\a0c8a1d0-32ba-4ae6-9843-b5ebc69d925f\scratchpad\deck2/img/evo_25f8bb1_hom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73309" y="3310128"/>
            <a:ext cx="1183086" cy="256032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하늘색 막대 · 흰 띠 층 · + 자리</a:t>
            </a:r>
            <a:endParaRPr lang="ko-KR" altLang="en-US" sz="1100" dirty="0"/>
          </a:p>
        </p:txBody>
      </p:sp>
      <p:sp>
        <p:nvSpPr>
          <p:cNvPr id="46" name="Text 35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25f8bb1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</a:t>
            </a:fld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2/5 · 홈 · 전체 목록 · 필터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목록: AI가 만든 새 화면 · 알약 → 토이저러스 같은 필터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22:06–22:14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내가 표시한 홈 캡처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홈 › 전체 목록의 위치 · 거르는 기준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“홈의 '전체 목록' 화면이 하나도 없어. → (AI가 새 화면을 만듦) 아니아니, 이것들은 이 그림 아래에 있어야 해. 분류도 좋아요 · 원함이 아니라 작품별로, 검색도 '최근 추가'나 '10월 발매' 안에서만. 그리고 전체 상품 보기가 없잖아 — 어디에 두면 좋을까?”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34762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d8dd566_see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6474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· 내가 보여 준 홈 머리</a:t>
            </a:r>
            <a:endParaRPr lang="ko-KR" altLang="en-US" sz="800" dirty="0"/>
          </a:p>
        </p:txBody>
      </p:sp>
      <p:pic>
        <p:nvPicPr>
          <p:cNvPr id="12" name="Image 1" descr="C:\Users\Windows11\AppData\Local\Temp\claude\C--Users-Windows11-Desktop-New-folder--2-\a0c8a1d0-32ba-4ae6-9843-b5ebc69d925f\scratchpad\deck2/img/r_1314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83864"/>
            <a:ext cx="1120865" cy="292608"/>
          </a:xfrm>
          <a:prstGeom prst="rect">
            <a:avLst/>
          </a:prstGeom>
        </p:spPr>
      </p:pic>
      <p:pic>
        <p:nvPicPr>
          <p:cNvPr id="13" name="Image 2" descr="C:\Users\Windows11\AppData\Local\Temp\claude\C--Users-Windows11-Desktop-New-folder--2-\a0c8a1d0-32ba-4ae6-9843-b5ebc69d925f\scratchpad\deck2/img/evo_c29f0ff_see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555" y="3867912"/>
            <a:ext cx="840836" cy="18196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2920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새 화면 + 상태로 거르기</a:t>
            </a:r>
            <a:endParaRPr lang="ko-KR" altLang="en-US" sz="750" dirty="0"/>
          </a:p>
        </p:txBody>
      </p:sp>
      <p:sp>
        <p:nvSpPr>
          <p:cNvPr id="15" name="Shape 10"/>
          <p:cNvSpPr/>
          <p:nvPr/>
        </p:nvSpPr>
        <p:spPr>
          <a:xfrm>
            <a:off x="2733594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16" name="Text 11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머리 아래 목록 · 작품별 · 목록 안 검색</a:t>
            </a:r>
            <a:endParaRPr lang="ko-KR" alt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d8dd566</a:t>
            </a:r>
            <a:endParaRPr lang="ko-KR" alt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22:24</a:t>
            </a:r>
            <a:endParaRPr lang="ko-KR" altLang="en-US" sz="850" dirty="0"/>
          </a:p>
        </p:txBody>
      </p:sp>
      <p:sp>
        <p:nvSpPr>
          <p:cNvPr id="21" name="Text 16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토이저러스 필터</a:t>
            </a:r>
            <a:endParaRPr lang="ko-KR" alt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거르기 → 오른쪽 필터 패널 · 배너</a:t>
            </a:r>
            <a:endParaRPr lang="ko-KR" alt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“이건 너무 못생겼어, 나는 이런 걸 원해. 전체 상품 기능은 어디 둘지 다시 생각해 줘. 세 번째 그림 같은 건 빼. 공식 발표는 몇 초마다 자동으로 다음 장으로 넘어가게.”</a:t>
            </a:r>
            <a:endParaRPr lang="ko-KR" alt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3" descr="C:\Users\Windows11\AppData\Local\Temp\claude\C--Users-Windows11-Desktop-New-folder--2-\a0c8a1d0-32ba-4ae6-9843-b5ebc69d925f\scratchpad\deck2/img/evo_a44d4b5_seea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319016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작품 알약 줄 — 못생김</a:t>
            </a:r>
            <a:endParaRPr lang="ko-KR" altLang="en-US" sz="800" dirty="0"/>
          </a:p>
        </p:txBody>
      </p:sp>
      <p:pic>
        <p:nvPicPr>
          <p:cNvPr id="27" name="Image 4" descr="C:\Users\Windows11\AppData\Local\Temp\claude\C--Users-Windows11-Desktop-New-folder--2-\a0c8a1d0-32ba-4ae6-9843-b5ebc69d925f\scratchpad\deck2/img/r_1324_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3483864"/>
            <a:ext cx="2166666" cy="20864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19016" y="3783946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세 번째 그림 — 빼</a:t>
            </a:r>
            <a:endParaRPr lang="ko-KR" altLang="en-US" sz="800" dirty="0"/>
          </a:p>
        </p:txBody>
      </p:sp>
      <p:pic>
        <p:nvPicPr>
          <p:cNvPr id="29" name="Image 5" descr="C:\Users\Windows11\AppData\Local\Temp\claude\C--Users-Windows11-Desktop-New-folder--2-\a0c8a1d0-32ba-4ae6-9843-b5ebc69d925f\scratchpad\deck2/img/r_1324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9016" y="3957682"/>
            <a:ext cx="2166666" cy="170554"/>
          </a:xfrm>
          <a:prstGeom prst="rect">
            <a:avLst/>
          </a:prstGeom>
        </p:spPr>
      </p:pic>
      <p:pic>
        <p:nvPicPr>
          <p:cNvPr id="30" name="Image 6" descr="C:\Users\Windows11\AppData\Local\Temp\claude\C--Users-Windows11-Desktop-New-folder--2-\a0c8a1d0-32ba-4ae6-9843-b5ebc69d925f\scratchpad\deck2/img/r_1324_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5838" y="4219676"/>
            <a:ext cx="813021" cy="1467892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4273296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토이저러스 필터</a:t>
            </a:r>
            <a:endParaRPr lang="ko-KR" altLang="en-US" sz="750" dirty="0"/>
          </a:p>
        </p:txBody>
      </p:sp>
      <p:sp>
        <p:nvSpPr>
          <p:cNvPr id="32" name="Shape 23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33" name="Text 24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필터 패널 · 배너 자동 넘김</a:t>
            </a:r>
            <a:endParaRPr lang="ko-KR" alt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a44d4b5</a:t>
            </a:r>
            <a:endParaRPr lang="ko-KR" altLang="en-US" sz="850" dirty="0"/>
          </a:p>
        </p:txBody>
      </p:sp>
      <p:sp>
        <p:nvSpPr>
          <p:cNvPr id="35" name="Shape 26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6" name="Shape 27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7" name="Text 28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22:36–22:47</a:t>
            </a:r>
            <a:endParaRPr lang="ko-KR" altLang="en-US" sz="850" dirty="0"/>
          </a:p>
        </p:txBody>
      </p:sp>
      <p:sp>
        <p:nvSpPr>
          <p:cNvPr id="38" name="Text 29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AI가 만든 정렬 팝업</a:t>
            </a:r>
            <a:endParaRPr lang="ko-KR" altLang="en-US" sz="850" dirty="0"/>
          </a:p>
        </p:txBody>
      </p:sp>
      <p:sp>
        <p:nvSpPr>
          <p:cNvPr id="39" name="Text 30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필터 개수 · 검색 탭 · 정렬</a:t>
            </a:r>
            <a:endParaRPr lang="ko-KR" altLang="en-US" sz="850" dirty="0"/>
          </a:p>
        </p:txBody>
      </p:sp>
      <p:sp>
        <p:nvSpPr>
          <p:cNvPr id="40" name="Text 31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“(필터 칸 숫자는) 다른 조건을 따라 바뀌어야 해. 예전 검색 화면에 있던 것들이 좋았는데 다시 쓸 수 없을까 — 검색을 열면 기본은 전체 상품, 검색창을 누르면 그것들이 나오게. 지금은 반대야. 그리고 이 정렬 메뉴는 촌스럽고 앱과 안 어울려. 화면 비율마다 깨지는 것도 고쳐 줘.”</a:t>
            </a:r>
            <a:endParaRPr lang="ko-KR" altLang="en-US" sz="950" dirty="0"/>
          </a:p>
        </p:txBody>
      </p:sp>
      <p:sp>
        <p:nvSpPr>
          <p:cNvPr id="41" name="Shape 32"/>
          <p:cNvSpPr/>
          <p:nvPr/>
        </p:nvSpPr>
        <p:spPr>
          <a:xfrm>
            <a:off x="10475514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42" name="Image 7" descr="C:\Users\Windows11\AppData\Local\Temp\claude\C--Users-Windows11-Desktop-New-folder--2-\a0c8a1d0-32ba-4ae6-9843-b5ebc69d925f\scratchpad\deck2/img/search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57226" y="3310128"/>
            <a:ext cx="1183086" cy="2560320"/>
          </a:xfrm>
          <a:prstGeom prst="rect">
            <a:avLst/>
          </a:prstGeom>
        </p:spPr>
      </p:pic>
      <p:pic>
        <p:nvPicPr>
          <p:cNvPr id="43" name="Image 8" descr="C:\Users\Windows11\AppData\Local\Temp\claude\C--Users-Windows11-Desktop-New-folder--2-\a0c8a1d0-32ba-4ae6-9843-b5ebc69d925f\scratchpad\deck2/img/r_1347_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0193" y="3310128"/>
            <a:ext cx="1305063" cy="2377440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8043672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기본 정렬 팝업 — 촌스러움</a:t>
            </a:r>
            <a:endParaRPr lang="ko-KR" altLang="en-US" sz="750" dirty="0"/>
          </a:p>
        </p:txBody>
      </p:sp>
      <p:sp>
        <p:nvSpPr>
          <p:cNvPr id="45" name="Shape 34"/>
          <p:cNvSpPr/>
          <p:nvPr/>
        </p:nvSpPr>
        <p:spPr>
          <a:xfrm>
            <a:off x="10274346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6" name="Text 35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탭 = 전체 상품 · 앱 모양 정렬 시트</a:t>
            </a:r>
            <a:endParaRPr lang="ko-KR" altLang="en-US" sz="1100" dirty="0"/>
          </a:p>
        </p:txBody>
      </p:sp>
      <p:sp>
        <p:nvSpPr>
          <p:cNvPr id="47" name="Text 36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23dc963 · f08fffb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11</a:t>
            </a:fld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3/5 · 상품 상세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상세: 타오바오 캡처처럼 공식 정보를 작게, 검정 면은 빼고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16:47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—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상품 상세 화면 첫 버전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“상품 상세 화면을 만들자.”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750845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78d6c50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557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첫 상세 · 검정 구매함 버튼</a:t>
            </a:r>
            <a:endParaRPr lang="ko-KR" alt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78d6c50</a:t>
            </a:r>
            <a:endParaRPr lang="ko-KR" alt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17:06</a:t>
            </a:r>
            <a:endParaRPr lang="ko-KR" alt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타오바오 상품 상세 (3장)</a:t>
            </a:r>
            <a:endParaRPr lang="ko-KR" alt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공식 정보 줄 · 담기 토스트 · 검정 면 · 아래 사진</a:t>
            </a:r>
            <a:endParaRPr lang="ko-KR" alt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“원함 · 구매함을 동시에 누를 수 있게. 공식 정보는 첫 번째 그림처럼 작은 아이콘 줄로 좌우로 넘기고, 누르면 두 번째 그림처럼 펼쳐지게. 담으면 세 번째 그림 같은 게 아래에서 몇 초 떴다 사라지게. 큰 검정 바탕 흰 글자는 앱과 안 맞으니 전부 빼 줘. 맨 아래에 상품 상세 사진을 나열하고, 공식 링크는 일본어 이름 아래, 이름 옆에는 복사 아이콘.”</a:t>
            </a:r>
            <a:endParaRPr lang="ko-KR" alt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1" descr="C:\Users\Windows11\AppData\Local\Temp\claude\C--Users-Windows11-Desktop-New-folder--2-\a0c8a1d0-32ba-4ae6-9843-b5ebc69d925f\scratchpad\deck2/img/evo_0b65ac4_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319016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검정 토스트 — 빼</a:t>
            </a:r>
            <a:endParaRPr lang="ko-KR" altLang="en-US" sz="800" dirty="0"/>
          </a:p>
        </p:txBody>
      </p:sp>
      <p:pic>
        <p:nvPicPr>
          <p:cNvPr id="22" name="Image 2" descr="C:\Users\Windows11\AppData\Local\Temp\claude\C--Users-Windows11-Desktop-New-folder--2-\a0c8a1d0-32ba-4ae6-9843-b5ebc69d925f\scratchpad\deck2/img/r_0806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016" y="3483864"/>
            <a:ext cx="2166666" cy="265645"/>
          </a:xfrm>
          <a:prstGeom prst="rect">
            <a:avLst/>
          </a:prstGeom>
        </p:spPr>
      </p:pic>
      <p:pic>
        <p:nvPicPr>
          <p:cNvPr id="23" name="Image 3" descr="C:\Users\Windows11\AppData\Local\Temp\claude\C--Users-Windows11-Desktop-New-folder--2-\a0c8a1d0-32ba-4ae6-9843-b5ebc69d925f\scratchpad\deck2/img/r_0806_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016" y="3840949"/>
            <a:ext cx="1046757" cy="79116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4273296" y="4641261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타오바오 · 정보 줄</a:t>
            </a:r>
            <a:endParaRPr lang="ko-KR" altLang="en-US" sz="750" dirty="0"/>
          </a:p>
        </p:txBody>
      </p:sp>
      <p:pic>
        <p:nvPicPr>
          <p:cNvPr id="25" name="Image 4" descr="C:\Users\Windows11\AppData\Local\Temp\claude\C--Users-Windows11-Desktop-New-folder--2-\a0c8a1d0-32ba-4ae6-9843-b5ebc69d925f\scratchpad\deck2/img/r_0806_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8925" y="3840949"/>
            <a:ext cx="1046757" cy="13614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93205" y="5211519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타오바오 · 펼친 표</a:t>
            </a:r>
            <a:endParaRPr lang="ko-KR" altLang="en-US" sz="750" dirty="0"/>
          </a:p>
        </p:txBody>
      </p:sp>
      <p:sp>
        <p:nvSpPr>
          <p:cNvPr id="27" name="Shape 20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정보 요약 줄 · 동시 선택 · 밝은 토스트</a:t>
            </a:r>
            <a:endParaRPr lang="ko-KR" altLang="en-US" sz="1100" dirty="0"/>
          </a:p>
        </p:txBody>
      </p:sp>
      <p:sp>
        <p:nvSpPr>
          <p:cNvPr id="29" name="Text 22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0b65ac4</a:t>
            </a:r>
            <a:endParaRPr lang="ko-KR" altLang="en-US" sz="850" dirty="0"/>
          </a:p>
        </p:txBody>
      </p:sp>
      <p:sp>
        <p:nvSpPr>
          <p:cNvPr id="30" name="Shape 23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18:53</a:t>
            </a:r>
            <a:endParaRPr lang="ko-KR" altLang="en-US" sz="850" dirty="0"/>
          </a:p>
        </p:txBody>
      </p:sp>
      <p:sp>
        <p:nvSpPr>
          <p:cNvPr id="33" name="Text 26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내가 표시한 상세 캡처</a:t>
            </a:r>
            <a:endParaRPr lang="ko-KR" altLang="en-US" sz="850" dirty="0"/>
          </a:p>
        </p:txBody>
      </p:sp>
      <p:sp>
        <p:nvSpPr>
          <p:cNvPr id="34" name="Text 27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분류 줄 · 복사 · 시장가 · 버튼 크기</a:t>
            </a:r>
            <a:endParaRPr lang="ko-KR" altLang="en-US" sz="850" dirty="0"/>
          </a:p>
        </p:txBody>
      </p:sp>
      <p:sp>
        <p:nvSpPr>
          <p:cNvPr id="35" name="Text 28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줄은 필요 없어. 아래 복사는 한국어 이름으로. 시장가 부분은 너무 나열돼 보이니 UI를 바꿔 줘. 그리고 원함 · 구매함 버튼도 너무 자리를 차지해.”</a:t>
            </a:r>
            <a:endParaRPr lang="ko-KR" alt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10475514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7" name="Image 5" descr="C:\Users\Windows11\AppData\Local\Temp\claude\C--Users-Windows11-Desktop-New-folder--2-\a0c8a1d0-32ba-4ae6-9843-b5ebc69d925f\scratchpad\deck2/img/evo_d4d2774_detai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7226" y="3310128"/>
            <a:ext cx="1183086" cy="2560320"/>
          </a:xfrm>
          <a:prstGeom prst="rect">
            <a:avLst/>
          </a:prstGeom>
        </p:spPr>
      </p:pic>
      <p:pic>
        <p:nvPicPr>
          <p:cNvPr id="38" name="Image 6" descr="C:\Users\Windows11\AppData\Local\Temp\claude\C--Users-Windows11-Desktop-New-folder--2-\a0c8a1d0-32ba-4ae6-9843-b5ebc69d925f\scratchpad\deck2/img/r_0953_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9392" y="3310128"/>
            <a:ext cx="2166666" cy="1099264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8043672" y="4418536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분류 줄 — 필요 없음</a:t>
            </a:r>
            <a:endParaRPr lang="ko-KR" altLang="en-US" sz="750" dirty="0"/>
          </a:p>
        </p:txBody>
      </p:sp>
      <p:sp>
        <p:nvSpPr>
          <p:cNvPr id="40" name="Shape 31"/>
          <p:cNvSpPr/>
          <p:nvPr/>
        </p:nvSpPr>
        <p:spPr>
          <a:xfrm>
            <a:off x="10274346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줄 삭제 · 작은 알약 · 시세 카드 한 장</a:t>
            </a:r>
            <a:endParaRPr lang="ko-KR" alt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d4d2774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12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4/5 · 좋아요 · 구매함 · 도감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구매함 · 도감: 사진 위에서 바로, IMDb처럼, 모을수록 레벨업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21:11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AI가 만든 범례 줄 캡처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도감 칸 단계 · 레벨 · ? 버튼 · 사진 위 ♡ +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“구매함은 색 + 테두리, 원함은 색만. 아래 사진에서 바로 하트와 + 를 눌러 원함 · 구매함에 넣게 — + 의 뜻은 뭐가 좋을까? 도감에서는 하나 더 모으면 조금씩 레벨이 오르는 느낌으로. 원함은 '좋아요'로 바꾸고, 이런 긴 줄은 물음표 아이콘 하나로, 누르면 설명이 나오게.”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34762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46a4b56_gu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6474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긴 범례 줄 — ? 하나로</a:t>
            </a:r>
            <a:endParaRPr lang="ko-KR" altLang="en-US" sz="800" dirty="0"/>
          </a:p>
        </p:txBody>
      </p:sp>
      <p:pic>
        <p:nvPicPr>
          <p:cNvPr id="12" name="Image 1" descr="C:\Users\Windows11\AppData\Local\Temp\claude\C--Users-Windows11-Desktop-New-folder--2-\a0c8a1d0-32ba-4ae6-9843-b5ebc69d925f\scratchpad\deck2/img/r_1211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83864"/>
            <a:ext cx="2166666" cy="187836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733594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 4단계 + Lv · ? 읽는 법 · ♡ +</a:t>
            </a:r>
            <a:endParaRPr lang="ko-KR" alt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065f9b2 · 8040d86 · 46a4b56</a:t>
            </a:r>
            <a:endParaRPr lang="ko-KR" alt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21:41</a:t>
            </a:r>
            <a:endParaRPr lang="ko-KR" alt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IMDb</a:t>
            </a:r>
            <a:endParaRPr lang="ko-KR" alt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사진 위 표시 · 3점 배지</a:t>
            </a:r>
            <a:endParaRPr lang="ko-KR" alt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“3점(사진 인증)은 하트 · 체크 대신 배지 같은 아이콘으로. 홈 사진의 하트와 담기는 이 캡처와 같은 표시로 바꿔 줘. 친구의 도감 · 좋아요 · 구매함도 볼 수 있게.”</a:t>
            </a:r>
            <a:endParaRPr lang="ko-KR" alt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2" descr="C:\Users\Windows11\AppData\Local\Temp\claude\C--Users-Windows11-Desktop-New-folder--2-\a0c8a1d0-32ba-4ae6-9843-b5ebc69d925f\scratchpad\deck2/img/evo_f85eb66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pic>
        <p:nvPicPr>
          <p:cNvPr id="24" name="Image 3" descr="C:\Users\Windows11\AppData\Local\Temp\claude\C--Users-Windows11-Desktop-New-folder--2-\a0c8a1d0-32ba-4ae6-9843-b5ebc69d925f\scratchpad\deck2/img/r_1241_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7999" y="3310128"/>
            <a:ext cx="1028700" cy="23774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273296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IMDb</a:t>
            </a:r>
            <a:endParaRPr lang="ko-KR" altLang="en-US" sz="750" dirty="0"/>
          </a:p>
        </p:txBody>
      </p:sp>
      <p:sp>
        <p:nvSpPr>
          <p:cNvPr id="26" name="Shape 20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7" name="Text 21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IMDb 식 리본 + · ♡ · 3점 배지</a:t>
            </a:r>
            <a:endParaRPr lang="ko-KR" alt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f85eb66</a:t>
            </a:r>
            <a:endParaRPr lang="ko-KR" alt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23:54</a:t>
            </a:r>
            <a:endParaRPr lang="ko-KR" alt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 반론 (15장)</a:t>
            </a:r>
            <a:endParaRPr lang="ko-KR" altLang="en-US" sz="850" dirty="0"/>
          </a:p>
        </p:txBody>
      </p:sp>
      <p:sp>
        <p:nvSpPr>
          <p:cNvPr id="33" name="Text 27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모든 화면의 ♡ · 리본</a:t>
            </a:r>
            <a:endParaRPr lang="ko-KR" altLang="en-US" sz="850" dirty="0"/>
          </a:p>
        </p:txBody>
      </p:sp>
      <p:sp>
        <p:nvSpPr>
          <p:cNvPr id="34" name="Text 28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“(AI: 같은 '구매함'이 리본 · ✓원 · 동그라미 3–4가지 모양이야) → 로고 말고 나머지는 네 말대로 다 고쳐 줘.”</a:t>
            </a:r>
            <a:endParaRPr lang="ko-KR" alt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9291597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6" name="Image 4" descr="C:\Users\Windows11\AppData\Local\Temp\claude\C--Users-Windows11-Desktop-New-folder--2-\a0c8a1d0-32ba-4ae6-9843-b5ebc69d925f\scratchpad\deck2/img/gu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3309" y="3310128"/>
            <a:ext cx="1183086" cy="256032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 좋아요 · 리본 구매함 하나로 · 민트 = 가진 것</a:t>
            </a:r>
            <a:endParaRPr lang="ko-KR" alt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b29785b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13</a:t>
            </a:fld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5/5 · 친구 · 내 정보 · 넓은 창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친구는 QQ 캡처처럼 옆 서랍, 넓은 창은 QQ 폴드처럼 반반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21:11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—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내 정보 숫자 · 사진 벽 · 워터마크 · 휴지통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“내 정보에서 좋아요 · 도감 점등 · 구매함 수를 보고, 누르면 그 목록으로. 사진 벽은 도감에 올린 내 사진과 연결. 다른 사람이 저장하면 오른쪽 아래에 워터마크(앱 이름 약자 + 올린 사람 ID), 끌 수도 있게. 친구도 볼 수 있게. 실수로 지운 좋아요 · 구매함은 휴지통에서 되찾게.”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750845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ba7a5d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557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→ 이동 · 사진 벽 · 워터마크</a:t>
            </a:r>
            <a:endParaRPr lang="ko-KR" alt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ba7a5de</a:t>
            </a:r>
            <a:endParaRPr lang="ko-KR" alt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21:41–21:56</a:t>
            </a:r>
            <a:endParaRPr lang="ko-KR" alt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QQ (2장)</a:t>
            </a:r>
            <a:endParaRPr lang="ko-KR" alt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친구 화면 = 옆 서랍</a:t>
            </a:r>
            <a:endParaRPr lang="ko-KR" alt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“친구 화면은 이렇게 보이면 좋겠어: 홈에서 왼쪽으로 밀면 이런 화면, 다만 아래 메뉴들은 두 번째 그림처럼 친구 목록으로. 아바타를 눌러도 같은 화면, 거기서 아바타를 또 누르면 내 정보.”</a:t>
            </a:r>
            <a:endParaRPr lang="ko-KR" alt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1" descr="C:\Users\Windows11\AppData\Local\Temp\claude\C--Users-Windows11-Desktop-New-folder--2-\a0c8a1d0-32ba-4ae6-9843-b5ebc69d925f\scratchpad\deck2/img/evo_ad41d69_dra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pic>
        <p:nvPicPr>
          <p:cNvPr id="21" name="Image 2" descr="C:\Users\Windows11\AppData\Local\Temp\claude\C--Users-Windows11-Desktop-New-folder--2-\a0c8a1d0-32ba-4ae6-9843-b5ebc69d925f\scratchpad\deck2/img/r_1241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606" y="3310128"/>
            <a:ext cx="483577" cy="10515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273296" y="4370832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옆 서랍</a:t>
            </a:r>
            <a:endParaRPr lang="ko-KR" altLang="en-US" sz="750" dirty="0"/>
          </a:p>
        </p:txBody>
      </p:sp>
      <p:pic>
        <p:nvPicPr>
          <p:cNvPr id="23" name="Image 3" descr="C:\Users\Windows11\AppData\Local\Temp\claude\C--Users-Windows11-Desktop-New-folder--2-\a0c8a1d0-32ba-4ae6-9843-b5ebc69d925f\scratchpad\deck2/img/r_1241_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4294" y="3310128"/>
            <a:ext cx="496019" cy="10515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393205" y="4370832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친구 목록</a:t>
            </a:r>
            <a:endParaRPr lang="ko-KR" altLang="en-US" sz="750" dirty="0"/>
          </a:p>
        </p:txBody>
      </p:sp>
      <p:sp>
        <p:nvSpPr>
          <p:cNvPr id="25" name="Shape 19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식 친구 서랍</a:t>
            </a:r>
            <a:endParaRPr lang="ko-KR" alt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fbfbb2c · ad41d69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22:59–23:05</a:t>
            </a:r>
            <a:endParaRPr lang="ko-KR" altLang="en-US" sz="850" dirty="0"/>
          </a:p>
        </p:txBody>
      </p:sp>
      <p:sp>
        <p:nvSpPr>
          <p:cNvPr id="31" name="Text 25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QQ (삼성 폴드, 2장)</a:t>
            </a:r>
            <a:endParaRPr lang="ko-KR" alt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넓은 창 → 반반 화면</a:t>
            </a:r>
            <a:endParaRPr lang="ko-KR" altLang="en-US" sz="850" dirty="0"/>
          </a:p>
        </p:txBody>
      </p:sp>
      <p:sp>
        <p:nvSpPr>
          <p:cNvPr id="33" name="Text 27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“삼성 폴드처럼 잘 맞춘 앱은 반반이야 — 어떻게 생각해? 바꾸지 말고 먼저 말해 줘. → (AI: 목록-상세만 반반, 홈은 빼자) QQ는 이래. 분할부터 먼저 해 줘.”</a:t>
            </a:r>
            <a:endParaRPr lang="ko-KR" alt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9883140" y="3870584"/>
            <a:ext cx="1738884" cy="1439409"/>
          </a:xfrm>
          <a:prstGeom prst="roundRect">
            <a:avLst>
              <a:gd name="adj" fmla="val 35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5" name="Image 4" descr="C:\Users\Windows11\AppData\Local\Temp\claude\C--Users-Windows11-Desktop-New-folder--2-\a0c8a1d0-32ba-4ae6-9843-b5ebc69d925f\scratchpad\deck2/img/f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4852" y="3852296"/>
            <a:ext cx="1775460" cy="1475985"/>
          </a:xfrm>
          <a:prstGeom prst="rect">
            <a:avLst/>
          </a:prstGeom>
        </p:spPr>
      </p:pic>
      <p:pic>
        <p:nvPicPr>
          <p:cNvPr id="36" name="Image 5" descr="C:\Users\Windows11\AppData\Local\Temp\claude\C--Users-Windows11-Desktop-New-folder--2-\a0c8a1d0-32ba-4ae6-9843-b5ebc69d925f\scratchpad\deck2/img/r_1359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5122" y="3310128"/>
            <a:ext cx="922832" cy="105156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043672" y="4370832"/>
            <a:ext cx="16657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폴드</a:t>
            </a:r>
            <a:endParaRPr lang="ko-KR" altLang="en-US" sz="750" dirty="0"/>
          </a:p>
        </p:txBody>
      </p:sp>
      <p:pic>
        <p:nvPicPr>
          <p:cNvPr id="38" name="Image 6" descr="C:\Users\Windows11\AppData\Local\Temp\claude\C--Users-Windows11-Desktop-New-folder--2-\a0c8a1d0-32ba-4ae6-9843-b5ebc69d925f\scratchpad\deck2/img/r_1405_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2531" y="4617720"/>
            <a:ext cx="908014" cy="105156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8043672" y="5678424"/>
            <a:ext cx="16657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폴드</a:t>
            </a:r>
            <a:endParaRPr lang="ko-KR" altLang="en-US" sz="750" dirty="0"/>
          </a:p>
        </p:txBody>
      </p:sp>
      <p:sp>
        <p:nvSpPr>
          <p:cNvPr id="40" name="Shape 31"/>
          <p:cNvSpPr/>
          <p:nvPr/>
        </p:nvSpPr>
        <p:spPr>
          <a:xfrm>
            <a:off x="9681972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 화면 — 왼쪽은 폰 화면 그대로</a:t>
            </a:r>
            <a:endParaRPr lang="ko-KR" alt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f7ed455 → 최종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14</a:t>
            </a:fld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셀프 논증 1/3 — AI가 내 설계를 반박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“UI 설계에 아직 어떤 문제가 있어?” → AI 13가지 지적과 내 결정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566928"/>
          </a:xfrm>
          <a:prstGeom prst="roundRect">
            <a:avLst>
              <a:gd name="adj" fmla="val 16129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3716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23:28  나: </a:t>
            </a:r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"UI 설계에 아직 어떤 문제가 있다고 생각해?"   </a:t>
            </a:r>
            <a:pPr indent="0" marL="0">
              <a:buNone/>
            </a:pPr>
            <a:r>
              <a:rPr lang="ko-KR" altLang="en-US" sz="105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AI: </a:t>
            </a:r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"새 사용자 눈으로 보면 — 발표 때 가장 질문받기 쉬운 순서로"   </a:t>
            </a:r>
            <a:pPr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나: </a:t>
            </a:r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"로고는 다른 방법으로, 나머지는 네 말대로 다 고쳐"</a:t>
            </a:r>
            <a:endParaRPr lang="ko-KR" altLang="en-US" sz="10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120640"/>
                <a:gridCol w="548640"/>
                <a:gridCol w="4114800"/>
                <a:gridCol w="89611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AI의 지적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결정 · 바뀐 것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커밋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모양이 3–4종 (리본 · ✓원 · 동그라미)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♡ = 좋아요, 리본 = 구매함 하나로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b29785b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컬렉션 탭 아이콘이 구매함 리본과 같은 모양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격자 아이콘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b29785b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파랑이 너무 많아 "원함 / 가짐"이 안 갈림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파랑 = 고름, 민트 = 가진 것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b29785b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 · 금액 표기가 제각각 (2027-09 / 2027.09, ¥ · ₩)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2027.09 · "일본 정가"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655fb88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위쪽 머리 170px — 탭 바는 숨는데 머리는 안 숨음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스크롤하면 아바타 줄 접힘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f44c7ef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목록이 두 곳 (서랍 · 내 정보)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먼저 수정 — 내 정보 쪽 삭제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132c398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화면끼리 데이터가 따로 — 홈 ♡가 컬렉션에 안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setState를 위로, 앱 전체 한 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a4d4f4d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글자 크기 15종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6단계 (11 · 12.5 · 14 · 16 · 19 · 24)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443fb0d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회색 글자 대비 2.5:1 · 누르는 자리 22px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#767676 (4.5:1) · 44dp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662da1c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"프로토타입이라…" 토스트가 시연을 끊음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먼저 수정 — 앱다운 문구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132c398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필터 패널 굵은 검정 선 (토이저러스 그대로)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옅은 선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662da1c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반반 화면 왼쪽에 "연 것" 표시 없음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— 왼쪽 카드 파란 테두리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a342bf5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진짜 로고가 없다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보류 — 시안 6번 모두 "별로"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9893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"1 · 2 · 3 · 4 · 9 · 6만 하고 5 · 7 · 8은 한계로 적자"고 했지만, </a:t>
            </a:r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나는 로고만 빼고 전부 고치기로 했다 — 근거: P04 일관성 · 리뷰 "쇼케이스와 컬렉션 차이를 모르겠다"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15</a:t>
            </a:fld>
            <a:endParaRPr lang="ko-KR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셀프 논증 2/3 — 내가 AI를 반박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반복된 버릇 4가지 — 내가 지적해서 고쳤다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96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1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안 함 — 매번 새로 만듦</a:t>
            </a:r>
            <a:endParaRPr lang="ko-KR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84708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16:33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20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“홈 검색창과 검색 탭 검색창의 크기 · 글꼴 · 아이콘이 다 달라. 재사용해 줘”</a:t>
            </a:r>
            <a:endParaRPr lang="ko-KR" alt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41401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16:36 · 21:56</a:t>
            </a:r>
            <a:endParaRPr lang="ko-KR" alt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58775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“재사용해야 하는데 안 한 게 또 있는지 다시 확인해”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3035808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035808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공용 위젯으로: GpSearchBar · ProductTile · ThumbRow 등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9fa6fd0 · 89d0704 · 52b0c59 · ad41d69</a:t>
            </a:r>
            <a:endParaRPr lang="ko-KR" altLang="en-US" sz="1000" dirty="0"/>
          </a:p>
        </p:txBody>
      </p:sp>
      <p:pic>
        <p:nvPicPr>
          <p:cNvPr id="12" name="Image 0" descr="C:\Users\Windows11\AppData\Local\Temp\claude\C--Users-Windows11-Desktop-New-folder--2-\a0c8a1d0-32ba-4ae6-9843-b5ebc69d925f\scratchpad\deck2/img/evo_6c64c91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645920"/>
            <a:ext cx="845062" cy="1828800"/>
          </a:xfrm>
          <a:prstGeom prst="rect">
            <a:avLst/>
          </a:prstGeom>
        </p:spPr>
      </p:pic>
      <p:pic>
        <p:nvPicPr>
          <p:cNvPr id="13" name="Image 1" descr="C:\Users\Windows11\AppData\Local\Temp\claude\C--Users-Windows11-Desktop-New-folder--2-\a0c8a1d0-32ba-4ae6-9843-b5ebc69d925f\scratchpad\deck2/img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1645920"/>
            <a:ext cx="845062" cy="18288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60520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5056632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190488" y="1371600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373368" y="14996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2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재사용 안 함 — 다른 모양</a:t>
            </a:r>
            <a:endParaRPr lang="ko-KR" alt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373368" y="184708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16:29</a:t>
            </a:r>
            <a:endParaRPr lang="ko-KR" alt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6373368" y="2020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세 개, 같은 거 아니야?”</a:t>
            </a:r>
            <a:endParaRPr lang="ko-KR" alt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6373368" y="241401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16:45</a:t>
            </a:r>
            <a:endParaRPr lang="ko-KR" alt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6373368" y="258775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“이름 · 번호 · 생김새로 찾기 — 글자 간격이 화면마다 달라”</a:t>
            </a:r>
            <a:endParaRPr lang="ko-KR" alt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373368" y="3035808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464808" y="3035808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입력창 · 같은 아이콘 하나 (구매함 = 리본)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ff2f599 · b29785b</a:t>
            </a:r>
            <a:endParaRPr lang="ko-KR" altLang="en-US" sz="1000" dirty="0"/>
          </a:p>
        </p:txBody>
      </p:sp>
      <p:pic>
        <p:nvPicPr>
          <p:cNvPr id="24" name="Image 2" descr="C:\Users\Windows11\AppData\Local\Temp\claude\C--Users-Windows11-Desktop-New-folder--2-\a0c8a1d0-32ba-4ae6-9843-b5ebc69d925f\scratchpad\deck2/img/evo_8040d86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8088" y="1645920"/>
            <a:ext cx="845062" cy="1828800"/>
          </a:xfrm>
          <a:prstGeom prst="rect">
            <a:avLst/>
          </a:prstGeom>
        </p:spPr>
      </p:pic>
      <p:pic>
        <p:nvPicPr>
          <p:cNvPr id="25" name="Image 3" descr="C:\Users\Windows11\AppData\Local\Temp\claude\C--Users-Windows11-Desktop-New-folder--2-\a0c8a1d0-32ba-4ae6-9843-b5ebc69d925f\scratchpad\deck2/img/ho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200" y="1645920"/>
            <a:ext cx="845062" cy="18288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802368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27" name="Text 21"/>
          <p:cNvSpPr txBox="1"/>
          <p:nvPr/>
        </p:nvSpPr>
        <p:spPr>
          <a:xfrm>
            <a:off x="10698480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548640" y="3813048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731520" y="39410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3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걸 위아래로 나열</a:t>
            </a:r>
            <a:endParaRPr lang="ko-KR" alt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31520" y="428853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15:00</a:t>
            </a:r>
            <a:endParaRPr lang="ko-KR" altLang="en-US" sz="850" dirty="0"/>
          </a:p>
        </p:txBody>
      </p:sp>
      <p:sp>
        <p:nvSpPr>
          <p:cNvPr id="31" name="Text 25"/>
          <p:cNvSpPr txBox="1"/>
          <p:nvPr/>
        </p:nvSpPr>
        <p:spPr>
          <a:xfrm>
            <a:off x="731520" y="446227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“안의 기능들을 위에서 아래로 나열하지 말고, 더 좋은 UI 방식을”</a:t>
            </a:r>
            <a:endParaRPr lang="ko-KR" alt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85546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18:53</a:t>
            </a:r>
            <a:endParaRPr lang="ko-KR" altLang="en-US" sz="85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50292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“시장가 부분은 너무 나열돼 보여”</a:t>
            </a:r>
            <a:endParaRPr lang="ko-KR" alt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731520" y="5477256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822960" y="5477256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홈 = 배너 + 가로 줄 · 시세는 카드 한 장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5adf83d · b20d76f · d4d2774</a:t>
            </a:r>
            <a:endParaRPr lang="ko-KR" altLang="en-US" sz="1000" dirty="0"/>
          </a:p>
        </p:txBody>
      </p:sp>
      <p:pic>
        <p:nvPicPr>
          <p:cNvPr id="36" name="Image 4" descr="C:\Users\Windows11\AppData\Local\Temp\claude\C--Users-Windows11-Desktop-New-folder--2-\a0c8a1d0-32ba-4ae6-9843-b5ebc69d925f\scratchpad\deck2/img/evo_99dd2b9_ho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087368"/>
            <a:ext cx="845062" cy="1828800"/>
          </a:xfrm>
          <a:prstGeom prst="rect">
            <a:avLst/>
          </a:prstGeom>
        </p:spPr>
      </p:pic>
      <p:pic>
        <p:nvPicPr>
          <p:cNvPr id="37" name="Image 5" descr="C:\Users\Windows11\AppData\Local\Temp\claude\C--Users-Windows11-Desktop-New-folder--2-\a0c8a1d0-32ba-4ae6-9843-b5ebc69d925f\scratchpad\deck2/img/evo_b20d76f_ho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2352" y="4087368"/>
            <a:ext cx="845062" cy="182880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4160520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39" name="Text 31"/>
          <p:cNvSpPr txBox="1"/>
          <p:nvPr/>
        </p:nvSpPr>
        <p:spPr>
          <a:xfrm>
            <a:off x="5056632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40" name="Shape 32"/>
          <p:cNvSpPr/>
          <p:nvPr/>
        </p:nvSpPr>
        <p:spPr>
          <a:xfrm>
            <a:off x="6190488" y="3813048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1" name="Text 33"/>
          <p:cNvSpPr txBox="1"/>
          <p:nvPr/>
        </p:nvSpPr>
        <p:spPr>
          <a:xfrm>
            <a:off x="6373368" y="39410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4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내용을 여러 곳에 반복</a:t>
            </a:r>
            <a:endParaRPr lang="ko-KR" alt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6373368" y="428853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20:34</a:t>
            </a:r>
            <a:endParaRPr lang="ko-KR" altLang="en-US" sz="850" dirty="0"/>
          </a:p>
        </p:txBody>
      </p:sp>
      <p:sp>
        <p:nvSpPr>
          <p:cNvPr id="43" name="Text 35"/>
          <p:cNvSpPr txBox="1"/>
          <p:nvPr/>
        </p:nvSpPr>
        <p:spPr>
          <a:xfrm>
            <a:off x="6373368" y="446227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“시장가와 국내 시세는 아직도 너무 겹쳐”</a:t>
            </a:r>
            <a:endParaRPr lang="ko-KR" alt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6373368" y="485546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23:37</a:t>
            </a:r>
            <a:endParaRPr lang="ko-KR" altLang="en-US" sz="850" dirty="0"/>
          </a:p>
        </p:txBody>
      </p:sp>
      <p:sp>
        <p:nvSpPr>
          <p:cNvPr id="45" name="Text 37"/>
          <p:cNvSpPr txBox="1"/>
          <p:nvPr/>
        </p:nvSpPr>
        <p:spPr>
          <a:xfrm>
            <a:off x="6373368" y="50292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“6번, 중복된 친구 목록은 지워”</a:t>
            </a:r>
            <a:endParaRPr lang="ko-KR" altLang="en-US" sz="1000" dirty="0"/>
          </a:p>
        </p:txBody>
      </p:sp>
      <p:sp>
        <p:nvSpPr>
          <p:cNvPr id="46" name="Shape 38"/>
          <p:cNvSpPr/>
          <p:nvPr/>
        </p:nvSpPr>
        <p:spPr>
          <a:xfrm>
            <a:off x="6373368" y="5477256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47" name="Text 39"/>
          <p:cNvSpPr txBox="1"/>
          <p:nvPr/>
        </p:nvSpPr>
        <p:spPr>
          <a:xfrm>
            <a:off x="6464808" y="5477256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시세는 정가 아래 한 줄 · 친구 목록은 서랍 한 곳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18b0f10 · 132c398</a:t>
            </a:r>
            <a:endParaRPr lang="ko-KR" altLang="en-US" sz="1000" dirty="0"/>
          </a:p>
        </p:txBody>
      </p:sp>
      <p:pic>
        <p:nvPicPr>
          <p:cNvPr id="48" name="Image 6" descr="C:\Users\Windows11\AppData\Local\Temp\claude\C--Users-Windows11-Desktop-New-folder--2-\a0c8a1d0-32ba-4ae6-9843-b5ebc69d925f\scratchpad\deck2/img/evo_80b665e_detai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088" y="4087368"/>
            <a:ext cx="845062" cy="1828800"/>
          </a:xfrm>
          <a:prstGeom prst="rect">
            <a:avLst/>
          </a:prstGeom>
        </p:spPr>
      </p:pic>
      <p:pic>
        <p:nvPicPr>
          <p:cNvPr id="49" name="Image 7" descr="C:\Users\Windows11\AppData\Local\Temp\claude\C--Users-Windows11-Desktop-New-folder--2-\a0c8a1d0-32ba-4ae6-9843-b5ebc69d925f\scratchpad\deck2/img/detai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4087368"/>
            <a:ext cx="845062" cy="182880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802368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51" name="Text 41"/>
          <p:cNvSpPr txBox="1"/>
          <p:nvPr/>
        </p:nvSpPr>
        <p:spPr>
          <a:xfrm>
            <a:off x="10698480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16</a:t>
            </a:fld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셀프 논증 3/3 — 받아들인 반론 · 버린 AI 제안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반론은 근거가 있을 때만 받아들이고, 아니면 버렸다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25780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36192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12A0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5361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받아들임 · 쟁점 1 (지적 1 · 3)</a:t>
            </a:r>
            <a:endParaRPr lang="ko-KR" alt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8745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처음 주장: </a:t>
            </a:r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자리마다 맞는 모양 — 사진 위엔 리본, 도감엔 동그라미 ♡ +, 상세엔 큰 버튼</a:t>
            </a:r>
            <a:endParaRPr lang="ko-KR" altLang="en-US" sz="1050" dirty="0"/>
          </a:p>
          <a:p>
            <a:pPr indent="0" marL="0">
              <a:buNone/>
            </a:pPr>
            <a:r>
              <a:rPr lang="ko-KR" altLang="en-US" sz="10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반론: </a:t>
            </a:r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구매함이 3–4가지 모양 → P04 위반</a:t>
            </a:r>
            <a:endParaRPr lang="ko-KR" alt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7240" y="26974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— 132c398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26974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9184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 — b29785b</a:t>
            </a:r>
            <a:endParaRPr lang="ko-KR" alt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5528" y="3054096"/>
            <a:ext cx="2295144" cy="2384826"/>
          </a:xfrm>
          <a:prstGeom prst="roundRect">
            <a:avLst>
              <a:gd name="adj" fmla="val 50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3" name="Image 0" descr="C:\Users\Windows11\AppData\Local\Temp\claude\C--Users-Windows11-Desktop-New-folder--2-\a0c8a1d0-32ba-4ae6-9843-b5ebc69d925f\scratchpad\deck2/img/before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035808"/>
            <a:ext cx="2331720" cy="242140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3310128" y="3054096"/>
            <a:ext cx="2295144" cy="2384826"/>
          </a:xfrm>
          <a:prstGeom prst="roundRect">
            <a:avLst>
              <a:gd name="adj" fmla="val 50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C:\Users\Windows11\AppData\Local\Temp\claude\C--Users-Windows11-Desktop-New-folder--2-\a0c8a1d0-32ba-4ae6-9843-b5ebc69d925f\scratchpad\deck2/img/after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3035808"/>
            <a:ext cx="2331720" cy="242140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77240" y="55321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구매함 = 파랑 ✓원 · 칸마다 ♡ + 동그라미 → 구매함 = 민트 리본 · ♡ (홈 · 상세와 같은 모양)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016752" y="1371600"/>
            <a:ext cx="56235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45352" y="15361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245352" y="15361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버린 AI 제안</a:t>
            </a:r>
            <a:endParaRPr lang="ko-KR" alt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245352" y="1938528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21" name="Image 2" descr="C:\Users\Windows11\AppData\Local\Temp\claude\C--Users-Windows11-Desktop-New-folder--2-\a0c8a1d0-32ba-4ae6-9843-b5ebc69d925f\scratchpad\deck2/img/evo_99dd2b9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0864" y="2002536"/>
            <a:ext cx="363376" cy="78638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178040" y="201168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첫 화면 (hobbyDB식 목록)</a:t>
            </a:r>
            <a:endParaRPr lang="ko-KR" alt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7178040" y="230428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"UI가 왜 이렇게 됐어? 내가 다시 설계할게"</a:t>
            </a:r>
            <a:endParaRPr lang="ko-KR" alt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6245352" y="2962656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25" name="Image 3" descr="C:\Users\Windows11\AppData\Local\Temp\claude\C--Users-Windows11-Desktop-New-folder--2-\a0c8a1d0-32ba-4ae6-9843-b5ebc69d925f\scratchpad\deck2/img/abc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630" y="3026664"/>
            <a:ext cx="447844" cy="78638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178040" y="303580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홈 시안: AI 추천 B · A1</a:t>
            </a:r>
            <a:endParaRPr lang="ko-KR" alt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7178040" y="332841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"처음 그 A 매거진이 좋아" (9장)</a:t>
            </a:r>
            <a:endParaRPr lang="ko-KR" alt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6245352" y="3986784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29" name="Image 4" descr="C:\Users\Windows11\AppData\Local\Temp\claude\C--Users-Windows11-Desktop-New-folder--2-\a0c8a1d0-32ba-4ae6-9843-b5ebc69d925f\scratchpad\deck2/img/r_1324_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4775" y="4050792"/>
            <a:ext cx="435554" cy="78638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178040" y="405993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전체 목록: 상태로 거르기 · 작품 알약 줄</a:t>
            </a:r>
            <a:endParaRPr lang="ko-KR" alt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7178040" y="435254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"작품별로" · "너무 못생겼어, 이런 걸 원해" (11장)</a:t>
            </a:r>
            <a:endParaRPr lang="ko-KR" alt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245352" y="5010912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33" name="Image 5" descr="C:\Users\Windows11\AppData\Local\Temp\claude\C--Users-Windows11-Desktop-New-folder--2-\a0c8a1d0-32ba-4ae6-9843-b5ebc69d925f\scratchpad\deck2/img/r_1405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3034" y="5074920"/>
            <a:ext cx="679036" cy="7863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178040" y="508406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반반 화면: 목록-상세만, 홈은 제외</a:t>
            </a:r>
            <a:endParaRPr lang="ko-KR" alt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7178040" y="537667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"QQ는 이래, 분할부터" — 왼쪽은 폰 화면 그대로 (14장)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17</a:t>
            </a:fld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Flutter 기술을 활용한 기능 설명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구현: 위젯 트리 하나로 폰부터 폴드까지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840480" cy="46177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위젯 트리</a:t>
            </a:r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lib/main.dart</a:t>
            </a:r>
            <a:endParaRPr lang="ko-KR" alt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2057400"/>
            <a:ext cx="33832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0939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MaterialApp</a:t>
            </a:r>
            <a:endParaRPr lang="ko-KR" alt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29514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쌓기: CupertinoPageRoute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77824" y="251460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283464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6696" y="2606040"/>
            <a:ext cx="3163824" cy="457200"/>
          </a:xfrm>
          <a:prstGeom prst="roundRect">
            <a:avLst>
              <a:gd name="adj" fmla="val 20000"/>
            </a:avLst>
          </a:prstGeom>
          <a:solidFill>
            <a:srgbClr val="E8F6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06424" y="2642616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MarksHost · PaneHost</a:t>
            </a:r>
            <a:endParaRPr lang="ko-KR" alt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2843784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setState + InheritedWidget</a:t>
            </a:r>
            <a:endParaRPr lang="ko-KR" alt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97280" y="306324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7280" y="338328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6152" y="3154680"/>
            <a:ext cx="2944368" cy="457200"/>
          </a:xfrm>
          <a:prstGeom prst="roundRect">
            <a:avLst>
              <a:gd name="adj" fmla="val 20000"/>
            </a:avLst>
          </a:prstGeom>
          <a:solidFill>
            <a:srgbClr val="EAF4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325880" y="3191256"/>
            <a:ext cx="2761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AppShell (LayoutBuilder)</a:t>
            </a:r>
            <a:endParaRPr lang="ko-KR" alt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392424"/>
            <a:ext cx="2761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 · 가로 폰 · 반반 화면</a:t>
            </a:r>
            <a:endParaRPr lang="ko-KR" alt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316736" y="361188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16736" y="393192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35608" y="3703320"/>
            <a:ext cx="27249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45336" y="373989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IndexedStack</a:t>
            </a:r>
            <a:endParaRPr lang="ko-KR" alt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545336" y="394106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4개 — 옆으로</a:t>
            </a:r>
            <a:endParaRPr lang="ko-KR" alt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36192" y="416052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36192" y="448056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55064" y="4251960"/>
            <a:ext cx="2505456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764792" y="4288536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FutureBuilder</a:t>
            </a:r>
            <a:endParaRPr lang="ko-KR" alt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764792" y="4489704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 → 로딩 · 오류 · 빈</a:t>
            </a:r>
            <a:endParaRPr lang="ko-KR" alt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316736" y="3611880"/>
            <a:ext cx="0" cy="141732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16736" y="502920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35608" y="4800600"/>
            <a:ext cx="27249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545336" y="483717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Navigator (오른쪽 칸)</a:t>
            </a:r>
            <a:endParaRPr lang="ko-KR" alt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545336" y="503834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 화면에서 쌓기</a:t>
            </a:r>
            <a:endParaRPr lang="ko-KR" alt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316736" y="3611880"/>
            <a:ext cx="0" cy="196596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316736" y="557784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435608" y="5349240"/>
            <a:ext cx="27249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545336" y="538581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Sheet · Dialog · Drawer</a:t>
            </a:r>
            <a:endParaRPr lang="ko-KR" alt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545336" y="558698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덮기</a:t>
            </a:r>
            <a:endParaRPr lang="ko-KR" alt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17720" y="1481328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818888" y="1682496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18888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257800" y="166420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이동 3방식</a:t>
            </a:r>
            <a:endParaRPr lang="ko-KR" altLang="en-US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4846320" y="21671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쌓기 · 옆으로 · 덮기</a:t>
            </a:r>
            <a:endParaRPr lang="ko-KR" alt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4846320" y="25786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CupertinoPageRoute · IndexedStack · Sheet / Dialog / Drawer</a:t>
            </a:r>
            <a:endParaRPr lang="ko-KR" alt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174736" y="1481328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375904" y="1682496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375904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8814816" y="166420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FutureBuilder 3상태</a:t>
            </a:r>
            <a:endParaRPr lang="ko-KR" altLang="en-US" sz="1450" dirty="0"/>
          </a:p>
        </p:txBody>
      </p:sp>
      <p:sp>
        <p:nvSpPr>
          <p:cNvPr id="49" name="Text 47"/>
          <p:cNvSpPr txBox="1"/>
          <p:nvPr/>
        </p:nvSpPr>
        <p:spPr>
          <a:xfrm>
            <a:off x="8403336" y="21671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 · 오류(다시 시도) · 빈 상태</a:t>
            </a:r>
            <a:endParaRPr lang="ko-KR" alt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403336" y="25786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 하는 화면 전부</a:t>
            </a:r>
            <a:endParaRPr lang="ko-KR" alt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617720" y="3383280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4818888" y="3584448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818888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257800" y="356616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json-server GET만</a:t>
            </a:r>
            <a:endParaRPr lang="ko-KR" alt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4846320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· 전송 없음</a:t>
            </a:r>
            <a:endParaRPr lang="ko-KR" alt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4846320" y="44805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http.get 하나 — lib/api.dart</a:t>
            </a:r>
            <a:endParaRPr lang="ko-KR" alt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174736" y="3383280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8375904" y="3584448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375904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8814816" y="356616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적응형</a:t>
            </a:r>
            <a:endParaRPr lang="ko-KR" altLang="en-US" sz="1450" dirty="0"/>
          </a:p>
        </p:txBody>
      </p:sp>
      <p:sp>
        <p:nvSpPr>
          <p:cNvPr id="61" name="Text 59"/>
          <p:cNvSpPr txBox="1"/>
          <p:nvPr/>
        </p:nvSpPr>
        <p:spPr>
          <a:xfrm>
            <a:off x="8403336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너비로 폰 · 가로 폰 · 반반</a:t>
            </a:r>
            <a:endParaRPr lang="ko-KR" alt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403336" y="44805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LayoutBuilder · MediaQuery · 폴드 접힘선 · 테스트 53개</a:t>
            </a:r>
            <a:endParaRPr lang="ko-KR" alt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617720" y="5349240"/>
            <a:ext cx="7022592" cy="749808"/>
          </a:xfrm>
          <a:prstGeom prst="roundRect">
            <a:avLst>
              <a:gd name="adj" fmla="val 14634"/>
            </a:avLst>
          </a:prstGeom>
          <a:solidFill>
            <a:srgbClr val="E8F6F1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846320" y="5349240"/>
            <a:ext cx="6675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상태관리 패키지 0</a:t>
            </a:r>
            <a:endParaRPr lang="ko-KR" altLang="en-US" sz="1150" dirty="0"/>
          </a:p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구매함은 맨 위 setState + InheritedWidget — 홈에서 누르면 컬렉션 · 내 정보 숫자가 같이 바뀐다</a:t>
            </a:r>
            <a:endParaRPr lang="ko-KR" alt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18</a:t>
            </a:fld>
            <a:endParaRPr lang="ko-KR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데모 — 라이브 시연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데모: 리본 한 번이 앱 전체에 반영된다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배포된 앱으로 시연 — 서버 없이 브라우저만 있으면 된다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6809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</a:t>
            </a:r>
            <a:endParaRPr lang="ko-KR" alt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679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배너가 넘어간다 · 카드 리본 한 번 → ✓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8096" y="333756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" y="3337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화면 전환</a:t>
            </a:r>
            <a:endParaRPr lang="ko-KR" alt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10128" y="178308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9584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4133088" y="2057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찍어서 찾기</a:t>
            </a:r>
            <a:endParaRPr lang="ko-KR" alt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529584" y="2679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"AI가 비교하는 중…" → 후보 · 일치도</a:t>
            </a:r>
            <a:endParaRPr lang="ko-KR" alt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29584" y="333756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29584" y="3337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임의 결과</a:t>
            </a:r>
            <a:endParaRPr lang="ko-KR" alt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71616" y="178308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291072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6894576" y="2057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컬렉션</a:t>
            </a:r>
            <a:endParaRPr lang="ko-KR" alt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91072" y="2679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 담은 상품이 이미 있다</a:t>
            </a:r>
            <a:endParaRPr lang="ko-KR" alt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1072" y="333756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91072" y="3337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json-server GET</a:t>
            </a:r>
            <a:endParaRPr lang="ko-KR" alt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397764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68096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251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</a:t>
            </a:r>
            <a:endParaRPr lang="ko-KR" alt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68096" y="48737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칸이 켜지고 Lv 막대가 오른다</a:t>
            </a:r>
            <a:endParaRPr lang="ko-KR" alt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" y="553212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68096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상태 표시</a:t>
            </a:r>
            <a:endParaRPr lang="ko-KR" alt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10128" y="397764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3529584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altLang="en-US" sz="3200" dirty="0"/>
          </a:p>
        </p:txBody>
      </p:sp>
      <p:sp>
        <p:nvSpPr>
          <p:cNvPr id="31" name="Text 29"/>
          <p:cNvSpPr txBox="1"/>
          <p:nvPr/>
        </p:nvSpPr>
        <p:spPr>
          <a:xfrm>
            <a:off x="4133088" y="4251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넓히기</a:t>
            </a:r>
            <a:endParaRPr lang="ko-KR" alt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3529584" y="48737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앱 · 오른쪽 상세 (반반 화면)</a:t>
            </a:r>
            <a:endParaRPr lang="ko-KR" alt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29584" y="553212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적응형</a:t>
            </a:r>
            <a:endParaRPr lang="ko-KR" alt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71616" y="397764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291072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3200" dirty="0"/>
          </a:p>
        </p:txBody>
      </p:sp>
      <p:sp>
        <p:nvSpPr>
          <p:cNvPr id="37" name="Text 35"/>
          <p:cNvSpPr txBox="1"/>
          <p:nvPr/>
        </p:nvSpPr>
        <p:spPr>
          <a:xfrm>
            <a:off x="6894576" y="4251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끄기</a:t>
            </a:r>
            <a:endParaRPr lang="ko-KR" alt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291072" y="48737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채널을 바꾸면 오류 + 다시 시도</a:t>
            </a:r>
            <a:endParaRPr lang="ko-KR" alt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91072" y="553212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291072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로딩 · 오류 · 빈</a:t>
            </a:r>
            <a:endParaRPr lang="ko-KR" alt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915400" y="1783080"/>
            <a:ext cx="2724912" cy="4206240"/>
          </a:xfrm>
          <a:prstGeom prst="roundRect">
            <a:avLst>
              <a:gd name="adj" fmla="val 5369"/>
            </a:avLst>
          </a:prstGeom>
          <a:solidFill>
            <a:srgbClr val="F4F5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125712" y="1938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열어 보기</a:t>
            </a:r>
            <a:endParaRPr lang="ko-KR" alt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9326880" y="2331720"/>
            <a:ext cx="1901952" cy="1901952"/>
          </a:xfrm>
          <a:prstGeom prst="roundRect">
            <a:avLst>
              <a:gd name="adj" fmla="val 4808"/>
            </a:avLst>
          </a:prstGeom>
          <a:solidFill>
            <a:srgbClr val="FFFFFF"/>
          </a:solidFill>
          <a:ln/>
        </p:spPr>
      </p:sp>
      <p:pic>
        <p:nvPicPr>
          <p:cNvPr id="44" name="Image 0" descr="C:\Users\Windows11\AppData\Local\Temp\claude\C--Users-Windows11-Desktop-New-folder--2-\a0c8a1d0-32ba-4ae6-9843-b5ebc69d925f\scratchpad\deck2/img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2423160"/>
            <a:ext cx="1719072" cy="1719072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9125712" y="4370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mdefitko777.github.io/gunpula-flutter</a:t>
            </a:r>
            <a:endParaRPr lang="ko-KR" alt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9125712" y="48463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pPr algn="ctr"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GitHub Pages</a:t>
            </a:r>
            <a:endParaRPr lang="ko-KR" altLang="en-US" sz="1000" dirty="0"/>
          </a:p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pPr algn="ctr"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Vercel 목업 서버 (GET만)</a:t>
            </a:r>
            <a:endParaRPr lang="ko-KR" altLang="en-US" sz="1000" dirty="0"/>
          </a:p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창을 넓히면 반반 화면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19</a:t>
            </a:fld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Personal Learnings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것: 화면은 ‘사용자가 하는 일의 순서’로 나눈다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57016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1051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ko-KR" alt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9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하는 일의 순서로</a:t>
            </a:r>
            <a:endParaRPr lang="ko-KR" alt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Why를 내려가 보니 문제는 기능이 아니라 구조였다</a:t>
            </a:r>
            <a:endParaRPr lang="ko-KR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1600200"/>
            <a:ext cx="3557016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90288" y="181051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90288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셀프 논증 회고</a:t>
            </a:r>
            <a:endParaRPr lang="ko-KR" alt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9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반론은 받아들이기도, 버리기도</a:t>
            </a:r>
            <a:endParaRPr lang="ko-KR" alt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반론으로 모양을 하나로 · AI 알약 필터는 폐기</a:t>
            </a:r>
            <a:endParaRPr lang="ko-KR" alt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83296" y="1600200"/>
            <a:ext cx="3557016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57616" y="181051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v3</a:t>
            </a:r>
            <a:endParaRPr lang="ko-KR" alt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9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기록과 로고</a:t>
            </a:r>
            <a:endParaRPr lang="ko-KR" alt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상태관리 수업에서 좋아요 · 도감 저장 · 로고 확정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20</a:t>
            </a:fld>
            <a:endParaRPr lang="ko-KR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 Q&amp;A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 — 질문 받겠습니다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08660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8013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ko-KR" alt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0136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하필 hobbyDB를 바탕으로 골랐나요?</a:t>
            </a:r>
            <a:endParaRPr lang="ko-KR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3317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브랜드의 수집품을 한 앱에 모으는 거의 유일한 앱이라, 브랜드마다 흩어진 정보라는 제 문제에 가장 가깝습니다. 하지만 웹사이트 메뉴를 그대로 옮긴 구조라 "없는 기능 · 불편" 리뷰가 많아 다시 설계할 가치가 있었습니다.</a:t>
            </a:r>
            <a:endParaRPr lang="ko-KR" alt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840480"/>
            <a:ext cx="708660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40416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ko-KR" alt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40416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버전(v3)에서 가장 먼저 추가할 기능은?</a:t>
            </a:r>
            <a:endParaRPr lang="ko-KR" alt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457200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좋아요 · 구매함 · 도감 기록 저장 (상태관리 수업에서)</a:t>
            </a:r>
            <a:endParaRPr lang="ko-KR" alt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브랜드마다 흩어진 공식 예고를 자동으로 모으기</a:t>
            </a:r>
            <a:endParaRPr lang="ko-KR" alt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실제 사진 인식 · 로고와 앱 아이콘 확정</a:t>
            </a:r>
            <a:endParaRPr lang="ko-KR" alt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01000" y="1600200"/>
            <a:ext cx="3639312" cy="4389120"/>
          </a:xfrm>
          <a:prstGeom prst="roundRect">
            <a:avLst>
              <a:gd name="adj" fmla="val 4020"/>
            </a:avLst>
          </a:prstGeom>
          <a:solidFill>
            <a:srgbClr val="F4F5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7532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부록으로 바로 이동</a:t>
            </a:r>
            <a:endParaRPr lang="ko-KR" alt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0848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쇼에서 장 번호 + Enter</a:t>
            </a:r>
            <a:endParaRPr lang="ko-KR" alt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75320" y="2487168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87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ko-KR" alt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24871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및 스크린샷</a:t>
            </a:r>
            <a:endParaRPr lang="ko-KR" alt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0" y="24871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23장</a:t>
            </a:r>
            <a:endParaRPr lang="ko-KR" alt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75320" y="3163824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58200" y="3163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ko-KR" alt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006840" y="31638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카드 P01–P10</a:t>
            </a:r>
            <a:endParaRPr lang="ko-KR" alt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31638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26장</a:t>
            </a:r>
            <a:endParaRPr lang="ko-KR" alt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75320" y="3840480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5820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ko-KR" alt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006840" y="3840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prompt-log</a:t>
            </a:r>
            <a:endParaRPr lang="ko-KR" alt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0" y="38404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36장</a:t>
            </a:r>
            <a:endParaRPr lang="ko-KR" alt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275320" y="4517136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58200" y="45171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ko-KR" alt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006840" y="45171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자가평가 요약</a:t>
            </a:r>
            <a:endParaRPr lang="ko-KR" alt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607040" y="45171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38장</a:t>
            </a:r>
            <a:endParaRPr lang="ko-KR" alt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75320" y="5193792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5820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ko-KR" alt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006840" y="51937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상세 · 요소 분석</a:t>
            </a:r>
            <a:endParaRPr lang="ko-KR" alt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07040" y="519379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39장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21</a:t>
            </a:fld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ko-KR" alt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830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6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ko-KR" alt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803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6분에는 넘기지 않습니다.</a:t>
            </a:r>
            <a:endParaRPr lang="ko-KR" altLang="en-US" sz="1800" dirty="0"/>
          </a:p>
          <a:p>
            <a:pPr indent="0" marL="0">
              <a:buNone/>
            </a:pPr>
            <a:r>
              <a:rPr lang="ko-KR" altLang="en-US" sz="18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질문이 가리키는 장으로 바로 갑니다.</a:t>
            </a:r>
            <a:endParaRPr lang="ko-KR" alt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09360" y="1234440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537960" y="1234440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ko-KR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362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및 스크린샷</a:t>
            </a:r>
            <a:endParaRPr lang="ko-KR" alt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6642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화면 · 3상태 · 적응형</a:t>
            </a:r>
            <a:endParaRPr lang="ko-KR" alt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698480" y="1234440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23장</a:t>
            </a:r>
            <a:endParaRPr lang="ko-KR" alt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167128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37960" y="2167128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ko-KR" alt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2951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카드 P01–P10</a:t>
            </a:r>
            <a:endParaRPr lang="ko-KR" alt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59689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· 근거 · 적용 · 시연 · 판단</a:t>
            </a:r>
            <a:endParaRPr lang="ko-KR" alt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0" y="2167128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26장</a:t>
            </a:r>
            <a:endParaRPr lang="ko-KR" alt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09360" y="3099816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537960" y="3099816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ko-KR" alt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2278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prompt-log</a:t>
            </a:r>
            <a:endParaRPr lang="ko-KR" alt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352958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요청 · 결과 · 내 판단 · 이유</a:t>
            </a:r>
            <a:endParaRPr lang="ko-KR" alt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698480" y="3099816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36장</a:t>
            </a:r>
            <a:endParaRPr lang="ko-KR" alt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4032504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37960" y="4032504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ko-KR" alt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41605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자가평가 요약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4622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배점 그대로</a:t>
            </a:r>
            <a:endParaRPr lang="ko-KR" alt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698480" y="4032504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38장</a:t>
            </a:r>
            <a:endParaRPr lang="ko-KR" alt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4965192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37960" y="4965192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ko-KR" alt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50932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상세</a:t>
            </a:r>
            <a:endParaRPr lang="ko-KR" alt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53949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요약 · 저니 · 피쉬본 · 요소 분석 · 상태</a:t>
            </a:r>
            <a:endParaRPr lang="ko-KR" alt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698480" y="4965192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39장</a:t>
            </a:r>
            <a:endParaRPr lang="ko-KR" alt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22</a:t>
            </a:fld>
            <a:endParaRPr lang="ko-KR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1/3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화면 — 요소 번호는 디자인 가이드 3장과 같다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home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795756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홈</a:t>
            </a:r>
            <a:endParaRPr lang="ko-KR" alt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a_home_screen</a:t>
            </a:r>
            <a:endParaRPr lang="ko-KR" alt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23160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Users\Windows11\AppData\Local\Temp\claude\C--Users-Windows11-Desktop-New-folder--2-\a0c8a1d0-32ba-4ae6-9843-b5ebc69d925f\scratchpad\deck2/img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872" y="1874520"/>
            <a:ext cx="1795756" cy="3886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04872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404872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· O 전체 상품</a:t>
            </a:r>
            <a:endParaRPr lang="ko-KR" alt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2359152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b_search · o_see_all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279392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Windows11\AppData\Local\Temp\claude\C--Users-Windows11-Desktop-New-folder--2-\a0c8a1d0-32ba-4ae6-9843-b5ebc69d925f\scratchpad\deck2/img/detail_nu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1874520"/>
            <a:ext cx="1795756" cy="38862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261104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4261104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상품 상세</a:t>
            </a:r>
            <a:endParaRPr lang="ko-KR" alt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4215384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d_kit_detail_screen</a:t>
            </a:r>
            <a:endParaRPr lang="ko-KR" alt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135624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3" descr="C:\Users\Windows11\AppData\Local\Temp\claude\C--Users-Windows11-Desktop-New-folder--2-\a0c8a1d0-32ba-4ae6-9843-b5ebc69d925f\scratchpad\deck2/img/collec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7336" y="1874520"/>
            <a:ext cx="1795756" cy="38862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117336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6117336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 컬렉션</a:t>
            </a:r>
            <a:endParaRPr lang="ko-KR" alt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6071616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f_collection_screen</a:t>
            </a:r>
            <a:endParaRPr lang="ko-KR" alt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7991856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4" descr="C:\Users\Windows11\AppData\Local\Temp\claude\C--Users-Windows11-Desktop-New-folder--2-\a0c8a1d0-32ba-4ae6-9843-b5ebc69d925f\scratchpad\deck2/img/guide_nu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568" y="1874520"/>
            <a:ext cx="1795756" cy="38862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7973568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7973568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 도감</a:t>
            </a:r>
            <a:endParaRPr lang="ko-KR" alt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7927848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g_guide_view</a:t>
            </a:r>
            <a:endParaRPr lang="ko-KR" alt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9848088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0" name="Image 5" descr="C:\Users\Windows11\AppData\Local\Temp\claude\C--Users-Windows11-Desktop-New-folder--2-\a0c8a1d0-32ba-4ae6-9843-b5ebc69d925f\scratchpad\deck2/img/calend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0" y="1874520"/>
            <a:ext cx="1795756" cy="3886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9829800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9829800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 캘린더</a:t>
            </a:r>
            <a:endParaRPr lang="ko-KR" altLang="en-US" sz="1050" dirty="0"/>
          </a:p>
        </p:txBody>
      </p:sp>
      <p:sp>
        <p:nvSpPr>
          <p:cNvPr id="33" name="Text 25"/>
          <p:cNvSpPr txBox="1"/>
          <p:nvPr/>
        </p:nvSpPr>
        <p:spPr>
          <a:xfrm>
            <a:off x="9784080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h_calendar_screen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23</a:t>
            </a:fld>
            <a:endParaRPr lang="ko-KR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2/3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화면 — 채널 · 친구 · 내 정보 · 알림 · 설정 · 카메라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cha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521111" cy="3291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채널 관리</a:t>
            </a:r>
            <a:endParaRPr lang="ko-KR" alt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c_channel_screen</a:t>
            </a:r>
            <a:endParaRPr lang="ko-KR" alt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157984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Users\Windows11\AppData\Local\Temp\claude\C--Users-Windows11-Desktop-New-folder--2-\a0c8a1d0-32ba-4ae6-9843-b5ebc69d925f\scratchpad\deck2/img/dra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696" y="1874520"/>
            <a:ext cx="1521111" cy="32918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139696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139696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친구 서랍</a:t>
            </a:r>
            <a:endParaRPr lang="ko-KR" alt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2093976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m_friends_drawer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749040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Windows11\AppData\Local\Temp\claude\C--Users-Windows11-Desktop-New-folder--2-\a0c8a1d0-32ba-4ae6-9843-b5ebc69d925f\scratchpad\deck2/img/prof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0752" y="1874520"/>
            <a:ext cx="1521111" cy="32918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3730752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3730752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 내 정보</a:t>
            </a:r>
            <a:endParaRPr lang="ko-KR" alt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685032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i_profile_screen</a:t>
            </a:r>
            <a:endParaRPr lang="ko-KR" alt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5340096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3" descr="C:\Users\Windows11\AppData\Local\Temp\claude\C--Users-Windows11-Desktop-New-folder--2-\a0c8a1d0-32ba-4ae6-9843-b5ebc69d925f\scratchpad\deck2/img/frie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1874520"/>
            <a:ext cx="1521111" cy="329184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5321808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5321808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친구 컬렉션</a:t>
            </a:r>
            <a:endParaRPr lang="ko-KR" alt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5276088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l_friend_collection</a:t>
            </a:r>
            <a:endParaRPr lang="ko-KR" alt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6931152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4" descr="C:\Users\Windows11\AppData\Local\Temp\claude\C--Users-Windows11-Desktop-New-folder--2-\a0c8a1d0-32ba-4ae6-9843-b5ebc69d925f\scratchpad\deck2/img/noti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2864" y="1874520"/>
            <a:ext cx="1521111" cy="329184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6912864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912864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알림</a:t>
            </a:r>
            <a:endParaRPr lang="ko-KR" altLang="en-US" sz="950" dirty="0"/>
          </a:p>
        </p:txBody>
      </p:sp>
      <p:sp>
        <p:nvSpPr>
          <p:cNvPr id="28" name="Text 21"/>
          <p:cNvSpPr txBox="1"/>
          <p:nvPr/>
        </p:nvSpPr>
        <p:spPr>
          <a:xfrm>
            <a:off x="6867144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n_notifications_screen</a:t>
            </a:r>
            <a:endParaRPr lang="ko-KR" alt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22208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0" name="Image 5" descr="C:\Users\Windows11\AppData\Local\Temp\claude\C--Users-Windows11-Desktop-New-folder--2-\a0c8a1d0-32ba-4ae6-9843-b5ebc69d925f\scratchpad\deck2/img/setting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1874520"/>
            <a:ext cx="1521111" cy="329184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8503920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8503920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설정</a:t>
            </a:r>
            <a:endParaRPr lang="ko-KR" altLang="en-US" sz="950" dirty="0"/>
          </a:p>
        </p:txBody>
      </p:sp>
      <p:sp>
        <p:nvSpPr>
          <p:cNvPr id="33" name="Text 25"/>
          <p:cNvSpPr txBox="1"/>
          <p:nvPr/>
        </p:nvSpPr>
        <p:spPr>
          <a:xfrm>
            <a:off x="8458200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k_settings_screen</a:t>
            </a:r>
            <a:endParaRPr lang="ko-KR" alt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10113264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5" name="Image 6" descr="C:\Users\Windows11\AppData\Local\Temp\claude\C--Users-Windows11-Desktop-New-folder--2-\a0c8a1d0-32ba-4ae6-9843-b5ebc69d925f\scratchpad\deck2/img/camer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4976" y="1874520"/>
            <a:ext cx="1521111" cy="3291840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10094976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7" name="Text 28"/>
          <p:cNvSpPr txBox="1"/>
          <p:nvPr/>
        </p:nvSpPr>
        <p:spPr>
          <a:xfrm>
            <a:off x="10094976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 찍어서 찾기</a:t>
            </a:r>
            <a:endParaRPr lang="ko-KR" altLang="en-US" sz="950" dirty="0"/>
          </a:p>
        </p:txBody>
      </p:sp>
      <p:sp>
        <p:nvSpPr>
          <p:cNvPr id="38" name="Text 29"/>
          <p:cNvSpPr txBox="1"/>
          <p:nvPr/>
        </p:nvSpPr>
        <p:spPr>
          <a:xfrm>
            <a:off x="10049256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e_camera_screen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24</a:t>
            </a:fld>
            <a:endParaRPr lang="ko-KR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3/3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3상태 · 적응형 — 오류가 나면? 넓은 화면은?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loa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795756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</a:t>
            </a:r>
            <a:endParaRPr lang="ko-KR" alt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DEMO_STATE=loading</a:t>
            </a:r>
            <a:endParaRPr lang="ko-KR" alt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23160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Users\Windows11\AppData\Local\Temp\claude\C--Users-Windows11-Desktop-New-folder--2-\a0c8a1d0-32ba-4ae6-9843-b5ebc69d925f\scratchpad\deck2/img/err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872" y="1874520"/>
            <a:ext cx="1795756" cy="3886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04872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404872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+ 다시 시도</a:t>
            </a:r>
            <a:endParaRPr lang="ko-KR" alt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2359152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DEMO_STATE=error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279392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Windows11\AppData\Local\Temp\claude\C--Users-Windows11-Desktop-New-folder--2-\a0c8a1d0-32ba-4ae6-9843-b5ebc69d925f\scratchpad\deck2/img/emp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1874520"/>
            <a:ext cx="1795756" cy="38862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261104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4261104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상태</a:t>
            </a:r>
            <a:endParaRPr lang="ko-KR" alt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4215384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DEMO_STATE=empty</a:t>
            </a:r>
            <a:endParaRPr lang="ko-KR" alt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309360" y="1481328"/>
            <a:ext cx="2194560" cy="292608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309360" y="14813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폰 — 측면 탭 (S-5)</a:t>
            </a:r>
            <a:endParaRPr lang="ko-KR" alt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327648" y="1892808"/>
            <a:ext cx="4535424" cy="2076078"/>
          </a:xfrm>
          <a:prstGeom prst="roundRect">
            <a:avLst>
              <a:gd name="adj" fmla="val 35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2" name="Image 3" descr="C:\Users\Windows11\AppData\Local\Temp\claude\C--Users-Windows11-Desktop-New-folder--2-\a0c8a1d0-32ba-4ae6-9843-b5ebc69d925f\scratchpad\deck2/img/landscap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874520"/>
            <a:ext cx="4572000" cy="2112654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309360" y="4114800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6309360" y="41148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폴드 · 넓은 창 — 반반 (S-12)</a:t>
            </a:r>
            <a:endParaRPr lang="ko-KR" alt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6327648" y="4526280"/>
            <a:ext cx="1888302" cy="1563624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6" name="Image 4" descr="C:\Users\Windows11\AppData\Local\Temp\claude\C--Users-Windows11-Desktop-New-folder--2-\a0c8a1d0-32ba-4ae6-9843-b5ebc69d925f\scratchpad\deck2/img/f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507992"/>
            <a:ext cx="1924878" cy="1600200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8385048" y="4526280"/>
            <a:ext cx="2523744" cy="1563624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8" name="Image 5" descr="C:\Users\Windows11\AppData\Local\Temp\claude\C--Users-Windows11-Desktop-New-folder--2-\a0c8a1d0-32ba-4ae6-9843-b5ebc69d925f\scratchpad\deck2/img/wi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4507992"/>
            <a:ext cx="2560320" cy="16002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0954512" y="1920240"/>
            <a:ext cx="685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844×390</a:t>
            </a:r>
            <a:endParaRPr lang="ko-KR" altLang="en-US" sz="950" dirty="0"/>
          </a:p>
        </p:txBody>
      </p:sp>
      <p:sp>
        <p:nvSpPr>
          <p:cNvPr id="30" name="Text 22"/>
          <p:cNvSpPr txBox="1"/>
          <p:nvPr/>
        </p:nvSpPr>
        <p:spPr>
          <a:xfrm>
            <a:off x="6309360" y="614476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830×690 · 1280×800 — test/layout_test.dart 7가지 크기에서 넘침 0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25</a:t>
            </a:fld>
            <a:endParaRPr lang="ko-KR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1/10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상태의 가시성</a:t>
            </a:r>
            <a:endParaRPr lang="ko-KR" alt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1 — 지금 무슨 일이 일어나는지 늘 알려 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2025.07.28 ★3 "PLEASE FIX THE SCANNER" — 스캐너가 멈춰도 앱이 아무것도 알려 주지 않는다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E-4 "AI가 비교하는 중…" · E-6 일치도 막대 · G-4a Lv 막대(다음 레벨까지 n점) · N-3 안 읽음 점 · 모든 GET 화면 LoadingView — 코드 // E-4 P01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 → 찍기 → "비교하는 중…" → 일치도 94%  (p01.mp4)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돌아가는 원만 보여 주기 — 버림: 무엇을 하는 중인지 모른다. 문구 + 결과 일치도로 바꿈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26</a:t>
            </a:fld>
            <a:endParaRPr lang="ko-KR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2/10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시스템과 실세계의 일치</a:t>
            </a:r>
            <a:endParaRPr lang="ko-KR" altLang="en-US" sz="2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2 — 사용자가 아는 말 · 물건 · 순서로 보여 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캡처: 미국 경매가(달러) 위주, 일본 정가 · 원래 이름이 없다 / 잘된 점: 상자 사진 · 품번은 그대로 가져감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D-4 일본어 원래 이름 · D-5 "일본 정가" ¥ · D-2 공식 사진 · A-3 공식 예고 이미지 그대로 · 건담 작품명은 영어 공식명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 → 일본어 이름 → "일본 정가" → 국내 시세 한 줄  (p02.mp4)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정가를 원화로 바꿔 보여 주기 — 버림: 환율 계산은 "실제 계산"이고 매장 가격표와 달라진다(p27). 작품명 한글 줄임말 — 버림(p25)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27</a:t>
            </a:fld>
            <a:endParaRPr lang="ko-KR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3/10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통제와 자유</a:t>
            </a:r>
            <a:endParaRPr lang="ko-KR" altLang="en-US" sz="2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3 — 실수했을 때 쉽게 되돌아갈 비상구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2023.04.18 ★5 "the layout is a pain" — 누를 때마다 다른 창 · 2025.08.08 ★1 — 원치 않게 처음 화면으로 튕김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켜고 끄기 토스트에 "되돌리기" · F-10 휴지통 · S-6 IndexedStack(탭을 바꿔도 보던 자리) · 전체 목록 = 같은 탭 안 보기 + ‹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편집 → 2개 삭제 → 휴지통 배지 → 복원  (p03.mp4)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전 확인만 묻기 — 부족: 확인 뒤엔 방법이 없다 → 휴지통(p13). 전체 목록을 새 화면으로 — 버림 → 탭 안 보기(p20)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28</a:t>
            </a:fld>
            <a:endParaRPr lang="ko-KR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4/10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P04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일관성과 표준</a:t>
            </a:r>
            <a:endParaRPr lang="ko-KR" alt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4 — 같은 것은 어디서나 같은 모양 · 같은 말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2023.11.23 ★5 "쇼케이스와 컬렉션의 차이를 모르겠다" — 비슷한 기능이 다른 이름 · 모양으로 흩어져 있다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모양 둘: ♡ = 좋아요, 리본 = 구매함(A-9 · G-4b · D-6) · 색 둘: 파랑 = 고름, 민트 = 가진 것(S-15) · 앱 전체 한 벌(S-16 MarksHost)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♡ → 컬렉션 좋아요 +1 → 상세 ♡ 켜짐  (p04.mp4)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화면마다 다른 표시 — 버림: AI 반론 "같은 행동이 3–4가지 모양"(쟁점 1) → 하나로(p26). 파랑 하나로 모든 상태 — 버림(쟁점 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29</a:t>
            </a:fld>
            <a:endParaRPr lang="ko-KR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5/10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P05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예방</a:t>
            </a:r>
            <a:endParaRPr lang="ko-KR" altLang="en-US" sz="2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5 — 실수가 일어나기 전에 막는다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2025.08.08 ★1 — 원치 않는 새로고침 · 리셋, 사용자가 의도하지 않은 큰 변화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F-7 여러 개 삭제 · D-12 오류 제보 · K-5 로그아웃 → 확인 대화상자 · G-5c 그 기체가 찍힌 사진이어야 켜짐 · 맞는 상품 0이면 필터 적용 잠김(O-2)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기체 → 내 사진 → 다른 사진 → "찾지 못했어요" → 맞는 사진 → 인증  (p05.mp4)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사진으로" 한 번에 점등 — 버림: "사진에 그 기체가 있어야 켜져야"(p09) → 사진 고르기 + 판정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30</a:t>
            </a:fld>
            <a:endParaRPr lang="ko-KR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6/10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P06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기억보다 재인</a:t>
            </a:r>
            <a:endParaRPr lang="ko-KR" altLang="en-US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6 — 외우지 않아도 보고 고를 수 있게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2023.11.23 ★5 — 오래 썼지만 인터페이스를 익히기 어렵다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늘 보이는 내 채널 바(C-1) · 밑줄 탭(F-2 · N-1) · 검색창을 누르면 최근 · 인기 검색어 · AI 예시 문장(B-3~B-5) · 필터 패널 체크 목록(O-2)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탭(전체 상품) → 검색창 → 최근 검색 → 결과  (p06.mp4)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필터를 알약 줄로 — 버림: "상태가 아니라 작품별로" → 오른쪽 패널(p21). 검색 첫 화면 = 최근 · 인기 판 — 버림(p22)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31</a:t>
            </a:fld>
            <a:endParaRPr lang="ko-KR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7/10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P07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사용의 유연성과 효율성</a:t>
            </a:r>
            <a:endParaRPr lang="ko-KR" altLang="en-US" sz="28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7 — 익숙한 사람은 지름길로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2025.11.30 ★1 — 시세를 한 달 10번만 볼 수 있게 막았다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위 ♡ · 리본 바로 누르기(A-9 · G-4b) · 탭 바 가운데 카메라(S-4) · 국내 시세 한 줄, 횟수 제한 없음(D-5b) · 내 정보 숫자 → 그 목록(I-4)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카드 리본 한 번 → ✓ (상세에 들어가지 않고)  (p07.mp4)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시세를 "시장가" 칸 + 국내 시세 칸 두 곳에 — 버림: "겹친다" → 정가 아래 한 줄 + 누르면 시트(p08)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32</a:t>
            </a:fld>
            <a:endParaRPr lang="ko-KR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8/10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P08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미학적이고 미니멀한 디자인</a:t>
            </a:r>
            <a:endParaRPr lang="ko-KR" alt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8 — 지금 필요 없는 정보는 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2023.04.18 ★5 "the layout is a pain" · 2025.11.30 ★1 "TOO MANY ADS ON ONE SCREEN"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흑백 + 포인트 두 색 · 글자 6단계(S-15) · 홈 줄은 사진 + 이름만(A-6) · 스크롤하면 탭 바 · 아바타 줄 접힘(S-8 · S-13) · 광고 없음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홈을 내려 읽으면 위 · 아래가 접힘  (p08.mp4)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큰 검정 바탕 + 흰 글자 면 — 버림(흰 바탕 위 떠 있는 버튼). 장식 많은 로고 — 버림: 작은 아이콘에서 뭉개짐(로고 보류)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33</a:t>
            </a:fld>
            <a:endParaRPr lang="ko-KR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9/10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P09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인식 · 진단 · 복구 돕기</a:t>
            </a:r>
            <a:endParaRPr lang="ko-KR" altLang="en-US" sz="2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9 — 무엇이 잘못됐는지 말하고 빠져나갈 길을 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2021.03.22 ★2 — 목록에 없는 상품을 추가 · 오류 표시할 방법이 없다 · 2023.11.23 — 일반판이 자주 빠져 있다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GET 화면 ErrorView + "다시 시도" · 빈 상태 + 빠져나갈 길(F-9 "검색하러 가기", O-8 "필터 초기화") · D-12 정보 오류 제보 · E-9 다시 찍기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DEMO_STATE=error → 오류 안내 → 다시 시도  (p09.mp4)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토스트로만 "불러오기 실패" — 버림: 몇 초 뒤 사라지면 다음 행동을 모른다 → 화면에 남는 ErrorView + 버튼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34</a:t>
            </a:fld>
            <a:endParaRPr lang="ko-KR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10/10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P10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도움말과 문서</a:t>
            </a:r>
            <a:endParaRPr lang="ko-KR" altLang="en-US" sz="2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10 — 필요할 때 그 자리에서 짧게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2021.09.17 ★3 — 시세가 어디서 나온 값인지 모르겠다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G-2 도감 읽는 법(? → 4단계 · 점수) · D-5b 국내 시세 "거래 n건" + 플랫폼 3곳 · J-5 "공식으로 가기"(출처) · B-5 "말로 설명해서 찾기" 예시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도감 → ? → 도감 읽는 법 시트  (p10.mp4)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위 긴 범례 줄 — 버림: "긴 줄 대신 ? 아이콘"(p12). 시세 출처를 문장으로 길게 — 버림: 거래 건수 + 플랫폼 이름만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35</a:t>
            </a:fld>
            <a:endParaRPr lang="ko-KR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B3 · prompt-log 1/2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맡긴 일과 나의 판단</a:t>
            </a:r>
            <a:endParaRPr lang="ko-KR" alt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971800"/>
                <a:gridCol w="2743200"/>
                <a:gridCol w="731520"/>
                <a:gridCol w="3255264"/>
                <a:gridCol w="731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(지문 요약)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결과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 (원칙 · 리뷰 · 커밋)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(ChatGPT) 기존 Gunpula · hobbyDB 화면의 문제를 비판해 달라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메뉴 과다 · 정보 흩어짐 · 화면마다 다른 조작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그대로 따르지 않고 "아래 탭 + 위 채널 바"로 다시 설계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아래 탭을 무엇으로 나눌지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캘린더 · 컬렉션, 도감은 컬렉션 안 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저니 ⑤ 모은 것 보기를 컬렉션 안에 — 탭 수 줄이기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레이아웃 시안 여러 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매거진형 · 목록형 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PS Store · IMDb 참고 → "배너 + 가로 줄"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· 검색 검색창이 다르다, 재사용 안 된 것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GpSearchBar 하나로 · 중복 7종 공용 위젯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것은 같은 모양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상세의 "시장가"와 "국내 시세"가 겹친다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아래 시세 한 줄 + 시트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정보 두 번 = 미니멀 위반 (p08)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도감을 내 사진으로 켜고 싶다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사진으로" 토글 한 번에 점등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기체가 찍힌 사진이어야 → 사진 고르기 + 판정 (p09)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표시를 IMDb 처럼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왼쪽 위 리본 · 아래 ♡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상세에 들어가지 않고 바로 담기 (p14)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화면을 QQ 옆 서랍처럼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아바타 → 서랍 → 내 정보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목록을 한 곳에 (p16 · p17)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"›" 전체 목록 화면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화면 + 좋아요/구매함 알약 거르기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폐기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머리 아래 · 작품별로 → 탭 안 보기 + 필터 패널 (p20 · p21)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탭 첫 화면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"전체 상품 둘러보기" 카드 + 최근 · 인기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= 전체 상품, 검색창을 누르면 판 (p22)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9963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= AI에게 반론을 요청한 줄 (셀프 논증의 증거)  ·  수용 = 그대로 · 수정 = 고쳐서 · 폐기 = 버림  ·  원본 docs/prompt-log.md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36</a:t>
            </a:fld>
            <a:endParaRPr lang="ko-KR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B3 · prompt-log 2/2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맡긴 일과 나의 판단</a:t>
            </a:r>
            <a:endParaRPr lang="ko-KR" altLang="en-US" sz="2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971800"/>
                <a:gridCol w="2743200"/>
                <a:gridCol w="731520"/>
                <a:gridCol w="3255264"/>
                <a:gridCol w="731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(지문 요약)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결과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 (원칙 · 리뷰 · 커밋)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정렬 메뉴가 앱과 안 어울림 · 비율 문제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바텀 시트 · 측면 탭 · 7가지 크기 테스트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적응형 = 창 너비 기준, 넘침 0 확인 (p23)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폴드처럼 반반 화면 — 의견 먼저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목록-상세만 반반, 홈 제외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QQ처럼 왼쪽 = 폰 화면 전체 (p24)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UI 설계에 어떤 문제가 있는지 지적해 달라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13가지: 표시 모양 3–4종 · 파랑 과다 · 위쪽 높이 · 동기화 …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로고만 보류, 12개 반영 — 셀프 논증 쟁점 1–5 (p25–p32)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P08 P01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 디자인 (원형 아카이브 · 명품 로고 참고)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시안 4차례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폐기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고급스럽지 않음 → 로고는 다음 단계로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반반 화면 선택 표시를 ValueNotifier 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동작함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"setState 만" → 맨 위 setState + InheritedWidget (p33)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구매함이 화면마다 따로 바뀜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맨 위 MarksHost(setState)로 한 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패키지 없이 setState 를 위로 · 저장 안 함 (p31)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디자인 가이드를 지금 코드와 맞게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대응표 → 요소표 생성기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"기획과 일치" — 번호 · 명칭이 코드와 같게 (p34)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제출물 준비 (README · 스크린샷 · 문서)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스크린샷 생성 · 리뷰 확인 · 초안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셀프 논증 · 자가 점수는 내가 확인 후 확정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앱 스크린샷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이메일이 보이는 이미지 제외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개인정보 사용 금지 (안내문 5장)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7900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= AI에게 반론을 요청한 줄 (셀프 논증의 증거)  ·  수용 = 그대로 · 수정 = 고쳐서 · 폐기 = 버림  ·  원본 docs/prompt-log.md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37</a:t>
            </a:fld>
            <a:endParaRPr lang="ko-KR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B4 · 자가평가 요약 (제출 전 점검)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배점 그대로 — 근거 위치를 모두 채웠다</a:t>
            </a:r>
            <a:endParaRPr lang="ko-KR" alt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777240"/>
                <a:gridCol w="3657600"/>
                <a:gridCol w="2606040"/>
                <a:gridCol w="7132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확인할 것 (안내문 문구)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위치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분석 · 리뷰 근거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잘된 점 원칙 번호 · 별점 분포 · 인용 · 유형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05–06장 · docs/기획.md 1장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10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 요약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· 퍼소나 · 문제 · v2 핵심 가치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 · 05 · 07장 · B5-1 (39장)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저니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· 단계별 리뷰 · 감정 최저점 · 확장 4줄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07–08장 · B5-2 (40장)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피쉬본 · 5 Why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여섯 시각 · 우선순위 1개 · 근본 원인까지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08장 · B5-3 (41장)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 분석 · 기준 · 가이드 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 · 위젯명 · 비즈니스 명칭 · 명칭 일관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09–14장 · B5-4 (42–44장)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상태관리 포인트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바뀌는 데이터 → 위젯 · 구현 안 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18장 · B5-5 (45장) · STATE 74곳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4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셀프 논증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주장 · 반론 · 결론 · 전후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쟁점마다 주장 · AI 반론 · 재반론 · 결론 · 근거 · 전후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15–17장 · B3 · docs/셀프논증.md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20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UI 구현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일치 · 기능 · 3상태 · 적응형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전환 · 임의 결과 · GET · 로딩/오류/빈 · 넓은 화면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18–19장 · B1 · 테스트 53개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25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6분 · 데모 · 질의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리허설 6분 이내 · 데모 · 질의 2분에 부록으로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리허설 기록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15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 · 감점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Vercel · 감점 항목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 / −5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 URL(선택) · 감점 항목 없음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GitHub Pages + Vercel 목업 서버 · grep 결과 없음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+5 −0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 · 감점 반영 전후 모두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100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4476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점수는 강사가 안내문 7장 배점 안에서 매긴다 — 이 표는 빠진 칸을 찾는 점검 도구, 자가 칸은 제출 전에 직접 채운다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38</a:t>
            </a:fld>
            <a:endParaRPr lang="ko-KR" alt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B5-1 · 기획 상세 — 사업 요약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민준의 흩어진 소식 · 기록을 한 앱으로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4068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824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ko-KR" alt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29968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IP의 새 소식과 내 컬렉션을 한 앱에서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소식 → 기록까지: 브랜드 공식 사이트 10곳 + 중고 앱 → 1곳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구매함 기록: 상세에 들어가서 → 사진 위 리본 1번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시세 보기 제한: 한 달 10번 → 없음</a:t>
            </a:r>
            <a:endParaRPr lang="ko-KR" alt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9632" y="1481328"/>
            <a:ext cx="544068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73952" y="1783080"/>
            <a:ext cx="822960" cy="822960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73952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</a:t>
            </a:r>
            <a:endParaRPr lang="ko-KR" alt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사용자 — 퍼소나</a:t>
            </a:r>
            <a:endParaRPr lang="ko-KR" alt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202996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 · 23 · 대학생 · 수집 4년차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395728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건프라 · 베이블레이드 X · 포켓몬 피규어</a:t>
            </a:r>
            <a:endParaRPr lang="ko-KR" alt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소식은 공식 X · 유튜브, 가격은 중고 앱에서 따로</a:t>
            </a:r>
            <a:endParaRPr lang="ko-KR" alt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갤럭시 폴드 — 밖에선 접고 집에선 펼친다</a:t>
            </a:r>
            <a:endParaRPr lang="ko-KR" alt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동생과 같은 방 — 겹쳐 사는 일이 생긴다</a:t>
            </a:r>
            <a:endParaRPr lang="ko-KR" alt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904488"/>
            <a:ext cx="544068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410565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해결할 문제</a:t>
            </a:r>
            <a:endParaRPr lang="ko-KR" alt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453128"/>
            <a:ext cx="4892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정보가 흩어져 있다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브랜드마다 따로: 호비 사이트 · TAMASHII · 프리미엄 반다이 · KOTOBUKIYA …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익히기 어렵다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웹 메뉴 구조, 창이 따로 열림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막히면 떠난다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스캐너 멈춤 · 광고 · 시세 제한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나눌 곳이 없다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동생과 겹쳐 사고, 보여 줄 곳이 없다</a:t>
            </a:r>
            <a:endParaRPr lang="ko-KR" alt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99632" y="3904488"/>
            <a:ext cx="5440680" cy="2377440"/>
          </a:xfrm>
          <a:prstGeom prst="roundRect">
            <a:avLst>
              <a:gd name="adj" fmla="val 5385"/>
            </a:avLst>
          </a:prstGeom>
          <a:solidFill>
            <a:srgbClr val="EAF4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73952" y="41056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v2의 핵심 가치</a:t>
            </a:r>
            <a:endParaRPr lang="ko-KR" alt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73952" y="44805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채널 소식</a:t>
            </a:r>
            <a:endParaRPr lang="ko-KR" alt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092440" y="4480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홈 · H 캘린더 · C-1 채널 바</a:t>
            </a:r>
            <a:endParaRPr lang="ko-KR" alt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607040" y="448056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P06</a:t>
            </a:r>
            <a:endParaRPr lang="ko-KR" alt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49103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기록</a:t>
            </a:r>
            <a:endParaRPr lang="ko-KR" alt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49103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 · 리본, 앱 전체 한 벌</a:t>
            </a:r>
            <a:endParaRPr lang="ko-KR" alt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49103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P04 P07</a:t>
            </a:r>
            <a:endParaRPr lang="ko-KR" alt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73952" y="534009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 레벨</a:t>
            </a:r>
            <a:endParaRPr lang="ko-KR" alt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092440" y="534009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G-4 4단계 · G-4a Lv</a:t>
            </a:r>
            <a:endParaRPr lang="ko-KR" alt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0" y="53400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</a:t>
            </a:r>
            <a:endParaRPr lang="ko-KR" alt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473952" y="576986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겹쳐 사지 않기</a:t>
            </a:r>
            <a:endParaRPr lang="ko-KR" alt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092440" y="576986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친구 서랍 · L "나도 있음"</a:t>
            </a:r>
            <a:endParaRPr lang="ko-KR" alt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576986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P07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39</a:t>
            </a:fld>
            <a:endParaRPr lang="ko-KR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B5-2 · 기획 상세 — 사용자 저니 전체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최저점은 ③ 살지 판단 — 시세 제한 · 광고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</a:t>
            </a:r>
            <a:pPr indent="0" marL="0"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재판 소식을 보고 → 사서 → 도감에 기록하기</a:t>
            </a:r>
            <a:endParaRPr lang="ko-KR" alt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444752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최저점  </a:t>
            </a:r>
            <a:pPr algn="r" indent="0" marL="0"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살지 판단 · 어긴 원칙 P07 P08 P10</a:t>
            </a:r>
            <a:endParaRPr lang="ko-KR" altLang="en-US" sz="125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1490472"/>
                <a:gridCol w="1600200"/>
                <a:gridCol w="1600200"/>
                <a:gridCol w="1600200"/>
                <a:gridCol w="1600200"/>
                <a:gridCol w="1600200"/>
                <a:gridCol w="1600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 →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소식 알기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찾기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살지 판단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기록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 모은 것 보기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 나누기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행동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재판 · 신상 소식 확인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 · 번호 · 생김새로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· 시세 · 가졌나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 것 · 갖고 싶은 것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남았나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동생 · 친구에게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소식 없음 (외부 SNS)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메뉴 · 스캐너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D93F4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월 10회 · 광고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쇼케이스/컬렉션 모호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쇼케이스(공개만)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리뷰 근거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#4 스캐너 · 없는 상품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D93F4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#3 · 시세 출처 불명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#1 쇼케이스 vs 컬렉션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#2 창이 따로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감정 (+2 ~ −2)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D93F4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−2 최저점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기기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폰(매장) · 카메라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 · 폴드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폴드 · 태블릿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활용 기회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채널 소식 요약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말로 찾기 · 사진 인식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범위 설명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속 기체 판정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어긴 원칙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· P09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· P08 · P10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· 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·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데이터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announcements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kits · keywords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kits.priceJpy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좋아요 · 구매함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guideWorks · Units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profile.friends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v2에서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배너 · 캘린더 · 알림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· 카메라 · 필터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+ 시세 한 줄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♡ · 리본 바로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4단계 · Lv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서랍 · 게시물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03504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 칸 = 확장 4줄(사용 기기 · AI 활용 기회 · 어긴 원칙 · 필요한 데이터) · 저니 요약은 08장 · 원본 docs/기획.md 3장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40</a:t>
            </a:fld>
            <a:endParaRPr lang="ko-KR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B5-3 · 기획 상세 — 피쉬본 · 5 Why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근본 원인: 채널과 일의 순서가 화면의 기준이 아니다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피쉬본 — 여섯 시각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머리 = 수집가가 컬렉션 관리를 그만둔다</a:t>
            </a:r>
            <a:endParaRPr lang="ko-KR" altLang="en-US" sz="13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5715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526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 (리뷰 #)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모바일 UX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메뉴를 앱에 그대로 · 기능마다 새 창 (#2)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사용성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쇼케이스 · 컬렉션 차이가 안 보임 · 상태가 모양으로 안 갈림 (#1)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일반판 누락 · 사용자가 추가 · 오류 표시 못 함 · 시세 출처 불명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조회 횟수 제한(유료 유도) · 스캔 → 검색 연결 멈춤 (#3)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스캐너 멈춤 · 원치 않는 새로고침 · 처음 화면으로 튕김 (#4)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프로세스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화면마다 광고 · 구독 정책 변경 · 사이트를 흡수하며 복잡해짐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537960" y="1481328"/>
            <a:ext cx="5102352" cy="777240"/>
          </a:xfrm>
          <a:prstGeom prst="roundRect">
            <a:avLst>
              <a:gd name="adj" fmla="val 14118"/>
            </a:avLst>
          </a:prstGeom>
          <a:solidFill>
            <a:srgbClr val="FFF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66560" y="157276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1  </a:t>
            </a:r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사용성 “익히기 어렵다” — ★5 리뷰도 지적, 모든 단계에 영향, UI로 고칠 수 있다</a:t>
            </a:r>
            <a:endParaRPr lang="ko-KR" alt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23957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1</a:t>
            </a:r>
            <a:endParaRPr lang="ko-KR" alt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239572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익히기 어렵나? → 메뉴가 많고 누를 때마다 다른 창이 열린다</a:t>
            </a:r>
            <a:endParaRPr lang="ko-KR" alt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537960" y="29443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2</a:t>
            </a:r>
            <a:endParaRPr lang="ko-KR" alt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223760" y="294436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메뉴가 많나? → 웹사이트 정보 구조를 그대로 앱에 넣었다</a:t>
            </a:r>
            <a:endParaRPr lang="ko-KR" alt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537960" y="34930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3</a:t>
            </a:r>
            <a:endParaRPr lang="ko-KR" alt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349300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웹 구조 그대로? → "데이터베이스를 보여 주는 창"으로 설계했다</a:t>
            </a:r>
            <a:endParaRPr lang="ko-KR" alt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404164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4</a:t>
            </a:r>
            <a:endParaRPr lang="ko-KR" alt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0" y="404164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데이터 종류로? → 모든 분야를 한 메뉴로 — 관심 분야가 화면에 없다</a:t>
            </a:r>
            <a:endParaRPr lang="ko-KR" alt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37960" y="4636008"/>
            <a:ext cx="5102352" cy="1645920"/>
          </a:xfrm>
          <a:prstGeom prst="roundRect">
            <a:avLst>
              <a:gd name="adj" fmla="val 7778"/>
            </a:avLst>
          </a:prstGeom>
          <a:solidFill>
            <a:srgbClr val="EAF4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766560" y="475488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5 — 근본 원인</a:t>
            </a:r>
            <a:endParaRPr lang="ko-KR" alt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501091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관심 분야(채널)와 내가 하는 일의 순서가 화면 구조의 기준이 아니다</a:t>
            </a:r>
            <a:endParaRPr lang="ko-KR" alt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559612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v2: 위 내 채널 바 하나(C-1) · 아래 탭 = 홈 · 검색 · 카메라 · 캘린더 · 컬렉션(S-3) · 새 창 대신 시트 · 같은 탭 안 보기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41</a:t>
            </a:fld>
            <a:endParaRPr lang="ko-KR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B5-4 · 화면별 요소 분석표 1/3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A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076078" cy="4535424"/>
          </a:xfrm>
          <a:prstGeom prst="roundRect">
            <a:avLst>
              <a:gd name="adj" fmla="val 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home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2112654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6108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a_home_screen.dart</a:t>
            </a:r>
            <a:endParaRPr lang="ko-KR" altLang="en-US" sz="9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1481328"/>
          <a:ext cx="8668512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783080"/>
                <a:gridCol w="1600200"/>
                <a:gridCol w="1371600"/>
                <a:gridCol w="777240"/>
                <a:gridCol w="1280160"/>
                <a:gridCol w="1234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Flutter 위젯명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명칭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전달 기준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편의성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ChannelHeader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아바타 줄 + 내 채널 바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채널이 먼저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P06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채널을 외우지 않음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탭 같은 머리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GpSearchBar 입구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검색창 · 카메라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찾기는 늘 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이동 없이 검색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화면과 같은 모양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PageView + 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예고 배너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큰 소식 1장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P02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4초마다 자동 넘김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이미지 그대로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배너 아래 상태 · 제목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예고 상태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발표 → 확정 → 예약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단계를 한눈에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글자 고정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SectionHeader (막대 + ›)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 이름 · 전체 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줄마다 이름 하나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 P07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› 로 같은 탭 전체 목록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창 대신 탭 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가로 ListView + ProductTile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 추가 · 발매 · 예고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+ 이름만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옆으로 훑기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 · 가격은 상세에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Loading / Error / Empty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불러오는 중 · 오류 · 빈 채널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화면에 남김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시도 버튼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3상태 모든 GET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흰 띠 + 회백색 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 사이 층 구분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 없이 경계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덜 복잡해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흰 띠 10dp 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QuickMarks (리본 · ♡)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바로 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왼쪽 위 리본 · 아래 ♡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상세에 안 들어감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전체 한 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971800" y="5980176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16화면 147요소 전체: docs/디자인가이드.md 3장 (코드 맨 위 대응표에서 생성) · 코드 주석 // A-1 P0x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42</a:t>
            </a:fld>
            <a:endParaRPr lang="ko-KR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B5-4 · 화면별 요소 분석표 2/3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D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상세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076078" cy="4535424"/>
          </a:xfrm>
          <a:prstGeom prst="roundRect">
            <a:avLst>
              <a:gd name="adj" fmla="val 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detail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2112654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6108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d_kit_detail_screen.dart</a:t>
            </a:r>
            <a:endParaRPr lang="ko-KR" altLang="en-US" sz="9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1481328"/>
          <a:ext cx="8668512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783080"/>
                <a:gridCol w="1600200"/>
                <a:gridCol w="1371600"/>
                <a:gridCol w="777240"/>
                <a:gridCol w="1280160"/>
                <a:gridCol w="12344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Flutter 위젯명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명칭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전달 기준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편의성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PageView + 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사진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사진이 먼저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넘겨 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사진만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제목 + 일본어 이름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상품명 (원문)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 → 원래 이름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검색에 복사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그대로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Text(¥) + 발매일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일본 정가 · 발매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큰 숫자 = 정가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 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한눈에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엔화 = 일본 정가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D-5b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한 줄 →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시세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바로 아래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횟수 제한 없음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시세는 이 한 곳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D-5c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구매가" 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낸 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구매함일 때만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원화 = 내 구매가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고정 ♡ · 리본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아래 늘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 읽어도 바로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쇼핑 앱 같은 자리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줄 →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정보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→ 전체 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P06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필요할 때만 펼침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 · 작품 · 라인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시트 3칸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시세 자세히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 · 플랫폼 3곳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없으면 찾을 곳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 n건 표시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D-12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TextButton → 확인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오류 제보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보내기 전 확인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P05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실수 전송 막음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폼 대신 한 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D-14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왼쪽 복사 · 공식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 · 공식 페이지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출처는 작게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P10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번에 복사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= 출처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971800" y="62179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D-1 · D-10 · D-11 · D-13 → 16화면 147요소 전체: docs/디자인가이드.md 3장 (코드 맨 위 대응표에서 생성) · 코드 주석 // D-2 P0x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43</a:t>
            </a:fld>
            <a:endParaRPr lang="ko-KR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B5-4 · 화면별 요소 분석표 3/3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G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076078" cy="4535424"/>
          </a:xfrm>
          <a:prstGeom prst="roundRect">
            <a:avLst>
              <a:gd name="adj" fmla="val 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guide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2112654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6108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g_guide_view.dart</a:t>
            </a:r>
            <a:endParaRPr lang="ko-KR" altLang="en-US" sz="95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1481328"/>
          <a:ext cx="8668512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783080"/>
                <a:gridCol w="1600200"/>
                <a:gridCol w="1371600"/>
                <a:gridCol w="777240"/>
                <a:gridCol w="1280160"/>
                <a:gridCol w="1234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Flutter 위젯명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명칭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전달 기준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편의성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? → 바텀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읽는 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범례는 숨김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P10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필요할 때 ?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 범례 줄 대신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카드 + 진행 막대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도감 (n/전체)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→ 수집 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남은 개수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막대 = 민트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기체 칸 격자 4단계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흑백 → 컬러 → 테두리 → 사진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모을수록 밝아짐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한눈에 진행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4단계 고정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G-4a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Lv 막대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레벨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· 2 · 3점, 5점마다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레벨까지 n점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오르는 느낌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위 MarkOverlay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칸에서 바로 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 사진과 같은 자리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시트 없이 바로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리본 · ♡ 같은 모양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바텀 시트: 기체 → 상품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기체의 상품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기체 → 상품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상세로 바로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덮기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G-5b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시트 TogglePill 3개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· 내 사진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 단계 따로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P07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따로 켜고 끔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되돌리기 토스트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G-5c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고르기 → 확인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사진 인증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기체가 찍혀야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P05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실패하면 안내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미리 쓴 판정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Loading / Error / Empty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불러오는 중 · 오류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화면에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시도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3상태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971800" y="5980176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G-1 · G-6 · G-7 → 16화면 147요소 전체: docs/디자인가이드.md 3장 (코드 맨 위 대응표에서 생성) · 코드 주석 // G-2 P0x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44</a:t>
            </a:fld>
            <a:endParaRPr lang="ko-KR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B5-5 · 기획 상세 — 상태관리 포인트 (표시만)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바뀌는 데이터와 그것을 보여 줄 위젯</a:t>
            </a:r>
            <a:endParaRPr lang="ko-KR" altLang="en-US" sz="28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188720"/>
                <a:gridCol w="1737360"/>
                <a:gridCol w="2834640"/>
                <a:gridCol w="2514600"/>
                <a:gridCol w="23134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바뀌는 데이터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 바뀌나 (사용자 행동)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보여질 위젯 (요소 번호)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// STATE: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S1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전체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A-9 · D-6 · G-4b 누름 · F-6 삭제 · F-10 복원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♡ · 리본 · F-2 개수 · I-4 숫자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marks.dart:25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S2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반반 화면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오른쪽 칸에 연 것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카드를 눌러 openPage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왼쪽 카드 테두리 · 줄 바탕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detail_pane.dart:30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S3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 앱 셸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채널 목록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C-4 · C-5 더하기 · 빼기 · 순서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탭의 채널 바 · 목록 범위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s_app_shell.dart:83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S4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 앱 셸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바 · 위 줄 보임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아래로 / 위로 스크롤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S-8 탭 바 · S-13 아바타 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s_app_shell.dart:236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 전체 목록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필터 · 정렬 · 보기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O-2 패널 적용 · O-3 정렬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O-4 격자/목록 · 조건 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o_see_all_screen.dart:243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S6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 도감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단계 · 내 사진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G-4b · G-5b · G-5c 인증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 칸 · G-4a Lv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g_guide_view.dart:486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S7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알림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읽음 · 지움 · 탭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N-4 모두 읽음 · 밀어 지우기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N-3 점 · 굵은 제목 · 탭 개수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n_notifications_screen.dart:112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 내 정보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범위 · 워터마크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I-9 · I-10 · I-7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I-6 게시물 칸 · 제목 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i_profile_screen.dart:119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1500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 · S2 (초록) = 맨 위 StatefulWidget 의 setState + InheritedWidget, 나머지 = 그 화면의 setState.  </a:t>
            </a:r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74곳: grep -rn "STATE:" lib  ·  구현하지 않는 것: Provider · Riverpod · Bloc 같은 상태관리 패키지, 영구 저장 — 앱을 끄면 db.json 처음 값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45</a:t>
            </a:fld>
            <a:endParaRPr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Hobby Atlas — GAI3008-01 중간고사 발표</dc:title>
  <dc:subject>PptxGenJS Presentation</dc:subject>
  <dc:creator>ZHENG BOWEN</dc:creator>
  <cp:lastModifiedBy>ZHENG BOWEN</cp:lastModifiedBy>
  <cp:revision>1</cp:revision>
  <dcterms:created xsi:type="dcterms:W3CDTF">2026-10-29T05:19:33Z</dcterms:created>
  <dcterms:modified xsi:type="dcterms:W3CDTF">2026-10-29T05:19:33Z</dcterms:modified>
</cp:coreProperties>
</file>