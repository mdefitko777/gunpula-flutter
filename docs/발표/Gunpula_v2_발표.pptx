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28"/>
    <p:sldId id="265" r:id="rId10"/>
    <p:sldId id="266" r:id="rId11"/>
    <p:sldId id="267" r:id="rId12"/>
    <p:sldId id="268" r:id="rId13"/>
    <p:sldId id="269" r:id="rId14"/>
    <p:sldId id="279" r:id="rId29"/>
    <p:sldId id="270" r:id="rId15"/>
    <p:sldId id="288" r:id="rId38"/>
    <p:sldId id="287" r:id="rId37"/>
    <p:sldId id="286" r:id="rId36"/>
    <p:sldId id="285" r:id="rId35"/>
    <p:sldId id="284" r:id="rId34"/>
    <p:sldId id="283" r:id="rId33"/>
    <p:sldId id="282" r:id="rId32"/>
    <p:sldId id="281" r:id="rId31"/>
    <p:sldId id="280" r:id="rId30"/>
    <p:sldId id="271" r:id="rId16"/>
    <p:sldId id="289" r:id="rId39"/>
    <p:sldId id="272" r:id="rId17"/>
    <p:sldId id="273" r:id="rId18"/>
    <p:sldId id="274" r:id="rId19"/>
    <p:sldId id="275" r:id="rId20"/>
    <p:sldId id="276" r:id="rId21"/>
    <p:sldId id="291" r:id="rId41"/>
    <p:sldId id="290" r:id="rId40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6.xml"/><Relationship Id="rId16" Type="http://schemas.openxmlformats.org/officeDocument/2006/relationships/slide" Target="slides/slide26.xml"/><Relationship Id="rId17" Type="http://schemas.openxmlformats.org/officeDocument/2006/relationships/slide" Target="slides/slide28.xml"/><Relationship Id="rId18" Type="http://schemas.openxmlformats.org/officeDocument/2006/relationships/slide" Target="slides/slide29.xml"/><Relationship Id="rId19" Type="http://schemas.openxmlformats.org/officeDocument/2006/relationships/slide" Target="slides/slide30.xml"/><Relationship Id="rId20" Type="http://schemas.openxmlformats.org/officeDocument/2006/relationships/slide" Target="slides/slide31.xml"/><Relationship Id="rId21" Type="http://schemas.openxmlformats.org/officeDocument/2006/relationships/slide" Target="slides/slide32.xml"/><Relationship Id="rId22" Type="http://schemas.openxmlformats.org/officeDocument/2006/relationships/slide" Target="slides/slide3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9.xml"/><Relationship Id="rId29" Type="http://schemas.openxmlformats.org/officeDocument/2006/relationships/slide" Target="slides/slide15.xml"/><Relationship Id="rId30" Type="http://schemas.openxmlformats.org/officeDocument/2006/relationships/slide" Target="slides/slide25.xml"/><Relationship Id="rId31" Type="http://schemas.openxmlformats.org/officeDocument/2006/relationships/slide" Target="slides/slide24.xml"/><Relationship Id="rId32" Type="http://schemas.openxmlformats.org/officeDocument/2006/relationships/slide" Target="slides/slide23.xml"/><Relationship Id="rId33" Type="http://schemas.openxmlformats.org/officeDocument/2006/relationships/slide" Target="slides/slide22.xml"/><Relationship Id="rId34" Type="http://schemas.openxmlformats.org/officeDocument/2006/relationships/slide" Target="slides/slide21.xml"/><Relationship Id="rId35" Type="http://schemas.openxmlformats.org/officeDocument/2006/relationships/slide" Target="slides/slide20.xml"/><Relationship Id="rId36" Type="http://schemas.openxmlformats.org/officeDocument/2006/relationships/slide" Target="slides/slide19.xml"/><Relationship Id="rId37" Type="http://schemas.openxmlformats.org/officeDocument/2006/relationships/slide" Target="slides/slide18.xml"/><Relationship Id="rId38" Type="http://schemas.openxmlformats.org/officeDocument/2006/relationships/slide" Target="slides/slide17.xml"/><Relationship Id="rId39" Type="http://schemas.openxmlformats.org/officeDocument/2006/relationships/slide" Target="slides/slide27.xml"/><Relationship Id="rId40" Type="http://schemas.openxmlformats.org/officeDocument/2006/relationships/slide" Target="slides/slide34.xml"/><Relationship Id="rId41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개수</c:v>
                </c:pt>
              </c:strCache>
            </c:strRef>
          </c:tx>
          <c:spPr>
            <a:solidFill>
              <a:srgbClr val="16202E"/>
            </a:solidFill>
          </c:spPr>
          <c:cat>
            <c:strRef>
              <c:f>Sheet1!$A$2:$A$6</c:f>
              <c:strCache>
                <c:ptCount val="5"/>
                <c:pt idx="0">
                  <c:v>★5</c:v>
                </c:pt>
                <c:pt idx="1">
                  <c:v>★4</c:v>
                </c:pt>
                <c:pt idx="2">
                  <c:v>★3</c:v>
                </c:pt>
                <c:pt idx="3">
                  <c:v>★2</c:v>
                </c:pt>
                <c:pt idx="4">
                  <c:v>★1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7690</c:v>
                </c:pt>
                <c:pt idx="1">
                  <c:v>460</c:v>
                </c:pt>
                <c:pt idx="2">
                  <c:v>159</c:v>
                </c:pt>
                <c:pt idx="3">
                  <c:v>70</c:v>
                </c:pt>
                <c:pt idx="4">
                  <c:v>277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>
                  <a:solidFill>
                    <a:srgbClr val="16202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DF"/>
            </a:solidFill>
          </a:ln>
        </c:spPr>
        <c:txPr>
          <a:bodyPr/>
          <a:lstStyle/>
          <a:p>
            <a:pPr>
              <a:defRPr sz="800" b="1">
                <a:solidFill>
                  <a:srgbClr val="16202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4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감정</c:v>
                </c:pt>
              </c:strCache>
            </c:strRef>
          </c:tx>
          <c:spPr>
            <a:ln w="28575">
              <a:solidFill>
                <a:srgbClr val="2F6FE4"/>
              </a:solidFill>
            </a:ln>
          </c:spPr>
          <c:marker>
            <c:symbol val="circle"/>
            <c:size val="8"/>
            <c:spPr>
              <a:solidFill>
                <a:srgbClr val="FFFFFF"/>
              </a:solidFill>
              <a:ln w="25400">
                <a:solidFill>
                  <a:srgbClr val="2F6FE4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① 소식</c:v>
                </c:pt>
                <c:pt idx="1">
                  <c:v>② 찾기</c:v>
                </c:pt>
                <c:pt idx="2">
                  <c:v>③ 살지 판단</c:v>
                </c:pt>
                <c:pt idx="3">
                  <c:v>④ 기록</c:v>
                </c:pt>
                <c:pt idx="4">
                  <c:v>⑤ 모은 것</c:v>
                </c:pt>
                <c:pt idx="5">
                  <c:v>⑥ 나누기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-1</c:v>
                </c:pt>
                <c:pt idx="2">
                  <c:v>-2</c:v>
                </c:pt>
                <c:pt idx="3">
                  <c:v>-1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3DF"/>
            </a:solidFill>
          </a:ln>
        </c:spPr>
        <c:txPr>
          <a:bodyPr/>
          <a:lstStyle/>
          <a:p>
            <a:pPr>
              <a:defRPr sz="800" b="1">
                <a:solidFill>
                  <a:srgbClr val="16202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0"/>
          <c:min val="-2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+0;-0;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5A6B80"/>
                </a:solidFill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50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0:05 — 바로 다음 장으로</a:t>
            </a:r>
          </a:p>
          <a:p/>
          <a:p>
            <a:r>
              <a:t>"안녕하세요. 수집가 앱 hobbyDB를 다시 설계한 Gunpula v2를 발표할 (이름)입니다. 새 소식부터 내 도감까지, 수집가가 한 앱에서 끝내도록 만들었습니다."</a:t>
            </a:r>
          </a:p>
          <a:p/>
          <a:p>
            <a:r>
              <a:t>(발표 전: 발표자 칸에 이름 · 학번을 넣는다)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0:05</a:t>
            </a:r>
          </a:p>
          <a:p/>
          <a:p>
            <a:r>
              <a:t>"개요 → 문제 정의 → 해결 방법 → 셀프 논증 → Flutter 구현 → 데모 → 배운 점 순서로 6분 말씀드리고, 근거는 질문 때 부록에서 바로 보여 드리겠습니다."</a:t>
            </a:r>
          </a:p>
          <a:p/>
          <a:p>
            <a:r>
              <a:t>(리허설 칸에 실제로 걸린 시간을 적는다 — 목표 합계 6:00)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0:25 (개요 2장 합 0:45) · 기획 40(사업 요약)</a:t>
            </a:r>
          </a:p>
          <a:p/>
          <a:p>
            <a:r>
              <a:t>"Gunpula v2는 건프라 · 베이블레이드 · 포켓몬 피규어를 모으는 20대 수집가를 위한 앱입니다.</a:t>
            </a:r>
          </a:p>
          <a:p>
            <a:r>
              <a:t>관심 IP만 채널로 골라 공식 예고와 발매 소식을 먼저 보고, 갖고 싶은 건 하트, 산 건 리본 한 번으로 기록하면 도감 칸이 켜지고 레벨이 오릅니다.</a:t>
            </a:r>
          </a:p>
          <a:p>
            <a:r>
              <a:t>바탕이 된 hobbyDB는 별점 4.8이지만, 리뷰에서 '레이아웃이 고통'이라거나 '한 화면에 광고가 너무 많다'는 말이 나옵니다. 자세한 분석은 문제 정의에서 보여 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0:20 · 기획 40</a:t>
            </a:r>
          </a:p>
          <a:p/>
          <a:p>
            <a:r>
              <a:t>"왼쪽이 현행 앱입니다. 웹사이트 메뉴가 앱 안에 그대로 들어 있습니다. v2는 홈에 내 채널 소식만, 상세에는 일본 정가와 국내 시세 한 줄, 그리고 모을수록 켜지는 도감이 있습니다. 폴드나 태블릿에서는 왼쪽 앱, 오른쪽 상세로 나뉩니다.</a:t>
            </a:r>
          </a:p>
          <a:p>
            <a:r>
              <a:t>바뀐 것 세 가지 — 하트와 리본을 모든 화면에서 같은 모양으로(P04), 사진 위에서 바로 담기(P07), 모든 동작에 되돌리기(P03). 왜 이렇게 바꿨는지 문제 정의에서 말씀드리겠습니다."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0:30 (문제 정의 2장 합 1:00) · 기획 40(현행 분석 · 리뷰 근거 10)</a:t>
            </a:r>
          </a:p>
          <a:p/>
          <a:p>
            <a:r>
              <a:t>"별점은 대부분 5점이지만, 1점이 2점 · 3점보다 많습니다. 한 번 막히면 크게 실망하는 앱이라는 뜻입니다.</a:t>
            </a:r>
          </a:p>
          <a:p>
            <a:r>
              <a:t>리뷰를 유형으로 나누면 사용성 · 화면 구조가 가장 많습니다. '익히기 어렵다', '누를 때마다 다른 창이 열린다'.</a:t>
            </a:r>
          </a:p>
          <a:p>
            <a:r>
              <a:t>그렇다고 다 나쁜 건 아닙니다. 실제 상자 사진과 품번(P02), 바코드 지름길(P07), 하트(P06)는 v2에서도 그대로 가져갔습니다."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0:30 · 기획 40(저니 8 · 피쉬본 · 5 Why 5)</a:t>
            </a:r>
          </a:p>
          <a:p/>
          <a:p>
            <a:r>
              <a:t>"퍼소나 민준이 재판 소식을 보고, 사서, 도감에 기록하기까지의 저니입니다. 가장 낮은 곳은 '살지 판단'입니다. 시세는 한 달 10번만 보이고 화면마다 광고가 있습니다.</a:t>
            </a:r>
          </a:p>
          <a:p>
            <a:r>
              <a:t>피쉬본 여섯 시각 중 가장 많이 나온 '익히기 어렵다'를 5 Why로 내려가 보면, 근본 원인은 '내 관심 분야와 내가 하는 일의 순서가 화면 구조의 기준이 아니다'였습니다.</a:t>
            </a:r>
          </a:p>
          <a:p>
            <a:r>
              <a:t>그래서 v2는 위에는 내 채널 바 하나, 아래 탭은 소식 → 찾기 → 발매 → 기록 순서로 다시 짰습니다."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1:00 · 기획 40(요소 분석 · 기준 · 가이드 글 8 · 상태관리 포인트 4)</a:t>
            </a:r>
          </a:p>
          <a:p/>
          <a:p>
            <a:r>
              <a:t>"대표 화면은 홈입니다. 흐름은 홈에서 상세로 쌓고, 시세는 시트로 덮고, 검색 · 캘린더 · 컬렉션은 탭으로 옆으로 갑니다. '전체 보기'도 새 창이 아니라 같은 탭 안에서 바뀝니다.</a:t>
            </a:r>
          </a:p>
          <a:p>
            <a:r>
              <a:t>요소마다 번호를 붙였습니다. A-1 채널 바, A-3 4초마다 넘어가는 공식 예고 배너, A-9 사진 위 리본과 하트.</a:t>
            </a:r>
          </a:p>
          <a:p>
            <a:r>
              <a:t>정보 전달 기준은 '내 채널의 새 소식이 먼저, 줄에는 사진과 이름만'입니다. 색은 두 개만 씁니다 — 파랑은 고름, 민트는 가진 것.</a:t>
            </a:r>
          </a:p>
          <a:p>
            <a:r>
              <a:t>상태관리 포인트: A-9에서 하트를 누르면 컬렉션 개수, 상세 버튼, 내 정보 숫자가 같이 바뀝니다. 패키지 없이 맨 위 setState로만 했고, 저장은 하지 않습니다."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1:00 · 셀프 논증 기록 20</a:t>
            </a:r>
          </a:p>
          <a:p/>
          <a:p>
            <a:r>
              <a:t>"대표 쟁점은 '좋아요와 구매함을 어떤 모양으로 누르게 할까'입니다.</a:t>
            </a:r>
          </a:p>
          <a:p>
            <a:r>
              <a:t>제 처음 주장은 자리마다 맞는 모양 — 사진 위엔 리본, 도감엔 작은 동그라미, 상세엔 큰 버튼이었습니다(왼쪽 화면).</a:t>
            </a:r>
          </a:p>
          <a:p>
            <a:r>
              <a:t>AI에게 'UI 설계에 어떤 문제가 있는지 지적해 달라'고 반론을 요청했더니, 같은 구매함이 서너 가지 모양이라 일관성(P04) 위반이라는 답이 왔습니다.</a:t>
            </a:r>
          </a:p>
          <a:p>
            <a:r>
              <a:t>리뷰에서도 '쇼케이스와 컬렉션 차이를 모르겠다'는 말이 있었기 때문에 받아들였습니다. 자리와 크기는 달라도 모양은 하나 — 하트는 좋아요, 리본은 구매함. 색도 파랑과 민트 두 개로 나눴습니다. 결론은 '수정'입니다(오른쪽).</a:t>
            </a:r>
          </a:p>
          <a:p>
            <a:r>
              <a:t>반대로 AI가 처음 낸 '상태 알약 필터'는 제가 폐기했습니다 — 질문 주시면 부록 B3에서 보여 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1:15 · UI 구현 25 · 발표 15(데모)</a:t>
            </a:r>
          </a:p>
          <a:p/>
          <a:p>
            <a:r>
              <a:t>(영상 재생 — README 6장 녹화 순서)</a:t>
            </a:r>
          </a:p>
          <a:p>
            <a:r>
              <a:t>홈: 배너가 4초마다 넘어갑니다 → 카드의 리본을 한 번 누르면 구매함 ✓</a:t>
            </a:r>
          </a:p>
          <a:p>
            <a:r>
              <a:t>상세: 일본 정가와 국내 시세 한 줄, 시세는 시트로</a:t>
            </a:r>
          </a:p>
          <a:p>
            <a:r>
              <a:t>검색 탭: 기본이 전체 상품 → 필터 패널, 고르는 동안 개수가 바뀝니다 (json-server GET)</a:t>
            </a:r>
          </a:p>
          <a:p>
            <a:r>
              <a:t>컬렉션: 방금 담은 상품이 있습니다 → 도감: ? 읽는 법 · 내 사진으로 인증</a:t>
            </a:r>
          </a:p>
          <a:p>
            <a:r>
              <a:t>아바타 → 친구 서랍 → 🔔 알림</a:t>
            </a:r>
          </a:p>
          <a:p>
            <a:r>
              <a:t>창을 넓히면 반반 화면</a:t>
            </a:r>
          </a:p>
          <a:p>
            <a:r>
              <a:t>DEMO_STATE=error → '정보를 불러오지 못했어요' + 다시 시도</a:t>
            </a:r>
          </a:p>
          <a:p/>
          <a:p>
            <a:r>
              <a:t>남은 15초: 원칙 클립 p04 — "홈에서 하트를 누르면 컬렉션 개수가 같이 올라갑니다. P04 일관성입니다."</a:t>
            </a:r>
          </a:p>
          <a:p/>
          <a:p>
            <a:r>
              <a:t>(영상을 넣은 뒤 표의 시간을 실제 영상에 맞춰 고친다)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0:15 · 발표 15</a:t>
            </a:r>
          </a:p>
          <a:p/>
          <a:p>
            <a:r>
              <a:t>"가장 크게 배운 건 화면을 데이터 종류가 아니라 사용자가 하는 일의 순서로 나눠야 한다는 것입니다. 셀프 논증에서는 AI 반론을 받아들이기도, 버리기도 했습니다. 다음 v3에서는 로고와 이름을 정하고, 상태관리 수업에서 기록을 저장하겠습니다. 질문 받겠습니다."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Q&amp;A 2:00</a:t>
            </a:r>
          </a:p>
          <a:p/>
          <a:p>
            <a:r>
              <a:t>질문을 듣고 해당 부록 장으로 바로 이동한다 (슬라이드 쇼에서 번호 + Enter).</a:t>
            </a:r>
          </a:p>
          <a:p>
            <a:r>
              <a:t>- 화면 · 상태 화면 → 14 (B1)</a:t>
            </a:r>
          </a:p>
          <a:p>
            <a:r>
              <a:t>- 원칙 · 위젯 선택 이유 → 16–25 (B2, P01–P10)</a:t>
            </a:r>
          </a:p>
          <a:p>
            <a:r>
              <a:t>- AI를 어떻게 썼나 → 26–27 (B3 prompt-log)</a:t>
            </a:r>
          </a:p>
          <a:p>
            <a:r>
              <a:t>- 기획 근거(사업 요약 · 저니 · 근본 원인 · 요소 분석 · 상태관리) → 29–35 (B5)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【부록】 본문 6분에는 넘기지 않는다 — 질문이 화면 · 원칙 · AI를 가리키면 해당 장으로 바로 간다 (번호 + Enter: B1 14 · B2 16 · B3 26 · B4 28 · B5 29)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B1】 '다른 화면은요?' '오류가 나면?'에 이 장을 펼친다. 위 줄: 화면별 캡처(A · D · G 는 요소 번호 표시), 아래 줄: FutureBuilder 3상태 — 같은 홈 화면을 DEMO_STATE 로 실행한 모습.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P01】 질문받은 원칙의 다섯 칸을 순서대로 — 원칙 → 근거(리뷰 · 캡처) → 적용(요소 번호 · 위젯) → 시연(클립) → 판단(버린 대안과 이유). 원본: docs/원칙카드.md · 코드 grep -rn "P01"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B3】 'AI를 어떻게 썼나요?'에 한두 줄로 — 요청 → AI 결과 → 내 판단 → 이유. ★ 줄이 셀프 논증의 AI 반론 요청이다. 받아들이지 않은 예: 10/25 '홈 › 전체 목록'(알약 거르기 폐기), 10/25 로고 시안 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B4】 발표 때 넘기지 않는다 — 제출 전(10/29 15:00) 자가 칸을 직접 채우는 점검 장. 감점 항목 grep 결과 없음(2026-10-26 확인).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B5-1】 '누구를 위해 왜 고치나요?' — 목표(앱 3곳 → 1곳 · 리본 1번 · 시세 제한 없음) → 퍼소나 민준 → 해결할 문제 4가지 → v2 핵심 가치. 범위: UI만, 저장 · 로그인 · 결제 · 실제 인식 없음. 원본 docs/기획.md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B5-2】 목표에서 출발해 단계별로 리뷰와 감정을 짚고, 최저점 ③ 살지 판단(시세 월 10회 · 광고 · 출처 불명)과 어긴 원칙 P07 · P08 · P10 을 말한다. 필요한 데이터는 json-server GET 필드와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B5-3】 피쉬본 머리(그만둔다) → 여섯 시각 → 우선순위 '익히기 어렵다' → 5 Why → 근본 원인 → v2 C-1 채널 바 · S-3 탭 순서. 원본 docs/기획.md 4 ·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B5-4 · 화면 A】 질문받은 화면의 요소를 번호로 짚는다 — 위젯명 · 비즈니스 명칭 · 정보 전달 기준 · P번호 · 편의성 · 가이드 글. 번호는 캡처 · 코드 주석과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B5-5】 '어떤 데이터가 바뀌고 어느 위젯이 보여 주나'를 S번호로. S1 좋아요 · 구매함은 MarksHost(맨 위 setState + InheritedWidget) — 패키지 없음, 저장 안 함. 원본 docs/디자인가이드.md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【시간】 0:45 · UI 구현 25</a:t>
            </a:r>
          </a:p>
          <a:p/>
          <a:p>
            <a:r>
              <a:t>"구현은 위젯 트리 하나입니다. MaterialApp 아래 MarksHost가 좋아요 · 구매함을 한 벌로 들고 있고, AppShell이 창 너비를 보고 폰 · 가로 폰 · 반반 화면을 고릅니다.</a:t>
            </a:r>
          </a:p>
          <a:p>
            <a:r>
              <a:t>화면 이동은 세 가지 — 상세는 쌓기, 탭은 옆으로, 시세나 필터는 덮기입니다.</a:t>
            </a:r>
          </a:p>
          <a:p>
            <a:r>
              <a:t>데이터는 json-server에서 GET만 하고, FutureBuilder로 로딩 · 오류 · 빈 상태를 모든 화면에 둡니다.</a:t>
            </a:r>
          </a:p>
          <a:p>
            <a:r>
              <a:t>상태관리 패키지는 쓰지 않았습니다. setState를 맨 위로 올려 InheritedWidget으로 내려 줍니다. 7가지 화면 크기에서 넘침이 없는지 테스트 53개로 확인했습니다."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B1-2】 나머지 화면과 적응형. 화면 16개 목록 = README 3장 · 디자인 가이드 1장. 가로 폰은 측면 탭, 폴드 · 태블릿은 반반 화면 — test/layout_test.dart 7가지 크기에서 넘침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P02】 질문받은 원칙의 다섯 칸을 순서대로 — 원칙 → 근거(리뷰 · 캡처) → 적용(요소 번호 · 위젯) → 시연(클립) → 판단(버린 대안과 이유). 원본: docs/원칙카드.md · 코드 grep -rn "P02"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P03】 질문받은 원칙의 다섯 칸을 순서대로 — 원칙 → 근거(리뷰 · 캡처) → 적용(요소 번호 · 위젯) → 시연(클립) → 판단(버린 대안과 이유). 원본: docs/원칙카드.md · 코드 grep -rn "P03"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P04】 질문받은 원칙의 다섯 칸을 순서대로 — 원칙 → 근거(리뷰 · 캡처) → 적용(요소 번호 · 위젯) → 시연(클립) → 판단(버린 대안과 이유). 원본: docs/원칙카드.md · 코드 grep -rn "P04"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P05】 질문받은 원칙의 다섯 칸을 순서대로 — 원칙 → 근거(리뷰 · 캡처) → 적용(요소 번호 · 위젯) → 시연(클립) → 판단(버린 대안과 이유). 원본: docs/원칙카드.md · 코드 grep -rn "P05"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P06】 질문받은 원칙의 다섯 칸을 순서대로 — 원칙 → 근거(리뷰 · 캡처) → 적용(요소 번호 · 위젯) → 시연(클립) → 판단(버린 대안과 이유). 원본: docs/원칙카드.md · 코드 grep -rn "P06"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P07】 질문받은 원칙의 다섯 칸을 순서대로 — 원칙 → 근거(리뷰 · 캡처) → 적용(요소 번호 · 위젯) → 시연(클립) → 판단(버린 대안과 이유). 원본: docs/원칙카드.md · 코드 grep -rn "P07"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P08】 질문받은 원칙의 다섯 칸을 순서대로 — 원칙 → 근거(리뷰 · 캡처) → 적용(요소 번호 · 위젯) → 시연(클립) → 판단(버린 대안과 이유). 원본: docs/원칙카드.md · 코드 grep -rn "P08"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P09】 질문받은 원칙의 다섯 칸을 순서대로 — 원칙 → 근거(리뷰 · 캡처) → 적용(요소 번호 · 위젯) → 시연(클립) → 판단(버린 대안과 이유). 원본: docs/원칙카드.md · 코드 grep -rn "P09"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B2 · P10】 질문받은 원칙의 다섯 칸을 순서대로 — 원칙 → 근거(리뷰 · 캡처) → 적용(요소 번호 · 위젯) → 시연(클립) → 판단(버린 대안과 이유). 원본: docs/원칙카드.md · 코드 grep -rn "P10" lib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B3】 'AI를 어떻게 썼나요?'에 한두 줄로 — 요청 → AI 결과 → 내 판단 → 이유. ★ 줄이 셀프 논증의 AI 반론 요청이다. 받아들이지 않은 예: 10/25 '홈 › 전체 목록'(알약 거르기 폐기), 10/25 로고 시안 폐기.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B5-4 · 화면 D】 질문받은 화면의 요소를 번호로 짚는다 — 위젯명 · 비즈니스 명칭 · 정보 전달 기준 · P번호 · 편의성 · 가이드 글. 번호는 캡처 · 코드 주석과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【부록 B5-4 · 화면 G】 질문받은 화면의 요소를 번호로 짚는다 — 위젯명 · 비즈니스 명칭 · 정보 전달 기준 · P번호 · 편의성 · 가이드 글. 번호는 캡처 · 코드 주석과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8.png"/><Relationship Id="rId10" Type="http://schemas.openxmlformats.org/officeDocument/2006/relationships/image" Target="../media/image7.png"/><Relationship Id="rId11" Type="http://schemas.openxmlformats.org/officeDocument/2006/relationships/notesSlide" Target="../notesSlides/notesSlide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3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3721" y="304800"/>
            <a:ext cx="1482328" cy="200025"/>
          </a:xfrm>
          <a:prstGeom prst="roundRect">
            <a:avLst>
              <a:gd name="adj" fmla="val 63492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0672" y="342900"/>
            <a:ext cx="125299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· 발표 15 (6분 준수)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81000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응용모바일프로그래밍 · 중간고사 발표 · 2026-10-29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7950" y="1492002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v2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07950" y="1653927"/>
            <a:ext cx="4694039" cy="9651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26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Gunpula v2</a:t>
            </a:r>
            <a:endParaRPr sz="2600"/>
          </a:p>
          <a:p>
            <a:pPr algn="l" marL="0" indent="0">
              <a:buNone/>
            </a:pPr>
            <a:r>
              <a:rPr sz="9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hobbyDB v2 재설계 · 앱 이름은 임시</a:t>
            </a:r>
            <a:endParaRPr sz="900"/>
          </a:p>
        </p:txBody>
      </p:sp>
      <p:sp>
        <p:nvSpPr>
          <p:cNvPr id="9" name="Text 7"/>
          <p:cNvSpPr/>
          <p:nvPr/>
        </p:nvSpPr>
        <p:spPr>
          <a:xfrm>
            <a:off x="507950" y="2771477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부제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507950" y="2933402"/>
            <a:ext cx="4694039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4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새 소식부터 내 도감까지, 수집가의 한 앱</a:t>
            </a:r>
            <a:endParaRPr sz="1400"/>
          </a:p>
        </p:txBody>
      </p:sp>
      <p:sp>
        <p:nvSpPr>
          <p:cNvPr id="12" name="Text 10"/>
          <p:cNvSpPr/>
          <p:nvPr/>
        </p:nvSpPr>
        <p:spPr>
          <a:xfrm>
            <a:off x="507950" y="3593753"/>
            <a:ext cx="478792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B7C3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07950" y="3755678"/>
            <a:ext cx="4694039" cy="355550"/>
          </a:xfrm>
          <a:prstGeom prst="roundRect">
            <a:avLst>
              <a:gd name="adj" fmla="val 14288"/>
            </a:avLst>
          </a:prstGeom>
          <a:solidFill>
            <a:srgbClr val="FFFFFF"/>
          </a:solidFill>
          <a:ln w="9525">
            <a:solidFill>
              <a:srgbClr val="3A4A63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10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발표자 이름 · 학번</a:t>
            </a:r>
            <a:endParaRPr sz="1100"/>
          </a:p>
        </p:txBody>
      </p:sp>
      <p:sp>
        <p:nvSpPr>
          <p:cNvPr id="14" name="Text 12"/>
          <p:cNvSpPr/>
          <p:nvPr/>
        </p:nvSpPr>
        <p:spPr>
          <a:xfrm>
            <a:off x="5506789" y="1487686"/>
            <a:ext cx="3129260" cy="2412950"/>
          </a:xfrm>
          <a:prstGeom prst="roundRect">
            <a:avLst>
              <a:gd name="adj" fmla="val 7369"/>
            </a:avLst>
          </a:prstGeom>
          <a:solidFill>
            <a:srgbClr val="111827"/>
          </a:solidFill>
          <a:ln w="9525">
            <a:solidFill>
              <a:srgbClr val="3A4A6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06789" y="3976836"/>
            <a:ext cx="31918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화면 — 폴드 · 태블릿: 왼쪽 폰 화면 · 오른쪽 상세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07950" y="4810125"/>
            <a:ext cx="341757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4장 8단계 · 7주차 덱 부록 A2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80" dirty="0"/>
          </a:p>
        </p:txBody>
      </p:sp>
      <p:pic>
        <p:nvPicPr>
          <p:cNvPr id="20" name="Picture 19" descr="05_v2_wid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96128" y="1777365"/>
            <a:ext cx="2944368" cy="1840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3721" y="304800"/>
            <a:ext cx="1482328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80672" y="342900"/>
            <a:ext cx="125299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· 발표 15 (6분 준수)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목차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6분 + Q&amp;A 2분 — 부록은 질의 때만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4317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079" y="1163687"/>
            <a:ext cx="85162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930176" y="1128861"/>
            <a:ext cx="2286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17538" y="1163687"/>
            <a:ext cx="54801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149251" y="1128861"/>
            <a:ext cx="14223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22177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2562076" y="1128861"/>
            <a:ext cx="2369046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35002" y="1163687"/>
            <a:ext cx="395299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보여 줄 것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921597" y="1128861"/>
            <a:ext cx="4063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1255" y="1163687"/>
            <a:ext cx="17032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5318373" y="1128861"/>
            <a:ext cx="91440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91299" y="1163687"/>
            <a:ext cx="367975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 배점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223248" y="1128861"/>
            <a:ext cx="558701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6174" y="1163687"/>
            <a:ext cx="25548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리허설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507950" y="1314450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4340" y="1411784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30176" y="1314450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18282" y="1408509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149251" y="1314450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22177" y="1408509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2562076" y="1314450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635002" y="1411784"/>
            <a:ext cx="93967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v2 · 부제 · 발표자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21597" y="1314450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7718" y="1408509"/>
            <a:ext cx="959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5318373" y="1314450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91299" y="1411784"/>
            <a:ext cx="9077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23248" y="1314450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7950" y="1615083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4340" y="1712416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30176" y="1615083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18282" y="1709142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1149251" y="1615083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222177" y="1709142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2562076" y="1615083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635002" y="1712416"/>
            <a:ext cx="144320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장 — 순서와 시간만 보여 주고 넘긴다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921597" y="1615083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077718" y="1709142"/>
            <a:ext cx="9594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318373" y="1615083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391299" y="1712416"/>
            <a:ext cx="90779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223248" y="1615083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7950" y="1915864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224" y="2013198"/>
            <a:ext cx="25214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930176" y="1915864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18282" y="2009924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1149251" y="1915864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22177" y="2009924"/>
            <a:ext cx="523878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2562076" y="1915864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635002" y="2013198"/>
            <a:ext cx="217946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앱스토어식 앱 소개 — README "앱 소개" 8칸과 같은 이름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921597" y="1915864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30688" y="2009924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5318373" y="1915864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391299" y="2013198"/>
            <a:ext cx="70725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 (사업 요약)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223248" y="1915864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7950" y="2216497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00224" y="2313831"/>
            <a:ext cx="25214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05–06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930176" y="2216497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18282" y="23105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1149251" y="2216497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22177" y="2310557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2562076" y="2216497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2635002" y="2256086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분석 · 리뷰 근거(4유형) · 저니 감정 최저점 · 피쉬본/5 Why 근본 원인</a:t>
            </a:r>
            <a:endParaRPr lang="en-US" sz="670" dirty="0"/>
          </a:p>
        </p:txBody>
      </p:sp>
      <p:sp>
        <p:nvSpPr>
          <p:cNvPr id="68" name="Text 66"/>
          <p:cNvSpPr/>
          <p:nvPr/>
        </p:nvSpPr>
        <p:spPr>
          <a:xfrm>
            <a:off x="4921597" y="2216497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030688" y="23105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5318373" y="2216497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391299" y="2313831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223248" y="2216497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7950" y="2517279"/>
            <a:ext cx="4317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74340" y="2614613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930176" y="2517279"/>
            <a:ext cx="2286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18282" y="2611338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1149251" y="2517279"/>
            <a:ext cx="142235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1222177" y="2611338"/>
            <a:ext cx="95500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 — UX/UI 기획</a:t>
            </a:r>
            <a:endParaRPr lang="en-US" sz="740" dirty="0"/>
          </a:p>
        </p:txBody>
      </p:sp>
      <p:sp>
        <p:nvSpPr>
          <p:cNvPr id="79" name="Text 77"/>
          <p:cNvSpPr/>
          <p:nvPr/>
        </p:nvSpPr>
        <p:spPr>
          <a:xfrm>
            <a:off x="2562076" y="2517279"/>
            <a:ext cx="2369046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635002" y="2556867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기획(요소 명칭) · 원칙 카드 P번호 · 가이드 글 · 정보 전달 기준 · 상태관리 포인트</a:t>
            </a:r>
            <a:endParaRPr lang="en-US" sz="670" dirty="0"/>
          </a:p>
        </p:txBody>
      </p:sp>
      <p:sp>
        <p:nvSpPr>
          <p:cNvPr id="81" name="Text 79"/>
          <p:cNvSpPr/>
          <p:nvPr/>
        </p:nvSpPr>
        <p:spPr>
          <a:xfrm>
            <a:off x="4921597" y="2517279"/>
            <a:ext cx="406301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5030688" y="2611338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5318373" y="2517279"/>
            <a:ext cx="914400" cy="310158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5391299" y="2614613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40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6223248" y="2517279"/>
            <a:ext cx="558701" cy="31015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07950" y="2817912"/>
            <a:ext cx="43175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674340" y="2917031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930176" y="2817912"/>
            <a:ext cx="22860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018282" y="29137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1149251" y="2817912"/>
            <a:ext cx="142235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222177" y="2852738"/>
            <a:ext cx="1276499" cy="24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1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— AI 반론으로 다진 UX/UI 결정</a:t>
            </a:r>
            <a:endParaRPr lang="en-US" sz="710" dirty="0"/>
          </a:p>
        </p:txBody>
      </p:sp>
      <p:sp>
        <p:nvSpPr>
          <p:cNvPr id="92" name="Text 90"/>
          <p:cNvSpPr/>
          <p:nvPr/>
        </p:nvSpPr>
        <p:spPr>
          <a:xfrm>
            <a:off x="2562076" y="2817912"/>
            <a:ext cx="2369046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2635002" y="2859286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쟁점 → 내 주장 → 반론(AI · 나) → 재반론/수정 → 결론 → 근거 P번호 → 전 · 후</a:t>
            </a:r>
            <a:endParaRPr lang="en-US" sz="670" dirty="0"/>
          </a:p>
        </p:txBody>
      </p:sp>
      <p:sp>
        <p:nvSpPr>
          <p:cNvPr id="94" name="Text 92"/>
          <p:cNvSpPr/>
          <p:nvPr/>
        </p:nvSpPr>
        <p:spPr>
          <a:xfrm>
            <a:off x="4921597" y="2817912"/>
            <a:ext cx="406301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030688" y="29137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740" dirty="0"/>
          </a:p>
        </p:txBody>
      </p:sp>
      <p:sp>
        <p:nvSpPr>
          <p:cNvPr id="96" name="Text 94"/>
          <p:cNvSpPr/>
          <p:nvPr/>
        </p:nvSpPr>
        <p:spPr>
          <a:xfrm>
            <a:off x="5318373" y="2817912"/>
            <a:ext cx="914400" cy="31373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391299" y="2917031"/>
            <a:ext cx="64684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 기록 20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6223248" y="2817912"/>
            <a:ext cx="558701" cy="31373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7950" y="3122116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674340" y="3219450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930176" y="3122116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1018282" y="3216176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1149251" y="3122116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1222177" y="3216176"/>
            <a:ext cx="1233109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기술을 활용한 기능 설명</a:t>
            </a:r>
            <a:endParaRPr lang="en-US" sz="740" dirty="0"/>
          </a:p>
        </p:txBody>
      </p:sp>
      <p:sp>
        <p:nvSpPr>
          <p:cNvPr id="105" name="Text 103"/>
          <p:cNvSpPr/>
          <p:nvPr/>
        </p:nvSpPr>
        <p:spPr>
          <a:xfrm>
            <a:off x="2562076" y="3122116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2635002" y="3161705"/>
            <a:ext cx="222319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7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트리 · 화면 이동 · FutureBuilder 3상태 · GET · 적응형 · // P0x</a:t>
            </a:r>
            <a:endParaRPr lang="en-US" sz="670" dirty="0"/>
          </a:p>
        </p:txBody>
      </p:sp>
      <p:sp>
        <p:nvSpPr>
          <p:cNvPr id="107" name="Text 105"/>
          <p:cNvSpPr/>
          <p:nvPr/>
        </p:nvSpPr>
        <p:spPr>
          <a:xfrm>
            <a:off x="4921597" y="3122116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5030688" y="3216176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</a:t>
            </a:r>
            <a:endParaRPr lang="en-US" sz="740" dirty="0"/>
          </a:p>
        </p:txBody>
      </p:sp>
      <p:sp>
        <p:nvSpPr>
          <p:cNvPr id="109" name="Text 107"/>
          <p:cNvSpPr/>
          <p:nvPr/>
        </p:nvSpPr>
        <p:spPr>
          <a:xfrm>
            <a:off x="5318373" y="3122116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5391299" y="3219450"/>
            <a:ext cx="2167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25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223248" y="3122116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07950" y="3422898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674340" y="3520232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930176" y="3422898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1018282" y="3516957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1149251" y="3422898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7" name="Text 115"/>
          <p:cNvSpPr/>
          <p:nvPr/>
        </p:nvSpPr>
        <p:spPr>
          <a:xfrm>
            <a:off x="1222177" y="3516957"/>
            <a:ext cx="16577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740" dirty="0"/>
          </a:p>
        </p:txBody>
      </p:sp>
      <p:sp>
        <p:nvSpPr>
          <p:cNvPr id="118" name="Text 116"/>
          <p:cNvSpPr/>
          <p:nvPr/>
        </p:nvSpPr>
        <p:spPr>
          <a:xfrm>
            <a:off x="2562076" y="3422898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2635002" y="3520232"/>
            <a:ext cx="158727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1분 영상 또는 라이브/배포 URL + 원칙 클립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921597" y="3422898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5030688" y="3516957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</a:t>
            </a:r>
            <a:endParaRPr lang="en-US" sz="740" dirty="0"/>
          </a:p>
        </p:txBody>
      </p:sp>
      <p:sp>
        <p:nvSpPr>
          <p:cNvPr id="122" name="Text 120"/>
          <p:cNvSpPr/>
          <p:nvPr/>
        </p:nvSpPr>
        <p:spPr>
          <a:xfrm>
            <a:off x="5318373" y="3422898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3" name="Text 121"/>
          <p:cNvSpPr/>
          <p:nvPr/>
        </p:nvSpPr>
        <p:spPr>
          <a:xfrm>
            <a:off x="5391299" y="3520232"/>
            <a:ext cx="2167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25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6223248" y="3422898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507950" y="3723680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676721" y="3821013"/>
            <a:ext cx="95941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930176" y="3723680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1018282" y="3817739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40" dirty="0"/>
          </a:p>
        </p:txBody>
      </p:sp>
      <p:sp>
        <p:nvSpPr>
          <p:cNvPr id="129" name="Text 127"/>
          <p:cNvSpPr/>
          <p:nvPr/>
        </p:nvSpPr>
        <p:spPr>
          <a:xfrm>
            <a:off x="1149251" y="3723680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Text 128"/>
          <p:cNvSpPr/>
          <p:nvPr/>
        </p:nvSpPr>
        <p:spPr>
          <a:xfrm>
            <a:off x="1222177" y="3817739"/>
            <a:ext cx="889120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Learnings</a:t>
            </a:r>
            <a:endParaRPr lang="en-US" sz="740" dirty="0"/>
          </a:p>
        </p:txBody>
      </p:sp>
      <p:sp>
        <p:nvSpPr>
          <p:cNvPr id="131" name="Text 129"/>
          <p:cNvSpPr/>
          <p:nvPr/>
        </p:nvSpPr>
        <p:spPr>
          <a:xfrm>
            <a:off x="2562076" y="3723680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2" name="Text 130"/>
          <p:cNvSpPr/>
          <p:nvPr/>
        </p:nvSpPr>
        <p:spPr>
          <a:xfrm>
            <a:off x="2635002" y="3821013"/>
            <a:ext cx="122521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것 · 셀프 논증 회고 · 다음 v3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921597" y="3723680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4" name="Text 132"/>
          <p:cNvSpPr/>
          <p:nvPr/>
        </p:nvSpPr>
        <p:spPr>
          <a:xfrm>
            <a:off x="5030688" y="3817739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</a:t>
            </a:r>
            <a:endParaRPr lang="en-US" sz="740" dirty="0"/>
          </a:p>
        </p:txBody>
      </p:sp>
      <p:sp>
        <p:nvSpPr>
          <p:cNvPr id="135" name="Text 133"/>
          <p:cNvSpPr/>
          <p:nvPr/>
        </p:nvSpPr>
        <p:spPr>
          <a:xfrm>
            <a:off x="5318373" y="3723680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6" name="Text 134"/>
          <p:cNvSpPr/>
          <p:nvPr/>
        </p:nvSpPr>
        <p:spPr>
          <a:xfrm>
            <a:off x="5391299" y="3821013"/>
            <a:ext cx="28296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15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223248" y="3723680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507950" y="4024461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9" name="Text 137"/>
          <p:cNvSpPr/>
          <p:nvPr/>
        </p:nvSpPr>
        <p:spPr>
          <a:xfrm>
            <a:off x="930176" y="4024461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0" name="Text 138"/>
          <p:cNvSpPr/>
          <p:nvPr/>
        </p:nvSpPr>
        <p:spPr>
          <a:xfrm>
            <a:off x="1149251" y="4024461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1" name="Text 139"/>
          <p:cNvSpPr/>
          <p:nvPr/>
        </p:nvSpPr>
        <p:spPr>
          <a:xfrm>
            <a:off x="1222177" y="4118521"/>
            <a:ext cx="358107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합계</a:t>
            </a:r>
            <a:endParaRPr lang="en-US" sz="740" dirty="0"/>
          </a:p>
        </p:txBody>
      </p:sp>
      <p:sp>
        <p:nvSpPr>
          <p:cNvPr id="142" name="Text 140"/>
          <p:cNvSpPr/>
          <p:nvPr/>
        </p:nvSpPr>
        <p:spPr>
          <a:xfrm>
            <a:off x="2562076" y="4024461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3" name="Text 141"/>
          <p:cNvSpPr/>
          <p:nvPr/>
        </p:nvSpPr>
        <p:spPr>
          <a:xfrm>
            <a:off x="2635002" y="4121795"/>
            <a:ext cx="679326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6분 준수 (발표 15)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4921597" y="4024461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5" name="Text 143"/>
          <p:cNvSpPr/>
          <p:nvPr/>
        </p:nvSpPr>
        <p:spPr>
          <a:xfrm>
            <a:off x="5030688" y="4118521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6:00</a:t>
            </a:r>
            <a:endParaRPr lang="en-US" sz="740" dirty="0"/>
          </a:p>
        </p:txBody>
      </p:sp>
      <p:sp>
        <p:nvSpPr>
          <p:cNvPr id="146" name="Text 144"/>
          <p:cNvSpPr/>
          <p:nvPr/>
        </p:nvSpPr>
        <p:spPr>
          <a:xfrm>
            <a:off x="5318373" y="4024461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7" name="Text 145"/>
          <p:cNvSpPr/>
          <p:nvPr/>
        </p:nvSpPr>
        <p:spPr>
          <a:xfrm>
            <a:off x="6223248" y="4024461"/>
            <a:ext cx="558701" cy="310307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507950" y="4325243"/>
            <a:ext cx="6273998" cy="310307"/>
          </a:xfrm>
          <a:prstGeom prst="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9" name="Text 147"/>
          <p:cNvSpPr/>
          <p:nvPr/>
        </p:nvSpPr>
        <p:spPr>
          <a:xfrm>
            <a:off x="507950" y="4325243"/>
            <a:ext cx="4317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0" name="Text 148"/>
          <p:cNvSpPr/>
          <p:nvPr/>
        </p:nvSpPr>
        <p:spPr>
          <a:xfrm>
            <a:off x="674340" y="4422577"/>
            <a:ext cx="10095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930176" y="4325243"/>
            <a:ext cx="2286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2" name="Text 150"/>
          <p:cNvSpPr/>
          <p:nvPr/>
        </p:nvSpPr>
        <p:spPr>
          <a:xfrm>
            <a:off x="1018282" y="4419302"/>
            <a:ext cx="53283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40" dirty="0"/>
          </a:p>
        </p:txBody>
      </p:sp>
      <p:sp>
        <p:nvSpPr>
          <p:cNvPr id="153" name="Text 151"/>
          <p:cNvSpPr/>
          <p:nvPr/>
        </p:nvSpPr>
        <p:spPr>
          <a:xfrm>
            <a:off x="1149251" y="4325243"/>
            <a:ext cx="142235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4" name="Text 152"/>
          <p:cNvSpPr/>
          <p:nvPr/>
        </p:nvSpPr>
        <p:spPr>
          <a:xfrm>
            <a:off x="1222177" y="4419302"/>
            <a:ext cx="212982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740" dirty="0"/>
          </a:p>
        </p:txBody>
      </p:sp>
      <p:sp>
        <p:nvSpPr>
          <p:cNvPr id="155" name="Text 153"/>
          <p:cNvSpPr/>
          <p:nvPr/>
        </p:nvSpPr>
        <p:spPr>
          <a:xfrm>
            <a:off x="2562076" y="4325243"/>
            <a:ext cx="2369046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6" name="Text 154"/>
          <p:cNvSpPr/>
          <p:nvPr/>
        </p:nvSpPr>
        <p:spPr>
          <a:xfrm>
            <a:off x="2635002" y="4422577"/>
            <a:ext cx="1311593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 2개 → 부록 장으로 답한다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4921597" y="4325243"/>
            <a:ext cx="4063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8" name="Text 156"/>
          <p:cNvSpPr/>
          <p:nvPr/>
        </p:nvSpPr>
        <p:spPr>
          <a:xfrm>
            <a:off x="5030688" y="4419302"/>
            <a:ext cx="191881" cy="122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2"/>
              </a:lnSpc>
              <a:buNone/>
            </a:pPr>
            <a:r>
              <a:rPr lang="en-US" sz="74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</a:t>
            </a:r>
            <a:endParaRPr lang="en-US" sz="740" dirty="0"/>
          </a:p>
        </p:txBody>
      </p:sp>
      <p:sp>
        <p:nvSpPr>
          <p:cNvPr id="159" name="Text 157"/>
          <p:cNvSpPr/>
          <p:nvPr/>
        </p:nvSpPr>
        <p:spPr>
          <a:xfrm>
            <a:off x="5318373" y="4325243"/>
            <a:ext cx="914400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0" name="Text 158"/>
          <p:cNvSpPr/>
          <p:nvPr/>
        </p:nvSpPr>
        <p:spPr>
          <a:xfrm>
            <a:off x="5391299" y="4422577"/>
            <a:ext cx="70725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7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15 (질의 응답)</a:t>
            </a:r>
            <a:endParaRPr lang="en-US" sz="700" dirty="0"/>
          </a:p>
        </p:txBody>
      </p:sp>
      <p:sp>
        <p:nvSpPr>
          <p:cNvPr id="161" name="Text 159"/>
          <p:cNvSpPr/>
          <p:nvPr/>
        </p:nvSpPr>
        <p:spPr>
          <a:xfrm>
            <a:off x="6223248" y="4325243"/>
            <a:ext cx="558701" cy="310307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2" name="Text 160"/>
          <p:cNvSpPr/>
          <p:nvPr/>
        </p:nvSpPr>
        <p:spPr>
          <a:xfrm>
            <a:off x="6908899" y="1128861"/>
            <a:ext cx="176169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질의 때만</a:t>
            </a:r>
            <a:endParaRPr lang="en-US" sz="840" dirty="0"/>
          </a:p>
        </p:txBody>
      </p:sp>
      <p:sp>
        <p:nvSpPr>
          <p:cNvPr id="163" name="Text 161"/>
          <p:cNvSpPr/>
          <p:nvPr/>
        </p:nvSpPr>
        <p:spPr>
          <a:xfrm>
            <a:off x="6908899" y="1303437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4" name="Shape 162"/>
          <p:cNvSpPr/>
          <p:nvPr/>
        </p:nvSpPr>
        <p:spPr>
          <a:xfrm>
            <a:off x="6908899" y="1308199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5" name="Shape 163"/>
          <p:cNvSpPr/>
          <p:nvPr/>
        </p:nvSpPr>
        <p:spPr>
          <a:xfrm>
            <a:off x="8631287" y="1303437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6" name="Shape 164"/>
          <p:cNvSpPr/>
          <p:nvPr/>
        </p:nvSpPr>
        <p:spPr>
          <a:xfrm>
            <a:off x="6908899" y="1924496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7" name="Shape 165"/>
          <p:cNvSpPr/>
          <p:nvPr/>
        </p:nvSpPr>
        <p:spPr>
          <a:xfrm>
            <a:off x="6927949" y="1303437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8" name="Text 166"/>
          <p:cNvSpPr/>
          <p:nvPr/>
        </p:nvSpPr>
        <p:spPr>
          <a:xfrm>
            <a:off x="7061299" y="1488728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참조: 데모 및 스크린샷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7061299" y="1625203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 · 빈/로딩/오류 상태</a:t>
            </a:r>
            <a:endParaRPr lang="en-US" sz="720" dirty="0"/>
          </a:p>
        </p:txBody>
      </p:sp>
      <p:sp>
        <p:nvSpPr>
          <p:cNvPr id="170" name="Text 168"/>
          <p:cNvSpPr/>
          <p:nvPr/>
        </p:nvSpPr>
        <p:spPr>
          <a:xfrm>
            <a:off x="6908899" y="1980009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1" name="Shape 169"/>
          <p:cNvSpPr/>
          <p:nvPr/>
        </p:nvSpPr>
        <p:spPr>
          <a:xfrm>
            <a:off x="6908899" y="1984772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Shape 170"/>
          <p:cNvSpPr/>
          <p:nvPr/>
        </p:nvSpPr>
        <p:spPr>
          <a:xfrm>
            <a:off x="8631287" y="1980009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 171"/>
          <p:cNvSpPr/>
          <p:nvPr/>
        </p:nvSpPr>
        <p:spPr>
          <a:xfrm>
            <a:off x="6908899" y="2601069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 172"/>
          <p:cNvSpPr/>
          <p:nvPr/>
        </p:nvSpPr>
        <p:spPr>
          <a:xfrm>
            <a:off x="6927949" y="1980009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Text 173"/>
          <p:cNvSpPr/>
          <p:nvPr/>
        </p:nvSpPr>
        <p:spPr>
          <a:xfrm>
            <a:off x="7061299" y="2165300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원칙 카드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7061299" y="2301776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P0x마다 1장</a:t>
            </a:r>
            <a:endParaRPr lang="en-US" sz="720" dirty="0"/>
          </a:p>
        </p:txBody>
      </p:sp>
      <p:sp>
        <p:nvSpPr>
          <p:cNvPr id="177" name="Text 175"/>
          <p:cNvSpPr/>
          <p:nvPr/>
        </p:nvSpPr>
        <p:spPr>
          <a:xfrm>
            <a:off x="6908899" y="2656582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8" name="Shape 176"/>
          <p:cNvSpPr/>
          <p:nvPr/>
        </p:nvSpPr>
        <p:spPr>
          <a:xfrm>
            <a:off x="6908899" y="2661345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177"/>
          <p:cNvSpPr/>
          <p:nvPr/>
        </p:nvSpPr>
        <p:spPr>
          <a:xfrm>
            <a:off x="8631287" y="2656582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 178"/>
          <p:cNvSpPr/>
          <p:nvPr/>
        </p:nvSpPr>
        <p:spPr>
          <a:xfrm>
            <a:off x="6908899" y="3277642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6927949" y="2656582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Text 180"/>
          <p:cNvSpPr/>
          <p:nvPr/>
        </p:nvSpPr>
        <p:spPr>
          <a:xfrm>
            <a:off x="7061299" y="2846636"/>
            <a:ext cx="1479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prompt-log</a:t>
            </a:r>
            <a:endParaRPr lang="en-US" sz="800" dirty="0"/>
          </a:p>
        </p:txBody>
      </p:sp>
      <p:sp>
        <p:nvSpPr>
          <p:cNvPr id="183" name="Text 181"/>
          <p:cNvSpPr/>
          <p:nvPr/>
        </p:nvSpPr>
        <p:spPr>
          <a:xfrm>
            <a:off x="7061299" y="2973586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지문 · 반론 요청</a:t>
            </a:r>
            <a:endParaRPr lang="en-US" sz="720" dirty="0"/>
          </a:p>
        </p:txBody>
      </p:sp>
      <p:sp>
        <p:nvSpPr>
          <p:cNvPr id="184" name="Text 182"/>
          <p:cNvSpPr/>
          <p:nvPr/>
        </p:nvSpPr>
        <p:spPr>
          <a:xfrm>
            <a:off x="6908899" y="3333155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5" name="Shape 183"/>
          <p:cNvSpPr/>
          <p:nvPr/>
        </p:nvSpPr>
        <p:spPr>
          <a:xfrm>
            <a:off x="6908899" y="3337917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8631287" y="3333155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6908899" y="3954214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6927949" y="3333155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Text 187"/>
          <p:cNvSpPr/>
          <p:nvPr/>
        </p:nvSpPr>
        <p:spPr>
          <a:xfrm>
            <a:off x="7061299" y="3518446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자가평가 요약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7061299" y="3654921"/>
            <a:ext cx="14799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72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점검</a:t>
            </a:r>
            <a:endParaRPr lang="en-US" sz="720" dirty="0"/>
          </a:p>
        </p:txBody>
      </p:sp>
      <p:sp>
        <p:nvSpPr>
          <p:cNvPr id="191" name="Text 189"/>
          <p:cNvSpPr/>
          <p:nvPr/>
        </p:nvSpPr>
        <p:spPr>
          <a:xfrm>
            <a:off x="6908899" y="4009727"/>
            <a:ext cx="1727150" cy="625822"/>
          </a:xfrm>
          <a:prstGeom prst="roundRect">
            <a:avLst>
              <a:gd name="adj" fmla="val 1217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2" name="Shape 190"/>
          <p:cNvSpPr/>
          <p:nvPr/>
        </p:nvSpPr>
        <p:spPr>
          <a:xfrm>
            <a:off x="6908899" y="4014490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8631287" y="4009727"/>
            <a:ext cx="0" cy="62582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6908899" y="4630787"/>
            <a:ext cx="17271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6927949" y="4009727"/>
            <a:ext cx="0" cy="625822"/>
          </a:xfrm>
          <a:prstGeom prst="line">
            <a:avLst/>
          </a:prstGeom>
          <a:noFill/>
          <a:ln w="38100">
            <a:solidFill>
              <a:srgbClr val="93A4B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Text 194"/>
          <p:cNvSpPr/>
          <p:nvPr/>
        </p:nvSpPr>
        <p:spPr>
          <a:xfrm>
            <a:off x="7061299" y="4135636"/>
            <a:ext cx="147994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기획 상세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7061299" y="4272111"/>
            <a:ext cx="1450925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69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 · 저니 · 피쉬본/5 Why · 요소 분석 · 상태관리</a:t>
            </a:r>
            <a:endParaRPr lang="en-US" sz="690" dirty="0"/>
          </a:p>
        </p:txBody>
      </p:sp>
      <p:sp>
        <p:nvSpPr>
          <p:cNvPr id="198" name="Text 196"/>
          <p:cNvSpPr/>
          <p:nvPr/>
        </p:nvSpPr>
        <p:spPr>
          <a:xfrm>
            <a:off x="507950" y="4810125"/>
            <a:ext cx="464173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8단계(발표 6분 + 질의 2분) · 7장 평가(배점 그대로)</a:t>
            </a:r>
            <a:endParaRPr lang="en-US" sz="680" dirty="0"/>
          </a:p>
        </p:txBody>
      </p:sp>
      <p:sp>
        <p:nvSpPr>
          <p:cNvPr id="199" name="Text 19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프로젝트 개요 1/2 — 앱스토어 상품 페이지처럼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수집가의 소식 · 기록 · 도감을 한 앱에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939701" cy="939701"/>
          </a:xfrm>
          <a:prstGeom prst="roundRect">
            <a:avLst>
              <a:gd name="adj" fmla="val 21624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algn="ctr" marL="0" indent="0">
              <a:buNone/>
            </a:pPr>
            <a:r>
              <a:rPr sz="84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로고</a:t>
            </a:r>
            <a:endParaRPr sz="840"/>
          </a:p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다음 단계</a:t>
            </a:r>
            <a:endParaRPr sz="720"/>
          </a:p>
        </p:txBody>
      </p:sp>
      <p:sp>
        <p:nvSpPr>
          <p:cNvPr id="10" name="Text 8"/>
          <p:cNvSpPr/>
          <p:nvPr/>
        </p:nvSpPr>
        <p:spPr>
          <a:xfrm>
            <a:off x="1574602" y="1128861"/>
            <a:ext cx="3585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이름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name · 최대 30자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574602" y="1290786"/>
            <a:ext cx="3515171" cy="330101"/>
          </a:xfrm>
          <a:prstGeom prst="roundRect">
            <a:avLst>
              <a:gd name="adj" fmla="val 15389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6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Gunpula v2</a:t>
            </a:r>
            <a:endParaRPr sz="1600"/>
          </a:p>
        </p:txBody>
      </p:sp>
      <p:sp>
        <p:nvSpPr>
          <p:cNvPr id="13" name="Text 11"/>
          <p:cNvSpPr/>
          <p:nvPr/>
        </p:nvSpPr>
        <p:spPr>
          <a:xfrm>
            <a:off x="1574602" y="1671638"/>
            <a:ext cx="358547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부제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· 최대 30자 · 한 줄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1574602" y="1833563"/>
            <a:ext cx="351517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0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새 소식부터 내 도감까지, 수집가의 한 앱</a:t>
            </a:r>
            <a:endParaRPr sz="1000"/>
          </a:p>
        </p:txBody>
      </p:sp>
      <p:sp>
        <p:nvSpPr>
          <p:cNvPr id="16" name="Text 14"/>
          <p:cNvSpPr/>
          <p:nvPr/>
        </p:nvSpPr>
        <p:spPr>
          <a:xfrm>
            <a:off x="507950" y="2189113"/>
            <a:ext cx="22978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507950" y="2351038"/>
            <a:ext cx="225281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라이프스타일 (수집 · 취미)</a:t>
            </a:r>
            <a:endParaRPr sz="900"/>
          </a:p>
        </p:txBody>
      </p:sp>
      <p:sp>
        <p:nvSpPr>
          <p:cNvPr id="19" name="Text 17"/>
          <p:cNvSpPr/>
          <p:nvPr/>
        </p:nvSpPr>
        <p:spPr>
          <a:xfrm>
            <a:off x="2836962" y="2189113"/>
            <a:ext cx="22978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사용자 / 사용 상황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2836962" y="2351038"/>
            <a:ext cx="2252811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5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20대 수집가 · 등하굣길 폰 / 집에서 폴드</a:t>
            </a:r>
            <a:endParaRPr sz="850"/>
          </a:p>
        </p:txBody>
      </p:sp>
      <p:sp>
        <p:nvSpPr>
          <p:cNvPr id="22" name="Text 20"/>
          <p:cNvSpPr/>
          <p:nvPr/>
        </p:nvSpPr>
        <p:spPr>
          <a:xfrm>
            <a:off x="507950" y="2706588"/>
            <a:ext cx="467345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· 3줄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507950" y="2868513"/>
            <a:ext cx="4581823" cy="1767036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spcAft>
                <a:spcPts val="800"/>
              </a:spcAft>
              <a:buNone/>
            </a:pPr>
            <a:r>
              <a:rPr sz="95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무엇을: </a:t>
            </a:r>
            <a:r>
              <a:rPr sz="95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관심 IP(채널)만 골라 공식 예고 · 발매 · 새 상품을 먼저 보고, 갖고 싶은 것은 ♡, 산 것은 리본으로 한 번에 기록 — 모을수록 도감 칸이 켜지고 레벨이 오른다</a:t>
            </a:r>
            <a:endParaRPr sz="950"/>
          </a:p>
          <a:p>
            <a:pPr algn="l" marL="0" indent="0">
              <a:spcAft>
                <a:spcPts val="800"/>
              </a:spcAft>
              <a:buNone/>
            </a:pPr>
            <a:r>
              <a:rPr sz="95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왜: </a:t>
            </a:r>
            <a:r>
              <a:rPr sz="95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현행 hobbyDB는 웹사이트 메뉴를 그대로 옮겨 익히기 어렵고(2023-11-23 ★5), 누를 때마다 창이 따로 열린다(2023-04-18 ★5). 시세는 한 달 10번, 광고는 화면마다(2025-11-30 ★1)</a:t>
            </a:r>
            <a:endParaRPr sz="950"/>
          </a:p>
          <a:p>
            <a:pPr algn="l" marL="0" indent="0">
              <a:buNone/>
            </a:pPr>
            <a:r>
              <a:rPr sz="95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핵심 가치: </a:t>
            </a:r>
            <a:r>
              <a:rPr sz="95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 소식 · 한 번에 기록(♡ · 리본) · 도감 레벨 · 친구와 나누기 · 폰부터 폴드까지 같은 앱</a:t>
            </a:r>
            <a:endParaRPr sz="950"/>
          </a:p>
        </p:txBody>
      </p:sp>
      <p:sp>
        <p:nvSpPr>
          <p:cNvPr id="25" name="Text 23"/>
          <p:cNvSpPr/>
          <p:nvPr/>
        </p:nvSpPr>
        <p:spPr>
          <a:xfrm>
            <a:off x="5242173" y="1128861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및 리뷰 </a:t>
            </a:r>
            <a:r>
              <a:rPr lang="en-US" sz="70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and Reviews · 05장과 같은 숫자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5242173" y="1328886"/>
            <a:ext cx="16920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별점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5242173" y="1490811"/>
            <a:ext cx="1658838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6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★ 4.8</a:t>
            </a:r>
            <a:endParaRPr sz="1600"/>
          </a:p>
        </p:txBody>
      </p:sp>
      <p:sp>
        <p:nvSpPr>
          <p:cNvPr id="29" name="Text 27"/>
          <p:cNvSpPr/>
          <p:nvPr/>
        </p:nvSpPr>
        <p:spPr>
          <a:xfrm>
            <a:off x="6977211" y="1328886"/>
            <a:ext cx="169201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리뷰 수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977211" y="1490811"/>
            <a:ext cx="1658838" cy="406301"/>
          </a:xfrm>
          <a:prstGeom prst="roundRect">
            <a:avLst>
              <a:gd name="adj" fmla="val 12503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12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평가 8,656개</a:t>
            </a:r>
            <a:endParaRPr sz="1200"/>
          </a:p>
        </p:txBody>
      </p:sp>
      <p:sp>
        <p:nvSpPr>
          <p:cNvPr id="32" name="Text 30"/>
          <p:cNvSpPr/>
          <p:nvPr/>
        </p:nvSpPr>
        <p:spPr>
          <a:xfrm>
            <a:off x="5242173" y="1973312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리뷰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5242173" y="2135237"/>
            <a:ext cx="3393877" cy="1982837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spcAft>
                <a:spcPts val="100"/>
              </a:spcAft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#1 </a:t>
            </a: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"the layout is a pain"</a:t>
            </a:r>
            <a:endParaRPr sz="900"/>
          </a:p>
          <a:p>
            <a:pPr algn="l" marL="0" indent="0">
              <a:spcAft>
                <a:spcPts val="800"/>
              </a:spcAft>
              <a:buNone/>
            </a:pPr>
            <a:r>
              <a:rPr sz="8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누를 때마다 다른 창이 열린다 — ★5 · 2023-04-18</a:t>
            </a:r>
            <a:endParaRPr sz="800"/>
          </a:p>
          <a:p>
            <a:pPr algn="l" marL="0" indent="0">
              <a:spcAft>
                <a:spcPts val="100"/>
              </a:spcAft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#2 </a:t>
            </a: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"TOO MANY ADS ON ONE SCREEN"</a:t>
            </a:r>
            <a:endParaRPr sz="900"/>
          </a:p>
          <a:p>
            <a:pPr algn="l" marL="0" indent="0">
              <a:spcAft>
                <a:spcPts val="800"/>
              </a:spcAft>
              <a:buNone/>
            </a:pPr>
            <a:r>
              <a:rPr sz="8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시세를 한 달 10번만 보게 막았다 — ★1 · 2025-11-30</a:t>
            </a:r>
            <a:endParaRPr sz="800"/>
          </a:p>
          <a:p>
            <a:pPr algn="l" marL="0" indent="0">
              <a:spcAft>
                <a:spcPts val="100"/>
              </a:spcAft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#3 </a:t>
            </a: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인터페이스를 익히기 어렵다</a:t>
            </a:r>
            <a:endParaRPr sz="900"/>
          </a:p>
          <a:p>
            <a:pPr algn="l" marL="0" indent="0">
              <a:spcAft>
                <a:spcPts val="800"/>
              </a:spcAft>
              <a:buNone/>
            </a:pPr>
            <a:r>
              <a:rPr sz="8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쇼케이스와 컬렉션의 차이를 모르겠다 — ★5 · 2023-11-23 (요약)</a:t>
            </a:r>
            <a:endParaRPr sz="800"/>
          </a:p>
          <a:p>
            <a:pPr algn="l" marL="0" indent="0">
              <a:buNone/>
            </a:pPr>
            <a:r>
              <a:rPr sz="72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작성자 이름은 지움 · 별점 분포와 유형은 05장</a:t>
            </a:r>
            <a:endParaRPr sz="720"/>
          </a:p>
        </p:txBody>
      </p:sp>
      <p:sp>
        <p:nvSpPr>
          <p:cNvPr id="35" name="Text 33"/>
          <p:cNvSpPr/>
          <p:nvPr/>
        </p:nvSpPr>
        <p:spPr>
          <a:xfrm>
            <a:off x="5242173" y="4194274"/>
            <a:ext cx="346175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5242173" y="4356199"/>
            <a:ext cx="3393877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App Store(US) hobbyDB · 2026-10-26 확인 · 수업 목적 인용</a:t>
            </a:r>
            <a:endParaRPr sz="720"/>
          </a:p>
        </p:txBody>
      </p:sp>
      <p:sp>
        <p:nvSpPr>
          <p:cNvPr id="38" name="Text 36"/>
          <p:cNvSpPr/>
          <p:nvPr/>
        </p:nvSpPr>
        <p:spPr>
          <a:xfrm>
            <a:off x="507950" y="4810125"/>
            <a:ext cx="654080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칸 이름: README "앱 소개" · 요소 이름 · 글자 제한: Apple "App Store product page" 문서 · 안내문 4장 1 · 2단계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프로젝트 개요 2/2 — 스크린샷 · 새로운 기능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v1 → 나의 v2: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메뉴 앱 → 내 채널 · 한 벌 표시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07950" y="1128861"/>
            <a:ext cx="914400" cy="164902"/>
          </a:xfrm>
          <a:prstGeom prst="roundRect">
            <a:avLst>
              <a:gd name="adj" fmla="val 77015"/>
            </a:avLst>
          </a:prstGeom>
          <a:solidFill>
            <a:srgbClr val="93A4B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8555" y="1154162"/>
            <a:ext cx="2989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현행</a:t>
            </a:r>
            <a:endParaRPr lang="en-US" sz="740" dirty="0"/>
          </a:p>
        </p:txBody>
      </p:sp>
      <p:sp>
        <p:nvSpPr>
          <p:cNvPr id="9" name="Text 7"/>
          <p:cNvSpPr/>
          <p:nvPr/>
        </p:nvSpPr>
        <p:spPr>
          <a:xfrm>
            <a:off x="507950" y="1331863"/>
            <a:ext cx="914400" cy="193852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950" y="3310128"/>
            <a:ext cx="914400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ctr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웹 메뉴 · 버튼이 한꺼번에</a:t>
            </a:r>
            <a:endParaRPr sz="700"/>
          </a:p>
        </p:txBody>
      </p:sp>
      <p:sp>
        <p:nvSpPr>
          <p:cNvPr id="14" name="Text 12"/>
          <p:cNvSpPr/>
          <p:nvPr/>
        </p:nvSpPr>
        <p:spPr>
          <a:xfrm>
            <a:off x="1485751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49475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홈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485751" y="1331863"/>
            <a:ext cx="914549" cy="1938528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485751" y="3310128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ctr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 배너 + 가로 줄</a:t>
            </a:r>
            <a:endParaRPr sz="700"/>
          </a:p>
        </p:txBody>
      </p:sp>
      <p:sp>
        <p:nvSpPr>
          <p:cNvPr id="21" name="Text 19"/>
          <p:cNvSpPr/>
          <p:nvPr/>
        </p:nvSpPr>
        <p:spPr>
          <a:xfrm>
            <a:off x="2463701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7424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상세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2463701" y="1331863"/>
            <a:ext cx="914549" cy="1938528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463701" y="3310128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ctr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· 시세 한 줄</a:t>
            </a:r>
            <a:endParaRPr sz="700"/>
          </a:p>
        </p:txBody>
      </p:sp>
      <p:sp>
        <p:nvSpPr>
          <p:cNvPr id="28" name="Text 26"/>
          <p:cNvSpPr/>
          <p:nvPr/>
        </p:nvSpPr>
        <p:spPr>
          <a:xfrm>
            <a:off x="3441650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705374" y="1154162"/>
            <a:ext cx="39469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도감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441650" y="1331863"/>
            <a:ext cx="914549" cy="1938528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41650" y="3310128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ctr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도감 4단계 · Lv</a:t>
            </a:r>
            <a:endParaRPr sz="700"/>
          </a:p>
        </p:txBody>
      </p:sp>
      <p:sp>
        <p:nvSpPr>
          <p:cNvPr id="35" name="Text 33"/>
          <p:cNvSpPr/>
          <p:nvPr/>
        </p:nvSpPr>
        <p:spPr>
          <a:xfrm>
            <a:off x="4419600" y="1128861"/>
            <a:ext cx="914549" cy="164902"/>
          </a:xfrm>
          <a:prstGeom prst="roundRect">
            <a:avLst>
              <a:gd name="adj" fmla="val 77015"/>
            </a:avLst>
          </a:prstGeom>
          <a:solidFill>
            <a:srgbClr val="2F6FE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35996" y="1154162"/>
            <a:ext cx="49124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컬렉션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4419600" y="1331863"/>
            <a:ext cx="914549" cy="1938528"/>
          </a:xfrm>
          <a:prstGeom prst="roundRect">
            <a:avLst>
              <a:gd name="adj" fmla="val 13887"/>
            </a:avLst>
          </a:prstGeom>
          <a:solidFill>
            <a:srgbClr val="F8FAFC"/>
          </a:solidFill>
          <a:ln w="9525">
            <a:solidFill>
              <a:srgbClr val="B7C3D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19600" y="3310128"/>
            <a:ext cx="914549" cy="279350"/>
          </a:xfrm>
          <a:prstGeom prst="roundRect">
            <a:avLst>
              <a:gd name="adj" fmla="val 18185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ctr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 한 벌</a:t>
            </a:r>
            <a:endParaRPr sz="700"/>
          </a:p>
        </p:txBody>
      </p:sp>
      <p:sp>
        <p:nvSpPr>
          <p:cNvPr id="42" name="Text 40"/>
          <p:cNvSpPr/>
          <p:nvPr/>
        </p:nvSpPr>
        <p:spPr>
          <a:xfrm>
            <a:off x="5461099" y="1128861"/>
            <a:ext cx="32384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기능 What's New — v2에서 바뀐 것 3개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5461099" y="1354187"/>
            <a:ext cx="43175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34025" y="1389013"/>
            <a:ext cx="236056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P번호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5883325" y="1354187"/>
            <a:ext cx="149349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56250" y="1389013"/>
            <a:ext cx="1001304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바뀐 것 (화면 · 요소 번호)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7367290" y="1354187"/>
            <a:ext cx="1268760" cy="195114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40216" y="1389013"/>
            <a:ext cx="691167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(리뷰 · 원칙)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5461099" y="1539776"/>
            <a:ext cx="43175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P04</a:t>
            </a:r>
            <a:endParaRPr sz="900"/>
          </a:p>
        </p:txBody>
      </p:sp>
      <p:sp>
        <p:nvSpPr>
          <p:cNvPr id="51" name="Text 49"/>
          <p:cNvSpPr/>
          <p:nvPr/>
        </p:nvSpPr>
        <p:spPr>
          <a:xfrm>
            <a:off x="5883325" y="1539776"/>
            <a:ext cx="149349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♡ 좋아요 · 리본 구매함 — 모든 화면 같은 모양, 앱 전체가 한 벌로 (A-9 · G-4b · D-6 · S-16)</a:t>
            </a:r>
            <a:endParaRPr sz="800"/>
          </a:p>
        </p:txBody>
      </p:sp>
      <p:sp>
        <p:nvSpPr>
          <p:cNvPr id="52" name="Text 50"/>
          <p:cNvSpPr/>
          <p:nvPr/>
        </p:nvSpPr>
        <p:spPr>
          <a:xfrm>
            <a:off x="7367290" y="1539776"/>
            <a:ext cx="1268760" cy="97080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2023-11-23 ★5 "쇼케이스와 컬렉션 차이를 모르겠다"</a:t>
            </a:r>
            <a:endParaRPr sz="800"/>
          </a:p>
        </p:txBody>
      </p:sp>
      <p:sp>
        <p:nvSpPr>
          <p:cNvPr id="53" name="Text 51"/>
          <p:cNvSpPr/>
          <p:nvPr/>
        </p:nvSpPr>
        <p:spPr>
          <a:xfrm>
            <a:off x="5461099" y="2501057"/>
            <a:ext cx="43175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P07</a:t>
            </a:r>
            <a:endParaRPr sz="900"/>
          </a:p>
        </p:txBody>
      </p:sp>
      <p:sp>
        <p:nvSpPr>
          <p:cNvPr id="55" name="Text 53"/>
          <p:cNvSpPr/>
          <p:nvPr/>
        </p:nvSpPr>
        <p:spPr>
          <a:xfrm>
            <a:off x="5883325" y="2501057"/>
            <a:ext cx="149349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위에서 바로 담기 · 시세 횟수 제한 없음 · 가운데 카메라 (A-9 · D-5b · S-4)</a:t>
            </a:r>
            <a:endParaRPr sz="800"/>
          </a:p>
        </p:txBody>
      </p:sp>
      <p:sp>
        <p:nvSpPr>
          <p:cNvPr id="56" name="Text 54"/>
          <p:cNvSpPr/>
          <p:nvPr/>
        </p:nvSpPr>
        <p:spPr>
          <a:xfrm>
            <a:off x="7367290" y="2501057"/>
            <a:ext cx="126876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2025-11-30 ★1 "시세를 한 달 10번만"</a:t>
            </a:r>
            <a:endParaRPr sz="800"/>
          </a:p>
        </p:txBody>
      </p:sp>
      <p:sp>
        <p:nvSpPr>
          <p:cNvPr id="57" name="Text 55"/>
          <p:cNvSpPr/>
          <p:nvPr/>
        </p:nvSpPr>
        <p:spPr>
          <a:xfrm>
            <a:off x="5461099" y="3462486"/>
            <a:ext cx="43175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P03</a:t>
            </a:r>
            <a:endParaRPr sz="900"/>
          </a:p>
        </p:txBody>
      </p:sp>
      <p:sp>
        <p:nvSpPr>
          <p:cNvPr id="59" name="Text 57"/>
          <p:cNvSpPr/>
          <p:nvPr/>
        </p:nvSpPr>
        <p:spPr>
          <a:xfrm>
            <a:off x="5883325" y="3462486"/>
            <a:ext cx="149349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켜고 끄기에 되돌리기 · 휴지통 · 새 창 대신 같은 탭 안 보기 (F-10 · O)</a:t>
            </a:r>
            <a:endParaRPr sz="800"/>
          </a:p>
        </p:txBody>
      </p:sp>
      <p:sp>
        <p:nvSpPr>
          <p:cNvPr id="60" name="Text 58"/>
          <p:cNvSpPr/>
          <p:nvPr/>
        </p:nvSpPr>
        <p:spPr>
          <a:xfrm>
            <a:off x="7367290" y="3462486"/>
            <a:ext cx="1268760" cy="970955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</p:spPr>
        <p:txBody>
          <a:bodyPr wrap="square" lIns="38100" tIns="38100" rIns="38100" bIns="38100" rtlCol="0" anchor="t"/>
          <a:lstStyle/>
          <a:p>
            <a:pPr algn="l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2023-04-18 ★5 "누를 때마다 다른 창"</a:t>
            </a:r>
            <a:endParaRPr sz="800"/>
          </a:p>
        </p:txBody>
      </p:sp>
      <p:sp>
        <p:nvSpPr>
          <p:cNvPr id="61" name="Text 59"/>
          <p:cNvSpPr/>
          <p:nvPr/>
        </p:nvSpPr>
        <p:spPr>
          <a:xfrm>
            <a:off x="5461099" y="4496842"/>
            <a:ext cx="3238449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7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현행 v1 캡처는 수업 목적 인용 — 출처는 1/2장 "출처" 칸에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507950" y="4810125"/>
            <a:ext cx="6405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Screenshots · What's New: Apple "App Store product page" 문서 · README "앱 소개" · 안내문 4장 5단계</a:t>
            </a:r>
            <a:endParaRPr lang="en-US" sz="680" dirty="0"/>
          </a:p>
        </p:txBody>
      </p:sp>
      <p:sp>
        <p:nvSpPr>
          <p:cNvPr id="63" name="Text 61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80" dirty="0"/>
          </a:p>
        </p:txBody>
      </p:sp>
      <p:pic>
        <p:nvPicPr>
          <p:cNvPr id="64" name="Picture 63" descr="01_v1_curren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526" y="1386727"/>
            <a:ext cx="841248" cy="1828800"/>
          </a:xfrm>
          <a:prstGeom prst="rect">
            <a:avLst/>
          </a:prstGeom>
        </p:spPr>
      </p:pic>
      <p:pic>
        <p:nvPicPr>
          <p:cNvPr id="65" name="Picture 64" descr="02_v2_a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22327" y="1390692"/>
            <a:ext cx="841397" cy="1820869"/>
          </a:xfrm>
          <a:prstGeom prst="rect">
            <a:avLst/>
          </a:prstGeom>
        </p:spPr>
      </p:pic>
      <p:pic>
        <p:nvPicPr>
          <p:cNvPr id="66" name="Picture 65" descr="03_v2_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500277" y="1390692"/>
            <a:ext cx="841397" cy="1820869"/>
          </a:xfrm>
          <a:prstGeom prst="rect">
            <a:avLst/>
          </a:prstGeom>
        </p:spPr>
      </p:pic>
      <p:pic>
        <p:nvPicPr>
          <p:cNvPr id="67" name="Picture 66" descr="04_v2_c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78226" y="1390692"/>
            <a:ext cx="841397" cy="1820869"/>
          </a:xfrm>
          <a:prstGeom prst="rect">
            <a:avLst/>
          </a:prstGeom>
        </p:spPr>
      </p:pic>
      <p:pic>
        <p:nvPicPr>
          <p:cNvPr id="68" name="Picture 67" descr="12_collection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56176" y="1390692"/>
            <a:ext cx="841397" cy="1820869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512064" y="37033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v2 넓은 화면</a:t>
            </a:r>
            <a:endParaRPr sz="740"/>
          </a:p>
        </p:txBody>
      </p:sp>
      <p:sp>
        <p:nvSpPr>
          <p:cNvPr id="70" name="Rounded Rectangle 69"/>
          <p:cNvSpPr/>
          <p:nvPr/>
        </p:nvSpPr>
        <p:spPr>
          <a:xfrm>
            <a:off x="512064" y="3904488"/>
            <a:ext cx="4818888" cy="768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71" name="Picture 70" descr="20_fol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69578" y="3941064"/>
            <a:ext cx="835947" cy="694944"/>
          </a:xfrm>
          <a:prstGeom prst="rect">
            <a:avLst/>
          </a:prstGeom>
        </p:spPr>
      </p:pic>
      <p:pic>
        <p:nvPicPr>
          <p:cNvPr id="72" name="Picture 71" descr="19_landscap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481328" y="3946286"/>
            <a:ext cx="1481328" cy="6845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072384" y="3959352"/>
            <a:ext cx="21945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폴드 · 태블릿 (≥700dp)</a:t>
            </a:r>
            <a:endParaRPr sz="80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반반 화면 — 왼쪽 폰 화면 그대로, 오른쪽 상세 (S-12)</a:t>
            </a:r>
            <a:endParaRPr sz="740"/>
          </a:p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가로 폰</a:t>
            </a:r>
            <a:endParaRPr sz="80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측면 탭 — 아바타 · 탭 4개 · 알림 · 설정 (S-5)</a:t>
            </a:r>
            <a:endParaRPr sz="7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문제 정의 1/2 — 현행 분석 · 리뷰 근거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정의: </a:t>
            </a:r>
            <a:r>
              <a:rPr lang="ko-KR" altLang="en-US" sz="1900" dirty="0" err="1" b="1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익히기 어렵고, 한 번 막히면 떠난다</a:t>
            </a:r>
            <a:endParaRPr lang="en-US" sz="1900" dirty="0"/>
          </a:p>
        </p:txBody>
      </p:sp>
      <p:sp>
        <p:nvSpPr>
          <p:cNvPr id="72" name="Text 70"/>
          <p:cNvSpPr/>
          <p:nvPr/>
        </p:nvSpPr>
        <p:spPr>
          <a:xfrm>
            <a:off x="507950" y="4810125"/>
            <a:ext cx="515240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1단계 · 8장 FAQ(리뷰 인용) · 7장 기획 "현행 분석 · 리뷰 근거 10"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80" dirty="0"/>
          </a:p>
        </p:txBody>
      </p:sp>
      <p:sp>
        <p:nvSpPr>
          <p:cNvPr id="74" name="TextBox 73"/>
          <p:cNvSpPr txBox="1"/>
          <p:nvPr/>
        </p:nvSpPr>
        <p:spPr>
          <a:xfrm>
            <a:off x="512064" y="1005840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별점 분포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평가 8,656개 · 평균 ★4.8</a:t>
            </a:r>
            <a:endParaRPr sz="720"/>
          </a:p>
        </p:txBody>
      </p:sp>
      <p:graphicFrame>
        <p:nvGraphicFramePr>
          <p:cNvPr id="75" name="Chart 74"/>
          <p:cNvGraphicFramePr>
            <a:graphicFrameLocks noGrp="1"/>
          </p:cNvGraphicFramePr>
          <p:nvPr/>
        </p:nvGraphicFramePr>
        <p:xfrm>
          <a:off x="457200" y="1170432"/>
          <a:ext cx="251460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6" name="Rounded Rectangle 75"/>
          <p:cNvSpPr/>
          <p:nvPr/>
        </p:nvSpPr>
        <p:spPr>
          <a:xfrm>
            <a:off x="512064" y="3675888"/>
            <a:ext cx="2395728" cy="502920"/>
          </a:xfrm>
          <a:prstGeom prst="roundRect">
            <a:avLst>
              <a:gd name="adj" fmla="val 6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84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★1(277)이 ★2 · ★3보다 많다</a:t>
            </a:r>
            <a:endParaRPr sz="840"/>
          </a:p>
          <a:p>
            <a:pPr algn="l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대부분 만족하지만, 막히면 크게 실망하는 앱</a:t>
            </a:r>
            <a:endParaRPr sz="760"/>
          </a:p>
        </p:txBody>
      </p:sp>
      <p:sp>
        <p:nvSpPr>
          <p:cNvPr id="77" name="TextBox 76"/>
          <p:cNvSpPr txBox="1"/>
          <p:nvPr/>
        </p:nvSpPr>
        <p:spPr>
          <a:xfrm>
            <a:off x="512064" y="4261104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출처 · 수집일</a:t>
            </a:r>
            <a:endParaRPr sz="840"/>
          </a:p>
        </p:txBody>
      </p:sp>
      <p:sp>
        <p:nvSpPr>
          <p:cNvPr id="78" name="Rectangle 77"/>
          <p:cNvSpPr/>
          <p:nvPr/>
        </p:nvSpPr>
        <p:spPr>
          <a:xfrm>
            <a:off x="512064" y="4416552"/>
            <a:ext cx="2395728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App Store(US) · 2026-10-26 · 보이는 리뷰 8건</a:t>
            </a:r>
            <a:endParaRPr sz="720"/>
          </a:p>
        </p:txBody>
      </p:sp>
      <p:sp>
        <p:nvSpPr>
          <p:cNvPr id="79" name="TextBox 78"/>
          <p:cNvSpPr txBox="1"/>
          <p:nvPr/>
        </p:nvSpPr>
        <p:spPr>
          <a:xfrm>
            <a:off x="3072384" y="1005840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리뷰 인용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원문 구절 · 날짜 · 별점</a:t>
            </a:r>
            <a:endParaRPr sz="720"/>
          </a:p>
        </p:txBody>
      </p:sp>
      <p:sp>
        <p:nvSpPr>
          <p:cNvPr id="80" name="Rounded Rectangle 79"/>
          <p:cNvSpPr/>
          <p:nvPr/>
        </p:nvSpPr>
        <p:spPr>
          <a:xfrm>
            <a:off x="3072384" y="118872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#1  </a:t>
            </a: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2023-11-23 · ★5</a:t>
            </a:r>
            <a:endParaRPr sz="740"/>
          </a:p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인터페이스를 익히기 어렵다</a:t>
            </a:r>
            <a:endParaRPr sz="900"/>
          </a:p>
          <a:p>
            <a:pPr algn="l" marL="0" indent="0">
              <a:spcAft>
                <a:spcPts val="2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오래 썼지만 쇼케이스와 컬렉션의 차이를 모르겠다 (요약)</a:t>
            </a:r>
            <a:endParaRPr sz="760"/>
          </a:p>
        </p:txBody>
      </p:sp>
      <p:sp>
        <p:nvSpPr>
          <p:cNvPr id="81" name="Rounded Rectangle 80"/>
          <p:cNvSpPr/>
          <p:nvPr/>
        </p:nvSpPr>
        <p:spPr>
          <a:xfrm>
            <a:off x="3072384" y="205740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#2  </a:t>
            </a: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2023-04-18 · ★5</a:t>
            </a:r>
            <a:endParaRPr sz="740"/>
          </a:p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"the layout is a pain"</a:t>
            </a:r>
            <a:endParaRPr sz="900"/>
          </a:p>
          <a:p>
            <a:pPr algn="l" marL="0" indent="0">
              <a:spcAft>
                <a:spcPts val="2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기능을 누를 때마다 다른 창이 열려 다시 돌아와야 한다</a:t>
            </a:r>
            <a:endParaRPr sz="760"/>
          </a:p>
        </p:txBody>
      </p:sp>
      <p:sp>
        <p:nvSpPr>
          <p:cNvPr id="82" name="Rounded Rectangle 81"/>
          <p:cNvSpPr/>
          <p:nvPr/>
        </p:nvSpPr>
        <p:spPr>
          <a:xfrm>
            <a:off x="3072384" y="292608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#3  </a:t>
            </a: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2025-11-30 · ★1</a:t>
            </a:r>
            <a:endParaRPr sz="740"/>
          </a:p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"TOO MANY ADS ON ONE SCREEN"</a:t>
            </a:r>
            <a:endParaRPr sz="900"/>
          </a:p>
          <a:p>
            <a:pPr algn="l" marL="0" indent="0">
              <a:spcAft>
                <a:spcPts val="2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시세는 한 달 10번만 — 유료로 유도</a:t>
            </a:r>
            <a:endParaRPr sz="760"/>
          </a:p>
        </p:txBody>
      </p:sp>
      <p:sp>
        <p:nvSpPr>
          <p:cNvPr id="83" name="Rounded Rectangle 82"/>
          <p:cNvSpPr/>
          <p:nvPr/>
        </p:nvSpPr>
        <p:spPr>
          <a:xfrm>
            <a:off x="3072384" y="379476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#4  </a:t>
            </a: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2025-07-28 · ★3</a:t>
            </a:r>
            <a:endParaRPr sz="740"/>
          </a:p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"PLEASE FIX THE SCANNER"</a:t>
            </a:r>
            <a:endParaRPr sz="900"/>
          </a:p>
          <a:p>
            <a:pPr algn="l" marL="0" indent="0">
              <a:spcAft>
                <a:spcPts val="2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스캐너가 몇 번 만에 멈추거나 앱이 꺼진다</a:t>
            </a:r>
            <a:endParaRPr sz="760"/>
          </a:p>
        </p:txBody>
      </p:sp>
      <p:sp>
        <p:nvSpPr>
          <p:cNvPr id="84" name="TextBox 83"/>
          <p:cNvSpPr txBox="1"/>
          <p:nvPr/>
        </p:nvSpPr>
        <p:spPr>
          <a:xfrm>
            <a:off x="5888736" y="1005840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리뷰 4유형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8개 리뷰 · 겹쳐 셈</a:t>
            </a:r>
            <a:endParaRPr sz="720"/>
          </a:p>
        </p:txBody>
      </p:sp>
      <p:sp>
        <p:nvSpPr>
          <p:cNvPr id="85" name="Rectangle 84"/>
          <p:cNvSpPr/>
          <p:nvPr/>
        </p:nvSpPr>
        <p:spPr>
          <a:xfrm>
            <a:off x="5888736" y="1188720"/>
            <a:ext cx="14173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유형</a:t>
            </a:r>
            <a:endParaRPr sz="760"/>
          </a:p>
        </p:txBody>
      </p:sp>
      <p:sp>
        <p:nvSpPr>
          <p:cNvPr id="86" name="Rectangle 85"/>
          <p:cNvSpPr/>
          <p:nvPr/>
        </p:nvSpPr>
        <p:spPr>
          <a:xfrm>
            <a:off x="7306056" y="118872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건수</a:t>
            </a:r>
            <a:endParaRPr sz="760"/>
          </a:p>
        </p:txBody>
      </p:sp>
      <p:sp>
        <p:nvSpPr>
          <p:cNvPr id="87" name="Rectangle 86"/>
          <p:cNvSpPr/>
          <p:nvPr/>
        </p:nvSpPr>
        <p:spPr>
          <a:xfrm>
            <a:off x="7808976" y="1188720"/>
            <a:ext cx="832104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대표 #</a:t>
            </a:r>
            <a:endParaRPr sz="760"/>
          </a:p>
        </p:txBody>
      </p:sp>
      <p:sp>
        <p:nvSpPr>
          <p:cNvPr id="88" name="Rectangle 87"/>
          <p:cNvSpPr/>
          <p:nvPr/>
        </p:nvSpPr>
        <p:spPr>
          <a:xfrm>
            <a:off x="5888736" y="1389888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사용성 · 화면 구조</a:t>
            </a:r>
            <a:endParaRPr sz="800"/>
          </a:p>
        </p:txBody>
      </p:sp>
      <p:sp>
        <p:nvSpPr>
          <p:cNvPr id="89" name="Rectangle 88"/>
          <p:cNvSpPr/>
          <p:nvPr/>
        </p:nvSpPr>
        <p:spPr>
          <a:xfrm>
            <a:off x="7306056" y="1389888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</a:t>
            </a:r>
            <a:endParaRPr sz="800"/>
          </a:p>
        </p:txBody>
      </p:sp>
      <p:sp>
        <p:nvSpPr>
          <p:cNvPr id="90" name="Rectangle 89"/>
          <p:cNvSpPr/>
          <p:nvPr/>
        </p:nvSpPr>
        <p:spPr>
          <a:xfrm>
            <a:off x="7808976" y="1389888"/>
            <a:ext cx="8321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#1 #2</a:t>
            </a:r>
            <a:endParaRPr sz="800"/>
          </a:p>
        </p:txBody>
      </p:sp>
      <p:sp>
        <p:nvSpPr>
          <p:cNvPr id="91" name="Rectangle 90"/>
          <p:cNvSpPr/>
          <p:nvPr/>
        </p:nvSpPr>
        <p:spPr>
          <a:xfrm>
            <a:off x="5888736" y="1773936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안정성 (스캐너 · 계정 · 튕김)</a:t>
            </a:r>
            <a:endParaRPr sz="800"/>
          </a:p>
        </p:txBody>
      </p:sp>
      <p:sp>
        <p:nvSpPr>
          <p:cNvPr id="92" name="Rectangle 91"/>
          <p:cNvSpPr/>
          <p:nvPr/>
        </p:nvSpPr>
        <p:spPr>
          <a:xfrm>
            <a:off x="7306056" y="1773936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</a:t>
            </a:r>
            <a:endParaRPr sz="800"/>
          </a:p>
        </p:txBody>
      </p:sp>
      <p:sp>
        <p:nvSpPr>
          <p:cNvPr id="93" name="Rectangle 92"/>
          <p:cNvSpPr/>
          <p:nvPr/>
        </p:nvSpPr>
        <p:spPr>
          <a:xfrm>
            <a:off x="7808976" y="1773936"/>
            <a:ext cx="8321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#4</a:t>
            </a:r>
            <a:endParaRPr sz="800"/>
          </a:p>
        </p:txBody>
      </p:sp>
      <p:sp>
        <p:nvSpPr>
          <p:cNvPr id="94" name="Rectangle 93"/>
          <p:cNvSpPr/>
          <p:nvPr/>
        </p:nvSpPr>
        <p:spPr>
          <a:xfrm>
            <a:off x="5888736" y="2157984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광고 · 유료 제한</a:t>
            </a:r>
            <a:endParaRPr sz="800"/>
          </a:p>
        </p:txBody>
      </p:sp>
      <p:sp>
        <p:nvSpPr>
          <p:cNvPr id="95" name="Rectangle 94"/>
          <p:cNvSpPr/>
          <p:nvPr/>
        </p:nvSpPr>
        <p:spPr>
          <a:xfrm>
            <a:off x="7306056" y="2157984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</a:t>
            </a:r>
            <a:endParaRPr sz="800"/>
          </a:p>
        </p:txBody>
      </p:sp>
      <p:sp>
        <p:nvSpPr>
          <p:cNvPr id="96" name="Rectangle 95"/>
          <p:cNvSpPr/>
          <p:nvPr/>
        </p:nvSpPr>
        <p:spPr>
          <a:xfrm>
            <a:off x="7808976" y="2157984"/>
            <a:ext cx="8321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#3</a:t>
            </a:r>
            <a:endParaRPr sz="800"/>
          </a:p>
        </p:txBody>
      </p:sp>
      <p:sp>
        <p:nvSpPr>
          <p:cNvPr id="97" name="Rectangle 96"/>
          <p:cNvSpPr/>
          <p:nvPr/>
        </p:nvSpPr>
        <p:spPr>
          <a:xfrm>
            <a:off x="5888736" y="2542032"/>
            <a:ext cx="14173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데이터 누락 · 시세 신뢰</a:t>
            </a:r>
            <a:endParaRPr sz="800"/>
          </a:p>
        </p:txBody>
      </p:sp>
      <p:sp>
        <p:nvSpPr>
          <p:cNvPr id="98" name="Rectangle 97"/>
          <p:cNvSpPr/>
          <p:nvPr/>
        </p:nvSpPr>
        <p:spPr>
          <a:xfrm>
            <a:off x="7306056" y="2542032"/>
            <a:ext cx="5029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</a:t>
            </a:r>
            <a:endParaRPr sz="800"/>
          </a:p>
        </p:txBody>
      </p:sp>
      <p:sp>
        <p:nvSpPr>
          <p:cNvPr id="99" name="Rectangle 98"/>
          <p:cNvSpPr/>
          <p:nvPr/>
        </p:nvSpPr>
        <p:spPr>
          <a:xfrm>
            <a:off x="7808976" y="2542032"/>
            <a:ext cx="83210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#1 외 2</a:t>
            </a:r>
            <a:endParaRPr sz="800"/>
          </a:p>
        </p:txBody>
      </p:sp>
      <p:sp>
        <p:nvSpPr>
          <p:cNvPr id="100" name="TextBox 99"/>
          <p:cNvSpPr txBox="1"/>
          <p:nvPr/>
        </p:nvSpPr>
        <p:spPr>
          <a:xfrm>
            <a:off x="5888736" y="309067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잘된 점 — 닐슨 원칙 번호로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v2에서도 지킨다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5888736" y="3255264"/>
            <a:ext cx="45720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</a:t>
            </a:r>
            <a:endParaRPr sz="760"/>
          </a:p>
        </p:txBody>
      </p:sp>
      <p:sp>
        <p:nvSpPr>
          <p:cNvPr id="102" name="Rectangle 101"/>
          <p:cNvSpPr/>
          <p:nvPr/>
        </p:nvSpPr>
        <p:spPr>
          <a:xfrm>
            <a:off x="6345936" y="3255264"/>
            <a:ext cx="2295144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현행 앱이 잘한 것 → v2</a:t>
            </a:r>
            <a:endParaRPr sz="760"/>
          </a:p>
        </p:txBody>
      </p:sp>
      <p:sp>
        <p:nvSpPr>
          <p:cNvPr id="103" name="Rectangle 102"/>
          <p:cNvSpPr/>
          <p:nvPr/>
        </p:nvSpPr>
        <p:spPr>
          <a:xfrm>
            <a:off x="5888736" y="3456432"/>
            <a:ext cx="457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P02</a:t>
            </a:r>
            <a:endParaRPr sz="780"/>
          </a:p>
        </p:txBody>
      </p:sp>
      <p:sp>
        <p:nvSpPr>
          <p:cNvPr id="104" name="Rectangle 103"/>
          <p:cNvSpPr/>
          <p:nvPr/>
        </p:nvSpPr>
        <p:spPr>
          <a:xfrm>
            <a:off x="6345936" y="3456432"/>
            <a:ext cx="229514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실제 상자 사진 · 정식 품번 → 공식 사진 · 일본어 원래 이름</a:t>
            </a:r>
            <a:endParaRPr sz="780"/>
          </a:p>
        </p:txBody>
      </p:sp>
      <p:sp>
        <p:nvSpPr>
          <p:cNvPr id="105" name="Rectangle 104"/>
          <p:cNvSpPr/>
          <p:nvPr/>
        </p:nvSpPr>
        <p:spPr>
          <a:xfrm>
            <a:off x="5888736" y="3840480"/>
            <a:ext cx="457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</a:t>
            </a:r>
            <a:endParaRPr sz="780"/>
          </a:p>
        </p:txBody>
      </p:sp>
      <p:sp>
        <p:nvSpPr>
          <p:cNvPr id="106" name="Rectangle 105"/>
          <p:cNvSpPr/>
          <p:nvPr/>
        </p:nvSpPr>
        <p:spPr>
          <a:xfrm>
            <a:off x="6345936" y="3840480"/>
            <a:ext cx="229514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바코드 스캔 지름길 → 탭 바 가운데 카메라</a:t>
            </a:r>
            <a:endParaRPr sz="780"/>
          </a:p>
        </p:txBody>
      </p:sp>
      <p:sp>
        <p:nvSpPr>
          <p:cNvPr id="107" name="Rectangle 106"/>
          <p:cNvSpPr/>
          <p:nvPr/>
        </p:nvSpPr>
        <p:spPr>
          <a:xfrm>
            <a:off x="5888736" y="4224528"/>
            <a:ext cx="457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</a:t>
            </a:r>
            <a:endParaRPr sz="780"/>
          </a:p>
        </p:txBody>
      </p:sp>
      <p:sp>
        <p:nvSpPr>
          <p:cNvPr id="108" name="Rectangle 107"/>
          <p:cNvSpPr/>
          <p:nvPr/>
        </p:nvSpPr>
        <p:spPr>
          <a:xfrm>
            <a:off x="6345936" y="4224528"/>
            <a:ext cx="229514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하트로 갖고 싶은 것 표시 → ♡ 그대로, 가진 것은 리본</a:t>
            </a:r>
            <a:endParaRPr sz="7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3538" y="304800"/>
            <a:ext cx="1522512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40488" y="342900"/>
            <a:ext cx="129398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(2장 합)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문제 정의 2/2 — 저니 감정 최저점 · 근본 원인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화면이 '내 일의 순서'로 나뉘지 않았다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07950" y="4810125"/>
            <a:ext cx="456279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3 · 4단계 · 7장 기획 "저니 8 · 피쉬본 · 5 Why 5"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80" dirty="0"/>
          </a:p>
        </p:txBody>
      </p:sp>
      <p:sp>
        <p:nvSpPr>
          <p:cNvPr id="36" name="TextBox 35"/>
          <p:cNvSpPr txBox="1"/>
          <p:nvPr/>
        </p:nvSpPr>
        <p:spPr>
          <a:xfrm>
            <a:off x="512064" y="1005840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사용자 저니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민준(23) — 재판 소식을 보고 → 사서 → 도감에 기록하기까지 · 전체는 B5-2</a:t>
            </a:r>
            <a:endParaRPr sz="720"/>
          </a:p>
        </p:txBody>
      </p:sp>
      <p:sp>
        <p:nvSpPr>
          <p:cNvPr id="37" name="Rounded Rectangle 36"/>
          <p:cNvSpPr/>
          <p:nvPr/>
        </p:nvSpPr>
        <p:spPr>
          <a:xfrm>
            <a:off x="512064" y="1170432"/>
            <a:ext cx="5138928" cy="2240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566928" y="1207008"/>
          <a:ext cx="5029200" cy="1600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950976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외부 SNS</a:t>
            </a:r>
            <a:endParaRPr sz="720"/>
          </a:p>
        </p:txBody>
      </p:sp>
      <p:sp>
        <p:nvSpPr>
          <p:cNvPr id="40" name="TextBox 39"/>
          <p:cNvSpPr txBox="1"/>
          <p:nvPr/>
        </p:nvSpPr>
        <p:spPr>
          <a:xfrm>
            <a:off x="1725168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스캐너 멈춤</a:t>
            </a:r>
            <a:endParaRPr sz="720"/>
          </a:p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#4</a:t>
            </a:r>
            <a:endParaRPr sz="720"/>
          </a:p>
        </p:txBody>
      </p:sp>
      <p:sp>
        <p:nvSpPr>
          <p:cNvPr id="41" name="TextBox 40"/>
          <p:cNvSpPr txBox="1"/>
          <p:nvPr/>
        </p:nvSpPr>
        <p:spPr>
          <a:xfrm>
            <a:off x="2499360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시세 10회 · 광고</a:t>
            </a:r>
            <a:endParaRPr sz="720"/>
          </a:p>
          <a:p>
            <a:pPr algn="ctr" marL="0" indent="0">
              <a:buNone/>
            </a:pPr>
            <a:r>
              <a:rPr sz="72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#3</a:t>
            </a:r>
            <a:endParaRPr sz="720"/>
          </a:p>
        </p:txBody>
      </p:sp>
      <p:sp>
        <p:nvSpPr>
          <p:cNvPr id="42" name="TextBox 41"/>
          <p:cNvSpPr txBox="1"/>
          <p:nvPr/>
        </p:nvSpPr>
        <p:spPr>
          <a:xfrm>
            <a:off x="3273552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쇼케이스≠컬렉션</a:t>
            </a:r>
            <a:endParaRPr sz="720"/>
          </a:p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#1</a:t>
            </a:r>
            <a:endParaRPr sz="720"/>
          </a:p>
        </p:txBody>
      </p:sp>
      <p:sp>
        <p:nvSpPr>
          <p:cNvPr id="43" name="TextBox 42"/>
          <p:cNvSpPr txBox="1"/>
          <p:nvPr/>
        </p:nvSpPr>
        <p:spPr>
          <a:xfrm>
            <a:off x="4047744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창이 따로</a:t>
            </a:r>
            <a:endParaRPr sz="720"/>
          </a:p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#2</a:t>
            </a:r>
            <a:endParaRPr sz="720"/>
          </a:p>
        </p:txBody>
      </p:sp>
      <p:sp>
        <p:nvSpPr>
          <p:cNvPr id="44" name="TextBox 43"/>
          <p:cNvSpPr txBox="1"/>
          <p:nvPr/>
        </p:nvSpPr>
        <p:spPr>
          <a:xfrm>
            <a:off x="4821936" y="2852928"/>
            <a:ext cx="7741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공개만</a:t>
            </a:r>
            <a:endParaRPr sz="720"/>
          </a:p>
        </p:txBody>
      </p:sp>
      <p:sp>
        <p:nvSpPr>
          <p:cNvPr id="45" name="TextBox 44"/>
          <p:cNvSpPr txBox="1"/>
          <p:nvPr/>
        </p:nvSpPr>
        <p:spPr>
          <a:xfrm>
            <a:off x="512064" y="3511296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감정 최저점</a:t>
            </a:r>
            <a:endParaRPr sz="840"/>
          </a:p>
        </p:txBody>
      </p:sp>
      <p:sp>
        <p:nvSpPr>
          <p:cNvPr id="46" name="Rounded Rectangle 45"/>
          <p:cNvSpPr/>
          <p:nvPr/>
        </p:nvSpPr>
        <p:spPr>
          <a:xfrm>
            <a:off x="512064" y="3675888"/>
            <a:ext cx="5138928" cy="98755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9525">
            <a:solidFill>
              <a:srgbClr val="F5B5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③ 살지 판단 (−2)</a:t>
            </a:r>
            <a:endParaRPr sz="1000"/>
          </a:p>
          <a:p>
            <a:pPr algn="l" marL="0" indent="0">
              <a:spcAft>
                <a:spcPts val="300"/>
              </a:spcAft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· 시세 · 이미 가졌는지를 보려는 순간 — 시세는 한 달 10번, 화면마다 광고(#3), 시세 출처도 모른다(2021-09-17 ★3)</a:t>
            </a:r>
            <a:endParaRPr sz="819"/>
          </a:p>
          <a:p>
            <a:pPr algn="l" marL="0" indent="0">
              <a:spcAft>
                <a:spcPts val="3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어긴 원칙 P07 · P08 · P10  ·  사용 기기: 폰 · 폴드  ·  필요한 데이터: kits.priceJpy · market</a:t>
            </a:r>
            <a:endParaRPr sz="760"/>
          </a:p>
        </p:txBody>
      </p:sp>
      <p:sp>
        <p:nvSpPr>
          <p:cNvPr id="47" name="TextBox 46"/>
          <p:cNvSpPr txBox="1"/>
          <p:nvPr/>
        </p:nvSpPr>
        <p:spPr>
          <a:xfrm>
            <a:off x="5833872" y="1005840"/>
            <a:ext cx="2834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피쉬본 → 5 Why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우선순위: 사용성 "익히기 어렵다" #1 #2</a:t>
            </a:r>
            <a:endParaRPr sz="720"/>
          </a:p>
        </p:txBody>
      </p:sp>
      <p:sp>
        <p:nvSpPr>
          <p:cNvPr id="48" name="Rectangle 47"/>
          <p:cNvSpPr/>
          <p:nvPr/>
        </p:nvSpPr>
        <p:spPr>
          <a:xfrm>
            <a:off x="5833872" y="1188720"/>
            <a:ext cx="502920" cy="40233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1</a:t>
            </a:r>
            <a:endParaRPr sz="760"/>
          </a:p>
        </p:txBody>
      </p:sp>
      <p:sp>
        <p:nvSpPr>
          <p:cNvPr id="49" name="Rectangle 48"/>
          <p:cNvSpPr/>
          <p:nvPr/>
        </p:nvSpPr>
        <p:spPr>
          <a:xfrm>
            <a:off x="6336792" y="1188720"/>
            <a:ext cx="23042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메뉴가 많고, 누를 때마다 다른 창이 열린다</a:t>
            </a:r>
            <a:endParaRPr sz="780"/>
          </a:p>
        </p:txBody>
      </p:sp>
      <p:sp>
        <p:nvSpPr>
          <p:cNvPr id="50" name="Rectangle 49"/>
          <p:cNvSpPr/>
          <p:nvPr/>
        </p:nvSpPr>
        <p:spPr>
          <a:xfrm>
            <a:off x="5833872" y="1645920"/>
            <a:ext cx="502920" cy="40233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2</a:t>
            </a:r>
            <a:endParaRPr sz="760"/>
          </a:p>
        </p:txBody>
      </p:sp>
      <p:sp>
        <p:nvSpPr>
          <p:cNvPr id="51" name="Rectangle 50"/>
          <p:cNvSpPr/>
          <p:nvPr/>
        </p:nvSpPr>
        <p:spPr>
          <a:xfrm>
            <a:off x="6336792" y="1645920"/>
            <a:ext cx="23042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웹사이트 정보 구조를 앱에 그대로 넣었다</a:t>
            </a:r>
            <a:endParaRPr sz="780"/>
          </a:p>
        </p:txBody>
      </p:sp>
      <p:sp>
        <p:nvSpPr>
          <p:cNvPr id="52" name="Rectangle 51"/>
          <p:cNvSpPr/>
          <p:nvPr/>
        </p:nvSpPr>
        <p:spPr>
          <a:xfrm>
            <a:off x="5833872" y="2103120"/>
            <a:ext cx="502920" cy="40233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3</a:t>
            </a:r>
            <a:endParaRPr sz="760"/>
          </a:p>
        </p:txBody>
      </p:sp>
      <p:sp>
        <p:nvSpPr>
          <p:cNvPr id="53" name="Rectangle 52"/>
          <p:cNvSpPr/>
          <p:nvPr/>
        </p:nvSpPr>
        <p:spPr>
          <a:xfrm>
            <a:off x="6336792" y="2103120"/>
            <a:ext cx="23042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수집가가 하는 일이 아니라 데이터 종류로 화면을 나눴다</a:t>
            </a:r>
            <a:endParaRPr sz="780"/>
          </a:p>
        </p:txBody>
      </p:sp>
      <p:sp>
        <p:nvSpPr>
          <p:cNvPr id="54" name="Rectangle 53"/>
          <p:cNvSpPr/>
          <p:nvPr/>
        </p:nvSpPr>
        <p:spPr>
          <a:xfrm>
            <a:off x="5833872" y="2560320"/>
            <a:ext cx="502920" cy="40233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4</a:t>
            </a:r>
            <a:endParaRPr sz="760"/>
          </a:p>
        </p:txBody>
      </p:sp>
      <p:sp>
        <p:nvSpPr>
          <p:cNvPr id="55" name="Rectangle 54"/>
          <p:cNvSpPr/>
          <p:nvPr/>
        </p:nvSpPr>
        <p:spPr>
          <a:xfrm>
            <a:off x="6336792" y="2560320"/>
            <a:ext cx="230428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수집 분야를 한 메뉴로 덮으려 했다 — 관심 분야가 화면에 없다</a:t>
            </a:r>
            <a:endParaRPr sz="780"/>
          </a:p>
        </p:txBody>
      </p:sp>
      <p:sp>
        <p:nvSpPr>
          <p:cNvPr id="56" name="TextBox 55"/>
          <p:cNvSpPr txBox="1"/>
          <p:nvPr/>
        </p:nvSpPr>
        <p:spPr>
          <a:xfrm>
            <a:off x="5833872" y="3072384"/>
            <a:ext cx="2834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근본 원인 → v2에서 고칠 것</a:t>
            </a:r>
            <a:endParaRPr sz="840"/>
          </a:p>
        </p:txBody>
      </p:sp>
      <p:sp>
        <p:nvSpPr>
          <p:cNvPr id="57" name="Rounded Rectangle 56"/>
          <p:cNvSpPr/>
          <p:nvPr/>
        </p:nvSpPr>
        <p:spPr>
          <a:xfrm>
            <a:off x="5833872" y="3236976"/>
            <a:ext cx="2807208" cy="1426464"/>
          </a:xfrm>
          <a:prstGeom prst="roundRect">
            <a:avLst>
              <a:gd name="adj" fmla="val 4000"/>
            </a:avLst>
          </a:prstGeom>
          <a:solidFill>
            <a:srgbClr val="EAF1FD"/>
          </a:solidFill>
          <a:ln w="952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8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5 — "내 관심 분야(채널)"와 "내가 하는 일의 순서"가 화면 구조의 기준이 아니다</a:t>
            </a:r>
            <a:endParaRPr sz="860"/>
          </a:p>
          <a:p>
            <a:pPr algn="l" marL="0" indent="0">
              <a:spcAft>
                <a:spcPts val="300"/>
              </a:spcAft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→ 위: 내 채널 바 하나 (C-1)</a:t>
            </a:r>
            <a:endParaRPr sz="800"/>
          </a:p>
          <a:p>
            <a:pPr algn="l" marL="0" indent="0">
              <a:spcAft>
                <a:spcPts val="300"/>
              </a:spcAft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→ 아래 탭: 홈(소식) · 검색(찾기) · 카메라 · 캘린더(발매) · 컬렉션(기록 · 도감) (S-3)</a:t>
            </a:r>
            <a:endParaRPr sz="800"/>
          </a:p>
          <a:p>
            <a:pPr algn="l" marL="0" indent="0">
              <a:spcAft>
                <a:spcPts val="300"/>
              </a:spcAft>
              <a:buNone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→ 새 창 대신 시트(덮기) · 같은 탭 안 보기 (O)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· 기획 40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해결 방법 — UX/UI 기획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방법: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 = 내 채널 소식, 사진 위에서 바로 담기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507149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5장 감점(상태관리 구현 · 가이드에 없는 화면) · 7장 기획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80" dirty="0"/>
          </a:p>
        </p:txBody>
      </p:sp>
      <p:sp>
        <p:nvSpPr>
          <p:cNvPr id="62" name="TextBox 61"/>
          <p:cNvSpPr txBox="1"/>
          <p:nvPr/>
        </p:nvSpPr>
        <p:spPr>
          <a:xfrm>
            <a:off x="512064" y="100584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v2 화면 흐름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쌓기 · 옆으로 · 덮기</a:t>
            </a:r>
            <a:endParaRPr sz="720"/>
          </a:p>
        </p:txBody>
      </p:sp>
      <p:sp>
        <p:nvSpPr>
          <p:cNvPr id="63" name="Rounded Rectangle 62"/>
          <p:cNvSpPr/>
          <p:nvPr/>
        </p:nvSpPr>
        <p:spPr>
          <a:xfrm>
            <a:off x="512064" y="1170432"/>
            <a:ext cx="25146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 marL="0" indent="0">
              <a:spcAft>
                <a:spcPts val="1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 홈 </a:t>
            </a: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→쌓기→ </a:t>
            </a: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 상세 </a:t>
            </a:r>
            <a:r>
              <a:rPr sz="760" b="0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→덮기→ </a:t>
            </a: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시트</a:t>
            </a:r>
            <a:endParaRPr sz="760"/>
          </a:p>
          <a:p>
            <a:pPr algn="l" marL="0" indent="0">
              <a:spcAft>
                <a:spcPts val="1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탭 옆으로: </a:t>
            </a: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B 검색 · H 캘린더 · F 컬렉션(G 도감)</a:t>
            </a:r>
            <a:endParaRPr sz="760"/>
          </a:p>
          <a:p>
            <a:pPr algn="l" marL="0" indent="0">
              <a:spcAft>
                <a:spcPts val="1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홈 › = 같은 탭 안 O 전체 목록 (새 창 없음)</a:t>
            </a:r>
            <a:endParaRPr sz="760"/>
          </a:p>
        </p:txBody>
      </p:sp>
      <p:sp>
        <p:nvSpPr>
          <p:cNvPr id="64" name="Rounded Rectangle 63"/>
          <p:cNvSpPr/>
          <p:nvPr/>
        </p:nvSpPr>
        <p:spPr>
          <a:xfrm>
            <a:off x="512064" y="1847088"/>
            <a:ext cx="2514600" cy="2816352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65" name="Picture 64" descr="02_v2_a_number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35568" y="1883664"/>
            <a:ext cx="1267592" cy="27432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200400" y="100584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요소 분석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A 홈 — 전체 9개는 B5-4</a:t>
            </a:r>
            <a:endParaRPr sz="720"/>
          </a:p>
        </p:txBody>
      </p:sp>
      <p:sp>
        <p:nvSpPr>
          <p:cNvPr id="67" name="Rectangle 66"/>
          <p:cNvSpPr/>
          <p:nvPr/>
        </p:nvSpPr>
        <p:spPr>
          <a:xfrm>
            <a:off x="3200400" y="1170432"/>
            <a:ext cx="4114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번호</a:t>
            </a:r>
            <a:endParaRPr sz="760"/>
          </a:p>
        </p:txBody>
      </p:sp>
      <p:sp>
        <p:nvSpPr>
          <p:cNvPr id="68" name="Rectangle 67"/>
          <p:cNvSpPr/>
          <p:nvPr/>
        </p:nvSpPr>
        <p:spPr>
          <a:xfrm>
            <a:off x="3611880" y="1170432"/>
            <a:ext cx="17830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Flutter 위젯명</a:t>
            </a:r>
            <a:endParaRPr sz="760"/>
          </a:p>
        </p:txBody>
      </p:sp>
      <p:sp>
        <p:nvSpPr>
          <p:cNvPr id="69" name="Rectangle 68"/>
          <p:cNvSpPr/>
          <p:nvPr/>
        </p:nvSpPr>
        <p:spPr>
          <a:xfrm>
            <a:off x="5394960" y="1170432"/>
            <a:ext cx="26060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비즈니스 명칭(한글)</a:t>
            </a:r>
            <a:endParaRPr sz="760"/>
          </a:p>
        </p:txBody>
      </p:sp>
      <p:sp>
        <p:nvSpPr>
          <p:cNvPr id="70" name="Rectangle 69"/>
          <p:cNvSpPr/>
          <p:nvPr/>
        </p:nvSpPr>
        <p:spPr>
          <a:xfrm>
            <a:off x="8001000" y="1170432"/>
            <a:ext cx="6400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60"/>
          </a:p>
        </p:txBody>
      </p:sp>
      <p:sp>
        <p:nvSpPr>
          <p:cNvPr id="71" name="Rectangle 70"/>
          <p:cNvSpPr/>
          <p:nvPr/>
        </p:nvSpPr>
        <p:spPr>
          <a:xfrm>
            <a:off x="3200400" y="1371600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A-1</a:t>
            </a:r>
            <a:endParaRPr sz="760"/>
          </a:p>
        </p:txBody>
      </p:sp>
      <p:sp>
        <p:nvSpPr>
          <p:cNvPr id="72" name="Rectangle 71"/>
          <p:cNvSpPr/>
          <p:nvPr/>
        </p:nvSpPr>
        <p:spPr>
          <a:xfrm>
            <a:off x="3611880" y="1371600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ChannelHeader</a:t>
            </a:r>
            <a:endParaRPr sz="760"/>
          </a:p>
        </p:txBody>
      </p:sp>
      <p:sp>
        <p:nvSpPr>
          <p:cNvPr id="73" name="Rectangle 72"/>
          <p:cNvSpPr/>
          <p:nvPr/>
        </p:nvSpPr>
        <p:spPr>
          <a:xfrm>
            <a:off x="5394960" y="1371600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아바타 줄 + 내 채널 바</a:t>
            </a:r>
            <a:endParaRPr sz="760"/>
          </a:p>
        </p:txBody>
      </p:sp>
      <p:sp>
        <p:nvSpPr>
          <p:cNvPr id="74" name="Rectangle 73"/>
          <p:cNvSpPr/>
          <p:nvPr/>
        </p:nvSpPr>
        <p:spPr>
          <a:xfrm>
            <a:off x="8001000" y="1371600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P06</a:t>
            </a:r>
            <a:endParaRPr sz="760"/>
          </a:p>
        </p:txBody>
      </p:sp>
      <p:sp>
        <p:nvSpPr>
          <p:cNvPr id="75" name="Rectangle 74"/>
          <p:cNvSpPr/>
          <p:nvPr/>
        </p:nvSpPr>
        <p:spPr>
          <a:xfrm>
            <a:off x="3200400" y="1618488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A-3</a:t>
            </a:r>
            <a:endParaRPr sz="760"/>
          </a:p>
        </p:txBody>
      </p:sp>
      <p:sp>
        <p:nvSpPr>
          <p:cNvPr id="76" name="Rectangle 75"/>
          <p:cNvSpPr/>
          <p:nvPr/>
        </p:nvSpPr>
        <p:spPr>
          <a:xfrm>
            <a:off x="3611880" y="1618488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PageView + 점 표시</a:t>
            </a:r>
            <a:endParaRPr sz="760"/>
          </a:p>
        </p:txBody>
      </p:sp>
      <p:sp>
        <p:nvSpPr>
          <p:cNvPr id="77" name="Rectangle 76"/>
          <p:cNvSpPr/>
          <p:nvPr/>
        </p:nvSpPr>
        <p:spPr>
          <a:xfrm>
            <a:off x="5394960" y="1618488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예고 배너 (4초마다 다음 장)</a:t>
            </a:r>
            <a:endParaRPr sz="760"/>
          </a:p>
        </p:txBody>
      </p:sp>
      <p:sp>
        <p:nvSpPr>
          <p:cNvPr id="78" name="Rectangle 77"/>
          <p:cNvSpPr/>
          <p:nvPr/>
        </p:nvSpPr>
        <p:spPr>
          <a:xfrm>
            <a:off x="8001000" y="1618488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 P02</a:t>
            </a:r>
            <a:endParaRPr sz="760"/>
          </a:p>
        </p:txBody>
      </p:sp>
      <p:sp>
        <p:nvSpPr>
          <p:cNvPr id="79" name="Rectangle 78"/>
          <p:cNvSpPr/>
          <p:nvPr/>
        </p:nvSpPr>
        <p:spPr>
          <a:xfrm>
            <a:off x="3200400" y="1865376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A-5</a:t>
            </a:r>
            <a:endParaRPr sz="760"/>
          </a:p>
        </p:txBody>
      </p:sp>
      <p:sp>
        <p:nvSpPr>
          <p:cNvPr id="80" name="Rectangle 79"/>
          <p:cNvSpPr/>
          <p:nvPr/>
        </p:nvSpPr>
        <p:spPr>
          <a:xfrm>
            <a:off x="3611880" y="1865376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SectionHeader (막대 + ›)</a:t>
            </a:r>
            <a:endParaRPr sz="760"/>
          </a:p>
        </p:txBody>
      </p:sp>
      <p:sp>
        <p:nvSpPr>
          <p:cNvPr id="81" name="Rectangle 80"/>
          <p:cNvSpPr/>
          <p:nvPr/>
        </p:nvSpPr>
        <p:spPr>
          <a:xfrm>
            <a:off x="5394960" y="1865376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줄 이름 · 전체 보기 → O 전체 목록</a:t>
            </a:r>
            <a:endParaRPr sz="760"/>
          </a:p>
        </p:txBody>
      </p:sp>
      <p:sp>
        <p:nvSpPr>
          <p:cNvPr id="82" name="Rectangle 81"/>
          <p:cNvSpPr/>
          <p:nvPr/>
        </p:nvSpPr>
        <p:spPr>
          <a:xfrm>
            <a:off x="8001000" y="1865376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 P07</a:t>
            </a:r>
            <a:endParaRPr sz="760"/>
          </a:p>
        </p:txBody>
      </p:sp>
      <p:sp>
        <p:nvSpPr>
          <p:cNvPr id="83" name="Rectangle 82"/>
          <p:cNvSpPr/>
          <p:nvPr/>
        </p:nvSpPr>
        <p:spPr>
          <a:xfrm>
            <a:off x="3200400" y="2112264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A-6</a:t>
            </a:r>
            <a:endParaRPr sz="760"/>
          </a:p>
        </p:txBody>
      </p:sp>
      <p:sp>
        <p:nvSpPr>
          <p:cNvPr id="84" name="Rectangle 83"/>
          <p:cNvSpPr/>
          <p:nvPr/>
        </p:nvSpPr>
        <p:spPr>
          <a:xfrm>
            <a:off x="3611880" y="2112264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가로 ListView + ProductTile</a:t>
            </a:r>
            <a:endParaRPr sz="760"/>
          </a:p>
        </p:txBody>
      </p:sp>
      <p:sp>
        <p:nvSpPr>
          <p:cNvPr id="85" name="Rectangle 84"/>
          <p:cNvSpPr/>
          <p:nvPr/>
        </p:nvSpPr>
        <p:spPr>
          <a:xfrm>
            <a:off x="5394960" y="2112264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최근 추가 · 10월 발매 · 공식 예고</a:t>
            </a:r>
            <a:endParaRPr sz="760"/>
          </a:p>
        </p:txBody>
      </p:sp>
      <p:sp>
        <p:nvSpPr>
          <p:cNvPr id="86" name="Rectangle 85"/>
          <p:cNvSpPr/>
          <p:nvPr/>
        </p:nvSpPr>
        <p:spPr>
          <a:xfrm>
            <a:off x="8001000" y="2112264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</a:t>
            </a:r>
            <a:endParaRPr sz="760"/>
          </a:p>
        </p:txBody>
      </p:sp>
      <p:sp>
        <p:nvSpPr>
          <p:cNvPr id="87" name="Rectangle 86"/>
          <p:cNvSpPr/>
          <p:nvPr/>
        </p:nvSpPr>
        <p:spPr>
          <a:xfrm>
            <a:off x="3200400" y="2359152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A-7</a:t>
            </a:r>
            <a:endParaRPr sz="760"/>
          </a:p>
        </p:txBody>
      </p:sp>
      <p:sp>
        <p:nvSpPr>
          <p:cNvPr id="88" name="Rectangle 87"/>
          <p:cNvSpPr/>
          <p:nvPr/>
        </p:nvSpPr>
        <p:spPr>
          <a:xfrm>
            <a:off x="3611880" y="2359152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LoadingView / ErrorView / EmptyView</a:t>
            </a:r>
            <a:endParaRPr sz="760"/>
          </a:p>
        </p:txBody>
      </p:sp>
      <p:sp>
        <p:nvSpPr>
          <p:cNvPr id="89" name="Rectangle 88"/>
          <p:cNvSpPr/>
          <p:nvPr/>
        </p:nvSpPr>
        <p:spPr>
          <a:xfrm>
            <a:off x="5394960" y="2359152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불러오는 중 · 오류 · 빈 채널</a:t>
            </a:r>
            <a:endParaRPr sz="760"/>
          </a:p>
        </p:txBody>
      </p:sp>
      <p:sp>
        <p:nvSpPr>
          <p:cNvPr id="90" name="Rectangle 89"/>
          <p:cNvSpPr/>
          <p:nvPr/>
        </p:nvSpPr>
        <p:spPr>
          <a:xfrm>
            <a:off x="8001000" y="2359152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P09</a:t>
            </a:r>
            <a:endParaRPr sz="760"/>
          </a:p>
        </p:txBody>
      </p:sp>
      <p:sp>
        <p:nvSpPr>
          <p:cNvPr id="91" name="Rectangle 90"/>
          <p:cNvSpPr/>
          <p:nvPr/>
        </p:nvSpPr>
        <p:spPr>
          <a:xfrm>
            <a:off x="3200400" y="2606040"/>
            <a:ext cx="4114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A-9</a:t>
            </a:r>
            <a:endParaRPr sz="760"/>
          </a:p>
        </p:txBody>
      </p:sp>
      <p:sp>
        <p:nvSpPr>
          <p:cNvPr id="92" name="Rectangle 91"/>
          <p:cNvSpPr/>
          <p:nvPr/>
        </p:nvSpPr>
        <p:spPr>
          <a:xfrm>
            <a:off x="3611880" y="2606040"/>
            <a:ext cx="1783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QuickMarks (리본 · ♡)</a:t>
            </a:r>
            <a:endParaRPr sz="760"/>
          </a:p>
        </p:txBody>
      </p:sp>
      <p:sp>
        <p:nvSpPr>
          <p:cNvPr id="93" name="Rectangle 92"/>
          <p:cNvSpPr/>
          <p:nvPr/>
        </p:nvSpPr>
        <p:spPr>
          <a:xfrm>
            <a:off x="5394960" y="2606040"/>
            <a:ext cx="260604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 바로 담기 (앱 전체 한 벌)</a:t>
            </a:r>
            <a:endParaRPr sz="760"/>
          </a:p>
        </p:txBody>
      </p:sp>
      <p:sp>
        <p:nvSpPr>
          <p:cNvPr id="94" name="Rectangle 93"/>
          <p:cNvSpPr/>
          <p:nvPr/>
        </p:nvSpPr>
        <p:spPr>
          <a:xfrm>
            <a:off x="8001000" y="2606040"/>
            <a:ext cx="64008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P04</a:t>
            </a:r>
            <a:endParaRPr sz="760"/>
          </a:p>
        </p:txBody>
      </p:sp>
      <p:sp>
        <p:nvSpPr>
          <p:cNvPr id="95" name="TextBox 94"/>
          <p:cNvSpPr txBox="1"/>
          <p:nvPr/>
        </p:nvSpPr>
        <p:spPr>
          <a:xfrm>
            <a:off x="3200400" y="2962656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정보 전달 기준</a:t>
            </a:r>
            <a:endParaRPr sz="840"/>
          </a:p>
        </p:txBody>
      </p:sp>
      <p:sp>
        <p:nvSpPr>
          <p:cNvPr id="96" name="Rectangle 95"/>
          <p:cNvSpPr/>
          <p:nvPr/>
        </p:nvSpPr>
        <p:spPr>
          <a:xfrm>
            <a:off x="3200400" y="3127248"/>
            <a:ext cx="263347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/>
          <a:lstStyle/>
          <a:p>
            <a:pPr algn="l" marL="0" indent="0">
              <a:spcAft>
                <a:spcPts val="200"/>
              </a:spcAft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1. 내 채널의 새 소식 → 2. 새 상품 → 3. 발매</a:t>
            </a:r>
            <a:endParaRPr sz="780"/>
          </a:p>
          <a:p>
            <a:pPr algn="l" marL="0" indent="0">
              <a:spcAft>
                <a:spcPts val="200"/>
              </a:spcAft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줄에는 사진 + 이름만 — 날짜 · 가격은 상세에서 (P08)</a:t>
            </a:r>
            <a:endParaRPr sz="780"/>
          </a:p>
          <a:p>
            <a:pPr algn="l" marL="0" indent="0">
              <a:spcAft>
                <a:spcPts val="200"/>
              </a:spcAft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강조 색은 둘: 파랑 = 고름 · 좋아요, 민트 = 가진 것</a:t>
            </a:r>
            <a:endParaRPr sz="780"/>
          </a:p>
        </p:txBody>
      </p:sp>
      <p:sp>
        <p:nvSpPr>
          <p:cNvPr id="97" name="TextBox 96"/>
          <p:cNvSpPr txBox="1"/>
          <p:nvPr/>
        </p:nvSpPr>
        <p:spPr>
          <a:xfrm>
            <a:off x="5961888" y="2962656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디자인 가이드 글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모양의 뜻 (A-9)</a:t>
            </a:r>
            <a:endParaRPr sz="720"/>
          </a:p>
        </p:txBody>
      </p:sp>
      <p:sp>
        <p:nvSpPr>
          <p:cNvPr id="98" name="Rectangle 97"/>
          <p:cNvSpPr/>
          <p:nvPr/>
        </p:nvSpPr>
        <p:spPr>
          <a:xfrm>
            <a:off x="5961888" y="3127248"/>
            <a:ext cx="2679192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64008" rIns="64008"/>
          <a:lstStyle/>
          <a:p>
            <a:pPr algn="l" marL="0" indent="0">
              <a:spcAft>
                <a:spcPts val="200"/>
              </a:spcAft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목적 </a:t>
            </a: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같은 행동은 어느 화면에서나 같은 모양</a:t>
            </a:r>
            <a:endParaRPr sz="780"/>
          </a:p>
          <a:p>
            <a:pPr algn="l" marL="0" indent="0">
              <a:spcAft>
                <a:spcPts val="200"/>
              </a:spcAft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내용 </a:t>
            </a: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♡ = 좋아요, 리본 + → ✓ = 구매함, 사진 왼쪽 위 · 아래</a:t>
            </a:r>
            <a:endParaRPr sz="780"/>
          </a:p>
          <a:p>
            <a:pPr algn="l" marL="0" indent="0">
              <a:spcAft>
                <a:spcPts val="200"/>
              </a:spcAft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의도 </a:t>
            </a: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· P06 — 셀프 논증 쟁점 1 후 확정</a:t>
            </a:r>
            <a:endParaRPr sz="780"/>
          </a:p>
        </p:txBody>
      </p:sp>
      <p:sp>
        <p:nvSpPr>
          <p:cNvPr id="99" name="TextBox 98"/>
          <p:cNvSpPr txBox="1"/>
          <p:nvPr/>
        </p:nvSpPr>
        <p:spPr>
          <a:xfrm>
            <a:off x="3200400" y="3995928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상태관리 포인트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표시만 · 상태관리 패키지 없음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3200400" y="4160520"/>
            <a:ext cx="54406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spcAft>
                <a:spcPts val="100"/>
              </a:spcAft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// STATE: 좋아요 · 구매함 → 앱 전체의 하트 · 리본 · 목록 · 숫자</a:t>
            </a: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 lib/marks.dart:25</a:t>
            </a:r>
            <a:endParaRPr sz="740"/>
          </a:p>
          <a:p>
            <a:pPr algn="l" marL="0" indent="0">
              <a:spcAft>
                <a:spcPts val="1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A-9에서 누르면 F 컬렉션 개수 · D-6 버튼 · I-4 숫자가 같이 바뀜 — 맨 위 setState + InheritedWidget, 저장 안 함</a:t>
            </a:r>
            <a:endParaRPr sz="76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1568" y="304800"/>
            <a:ext cx="156448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98519" y="342900"/>
            <a:ext cx="133679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 · 셀프 논증 기록 20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셀프 논증 — AI 반론으로 다진 UX/UI 결정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셀프 논증: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행동은 한 모양 — ♡ 좋아요 · 리본 구매함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507950" y="4810125"/>
            <a:ext cx="511930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7단계 · 7장 셀프 논증 기록 20 · 8장 FAQ(AI 반론은 어떻게 받나)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80" dirty="0"/>
          </a:p>
        </p:txBody>
      </p:sp>
      <p:sp>
        <p:nvSpPr>
          <p:cNvPr id="57" name="Rectangle 56"/>
          <p:cNvSpPr/>
          <p:nvPr/>
        </p:nvSpPr>
        <p:spPr>
          <a:xfrm>
            <a:off x="512064" y="1005840"/>
            <a:ext cx="9601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쟁점</a:t>
            </a:r>
            <a:endParaRPr sz="760"/>
          </a:p>
        </p:txBody>
      </p:sp>
      <p:sp>
        <p:nvSpPr>
          <p:cNvPr id="58" name="Rectangle 57"/>
          <p:cNvSpPr/>
          <p:nvPr/>
        </p:nvSpPr>
        <p:spPr>
          <a:xfrm>
            <a:off x="1472184" y="1005840"/>
            <a:ext cx="14173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내 주장</a:t>
            </a:r>
            <a:endParaRPr sz="760"/>
          </a:p>
        </p:txBody>
      </p:sp>
      <p:sp>
        <p:nvSpPr>
          <p:cNvPr id="59" name="Rectangle 58"/>
          <p:cNvSpPr/>
          <p:nvPr/>
        </p:nvSpPr>
        <p:spPr>
          <a:xfrm>
            <a:off x="2889504" y="1005840"/>
            <a:ext cx="16916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반론 (AI · 나)</a:t>
            </a:r>
            <a:endParaRPr sz="760"/>
          </a:p>
        </p:txBody>
      </p:sp>
      <p:sp>
        <p:nvSpPr>
          <p:cNvPr id="60" name="Rectangle 59"/>
          <p:cNvSpPr/>
          <p:nvPr/>
        </p:nvSpPr>
        <p:spPr>
          <a:xfrm>
            <a:off x="4581144" y="1005840"/>
            <a:ext cx="160020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재반론 / 수정</a:t>
            </a:r>
            <a:endParaRPr sz="760"/>
          </a:p>
        </p:txBody>
      </p:sp>
      <p:sp>
        <p:nvSpPr>
          <p:cNvPr id="61" name="Rectangle 60"/>
          <p:cNvSpPr/>
          <p:nvPr/>
        </p:nvSpPr>
        <p:spPr>
          <a:xfrm>
            <a:off x="6181344" y="1005840"/>
            <a:ext cx="45720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결론</a:t>
            </a:r>
            <a:endParaRPr sz="760"/>
          </a:p>
        </p:txBody>
      </p:sp>
      <p:sp>
        <p:nvSpPr>
          <p:cNvPr id="62" name="Rectangle 61"/>
          <p:cNvSpPr/>
          <p:nvPr/>
        </p:nvSpPr>
        <p:spPr>
          <a:xfrm>
            <a:off x="6638544" y="100584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760"/>
          </a:p>
        </p:txBody>
      </p:sp>
      <p:sp>
        <p:nvSpPr>
          <p:cNvPr id="63" name="Rectangle 62"/>
          <p:cNvSpPr/>
          <p:nvPr/>
        </p:nvSpPr>
        <p:spPr>
          <a:xfrm>
            <a:off x="7141464" y="1005840"/>
            <a:ext cx="149961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전 · 후</a:t>
            </a:r>
            <a:endParaRPr sz="760"/>
          </a:p>
        </p:txBody>
      </p:sp>
      <p:sp>
        <p:nvSpPr>
          <p:cNvPr id="64" name="Rectangle 63"/>
          <p:cNvSpPr/>
          <p:nvPr/>
        </p:nvSpPr>
        <p:spPr>
          <a:xfrm>
            <a:off x="512064" y="120700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 표시 모양</a:t>
            </a:r>
            <a:endParaRPr sz="740"/>
          </a:p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A-9 · G-4b · D-6</a:t>
            </a:r>
            <a:endParaRPr sz="740"/>
          </a:p>
        </p:txBody>
      </p:sp>
      <p:sp>
        <p:nvSpPr>
          <p:cNvPr id="65" name="Rectangle 64"/>
          <p:cNvSpPr/>
          <p:nvPr/>
        </p:nvSpPr>
        <p:spPr>
          <a:xfrm>
            <a:off x="1472184" y="1207008"/>
            <a:ext cx="14173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화면마다 그 자리에 맞는 모양 — 사진 위 리본, 도감엔 동그라미, 상세엔 큰 버튼</a:t>
            </a:r>
            <a:endParaRPr sz="740"/>
          </a:p>
        </p:txBody>
      </p:sp>
      <p:sp>
        <p:nvSpPr>
          <p:cNvPr id="66" name="Rectangle 65"/>
          <p:cNvSpPr/>
          <p:nvPr/>
        </p:nvSpPr>
        <p:spPr>
          <a:xfrm>
            <a:off x="2889504" y="1207008"/>
            <a:ext cx="1691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AI: 같은 "구매함"이 리본 · ✓원 · 동그라미 3–4가지 모양 — 일관성 위반, 교수가 바로 지적할 곳</a:t>
            </a:r>
            <a:endParaRPr sz="740"/>
          </a:p>
        </p:txBody>
      </p:sp>
      <p:sp>
        <p:nvSpPr>
          <p:cNvPr id="67" name="Rectangle 66"/>
          <p:cNvSpPr/>
          <p:nvPr/>
        </p:nvSpPr>
        <p:spPr>
          <a:xfrm>
            <a:off x="4581144" y="1207008"/>
            <a:ext cx="1600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자리 · 크기는 달라도 모양은 하나: ♡ = 좋아요, 리본 + → ✓ = 구매함. 도감 동그라미 삭제</a:t>
            </a:r>
            <a:endParaRPr sz="740"/>
          </a:p>
        </p:txBody>
      </p:sp>
      <p:sp>
        <p:nvSpPr>
          <p:cNvPr id="68" name="Rectangle 67"/>
          <p:cNvSpPr/>
          <p:nvPr/>
        </p:nvSpPr>
        <p:spPr>
          <a:xfrm>
            <a:off x="6181344" y="1207008"/>
            <a:ext cx="457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40"/>
          </a:p>
        </p:txBody>
      </p:sp>
      <p:sp>
        <p:nvSpPr>
          <p:cNvPr id="69" name="Rectangle 68"/>
          <p:cNvSpPr/>
          <p:nvPr/>
        </p:nvSpPr>
        <p:spPr>
          <a:xfrm>
            <a:off x="6638544" y="1207008"/>
            <a:ext cx="502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#1</a:t>
            </a:r>
            <a:endParaRPr sz="740"/>
          </a:p>
        </p:txBody>
      </p:sp>
      <p:sp>
        <p:nvSpPr>
          <p:cNvPr id="70" name="Rectangle 69"/>
          <p:cNvSpPr/>
          <p:nvPr/>
        </p:nvSpPr>
        <p:spPr>
          <a:xfrm>
            <a:off x="7141464" y="1207008"/>
            <a:ext cx="14996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132c398 → b29785b</a:t>
            </a:r>
            <a:endParaRPr sz="740"/>
          </a:p>
        </p:txBody>
      </p:sp>
      <p:sp>
        <p:nvSpPr>
          <p:cNvPr id="71" name="Rectangle 70"/>
          <p:cNvSpPr/>
          <p:nvPr/>
        </p:nvSpPr>
        <p:spPr>
          <a:xfrm>
            <a:off x="512064" y="1773936"/>
            <a:ext cx="960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 포인트 색</a:t>
            </a:r>
            <a:endParaRPr sz="740"/>
          </a:p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S-15</a:t>
            </a:r>
            <a:endParaRPr sz="740"/>
          </a:p>
        </p:txBody>
      </p:sp>
      <p:sp>
        <p:nvSpPr>
          <p:cNvPr id="72" name="Rectangle 71"/>
          <p:cNvSpPr/>
          <p:nvPr/>
        </p:nvSpPr>
        <p:spPr>
          <a:xfrm>
            <a:off x="1472184" y="1773936"/>
            <a:ext cx="14173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흑백 + 하늘색 하나로 절제해야 고급스럽다</a:t>
            </a:r>
            <a:endParaRPr sz="740"/>
          </a:p>
        </p:txBody>
      </p:sp>
      <p:sp>
        <p:nvSpPr>
          <p:cNvPr id="73" name="Rectangle 72"/>
          <p:cNvSpPr/>
          <p:nvPr/>
        </p:nvSpPr>
        <p:spPr>
          <a:xfrm>
            <a:off x="2889504" y="1773936"/>
            <a:ext cx="1691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AI: 고름 · 좋아요 · 구매함 · 안 읽음이 모두 같은 파랑 — "원하는 것"과 "가진 것"이 색으로 안 갈림</a:t>
            </a:r>
            <a:endParaRPr sz="740"/>
          </a:p>
        </p:txBody>
      </p:sp>
      <p:sp>
        <p:nvSpPr>
          <p:cNvPr id="74" name="Rectangle 73"/>
          <p:cNvSpPr/>
          <p:nvPr/>
        </p:nvSpPr>
        <p:spPr>
          <a:xfrm>
            <a:off x="4581144" y="1773936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색은 두 개만: 파랑 = 고름 · 좋아요, 민트 = 가진 것. 흑백 절제는 유지</a:t>
            </a:r>
            <a:endParaRPr sz="740"/>
          </a:p>
        </p:txBody>
      </p:sp>
      <p:sp>
        <p:nvSpPr>
          <p:cNvPr id="75" name="Rectangle 74"/>
          <p:cNvSpPr/>
          <p:nvPr/>
        </p:nvSpPr>
        <p:spPr>
          <a:xfrm>
            <a:off x="6181344" y="1773936"/>
            <a:ext cx="457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40"/>
          </a:p>
        </p:txBody>
      </p:sp>
      <p:sp>
        <p:nvSpPr>
          <p:cNvPr id="76" name="Rectangle 75"/>
          <p:cNvSpPr/>
          <p:nvPr/>
        </p:nvSpPr>
        <p:spPr>
          <a:xfrm>
            <a:off x="6638544" y="1773936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P01</a:t>
            </a:r>
            <a:endParaRPr sz="740"/>
          </a:p>
        </p:txBody>
      </p:sp>
      <p:sp>
        <p:nvSpPr>
          <p:cNvPr id="77" name="Rectangle 76"/>
          <p:cNvSpPr/>
          <p:nvPr/>
        </p:nvSpPr>
        <p:spPr>
          <a:xfrm>
            <a:off x="7141464" y="1773936"/>
            <a:ext cx="1499616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132c398 → b29785b</a:t>
            </a:r>
            <a:endParaRPr sz="740"/>
          </a:p>
        </p:txBody>
      </p:sp>
      <p:sp>
        <p:nvSpPr>
          <p:cNvPr id="78" name="TextBox 77"/>
          <p:cNvSpPr txBox="1"/>
          <p:nvPr/>
        </p:nvSpPr>
        <p:spPr>
          <a:xfrm>
            <a:off x="512064" y="2359152"/>
            <a:ext cx="2834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AI에게 요청한 반론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prompt-log 10/25 ★ — B3</a:t>
            </a:r>
            <a:endParaRPr sz="720"/>
          </a:p>
        </p:txBody>
      </p:sp>
      <p:sp>
        <p:nvSpPr>
          <p:cNvPr id="79" name="Rounded Rectangle 78"/>
          <p:cNvSpPr/>
          <p:nvPr/>
        </p:nvSpPr>
        <p:spPr>
          <a:xfrm>
            <a:off x="512064" y="2523744"/>
            <a:ext cx="2788920" cy="2139696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F5B5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요청</a:t>
            </a:r>
            <a:endParaRPr sz="800"/>
          </a:p>
          <a:p>
            <a:pPr algn="l" marL="0" indent="0">
              <a:spcAft>
                <a:spcPts val="200"/>
              </a:spcAft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"UI 설계에 어떤 문제가 있는지 지적해 줘"</a:t>
            </a:r>
            <a:endParaRPr sz="900"/>
          </a:p>
          <a:p>
            <a:pPr algn="l" marL="0" indent="0">
              <a:spcAft>
                <a:spcPts val="200"/>
              </a:spcAft>
              <a:buNone/>
            </a:pPr>
            <a:r>
              <a:rPr sz="8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AI 반론 (13가지 중)</a:t>
            </a:r>
            <a:endParaRPr sz="800"/>
          </a:p>
          <a:p>
            <a:pPr algn="l" marL="114300" indent="-114300">
              <a:spcAft>
                <a:spcPts val="200"/>
              </a:spcAft>
              <a:buChar char="•"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표시 모양이 3–4종 — P04</a:t>
            </a:r>
            <a:endParaRPr sz="800"/>
          </a:p>
          <a:p>
            <a:pPr algn="l" marL="114300" indent="-114300">
              <a:spcAft>
                <a:spcPts val="200"/>
              </a:spcAft>
              <a:buChar char="•"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파랑 하나로 모든 상태 — P04 · P01</a:t>
            </a:r>
            <a:endParaRPr sz="800"/>
          </a:p>
          <a:p>
            <a:pPr algn="l" marL="114300" indent="-114300">
              <a:spcAft>
                <a:spcPts val="200"/>
              </a:spcAft>
              <a:buChar char="•"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위쪽 머리 170px — P08</a:t>
            </a:r>
            <a:endParaRPr sz="800"/>
          </a:p>
          <a:p>
            <a:pPr algn="l" marL="114300" indent="-114300">
              <a:spcAft>
                <a:spcPts val="200"/>
              </a:spcAft>
              <a:buChar char="•"/>
            </a:pPr>
            <a:r>
              <a:rPr sz="8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"프로토타입" 토스트가 시연을 끊음 — P08</a:t>
            </a:r>
            <a:endParaRPr sz="800"/>
          </a:p>
          <a:p>
            <a:pPr algn="l" marL="0" indent="0">
              <a:spcAft>
                <a:spcPts val="2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내 판단: 로고(13)만 보류, 12개 반영 (p25–p32). 반대로 AI 초안 "상태 알약 필터"는 내가 폐기 — 쟁점 6</a:t>
            </a:r>
            <a:endParaRPr sz="760"/>
          </a:p>
        </p:txBody>
      </p:sp>
      <p:sp>
        <p:nvSpPr>
          <p:cNvPr id="80" name="Rounded Rectangle 79"/>
          <p:cNvSpPr/>
          <p:nvPr/>
        </p:nvSpPr>
        <p:spPr>
          <a:xfrm>
            <a:off x="3456432" y="2359152"/>
            <a:ext cx="2514600" cy="164592"/>
          </a:xfrm>
          <a:prstGeom prst="roundRect">
            <a:avLst>
              <a:gd name="adj" fmla="val 50000"/>
            </a:avLst>
          </a:prstGeom>
          <a:solidFill>
            <a:srgbClr val="8A9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전 (내 처음 주장) — 132c398</a:t>
            </a:r>
            <a:endParaRPr sz="740"/>
          </a:p>
        </p:txBody>
      </p:sp>
      <p:sp>
        <p:nvSpPr>
          <p:cNvPr id="81" name="Rounded Rectangle 80"/>
          <p:cNvSpPr/>
          <p:nvPr/>
        </p:nvSpPr>
        <p:spPr>
          <a:xfrm>
            <a:off x="6126480" y="2359152"/>
            <a:ext cx="251460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후 (결론 반영) — 지금</a:t>
            </a:r>
            <a:endParaRPr sz="740"/>
          </a:p>
        </p:txBody>
      </p:sp>
      <p:sp>
        <p:nvSpPr>
          <p:cNvPr id="82" name="Rounded Rectangle 81"/>
          <p:cNvSpPr/>
          <p:nvPr/>
        </p:nvSpPr>
        <p:spPr>
          <a:xfrm>
            <a:off x="3456432" y="2560320"/>
            <a:ext cx="2514600" cy="18745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3" name="Picture 82" descr="09_before_132c398_guide.png"/>
          <p:cNvPicPr>
            <a:picLocks noChangeAspect="1"/>
          </p:cNvPicPr>
          <p:nvPr/>
        </p:nvPicPr>
        <p:blipFill>
          <a:blip r:embed="rId3"/>
          <a:srcRect t="6000" b="59997"/>
          <a:stretch>
            <a:fillRect/>
          </a:stretch>
        </p:blipFill>
        <p:spPr>
          <a:xfrm>
            <a:off x="3502152" y="2606040"/>
            <a:ext cx="2423160" cy="178308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456432" y="448056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구매함 = 파랑 ✓원 · 칸마다 ♡ + 동그라미 두 개</a:t>
            </a:r>
            <a:endParaRPr sz="740"/>
          </a:p>
        </p:txBody>
      </p:sp>
      <p:sp>
        <p:nvSpPr>
          <p:cNvPr id="85" name="Rounded Rectangle 84"/>
          <p:cNvSpPr/>
          <p:nvPr/>
        </p:nvSpPr>
        <p:spPr>
          <a:xfrm>
            <a:off x="6126480" y="2560320"/>
            <a:ext cx="2514600" cy="18745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6" name="Picture 85" descr="04_v2_c.png"/>
          <p:cNvPicPr>
            <a:picLocks noChangeAspect="1"/>
          </p:cNvPicPr>
          <p:nvPr/>
        </p:nvPicPr>
        <p:blipFill>
          <a:blip r:embed="rId4"/>
          <a:srcRect t="6000" b="59997"/>
          <a:stretch>
            <a:fillRect/>
          </a:stretch>
        </p:blipFill>
        <p:spPr>
          <a:xfrm>
            <a:off x="6172200" y="2606040"/>
            <a:ext cx="2423160" cy="178308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126480" y="4480560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구매함 = 민트 리본 ✓ · 좋아요 = ♡ (홈 · 상세와 같은 모양)</a:t>
            </a:r>
            <a:endParaRPr sz="7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0:45 · UI 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Flutter 기술을 활용한 기능 설명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구현: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위젯 트리 하나로 폰부터 폴드까지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507149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 · 5장 허용/감점 · 7장 UI 구현 25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680" dirty="0"/>
          </a:p>
        </p:txBody>
      </p:sp>
      <p:sp>
        <p:nvSpPr>
          <p:cNvPr id="62" name="TextBox 61"/>
          <p:cNvSpPr txBox="1"/>
          <p:nvPr/>
        </p:nvSpPr>
        <p:spPr>
          <a:xfrm>
            <a:off x="512064" y="100584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위젯 트리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코드 lib/main.dart · s_app_shell.dart</a:t>
            </a:r>
            <a:endParaRPr sz="720"/>
          </a:p>
        </p:txBody>
      </p:sp>
      <p:sp>
        <p:nvSpPr>
          <p:cNvPr id="63" name="Rounded Rectangle 62"/>
          <p:cNvSpPr/>
          <p:nvPr/>
        </p:nvSpPr>
        <p:spPr>
          <a:xfrm>
            <a:off x="566928" y="1188720"/>
            <a:ext cx="3877056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MaterialApp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S-14 · CupertinoPageRoute 로 쌓기</a:t>
            </a:r>
            <a:endParaRPr sz="740"/>
          </a:p>
        </p:txBody>
      </p:sp>
      <p:cxnSp>
        <p:nvCxnSpPr>
          <p:cNvPr id="64" name="Connector 63"/>
          <p:cNvCxnSpPr/>
          <p:nvPr/>
        </p:nvCxnSpPr>
        <p:spPr>
          <a:xfrm>
            <a:off x="676656" y="1609344"/>
            <a:ext cx="0" cy="283464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76656" y="1892808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22960" y="1682496"/>
            <a:ext cx="3621024" cy="420624"/>
          </a:xfrm>
          <a:prstGeom prst="roundRect">
            <a:avLst>
              <a:gd name="adj" fmla="val 12000"/>
            </a:avLst>
          </a:prstGeom>
          <a:solidFill>
            <a:srgbClr val="ECF8F3"/>
          </a:solidFill>
          <a:ln w="9525">
            <a:solidFill>
              <a:srgbClr val="12A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2A07F"/>
                </a:solidFill>
                <a:latin typeface="Arial"/>
                <a:ea typeface="맑은 고딕"/>
                <a:cs typeface="맑은 고딕"/>
              </a:rPr>
              <a:t>MarksHost → PaneHost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setState + InheritedWidget (S-16)</a:t>
            </a:r>
            <a:endParaRPr sz="740"/>
          </a:p>
        </p:txBody>
      </p:sp>
      <p:cxnSp>
        <p:nvCxnSpPr>
          <p:cNvPr id="67" name="Connector 66"/>
          <p:cNvCxnSpPr/>
          <p:nvPr/>
        </p:nvCxnSpPr>
        <p:spPr>
          <a:xfrm>
            <a:off x="932688" y="2103120"/>
            <a:ext cx="0" cy="283464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32688" y="2386584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078992" y="2176272"/>
            <a:ext cx="3364992" cy="420624"/>
          </a:xfrm>
          <a:prstGeom prst="roundRect">
            <a:avLst>
              <a:gd name="adj" fmla="val 12000"/>
            </a:avLst>
          </a:prstGeom>
          <a:solidFill>
            <a:srgbClr val="EAF1FD"/>
          </a:solidFill>
          <a:ln w="952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AppShell — LayoutBuilder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폭 &lt; 700 폰 · 가로 폰 Rail · ≥ 700 반반</a:t>
            </a:r>
            <a:endParaRPr sz="740"/>
          </a:p>
        </p:txBody>
      </p:sp>
      <p:cxnSp>
        <p:nvCxnSpPr>
          <p:cNvPr id="70" name="Connector 69"/>
          <p:cNvCxnSpPr/>
          <p:nvPr/>
        </p:nvCxnSpPr>
        <p:spPr>
          <a:xfrm>
            <a:off x="1188720" y="2596896"/>
            <a:ext cx="0" cy="283464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188720" y="2880360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335024" y="2670048"/>
            <a:ext cx="310896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IndexedStack — 탭 4개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A 홈 · B 검색 · H 캘린더 · F 컬렉션</a:t>
            </a:r>
            <a:endParaRPr sz="740"/>
          </a:p>
        </p:txBody>
      </p:sp>
      <p:cxnSp>
        <p:nvCxnSpPr>
          <p:cNvPr id="73" name="Connector 72"/>
          <p:cNvCxnSpPr/>
          <p:nvPr/>
        </p:nvCxnSpPr>
        <p:spPr>
          <a:xfrm>
            <a:off x="1444752" y="3090672"/>
            <a:ext cx="0" cy="283464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44752" y="3374136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1591056" y="3163824"/>
            <a:ext cx="2852928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FutureBuilder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GET → 로딩 · 오류 · 빈 · 목록</a:t>
            </a:r>
            <a:endParaRPr sz="740"/>
          </a:p>
        </p:txBody>
      </p:sp>
      <p:cxnSp>
        <p:nvCxnSpPr>
          <p:cNvPr id="76" name="Connector 75"/>
          <p:cNvCxnSpPr/>
          <p:nvPr/>
        </p:nvCxnSpPr>
        <p:spPr>
          <a:xfrm>
            <a:off x="1188720" y="2596896"/>
            <a:ext cx="0" cy="1271016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88720" y="3867912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335024" y="3657600"/>
            <a:ext cx="310896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Navigator (오른쪽 칸)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반반 화면: D · J · I 를 칸 안에서 쌓기</a:t>
            </a:r>
            <a:endParaRPr sz="740"/>
          </a:p>
        </p:txBody>
      </p:sp>
      <p:cxnSp>
        <p:nvCxnSpPr>
          <p:cNvPr id="79" name="Connector 78"/>
          <p:cNvCxnSpPr/>
          <p:nvPr/>
        </p:nvCxnSpPr>
        <p:spPr>
          <a:xfrm>
            <a:off x="1188720" y="2596896"/>
            <a:ext cx="0" cy="1764792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88720" y="4361688"/>
            <a:ext cx="146304" cy="0"/>
          </a:xfrm>
          <a:prstGeom prst="line">
            <a:avLst/>
          </a:prstGeom>
          <a:ln w="12700">
            <a:solidFill>
              <a:srgbClr val="93A4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1335024" y="4151376"/>
            <a:ext cx="310896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Drawer · BottomSheet · Dialog</a:t>
            </a:r>
            <a:endParaRPr sz="840"/>
          </a:p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덮기: 친구 서랍 · 시세 · 필터 패널</a:t>
            </a:r>
            <a:endParaRPr sz="740"/>
          </a:p>
        </p:txBody>
      </p:sp>
      <p:sp>
        <p:nvSpPr>
          <p:cNvPr id="82" name="TextBox 81"/>
          <p:cNvSpPr txBox="1"/>
          <p:nvPr/>
        </p:nvSpPr>
        <p:spPr>
          <a:xfrm>
            <a:off x="4617720" y="1005840"/>
            <a:ext cx="4023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요구 기능 → 쓴 Flutter 기술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코드 위치</a:t>
            </a:r>
            <a:endParaRPr sz="720"/>
          </a:p>
        </p:txBody>
      </p:sp>
      <p:sp>
        <p:nvSpPr>
          <p:cNvPr id="83" name="Rectangle 82"/>
          <p:cNvSpPr/>
          <p:nvPr/>
        </p:nvSpPr>
        <p:spPr>
          <a:xfrm>
            <a:off x="4617720" y="1170432"/>
            <a:ext cx="107899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기능</a:t>
            </a:r>
            <a:endParaRPr sz="760"/>
          </a:p>
        </p:txBody>
      </p:sp>
      <p:sp>
        <p:nvSpPr>
          <p:cNvPr id="84" name="Rectangle 83"/>
          <p:cNvSpPr/>
          <p:nvPr/>
        </p:nvSpPr>
        <p:spPr>
          <a:xfrm>
            <a:off x="5696712" y="1170432"/>
            <a:ext cx="196596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어떻게</a:t>
            </a:r>
            <a:endParaRPr sz="760"/>
          </a:p>
        </p:txBody>
      </p:sp>
      <p:sp>
        <p:nvSpPr>
          <p:cNvPr id="85" name="Rectangle 84"/>
          <p:cNvSpPr/>
          <p:nvPr/>
        </p:nvSpPr>
        <p:spPr>
          <a:xfrm>
            <a:off x="7662672" y="1170432"/>
            <a:ext cx="97840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코드</a:t>
            </a:r>
            <a:endParaRPr sz="760"/>
          </a:p>
        </p:txBody>
      </p:sp>
      <p:sp>
        <p:nvSpPr>
          <p:cNvPr id="86" name="Rectangle 85"/>
          <p:cNvSpPr/>
          <p:nvPr/>
        </p:nvSpPr>
        <p:spPr>
          <a:xfrm>
            <a:off x="4617720" y="13716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 이동 3방식</a:t>
            </a:r>
            <a:endParaRPr sz="740"/>
          </a:p>
        </p:txBody>
      </p:sp>
      <p:sp>
        <p:nvSpPr>
          <p:cNvPr id="87" name="Rectangle 86"/>
          <p:cNvSpPr/>
          <p:nvPr/>
        </p:nvSpPr>
        <p:spPr>
          <a:xfrm>
            <a:off x="5696712" y="13716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쌓기 CupertinoPageRoute · 옆으로 IndexedStack · 덮기 BottomSheet / Dialog / Drawer</a:t>
            </a:r>
            <a:endParaRPr sz="740"/>
          </a:p>
        </p:txBody>
      </p:sp>
      <p:sp>
        <p:nvSpPr>
          <p:cNvPr id="88" name="Rectangle 87"/>
          <p:cNvSpPr/>
          <p:nvPr/>
        </p:nvSpPr>
        <p:spPr>
          <a:xfrm>
            <a:off x="7662672" y="13716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s_app_shell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detail_pane</a:t>
            </a:r>
            <a:endParaRPr sz="740"/>
          </a:p>
        </p:txBody>
      </p:sp>
      <p:sp>
        <p:nvSpPr>
          <p:cNvPr id="89" name="Rectangle 88"/>
          <p:cNvSpPr/>
          <p:nvPr/>
        </p:nvSpPr>
        <p:spPr>
          <a:xfrm>
            <a:off x="4617720" y="18288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FutureBuilder 3상태</a:t>
            </a:r>
            <a:endParaRPr sz="740"/>
          </a:p>
        </p:txBody>
      </p:sp>
      <p:sp>
        <p:nvSpPr>
          <p:cNvPr id="90" name="Rectangle 89"/>
          <p:cNvSpPr/>
          <p:nvPr/>
        </p:nvSpPr>
        <p:spPr>
          <a:xfrm>
            <a:off x="5696712" y="18288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GET 화면: LoadingView · ErrorView(다시 시도) · EmptyView(빠져나갈 길)</a:t>
            </a:r>
            <a:endParaRPr sz="740"/>
          </a:p>
        </p:txBody>
      </p:sp>
      <p:sp>
        <p:nvSpPr>
          <p:cNvPr id="91" name="Rectangle 90"/>
          <p:cNvSpPr/>
          <p:nvPr/>
        </p:nvSpPr>
        <p:spPr>
          <a:xfrm>
            <a:off x="7662672" y="18288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widgets.dart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DEMO_STATE</a:t>
            </a:r>
            <a:endParaRPr sz="740"/>
          </a:p>
        </p:txBody>
      </p:sp>
      <p:sp>
        <p:nvSpPr>
          <p:cNvPr id="92" name="Rectangle 91"/>
          <p:cNvSpPr/>
          <p:nvPr/>
        </p:nvSpPr>
        <p:spPr>
          <a:xfrm>
            <a:off x="4617720" y="22860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json-server GET</a:t>
            </a:r>
            <a:endParaRPr sz="740"/>
          </a:p>
        </p:txBody>
      </p:sp>
      <p:sp>
        <p:nvSpPr>
          <p:cNvPr id="93" name="Rectangle 92"/>
          <p:cNvSpPr/>
          <p:nvPr/>
        </p:nvSpPr>
        <p:spPr>
          <a:xfrm>
            <a:off x="5696712" y="22860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http.get 하나(_get) · ?franchiseId= 거르기 · Android 는 10.0.2.2 자동</a:t>
            </a:r>
            <a:endParaRPr sz="740"/>
          </a:p>
        </p:txBody>
      </p:sp>
      <p:sp>
        <p:nvSpPr>
          <p:cNvPr id="94" name="Rectangle 93"/>
          <p:cNvSpPr/>
          <p:nvPr/>
        </p:nvSpPr>
        <p:spPr>
          <a:xfrm>
            <a:off x="7662672" y="22860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api.dart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db.json</a:t>
            </a:r>
            <a:endParaRPr sz="740"/>
          </a:p>
        </p:txBody>
      </p:sp>
      <p:sp>
        <p:nvSpPr>
          <p:cNvPr id="95" name="Rectangle 94"/>
          <p:cNvSpPr/>
          <p:nvPr/>
        </p:nvSpPr>
        <p:spPr>
          <a:xfrm>
            <a:off x="4617720" y="27432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적응형</a:t>
            </a:r>
            <a:endParaRPr sz="740"/>
          </a:p>
        </p:txBody>
      </p:sp>
      <p:sp>
        <p:nvSpPr>
          <p:cNvPr id="96" name="Rectangle 95"/>
          <p:cNvSpPr/>
          <p:nvPr/>
        </p:nvSpPr>
        <p:spPr>
          <a:xfrm>
            <a:off x="5696712" y="27432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MediaQuery.sizeOf · LayoutBuilder · displayFeatures(폴드 접힘선)</a:t>
            </a:r>
            <a:endParaRPr sz="740"/>
          </a:p>
        </p:txBody>
      </p:sp>
      <p:sp>
        <p:nvSpPr>
          <p:cNvPr id="97" name="Rectangle 96"/>
          <p:cNvSpPr/>
          <p:nvPr/>
        </p:nvSpPr>
        <p:spPr>
          <a:xfrm>
            <a:off x="7662672" y="27432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layout_test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7크기 53개 ✓</a:t>
            </a:r>
            <a:endParaRPr sz="740"/>
          </a:p>
        </p:txBody>
      </p:sp>
      <p:sp>
        <p:nvSpPr>
          <p:cNvPr id="98" name="Rectangle 97"/>
          <p:cNvSpPr/>
          <p:nvPr/>
        </p:nvSpPr>
        <p:spPr>
          <a:xfrm>
            <a:off x="4617720" y="32004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화면끼리 같은 값</a:t>
            </a:r>
            <a:endParaRPr sz="740"/>
          </a:p>
        </p:txBody>
      </p:sp>
      <p:sp>
        <p:nvSpPr>
          <p:cNvPr id="99" name="Rectangle 98"/>
          <p:cNvSpPr/>
          <p:nvPr/>
        </p:nvSpPr>
        <p:spPr>
          <a:xfrm>
            <a:off x="5696712" y="32004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맨 위 StatefulWidget 의 setState 를 InheritedWidget 으로 — 패키지 0</a:t>
            </a:r>
            <a:endParaRPr sz="740"/>
          </a:p>
        </p:txBody>
      </p:sp>
      <p:sp>
        <p:nvSpPr>
          <p:cNvPr id="100" name="Rectangle 99"/>
          <p:cNvSpPr/>
          <p:nvPr/>
        </p:nvSpPr>
        <p:spPr>
          <a:xfrm>
            <a:off x="7662672" y="32004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marks.dart</a:t>
            </a:r>
            <a:endParaRPr sz="740"/>
          </a:p>
        </p:txBody>
      </p:sp>
      <p:sp>
        <p:nvSpPr>
          <p:cNvPr id="101" name="Rectangle 100"/>
          <p:cNvSpPr/>
          <p:nvPr/>
        </p:nvSpPr>
        <p:spPr>
          <a:xfrm>
            <a:off x="4617720" y="36576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// P0x · // STATE:</a:t>
            </a:r>
            <a:endParaRPr sz="740"/>
          </a:p>
        </p:txBody>
      </p:sp>
      <p:sp>
        <p:nvSpPr>
          <p:cNvPr id="102" name="Rectangle 101"/>
          <p:cNvSpPr/>
          <p:nvPr/>
        </p:nvSpPr>
        <p:spPr>
          <a:xfrm>
            <a:off x="5696712" y="36576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요소 147개 번호 · 원칙 주석, 상태 포인트 74곳 표시</a:t>
            </a:r>
            <a:endParaRPr sz="740"/>
          </a:p>
        </p:txBody>
      </p:sp>
      <p:sp>
        <p:nvSpPr>
          <p:cNvPr id="103" name="Rectangle 102"/>
          <p:cNvSpPr/>
          <p:nvPr/>
        </p:nvSpPr>
        <p:spPr>
          <a:xfrm>
            <a:off x="7662672" y="36576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grep -rn</a:t>
            </a:r>
            <a:endParaRPr sz="740"/>
          </a:p>
        </p:txBody>
      </p:sp>
      <p:sp>
        <p:nvSpPr>
          <p:cNvPr id="104" name="Rectangle 103"/>
          <p:cNvSpPr/>
          <p:nvPr/>
        </p:nvSpPr>
        <p:spPr>
          <a:xfrm>
            <a:off x="4617720" y="4114800"/>
            <a:ext cx="107899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임의 결과</a:t>
            </a:r>
            <a:endParaRPr sz="740"/>
          </a:p>
        </p:txBody>
      </p:sp>
      <p:sp>
        <p:nvSpPr>
          <p:cNvPr id="105" name="Rectangle 104"/>
          <p:cNvSpPr/>
          <p:nvPr/>
        </p:nvSpPr>
        <p:spPr>
          <a:xfrm>
            <a:off x="5696712" y="4114800"/>
            <a:ext cx="1965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카메라 인식 · AI 후보 · 사진 판정 = 미리 쓴 결과 (실제 계산 없음)</a:t>
            </a:r>
            <a:endParaRPr sz="740"/>
          </a:p>
        </p:txBody>
      </p:sp>
      <p:sp>
        <p:nvSpPr>
          <p:cNvPr id="106" name="Rectangle 105"/>
          <p:cNvSpPr/>
          <p:nvPr/>
        </p:nvSpPr>
        <p:spPr>
          <a:xfrm>
            <a:off x="7662672" y="4114800"/>
            <a:ext cx="97840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e_camera</a:t>
            </a:r>
            <a:endParaRPr sz="740"/>
          </a:p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g_guide_view</a:t>
            </a:r>
            <a:endParaRPr sz="7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9886" y="304800"/>
            <a:ext cx="976164" cy="190500"/>
          </a:xfrm>
          <a:prstGeom prst="roundRect">
            <a:avLst>
              <a:gd name="adj" fmla="val 66667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86836" y="342900"/>
            <a:ext cx="7367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1:15 · UI 25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데모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리본 한 번이 컬렉션 · 도감 · 내 정보까지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07950" y="4810125"/>
            <a:ext cx="633906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 · 6장 제출물 ①(README의 데모 영상 1분 또는 배포 URL) · 7장 UI 구현 25 · 발표 15(데모)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80" dirty="0"/>
          </a:p>
        </p:txBody>
      </p:sp>
      <p:sp>
        <p:nvSpPr>
          <p:cNvPr id="53" name="Rounded Rectangle 52"/>
          <p:cNvSpPr/>
          <p:nvPr/>
        </p:nvSpPr>
        <p:spPr>
          <a:xfrm>
            <a:off x="512064" y="1005840"/>
            <a:ext cx="3977640" cy="3337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9525">
            <a:solidFill>
              <a:srgbClr val="C9D3D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54" name="Picture 53" descr="05_v2_wid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3504" y="1283018"/>
            <a:ext cx="3794760" cy="2371725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03504" y="3904488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▶ 데모 영상 1분 — docs/영상/demo_1min.mp4</a:t>
            </a:r>
            <a:endParaRPr sz="840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녹화 후 삽입 → 비디오 → 이 컴퓨터에서 (이 그림 위에 놓는다)</a:t>
            </a:r>
            <a:endParaRPr sz="720"/>
          </a:p>
        </p:txBody>
      </p:sp>
      <p:sp>
        <p:nvSpPr>
          <p:cNvPr id="56" name="TextBox 55"/>
          <p:cNvSpPr txBox="1"/>
          <p:nvPr/>
        </p:nvSpPr>
        <p:spPr>
          <a:xfrm>
            <a:off x="512064" y="4416552"/>
            <a:ext cx="3977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4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영상이 막히면 라이브: mock_server npm start → flutter run -d chrome</a:t>
            </a:r>
            <a:endParaRPr sz="740"/>
          </a:p>
        </p:txBody>
      </p:sp>
      <p:sp>
        <p:nvSpPr>
          <p:cNvPr id="57" name="TextBox 56"/>
          <p:cNvSpPr txBox="1"/>
          <p:nvPr/>
        </p:nvSpPr>
        <p:spPr>
          <a:xfrm>
            <a:off x="4663440" y="100584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라이브 · 배포 URL</a:t>
            </a:r>
            <a:endParaRPr sz="840"/>
          </a:p>
        </p:txBody>
      </p:sp>
      <p:sp>
        <p:nvSpPr>
          <p:cNvPr id="58" name="Rectangle 57"/>
          <p:cNvSpPr/>
          <p:nvPr/>
        </p:nvSpPr>
        <p:spPr>
          <a:xfrm>
            <a:off x="4663440" y="1170432"/>
            <a:ext cx="39776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로컬 — json-server(:3000) + flutter run -d chrome  ·  Vercel 배포 없음</a:t>
            </a:r>
            <a:endParaRPr sz="780"/>
          </a:p>
        </p:txBody>
      </p:sp>
      <p:sp>
        <p:nvSpPr>
          <p:cNvPr id="59" name="TextBox 58"/>
          <p:cNvSpPr txBox="1"/>
          <p:nvPr/>
        </p:nvSpPr>
        <p:spPr>
          <a:xfrm>
            <a:off x="4663440" y="155448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보여 줄 것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영상 시간은 녹화 후 맞춘다</a:t>
            </a:r>
            <a:endParaRPr sz="720"/>
          </a:p>
        </p:txBody>
      </p:sp>
      <p:sp>
        <p:nvSpPr>
          <p:cNvPr id="60" name="Rectangle 59"/>
          <p:cNvSpPr/>
          <p:nvPr/>
        </p:nvSpPr>
        <p:spPr>
          <a:xfrm>
            <a:off x="4663440" y="1719072"/>
            <a:ext cx="39776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항목</a:t>
            </a: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                                  장면 · 영상 시간</a:t>
            </a:r>
            <a:endParaRPr sz="760"/>
          </a:p>
        </p:txBody>
      </p:sp>
      <p:sp>
        <p:nvSpPr>
          <p:cNvPr id="61" name="Rectangle 60"/>
          <p:cNvSpPr/>
          <p:nvPr/>
        </p:nvSpPr>
        <p:spPr>
          <a:xfrm>
            <a:off x="4663440" y="1920240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 전환</a:t>
            </a:r>
            <a:endParaRPr sz="780"/>
          </a:p>
        </p:txBody>
      </p:sp>
      <p:sp>
        <p:nvSpPr>
          <p:cNvPr id="62" name="Rectangle 61"/>
          <p:cNvSpPr/>
          <p:nvPr/>
        </p:nvSpPr>
        <p:spPr>
          <a:xfrm>
            <a:off x="6080760" y="1920240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0:00 홈 → 상세(쌓기) · 시세 시트(덮기) · 탭(옆으로)</a:t>
            </a:r>
            <a:endParaRPr sz="760"/>
          </a:p>
        </p:txBody>
      </p:sp>
      <p:sp>
        <p:nvSpPr>
          <p:cNvPr id="63" name="Rectangle 62"/>
          <p:cNvSpPr/>
          <p:nvPr/>
        </p:nvSpPr>
        <p:spPr>
          <a:xfrm>
            <a:off x="4663440" y="2350008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임의 결과</a:t>
            </a:r>
            <a:endParaRPr sz="780"/>
          </a:p>
        </p:txBody>
      </p:sp>
      <p:sp>
        <p:nvSpPr>
          <p:cNvPr id="64" name="Rectangle 63"/>
          <p:cNvSpPr/>
          <p:nvPr/>
        </p:nvSpPr>
        <p:spPr>
          <a:xfrm>
            <a:off x="6080760" y="2350008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0:30 도감 → 내 사진 → "확인하는 중…" → 인증 배지</a:t>
            </a:r>
            <a:endParaRPr sz="760"/>
          </a:p>
        </p:txBody>
      </p:sp>
      <p:sp>
        <p:nvSpPr>
          <p:cNvPr id="65" name="Rectangle 64"/>
          <p:cNvSpPr/>
          <p:nvPr/>
        </p:nvSpPr>
        <p:spPr>
          <a:xfrm>
            <a:off x="4663440" y="2779776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json-server GET</a:t>
            </a:r>
            <a:endParaRPr sz="780"/>
          </a:p>
        </p:txBody>
      </p:sp>
      <p:sp>
        <p:nvSpPr>
          <p:cNvPr id="66" name="Rectangle 65"/>
          <p:cNvSpPr/>
          <p:nvPr/>
        </p:nvSpPr>
        <p:spPr>
          <a:xfrm>
            <a:off x="6080760" y="2779776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0:15 검색 탭 전체 상품 → 필터 패널(개수가 따라 바뀜)</a:t>
            </a:r>
            <a:endParaRPr sz="760"/>
          </a:p>
        </p:txBody>
      </p:sp>
      <p:sp>
        <p:nvSpPr>
          <p:cNvPr id="67" name="Rectangle 66"/>
          <p:cNvSpPr/>
          <p:nvPr/>
        </p:nvSpPr>
        <p:spPr>
          <a:xfrm>
            <a:off x="4663440" y="3209544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로딩 · 오류 · 빈 상태</a:t>
            </a:r>
            <a:endParaRPr sz="780"/>
          </a:p>
        </p:txBody>
      </p:sp>
      <p:sp>
        <p:nvSpPr>
          <p:cNvPr id="68" name="Rectangle 67"/>
          <p:cNvSpPr/>
          <p:nvPr/>
        </p:nvSpPr>
        <p:spPr>
          <a:xfrm>
            <a:off x="6080760" y="3209544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0:52 DEMO_STATE=error → 오류 + 다시 시도</a:t>
            </a:r>
            <a:endParaRPr sz="760"/>
          </a:p>
        </p:txBody>
      </p:sp>
      <p:sp>
        <p:nvSpPr>
          <p:cNvPr id="69" name="Rectangle 68"/>
          <p:cNvSpPr/>
          <p:nvPr/>
        </p:nvSpPr>
        <p:spPr>
          <a:xfrm>
            <a:off x="4663440" y="3639312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적응형 (넓은 화면)</a:t>
            </a:r>
            <a:endParaRPr sz="780"/>
          </a:p>
        </p:txBody>
      </p:sp>
      <p:sp>
        <p:nvSpPr>
          <p:cNvPr id="70" name="Rectangle 69"/>
          <p:cNvSpPr/>
          <p:nvPr/>
        </p:nvSpPr>
        <p:spPr>
          <a:xfrm>
            <a:off x="6080760" y="3639312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0:45 창을 넓히면 반반 화면 · 오른쪽에 상세</a:t>
            </a:r>
            <a:endParaRPr sz="760"/>
          </a:p>
        </p:txBody>
      </p:sp>
      <p:sp>
        <p:nvSpPr>
          <p:cNvPr id="71" name="Rectangle 70"/>
          <p:cNvSpPr/>
          <p:nvPr/>
        </p:nvSpPr>
        <p:spPr>
          <a:xfrm>
            <a:off x="4663440" y="4069080"/>
            <a:ext cx="1417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9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☑ </a:t>
            </a: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원칙 클립</a:t>
            </a:r>
            <a:endParaRPr sz="780"/>
          </a:p>
        </p:txBody>
      </p:sp>
      <p:sp>
        <p:nvSpPr>
          <p:cNvPr id="72" name="Rectangle 71"/>
          <p:cNvSpPr/>
          <p:nvPr/>
        </p:nvSpPr>
        <p:spPr>
          <a:xfrm>
            <a:off x="6080760" y="4069080"/>
            <a:ext cx="256032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p04.mp4 — 홈 ♡ → 컬렉션 개수 +1 (15초)</a:t>
            </a:r>
            <a:endParaRPr sz="7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1007" y="304800"/>
            <a:ext cx="1055043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07957" y="342900"/>
            <a:ext cx="817165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0:15 · 발표 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Personal Learnings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26852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Learnings: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화면은 일의 순서로 나눈다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950" y="4810125"/>
            <a:ext cx="383109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7장 발표 15 · 8장 FAQ(AI 사용)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8546455" y="4810125"/>
            <a:ext cx="913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680" dirty="0"/>
          </a:p>
        </p:txBody>
      </p:sp>
      <p:sp>
        <p:nvSpPr>
          <p:cNvPr id="24" name="Oval 23"/>
          <p:cNvSpPr/>
          <p:nvPr/>
        </p:nvSpPr>
        <p:spPr>
          <a:xfrm>
            <a:off x="512064" y="1024128"/>
            <a:ext cx="219456" cy="219456"/>
          </a:xfrm>
          <a:prstGeom prst="ellipse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1</a:t>
            </a:r>
            <a:endParaRPr sz="850"/>
          </a:p>
        </p:txBody>
      </p:sp>
      <p:sp>
        <p:nvSpPr>
          <p:cNvPr id="25" name="TextBox 24"/>
          <p:cNvSpPr txBox="1"/>
          <p:nvPr/>
        </p:nvSpPr>
        <p:spPr>
          <a:xfrm>
            <a:off x="822960" y="10424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배운 것</a:t>
            </a:r>
            <a:endParaRPr sz="900"/>
          </a:p>
        </p:txBody>
      </p:sp>
      <p:sp>
        <p:nvSpPr>
          <p:cNvPr id="26" name="Rounded Rectangle 25"/>
          <p:cNvSpPr/>
          <p:nvPr/>
        </p:nvSpPr>
        <p:spPr>
          <a:xfrm>
            <a:off x="512064" y="1335024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화면은 데이터 종류가 아니라 사용자가 하는 일의 순서로 나눈다</a:t>
            </a:r>
            <a:endParaRPr sz="1100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5 Why를 내려가 보니 현행 앱의 문제는 기능이 아니라 구조였다</a:t>
            </a:r>
            <a:endParaRPr sz="919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Flutter: setState를 위로 올리면 패키지 없이도 앱 전체가 한 벌로 바뀐다</a:t>
            </a:r>
            <a:endParaRPr sz="919"/>
          </a:p>
        </p:txBody>
      </p:sp>
      <p:sp>
        <p:nvSpPr>
          <p:cNvPr id="27" name="Oval 26"/>
          <p:cNvSpPr/>
          <p:nvPr/>
        </p:nvSpPr>
        <p:spPr>
          <a:xfrm>
            <a:off x="3255264" y="1024128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2</a:t>
            </a:r>
            <a:endParaRPr sz="850"/>
          </a:p>
        </p:txBody>
      </p:sp>
      <p:sp>
        <p:nvSpPr>
          <p:cNvPr id="28" name="TextBox 27"/>
          <p:cNvSpPr txBox="1"/>
          <p:nvPr/>
        </p:nvSpPr>
        <p:spPr>
          <a:xfrm>
            <a:off x="3566160" y="10424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셀프 논증 회고</a:t>
            </a:r>
            <a:endParaRPr sz="900"/>
          </a:p>
        </p:txBody>
      </p:sp>
      <p:sp>
        <p:nvSpPr>
          <p:cNvPr id="29" name="Rounded Rectangle 28"/>
          <p:cNvSpPr/>
          <p:nvPr/>
        </p:nvSpPr>
        <p:spPr>
          <a:xfrm>
            <a:off x="3255264" y="1335024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눈엔 "자리에 맞는 모양"이었지만, 사용자에겐 다른 기능으로 보였다</a:t>
            </a:r>
            <a:endParaRPr sz="1100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AI 반론(prompt-log 10/25 ★)을 받아들여 수정 — 쟁점 1 · 2</a:t>
            </a:r>
            <a:endParaRPr sz="919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반대로 AI 초안 "상태 알약 필터"는 내가 폐기 — 반론은 양쪽 다 검증해야 한다(쟁점 6)</a:t>
            </a:r>
            <a:endParaRPr sz="919"/>
          </a:p>
        </p:txBody>
      </p:sp>
      <p:sp>
        <p:nvSpPr>
          <p:cNvPr id="30" name="Oval 29"/>
          <p:cNvSpPr/>
          <p:nvPr/>
        </p:nvSpPr>
        <p:spPr>
          <a:xfrm>
            <a:off x="5998464" y="1024128"/>
            <a:ext cx="219456" cy="21945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marL="0" indent="0">
              <a:buNone/>
            </a:pPr>
            <a:r>
              <a:rPr sz="85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3</a:t>
            </a:r>
            <a:endParaRPr sz="850"/>
          </a:p>
        </p:txBody>
      </p:sp>
      <p:sp>
        <p:nvSpPr>
          <p:cNvPr id="31" name="TextBox 30"/>
          <p:cNvSpPr txBox="1"/>
          <p:nvPr/>
        </p:nvSpPr>
        <p:spPr>
          <a:xfrm>
            <a:off x="6309360" y="104241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다음 v3</a:t>
            </a:r>
            <a:endParaRPr sz="900"/>
          </a:p>
        </p:txBody>
      </p:sp>
      <p:sp>
        <p:nvSpPr>
          <p:cNvPr id="32" name="Rounded Rectangle 31"/>
          <p:cNvSpPr/>
          <p:nvPr/>
        </p:nvSpPr>
        <p:spPr>
          <a:xfrm>
            <a:off x="5998464" y="1335024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/>
          <a:lstStyle/>
          <a:p>
            <a:pPr algn="l" marL="0" indent="0">
              <a:spcAft>
                <a:spcPts val="800"/>
              </a:spcAft>
              <a:buNone/>
            </a:pPr>
            <a:r>
              <a:rPr sz="11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로고 · 이름 확정, 그리고 "남는" 기록</a:t>
            </a:r>
            <a:endParaRPr sz="1100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상태관리 수업에서: 좋아요 · 도감 칸 · 게시물 공개 범위를 저장</a:t>
            </a:r>
            <a:endParaRPr sz="919"/>
          </a:p>
          <a:p>
            <a:pPr algn="l" marL="0" indent="0">
              <a:spcAft>
                <a:spcPts val="800"/>
              </a:spcAft>
              <a:buNone/>
            </a:pPr>
            <a:r>
              <a:rPr sz="919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실제 사진 인식 · Vercel 배포 · 도감 칸과 상품을 한 벌로</a:t>
            </a:r>
            <a:endParaRPr sz="919"/>
          </a:p>
        </p:txBody>
      </p:sp>
      <p:sp>
        <p:nvSpPr>
          <p:cNvPr id="33" name="TextBox 32"/>
          <p:cNvSpPr txBox="1"/>
          <p:nvPr/>
        </p:nvSpPr>
        <p:spPr>
          <a:xfrm>
            <a:off x="512064" y="3547872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이번 과제에서 지킨 한 줄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같은 번호로 이어진다</a:t>
            </a:r>
            <a:endParaRPr sz="720"/>
          </a:p>
        </p:txBody>
      </p:sp>
      <p:sp>
        <p:nvSpPr>
          <p:cNvPr id="34" name="Rounded Rectangle 33"/>
          <p:cNvSpPr/>
          <p:nvPr/>
        </p:nvSpPr>
        <p:spPr>
          <a:xfrm>
            <a:off x="512064" y="373075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기획</a:t>
            </a:r>
            <a:endParaRPr sz="900"/>
          </a:p>
          <a:p>
            <a:pPr algn="ctr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리뷰 · 저니 · 5 Why</a:t>
            </a:r>
            <a:endParaRPr sz="760"/>
          </a:p>
        </p:txBody>
      </p:sp>
      <p:sp>
        <p:nvSpPr>
          <p:cNvPr id="35" name="TextBox 34"/>
          <p:cNvSpPr txBox="1"/>
          <p:nvPr/>
        </p:nvSpPr>
        <p:spPr>
          <a:xfrm>
            <a:off x="1947672" y="3877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→</a:t>
            </a:r>
            <a:endParaRPr sz="1200"/>
          </a:p>
        </p:txBody>
      </p:sp>
      <p:sp>
        <p:nvSpPr>
          <p:cNvPr id="36" name="Rounded Rectangle 35"/>
          <p:cNvSpPr/>
          <p:nvPr/>
        </p:nvSpPr>
        <p:spPr>
          <a:xfrm>
            <a:off x="2148840" y="373075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원칙 카드</a:t>
            </a:r>
            <a:endParaRPr sz="900"/>
          </a:p>
          <a:p>
            <a:pPr algn="ctr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P01–P10</a:t>
            </a:r>
            <a:endParaRPr sz="760"/>
          </a:p>
        </p:txBody>
      </p:sp>
      <p:sp>
        <p:nvSpPr>
          <p:cNvPr id="37" name="TextBox 36"/>
          <p:cNvSpPr txBox="1"/>
          <p:nvPr/>
        </p:nvSpPr>
        <p:spPr>
          <a:xfrm>
            <a:off x="3584448" y="3877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→</a:t>
            </a:r>
            <a:endParaRPr sz="1200"/>
          </a:p>
        </p:txBody>
      </p:sp>
      <p:sp>
        <p:nvSpPr>
          <p:cNvPr id="38" name="Rounded Rectangle 37"/>
          <p:cNvSpPr/>
          <p:nvPr/>
        </p:nvSpPr>
        <p:spPr>
          <a:xfrm>
            <a:off x="3785616" y="373075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디자인 가이드</a:t>
            </a:r>
            <a:endParaRPr sz="900"/>
          </a:p>
          <a:p>
            <a:pPr algn="ctr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요소 147개 번호</a:t>
            </a:r>
            <a:endParaRPr sz="760"/>
          </a:p>
        </p:txBody>
      </p:sp>
      <p:sp>
        <p:nvSpPr>
          <p:cNvPr id="39" name="TextBox 38"/>
          <p:cNvSpPr txBox="1"/>
          <p:nvPr/>
        </p:nvSpPr>
        <p:spPr>
          <a:xfrm>
            <a:off x="5221224" y="3877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→</a:t>
            </a:r>
            <a:endParaRPr sz="1200"/>
          </a:p>
        </p:txBody>
      </p:sp>
      <p:sp>
        <p:nvSpPr>
          <p:cNvPr id="40" name="Rounded Rectangle 39"/>
          <p:cNvSpPr/>
          <p:nvPr/>
        </p:nvSpPr>
        <p:spPr>
          <a:xfrm>
            <a:off x="5422392" y="373075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코드</a:t>
            </a:r>
            <a:endParaRPr sz="900"/>
          </a:p>
          <a:p>
            <a:pPr algn="ctr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// A-9 P07 · // STATE:</a:t>
            </a:r>
            <a:endParaRPr sz="760"/>
          </a:p>
        </p:txBody>
      </p:sp>
      <p:sp>
        <p:nvSpPr>
          <p:cNvPr id="41" name="TextBox 40"/>
          <p:cNvSpPr txBox="1"/>
          <p:nvPr/>
        </p:nvSpPr>
        <p:spPr>
          <a:xfrm>
            <a:off x="6858000" y="387705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→</a:t>
            </a:r>
            <a:endParaRPr sz="1200"/>
          </a:p>
        </p:txBody>
      </p:sp>
      <p:sp>
        <p:nvSpPr>
          <p:cNvPr id="42" name="Rounded Rectangle 41"/>
          <p:cNvSpPr/>
          <p:nvPr/>
        </p:nvSpPr>
        <p:spPr>
          <a:xfrm>
            <a:off x="7059168" y="3730752"/>
            <a:ext cx="1417320" cy="566928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영상 · 셀프 논증</a:t>
            </a:r>
            <a:endParaRPr sz="900"/>
          </a:p>
          <a:p>
            <a:pPr algn="ctr" marL="0" indent="0"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p04.mp4 · 쟁점 1–7</a:t>
            </a:r>
            <a:endParaRPr sz="7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4235" y="304800"/>
            <a:ext cx="1661815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01185" y="342900"/>
            <a:ext cx="143607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· 발표 15 (질의 응답)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Q&amp;A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26852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받겠습니다</a:t>
            </a:r>
            <a:endParaRPr lang="en-US" sz="1900" dirty="0"/>
          </a:p>
        </p:txBody>
      </p:sp>
      <p:sp>
        <p:nvSpPr>
          <p:cNvPr id="63" name="Text 61"/>
          <p:cNvSpPr/>
          <p:nvPr/>
        </p:nvSpPr>
        <p:spPr>
          <a:xfrm>
            <a:off x="507950" y="4810125"/>
            <a:ext cx="428575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8단계(질의 2분) · 7장 발표 15(질의 응답)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8540055" y="4810125"/>
            <a:ext cx="9791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80" dirty="0"/>
          </a:p>
        </p:txBody>
      </p:sp>
      <p:sp>
        <p:nvSpPr>
          <p:cNvPr id="65" name="TextBox 64"/>
          <p:cNvSpPr txBox="1"/>
          <p:nvPr/>
        </p:nvSpPr>
        <p:spPr>
          <a:xfrm>
            <a:off x="512064" y="1005840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예상 질문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답할 근거 = 부록 장 · P번호 · 리뷰 #</a:t>
            </a:r>
            <a:endParaRPr sz="720"/>
          </a:p>
        </p:txBody>
      </p:sp>
      <p:sp>
        <p:nvSpPr>
          <p:cNvPr id="66" name="Rectangle 65"/>
          <p:cNvSpPr/>
          <p:nvPr/>
        </p:nvSpPr>
        <p:spPr>
          <a:xfrm>
            <a:off x="512064" y="1170432"/>
            <a:ext cx="2743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Q</a:t>
            </a:r>
            <a:endParaRPr sz="760"/>
          </a:p>
        </p:txBody>
      </p:sp>
      <p:sp>
        <p:nvSpPr>
          <p:cNvPr id="67" name="Rectangle 66"/>
          <p:cNvSpPr/>
          <p:nvPr/>
        </p:nvSpPr>
        <p:spPr>
          <a:xfrm>
            <a:off x="786384" y="1170432"/>
            <a:ext cx="2148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예상 질문</a:t>
            </a:r>
            <a:endParaRPr sz="760"/>
          </a:p>
        </p:txBody>
      </p:sp>
      <p:sp>
        <p:nvSpPr>
          <p:cNvPr id="68" name="Rectangle 67"/>
          <p:cNvSpPr/>
          <p:nvPr/>
        </p:nvSpPr>
        <p:spPr>
          <a:xfrm>
            <a:off x="2935224" y="1170432"/>
            <a:ext cx="288036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답할 근거</a:t>
            </a:r>
            <a:endParaRPr sz="760"/>
          </a:p>
        </p:txBody>
      </p:sp>
      <p:sp>
        <p:nvSpPr>
          <p:cNvPr id="69" name="Rectangle 68"/>
          <p:cNvSpPr/>
          <p:nvPr/>
        </p:nvSpPr>
        <p:spPr>
          <a:xfrm>
            <a:off x="512064" y="1371600"/>
            <a:ext cx="274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</a:t>
            </a:r>
            <a:endParaRPr sz="860"/>
          </a:p>
        </p:txBody>
      </p:sp>
      <p:sp>
        <p:nvSpPr>
          <p:cNvPr id="70" name="Rectangle 69"/>
          <p:cNvSpPr/>
          <p:nvPr/>
        </p:nvSpPr>
        <p:spPr>
          <a:xfrm>
            <a:off x="786384" y="137160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AI 반론 중 받아들이지 않은 것은?</a:t>
            </a:r>
            <a:endParaRPr sz="860"/>
          </a:p>
        </p:txBody>
      </p:sp>
      <p:sp>
        <p:nvSpPr>
          <p:cNvPr id="71" name="Rectangle 70"/>
          <p:cNvSpPr/>
          <p:nvPr/>
        </p:nvSpPr>
        <p:spPr>
          <a:xfrm>
            <a:off x="2935224" y="1371600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쟁점 6 — AI 초안 "좋아요 · 구매함 알약 필터" 폐기 → 작품별 오른쪽 필터 패널 (B3 10/25 · P06 · 커밋 d8dd566 → 23dc963)</a:t>
            </a:r>
            <a:endParaRPr sz="860"/>
          </a:p>
        </p:txBody>
      </p:sp>
      <p:sp>
        <p:nvSpPr>
          <p:cNvPr id="72" name="Rectangle 71"/>
          <p:cNvSpPr/>
          <p:nvPr/>
        </p:nvSpPr>
        <p:spPr>
          <a:xfrm>
            <a:off x="512064" y="2194560"/>
            <a:ext cx="274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</a:t>
            </a:r>
            <a:endParaRPr sz="860"/>
          </a:p>
        </p:txBody>
      </p:sp>
      <p:sp>
        <p:nvSpPr>
          <p:cNvPr id="73" name="Rectangle 72"/>
          <p:cNvSpPr/>
          <p:nvPr/>
        </p:nvSpPr>
        <p:spPr>
          <a:xfrm>
            <a:off x="786384" y="219456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상태관리 패키지 없이 화면끼리 어떻게 맞췄나?</a:t>
            </a:r>
            <a:endParaRPr sz="860"/>
          </a:p>
        </p:txBody>
      </p:sp>
      <p:sp>
        <p:nvSpPr>
          <p:cNvPr id="74" name="Rectangle 73"/>
          <p:cNvSpPr/>
          <p:nvPr/>
        </p:nvSpPr>
        <p:spPr>
          <a:xfrm>
            <a:off x="2935224" y="2194560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MarksHost = 맨 위 StatefulWidget setState + InheritedWidget, 저장 안 함 (B5-5 S1 · 09장 · P04)</a:t>
            </a:r>
            <a:endParaRPr sz="860"/>
          </a:p>
        </p:txBody>
      </p:sp>
      <p:sp>
        <p:nvSpPr>
          <p:cNvPr id="75" name="Rectangle 74"/>
          <p:cNvSpPr/>
          <p:nvPr/>
        </p:nvSpPr>
        <p:spPr>
          <a:xfrm>
            <a:off x="512064" y="3017520"/>
            <a:ext cx="2743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8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</a:t>
            </a:r>
            <a:endParaRPr sz="860"/>
          </a:p>
        </p:txBody>
      </p:sp>
      <p:sp>
        <p:nvSpPr>
          <p:cNvPr id="76" name="Rectangle 75"/>
          <p:cNvSpPr/>
          <p:nvPr/>
        </p:nvSpPr>
        <p:spPr>
          <a:xfrm>
            <a:off x="786384" y="3017520"/>
            <a:ext cx="21488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가짜 기능(카메라 · AI 후보)은 어디까지?</a:t>
            </a:r>
            <a:endParaRPr sz="860"/>
          </a:p>
        </p:txBody>
      </p:sp>
      <p:sp>
        <p:nvSpPr>
          <p:cNvPr id="77" name="Rectangle 76"/>
          <p:cNvSpPr/>
          <p:nvPr/>
        </p:nvSpPr>
        <p:spPr>
          <a:xfrm>
            <a:off x="2935224" y="3017520"/>
            <a:ext cx="28803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8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결과는 미리 쓴 값, 저장 · 전송 없음 — 디자인 가이드 4장 "가짜 기능은 가짜라고" (B1 · P10)</a:t>
            </a:r>
            <a:endParaRPr sz="860"/>
          </a:p>
        </p:txBody>
      </p:sp>
      <p:sp>
        <p:nvSpPr>
          <p:cNvPr id="78" name="TextBox 77"/>
          <p:cNvSpPr txBox="1"/>
          <p:nvPr/>
        </p:nvSpPr>
        <p:spPr>
          <a:xfrm>
            <a:off x="5989320" y="1005840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부록으로 바로 이동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쇼에서 번호 + Enter</a:t>
            </a:r>
            <a:endParaRPr sz="720"/>
          </a:p>
        </p:txBody>
      </p:sp>
      <p:sp>
        <p:nvSpPr>
          <p:cNvPr id="79" name="Rectangle 78"/>
          <p:cNvSpPr/>
          <p:nvPr/>
        </p:nvSpPr>
        <p:spPr>
          <a:xfrm>
            <a:off x="5989320" y="1170432"/>
            <a:ext cx="26517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B1  </a:t>
            </a: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참조: 데모 및 스크린샷</a:t>
            </a:r>
            <a:endParaRPr sz="819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→ 14 장</a:t>
            </a:r>
            <a:endParaRPr sz="720"/>
          </a:p>
        </p:txBody>
      </p:sp>
      <p:sp>
        <p:nvSpPr>
          <p:cNvPr id="80" name="Rectangle 79"/>
          <p:cNvSpPr/>
          <p:nvPr/>
        </p:nvSpPr>
        <p:spPr>
          <a:xfrm>
            <a:off x="5989320" y="1170432"/>
            <a:ext cx="36576" cy="4754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81" name="Rectangle 80"/>
          <p:cNvSpPr/>
          <p:nvPr/>
        </p:nvSpPr>
        <p:spPr>
          <a:xfrm>
            <a:off x="5989320" y="1719072"/>
            <a:ext cx="26517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B2  </a:t>
            </a: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원칙 카드 P01–P10</a:t>
            </a:r>
            <a:endParaRPr sz="819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→ 16 장</a:t>
            </a:r>
            <a:endParaRPr sz="720"/>
          </a:p>
        </p:txBody>
      </p:sp>
      <p:sp>
        <p:nvSpPr>
          <p:cNvPr id="82" name="Rectangle 81"/>
          <p:cNvSpPr/>
          <p:nvPr/>
        </p:nvSpPr>
        <p:spPr>
          <a:xfrm>
            <a:off x="5989320" y="1719072"/>
            <a:ext cx="36576" cy="4754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83" name="Rectangle 82"/>
          <p:cNvSpPr/>
          <p:nvPr/>
        </p:nvSpPr>
        <p:spPr>
          <a:xfrm>
            <a:off x="5989320" y="2267712"/>
            <a:ext cx="26517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B3  </a:t>
            </a: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prompt-log</a:t>
            </a:r>
            <a:endParaRPr sz="819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→ 26 장</a:t>
            </a:r>
            <a:endParaRPr sz="720"/>
          </a:p>
        </p:txBody>
      </p:sp>
      <p:sp>
        <p:nvSpPr>
          <p:cNvPr id="84" name="Rectangle 83"/>
          <p:cNvSpPr/>
          <p:nvPr/>
        </p:nvSpPr>
        <p:spPr>
          <a:xfrm>
            <a:off x="5989320" y="2267712"/>
            <a:ext cx="36576" cy="4754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85" name="Rectangle 84"/>
          <p:cNvSpPr/>
          <p:nvPr/>
        </p:nvSpPr>
        <p:spPr>
          <a:xfrm>
            <a:off x="5989320" y="2816352"/>
            <a:ext cx="26517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B4  </a:t>
            </a: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자가평가 요약</a:t>
            </a:r>
            <a:endParaRPr sz="819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→ 28 장</a:t>
            </a:r>
            <a:endParaRPr sz="720"/>
          </a:p>
        </p:txBody>
      </p:sp>
      <p:sp>
        <p:nvSpPr>
          <p:cNvPr id="86" name="Rectangle 85"/>
          <p:cNvSpPr/>
          <p:nvPr/>
        </p:nvSpPr>
        <p:spPr>
          <a:xfrm>
            <a:off x="5989320" y="2816352"/>
            <a:ext cx="36576" cy="4754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87" name="Rectangle 86"/>
          <p:cNvSpPr/>
          <p:nvPr/>
        </p:nvSpPr>
        <p:spPr>
          <a:xfrm>
            <a:off x="5989320" y="3364992"/>
            <a:ext cx="2651760" cy="47548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B5  </a:t>
            </a: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기획 상세 (사업 요약 · 저니 · 요소 분석)</a:t>
            </a:r>
            <a:endParaRPr sz="819"/>
          </a:p>
          <a:p>
            <a:pPr algn="l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→ 29 장</a:t>
            </a:r>
            <a:endParaRPr sz="720"/>
          </a:p>
        </p:txBody>
      </p:sp>
      <p:sp>
        <p:nvSpPr>
          <p:cNvPr id="88" name="Rectangle 87"/>
          <p:cNvSpPr/>
          <p:nvPr/>
        </p:nvSpPr>
        <p:spPr>
          <a:xfrm>
            <a:off x="5989320" y="3364992"/>
            <a:ext cx="36576" cy="475488"/>
          </a:xfrm>
          <a:prstGeom prst="rect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89" name="Rectangle 88"/>
          <p:cNvSpPr/>
          <p:nvPr/>
        </p:nvSpPr>
        <p:spPr>
          <a:xfrm>
            <a:off x="5989320" y="3950208"/>
            <a:ext cx="2651760" cy="384048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 marL="0" indent="0">
              <a:buNone/>
            </a:pPr>
            <a:r>
              <a:rPr sz="10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감사합니다 — </a:t>
            </a:r>
            <a:r>
              <a:rPr sz="10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Q&amp;A 2분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341090"/>
            <a:ext cx="38862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Q&amp;A 2분에 펼치는 근거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50" y="1547366"/>
            <a:ext cx="38862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spcAft>
                <a:spcPts val="1000"/>
              </a:spcAft>
              <a:buNone/>
            </a:pPr>
            <a:r>
              <a:rPr lang="en-US" sz="54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7950" y="2360116"/>
            <a:ext cx="3810000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 6분에는 </a:t>
            </a:r>
            <a:r>
              <a:rPr lang="en-US" sz="170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넘기지 않는다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질문이 화면 · 원칙 · AI를 가리키면 해당 장으로 바로 간다</a:t>
            </a:r>
            <a:endParaRPr lang="en-US" sz="2370" dirty="0"/>
          </a:p>
        </p:txBody>
      </p:sp>
      <p:sp>
        <p:nvSpPr>
          <p:cNvPr id="6" name="Text 4"/>
          <p:cNvSpPr/>
          <p:nvPr/>
        </p:nvSpPr>
        <p:spPr>
          <a:xfrm>
            <a:off x="4724400" y="1163836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24400" y="1168598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631138" y="1163836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724400" y="1653034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43450" y="1163836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889450" y="1262211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· 참조: 데모 및 스크린샷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4889450" y="1401812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 캡처 · 빈 · 로딩 · 오류 상태 · 영상 링크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24400" y="1746647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24400" y="1751409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631138" y="1746647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24400" y="2235845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743450" y="1746647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89450" y="1845022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· 원칙 카드 P0x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4889450" y="1984623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고친 원칙마다 1장 — 원칙 · 근거 · 적용 · 시연 · 판단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24400" y="2329458"/>
            <a:ext cx="3911501" cy="484436"/>
          </a:xfrm>
          <a:prstGeom prst="roundRect">
            <a:avLst>
              <a:gd name="adj" fmla="val 15730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24400" y="2334220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31138" y="2329458"/>
            <a:ext cx="0" cy="484436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24400" y="2809131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43450" y="2329458"/>
            <a:ext cx="0" cy="484436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89450" y="2427833"/>
            <a:ext cx="368217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· prompt-log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4889450" y="2557909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지문 · 결과 · 내 판단(수용/수정/폐기) · 이유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24400" y="2902744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24400" y="2907506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631138" y="2902744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724400" y="3391942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43450" y="2902744"/>
            <a:ext cx="0" cy="493961"/>
          </a:xfrm>
          <a:prstGeom prst="line">
            <a:avLst/>
          </a:prstGeom>
          <a:noFill/>
          <a:ln w="38100">
            <a:solidFill>
              <a:srgbClr val="2F6F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89450" y="3001119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6EA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 · 자가평가 요약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4889450" y="3140720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 전 개인 점검 — 공개 배점 그대로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24400" y="3485555"/>
            <a:ext cx="3911501" cy="493961"/>
          </a:xfrm>
          <a:prstGeom prst="roundRect">
            <a:avLst>
              <a:gd name="adj" fmla="val 15426"/>
            </a:avLst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24400" y="3490317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631138" y="3485555"/>
            <a:ext cx="0" cy="493961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724400" y="3974753"/>
            <a:ext cx="3911501" cy="0"/>
          </a:xfrm>
          <a:prstGeom prst="line">
            <a:avLst/>
          </a:prstGeom>
          <a:noFill/>
          <a:ln w="9525">
            <a:solidFill>
              <a:srgbClr val="243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743450" y="3485555"/>
            <a:ext cx="0" cy="49396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89450" y="3583930"/>
            <a:ext cx="368217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5B5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 · 기획 상세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4889450" y="3723531"/>
            <a:ext cx="3682174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E5E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 · 저니 · 피쉬본/5 Why · 화면별 요소 분석표 · 상태관리 포인트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950" y="4800600"/>
            <a:ext cx="36909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부록 층: 7주차 덱 부록 A2 · 기준: 중간고사_안내.md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19517" y="4800600"/>
            <a:ext cx="1188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3123" y="304800"/>
            <a:ext cx="1272927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0073" y="342900"/>
            <a:ext cx="103940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B1 · 질의 때만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B1 — 참조: 데모 및 스크린샷 (1/2)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화면과 상태 화면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456370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6단계(로딩/오류/빈 상태 · 적응형) · 6장 제출물 ①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B1-1</a:t>
            </a:r>
            <a:endParaRPr lang="en-US" sz="680" dirty="0"/>
          </a:p>
        </p:txBody>
      </p:sp>
      <p:sp>
        <p:nvSpPr>
          <p:cNvPr id="62" name="Rounded Rectangle 61"/>
          <p:cNvSpPr/>
          <p:nvPr/>
        </p:nvSpPr>
        <p:spPr>
          <a:xfrm>
            <a:off x="512064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A 홈</a:t>
            </a:r>
            <a:endParaRPr sz="740"/>
          </a:p>
        </p:txBody>
      </p:sp>
      <p:sp>
        <p:nvSpPr>
          <p:cNvPr id="63" name="Rounded Rectangle 62"/>
          <p:cNvSpPr/>
          <p:nvPr/>
        </p:nvSpPr>
        <p:spPr>
          <a:xfrm>
            <a:off x="512064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64" name="Picture 63" descr="02_v2_a_number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3111" y="1252728"/>
            <a:ext cx="832386" cy="1801368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512064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a_home_screen.dart · 요소 번호</a:t>
            </a:r>
            <a:endParaRPr sz="700"/>
          </a:p>
        </p:txBody>
      </p:sp>
      <p:sp>
        <p:nvSpPr>
          <p:cNvPr id="66" name="Rounded Rectangle 65"/>
          <p:cNvSpPr/>
          <p:nvPr/>
        </p:nvSpPr>
        <p:spPr>
          <a:xfrm>
            <a:off x="2153412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B 검색 · O 전체 상품</a:t>
            </a:r>
            <a:endParaRPr sz="740"/>
          </a:p>
        </p:txBody>
      </p:sp>
      <p:sp>
        <p:nvSpPr>
          <p:cNvPr id="67" name="Rounded Rectangle 66"/>
          <p:cNvSpPr/>
          <p:nvPr/>
        </p:nvSpPr>
        <p:spPr>
          <a:xfrm>
            <a:off x="2153412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68" name="Picture 67" descr="10_search_al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14459" y="1252728"/>
            <a:ext cx="832386" cy="1801368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2153412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b_search · o_see_all</a:t>
            </a:r>
            <a:endParaRPr sz="700"/>
          </a:p>
        </p:txBody>
      </p:sp>
      <p:sp>
        <p:nvSpPr>
          <p:cNvPr id="70" name="Rounded Rectangle 69"/>
          <p:cNvSpPr/>
          <p:nvPr/>
        </p:nvSpPr>
        <p:spPr>
          <a:xfrm>
            <a:off x="3794760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D 상품 상세</a:t>
            </a:r>
            <a:endParaRPr sz="740"/>
          </a:p>
        </p:txBody>
      </p:sp>
      <p:sp>
        <p:nvSpPr>
          <p:cNvPr id="71" name="Rounded Rectangle 70"/>
          <p:cNvSpPr/>
          <p:nvPr/>
        </p:nvSpPr>
        <p:spPr>
          <a:xfrm>
            <a:off x="3794760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72" name="Picture 71" descr="03_v2_b_number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55807" y="1252728"/>
            <a:ext cx="832386" cy="1801368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3794760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d_kit_detail_screen.dart</a:t>
            </a:r>
            <a:endParaRPr sz="700"/>
          </a:p>
        </p:txBody>
      </p:sp>
      <p:sp>
        <p:nvSpPr>
          <p:cNvPr id="74" name="Rounded Rectangle 73"/>
          <p:cNvSpPr/>
          <p:nvPr/>
        </p:nvSpPr>
        <p:spPr>
          <a:xfrm>
            <a:off x="5436108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G 도감</a:t>
            </a:r>
            <a:endParaRPr sz="740"/>
          </a:p>
        </p:txBody>
      </p:sp>
      <p:sp>
        <p:nvSpPr>
          <p:cNvPr id="75" name="Rounded Rectangle 74"/>
          <p:cNvSpPr/>
          <p:nvPr/>
        </p:nvSpPr>
        <p:spPr>
          <a:xfrm>
            <a:off x="5436108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76" name="Picture 75" descr="04_v2_c_number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797155" y="1252728"/>
            <a:ext cx="832386" cy="180136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5436108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g_guide_view.dart</a:t>
            </a:r>
            <a:endParaRPr sz="700"/>
          </a:p>
        </p:txBody>
      </p:sp>
      <p:sp>
        <p:nvSpPr>
          <p:cNvPr id="78" name="Rounded Rectangle 77"/>
          <p:cNvSpPr/>
          <p:nvPr/>
        </p:nvSpPr>
        <p:spPr>
          <a:xfrm>
            <a:off x="7077456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F 컬렉션</a:t>
            </a:r>
            <a:endParaRPr sz="740"/>
          </a:p>
        </p:txBody>
      </p:sp>
      <p:sp>
        <p:nvSpPr>
          <p:cNvPr id="79" name="Rounded Rectangle 78"/>
          <p:cNvSpPr/>
          <p:nvPr/>
        </p:nvSpPr>
        <p:spPr>
          <a:xfrm>
            <a:off x="7077456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0" name="Picture 79" descr="12_collection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438503" y="1252728"/>
            <a:ext cx="832386" cy="1801368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7077456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f_collection_screen.dart</a:t>
            </a:r>
            <a:endParaRPr sz="700"/>
          </a:p>
        </p:txBody>
      </p:sp>
      <p:sp>
        <p:nvSpPr>
          <p:cNvPr id="82" name="Rounded Rectangle 81"/>
          <p:cNvSpPr/>
          <p:nvPr/>
        </p:nvSpPr>
        <p:spPr>
          <a:xfrm>
            <a:off x="512064" y="3456432"/>
            <a:ext cx="14173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로딩</a:t>
            </a:r>
            <a:endParaRPr sz="740"/>
          </a:p>
        </p:txBody>
      </p:sp>
      <p:sp>
        <p:nvSpPr>
          <p:cNvPr id="83" name="Rounded Rectangle 82"/>
          <p:cNvSpPr/>
          <p:nvPr/>
        </p:nvSpPr>
        <p:spPr>
          <a:xfrm>
            <a:off x="512064" y="365760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4" name="Picture 83" descr="21_state_loading.png"/>
          <p:cNvPicPr>
            <a:picLocks noChangeAspect="1"/>
          </p:cNvPicPr>
          <p:nvPr/>
        </p:nvPicPr>
        <p:blipFill>
          <a:blip r:embed="rId8"/>
          <a:srcRect l="18188" r="18188" t="48000" b="36000"/>
          <a:stretch>
            <a:fillRect/>
          </a:stretch>
        </p:blipFill>
        <p:spPr>
          <a:xfrm>
            <a:off x="548640" y="3694176"/>
            <a:ext cx="1344168" cy="7315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12064" y="44439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DEMO_STATE=loading</a:t>
            </a:r>
            <a:endParaRPr sz="700"/>
          </a:p>
        </p:txBody>
      </p:sp>
      <p:sp>
        <p:nvSpPr>
          <p:cNvPr id="86" name="Rounded Rectangle 85"/>
          <p:cNvSpPr/>
          <p:nvPr/>
        </p:nvSpPr>
        <p:spPr>
          <a:xfrm>
            <a:off x="2020824" y="3456432"/>
            <a:ext cx="14173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오류 + 다시 시도</a:t>
            </a:r>
            <a:endParaRPr sz="740"/>
          </a:p>
        </p:txBody>
      </p:sp>
      <p:sp>
        <p:nvSpPr>
          <p:cNvPr id="87" name="Rounded Rectangle 86"/>
          <p:cNvSpPr/>
          <p:nvPr/>
        </p:nvSpPr>
        <p:spPr>
          <a:xfrm>
            <a:off x="2020824" y="365760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8" name="Picture 87" descr="22_state_error.png"/>
          <p:cNvPicPr>
            <a:picLocks noChangeAspect="1"/>
          </p:cNvPicPr>
          <p:nvPr/>
        </p:nvPicPr>
        <p:blipFill>
          <a:blip r:embed="rId9"/>
          <a:srcRect l="8000" r="8000" t="47438" b="31438"/>
          <a:stretch>
            <a:fillRect/>
          </a:stretch>
        </p:blipFill>
        <p:spPr>
          <a:xfrm>
            <a:off x="2057400" y="3694176"/>
            <a:ext cx="1344168" cy="73152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020824" y="44439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DEMO_STATE=error</a:t>
            </a:r>
            <a:endParaRPr sz="700"/>
          </a:p>
        </p:txBody>
      </p:sp>
      <p:sp>
        <p:nvSpPr>
          <p:cNvPr id="90" name="Rounded Rectangle 89"/>
          <p:cNvSpPr/>
          <p:nvPr/>
        </p:nvSpPr>
        <p:spPr>
          <a:xfrm>
            <a:off x="3529584" y="3456432"/>
            <a:ext cx="1417320" cy="16459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빈 상태</a:t>
            </a:r>
            <a:endParaRPr sz="740"/>
          </a:p>
        </p:txBody>
      </p:sp>
      <p:sp>
        <p:nvSpPr>
          <p:cNvPr id="91" name="Rounded Rectangle 90"/>
          <p:cNvSpPr/>
          <p:nvPr/>
        </p:nvSpPr>
        <p:spPr>
          <a:xfrm>
            <a:off x="3529584" y="3657600"/>
            <a:ext cx="141732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2" name="Picture 91" descr="23_state_empty.png"/>
          <p:cNvPicPr>
            <a:picLocks noChangeAspect="1"/>
          </p:cNvPicPr>
          <p:nvPr/>
        </p:nvPicPr>
        <p:blipFill>
          <a:blip r:embed="rId10"/>
          <a:srcRect l="12223" r="12223" t="11000" b="70000"/>
          <a:stretch>
            <a:fillRect/>
          </a:stretch>
        </p:blipFill>
        <p:spPr>
          <a:xfrm>
            <a:off x="3566160" y="3694176"/>
            <a:ext cx="1344168" cy="73152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3529584" y="444398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DEMO_STATE=empty</a:t>
            </a:r>
            <a:endParaRPr sz="700"/>
          </a:p>
        </p:txBody>
      </p:sp>
      <p:sp>
        <p:nvSpPr>
          <p:cNvPr id="94" name="TextBox 93"/>
          <p:cNvSpPr txBox="1"/>
          <p:nvPr/>
        </p:nvSpPr>
        <p:spPr>
          <a:xfrm>
            <a:off x="5038344" y="3456432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영상 · 링크</a:t>
            </a:r>
            <a:endParaRPr sz="840"/>
          </a:p>
        </p:txBody>
      </p:sp>
      <p:sp>
        <p:nvSpPr>
          <p:cNvPr id="95" name="Rounded Rectangle 94"/>
          <p:cNvSpPr/>
          <p:nvPr/>
        </p:nvSpPr>
        <p:spPr>
          <a:xfrm>
            <a:off x="5038344" y="3657600"/>
            <a:ext cx="360273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데모 1분</a:t>
            </a: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  docs/영상/demo_1min.mp4 (녹화 후)</a:t>
            </a:r>
            <a:endParaRPr sz="760"/>
          </a:p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원칙 클립</a:t>
            </a: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  docs/영상/p01–p10.mp4 (권장)</a:t>
            </a:r>
            <a:endParaRPr sz="760"/>
          </a:p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저장소</a:t>
            </a: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  github.com/mdefitko777/gunpula-flutter</a:t>
            </a:r>
            <a:endParaRPr sz="760"/>
          </a:p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다시 만들기</a:t>
            </a: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  flutter test tool/screenshots_test.dart</a:t>
            </a:r>
            <a:endParaRPr sz="76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3123" y="304800"/>
            <a:ext cx="1272927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0073" y="342900"/>
            <a:ext cx="103940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B1 · 질의 때만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B1 — 참조: 데모 및 스크린샷 (2/2)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참조: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화면 · 가로 · 폴드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507950" y="4810125"/>
            <a:ext cx="456370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6단계(로딩/오류/빈 상태 · 적응형) · 6장 제출물 ①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B1-2</a:t>
            </a:r>
            <a:endParaRPr lang="en-US" sz="680" dirty="0"/>
          </a:p>
        </p:txBody>
      </p:sp>
      <p:sp>
        <p:nvSpPr>
          <p:cNvPr id="62" name="Rounded Rectangle 61"/>
          <p:cNvSpPr/>
          <p:nvPr/>
        </p:nvSpPr>
        <p:spPr>
          <a:xfrm>
            <a:off x="512064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H 캘린더</a:t>
            </a:r>
            <a:endParaRPr sz="740"/>
          </a:p>
        </p:txBody>
      </p:sp>
      <p:sp>
        <p:nvSpPr>
          <p:cNvPr id="63" name="Rounded Rectangle 62"/>
          <p:cNvSpPr/>
          <p:nvPr/>
        </p:nvSpPr>
        <p:spPr>
          <a:xfrm>
            <a:off x="512064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64" name="Picture 63" descr="11_calend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3111" y="1252728"/>
            <a:ext cx="832386" cy="1801368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512064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h_calendar_screen.dart</a:t>
            </a:r>
            <a:endParaRPr sz="700"/>
          </a:p>
        </p:txBody>
      </p:sp>
      <p:sp>
        <p:nvSpPr>
          <p:cNvPr id="66" name="Rounded Rectangle 65"/>
          <p:cNvSpPr/>
          <p:nvPr/>
        </p:nvSpPr>
        <p:spPr>
          <a:xfrm>
            <a:off x="2153412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M 친구 서랍</a:t>
            </a:r>
            <a:endParaRPr sz="740"/>
          </a:p>
        </p:txBody>
      </p:sp>
      <p:sp>
        <p:nvSpPr>
          <p:cNvPr id="67" name="Rounded Rectangle 66"/>
          <p:cNvSpPr/>
          <p:nvPr/>
        </p:nvSpPr>
        <p:spPr>
          <a:xfrm>
            <a:off x="2153412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68" name="Picture 67" descr="13_friends_drawer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14459" y="1252728"/>
            <a:ext cx="832386" cy="1801368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2153412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m_friends_drawer.dart</a:t>
            </a:r>
            <a:endParaRPr sz="700"/>
          </a:p>
        </p:txBody>
      </p:sp>
      <p:sp>
        <p:nvSpPr>
          <p:cNvPr id="70" name="Rounded Rectangle 69"/>
          <p:cNvSpPr/>
          <p:nvPr/>
        </p:nvSpPr>
        <p:spPr>
          <a:xfrm>
            <a:off x="3794760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I 내 정보</a:t>
            </a:r>
            <a:endParaRPr sz="740"/>
          </a:p>
        </p:txBody>
      </p:sp>
      <p:sp>
        <p:nvSpPr>
          <p:cNvPr id="71" name="Rounded Rectangle 70"/>
          <p:cNvSpPr/>
          <p:nvPr/>
        </p:nvSpPr>
        <p:spPr>
          <a:xfrm>
            <a:off x="3794760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72" name="Picture 71" descr="14_profil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55807" y="1252728"/>
            <a:ext cx="832386" cy="1801368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3794760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i_profile_screen.dart</a:t>
            </a:r>
            <a:endParaRPr sz="700"/>
          </a:p>
        </p:txBody>
      </p:sp>
      <p:sp>
        <p:nvSpPr>
          <p:cNvPr id="74" name="Rounded Rectangle 73"/>
          <p:cNvSpPr/>
          <p:nvPr/>
        </p:nvSpPr>
        <p:spPr>
          <a:xfrm>
            <a:off x="5436108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N 알림</a:t>
            </a:r>
            <a:endParaRPr sz="740"/>
          </a:p>
        </p:txBody>
      </p:sp>
      <p:sp>
        <p:nvSpPr>
          <p:cNvPr id="75" name="Rounded Rectangle 74"/>
          <p:cNvSpPr/>
          <p:nvPr/>
        </p:nvSpPr>
        <p:spPr>
          <a:xfrm>
            <a:off x="5436108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76" name="Picture 75" descr="16_notifications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97155" y="1252728"/>
            <a:ext cx="832386" cy="180136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5436108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n_notifications_screen.dart</a:t>
            </a:r>
            <a:endParaRPr sz="700"/>
          </a:p>
        </p:txBody>
      </p:sp>
      <p:sp>
        <p:nvSpPr>
          <p:cNvPr id="78" name="Rounded Rectangle 77"/>
          <p:cNvSpPr/>
          <p:nvPr/>
        </p:nvSpPr>
        <p:spPr>
          <a:xfrm>
            <a:off x="7077456" y="1005840"/>
            <a:ext cx="15544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E 찍어서 찾기 결과</a:t>
            </a:r>
            <a:endParaRPr sz="740"/>
          </a:p>
        </p:txBody>
      </p:sp>
      <p:sp>
        <p:nvSpPr>
          <p:cNvPr id="79" name="Rounded Rectangle 78"/>
          <p:cNvSpPr/>
          <p:nvPr/>
        </p:nvSpPr>
        <p:spPr>
          <a:xfrm>
            <a:off x="7077456" y="1216152"/>
            <a:ext cx="1554480" cy="18745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0" name="Picture 79" descr="18_camera_result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38503" y="1252728"/>
            <a:ext cx="832386" cy="1801368"/>
          </a:xfrm>
          <a:prstGeom prst="rect">
            <a:avLst/>
          </a:prstGeom>
        </p:spPr>
      </p:pic>
      <p:sp>
        <p:nvSpPr>
          <p:cNvPr id="81" name="Rectangle 80"/>
          <p:cNvSpPr/>
          <p:nvPr/>
        </p:nvSpPr>
        <p:spPr>
          <a:xfrm>
            <a:off x="7077456" y="3127248"/>
            <a:ext cx="15544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e_camera_screen.dart</a:t>
            </a:r>
            <a:endParaRPr sz="700"/>
          </a:p>
        </p:txBody>
      </p:sp>
      <p:sp>
        <p:nvSpPr>
          <p:cNvPr id="82" name="Rounded Rectangle 81"/>
          <p:cNvSpPr/>
          <p:nvPr/>
        </p:nvSpPr>
        <p:spPr>
          <a:xfrm>
            <a:off x="512064" y="3456432"/>
            <a:ext cx="114300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L 친구 컬렉션</a:t>
            </a:r>
            <a:endParaRPr sz="740"/>
          </a:p>
        </p:txBody>
      </p:sp>
      <p:sp>
        <p:nvSpPr>
          <p:cNvPr id="83" name="Rounded Rectangle 82"/>
          <p:cNvSpPr/>
          <p:nvPr/>
        </p:nvSpPr>
        <p:spPr>
          <a:xfrm>
            <a:off x="512064" y="3657600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4" name="Picture 83" descr="15_friend_collection.png"/>
          <p:cNvPicPr>
            <a:picLocks noChangeAspect="1"/>
          </p:cNvPicPr>
          <p:nvPr/>
        </p:nvPicPr>
        <p:blipFill>
          <a:blip r:embed="rId7"/>
          <a:srcRect t="6702" b="61702"/>
          <a:stretch>
            <a:fillRect/>
          </a:stretch>
        </p:blipFill>
        <p:spPr>
          <a:xfrm>
            <a:off x="548640" y="3694176"/>
            <a:ext cx="1069848" cy="73152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12064" y="444398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l_friend_collection</a:t>
            </a:r>
            <a:endParaRPr sz="700"/>
          </a:p>
        </p:txBody>
      </p:sp>
      <p:sp>
        <p:nvSpPr>
          <p:cNvPr id="86" name="Rounded Rectangle 85"/>
          <p:cNvSpPr/>
          <p:nvPr/>
        </p:nvSpPr>
        <p:spPr>
          <a:xfrm>
            <a:off x="1746504" y="3456432"/>
            <a:ext cx="114300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K 설정</a:t>
            </a:r>
            <a:endParaRPr sz="740"/>
          </a:p>
        </p:txBody>
      </p:sp>
      <p:sp>
        <p:nvSpPr>
          <p:cNvPr id="87" name="Rounded Rectangle 86"/>
          <p:cNvSpPr/>
          <p:nvPr/>
        </p:nvSpPr>
        <p:spPr>
          <a:xfrm>
            <a:off x="1746504" y="3657600"/>
            <a:ext cx="114300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88" name="Picture 87" descr="17_settings.png"/>
          <p:cNvPicPr>
            <a:picLocks noChangeAspect="1"/>
          </p:cNvPicPr>
          <p:nvPr/>
        </p:nvPicPr>
        <p:blipFill>
          <a:blip r:embed="rId8"/>
          <a:srcRect t="6702" b="61702"/>
          <a:stretch>
            <a:fillRect/>
          </a:stretch>
        </p:blipFill>
        <p:spPr>
          <a:xfrm>
            <a:off x="1783080" y="3694176"/>
            <a:ext cx="1069848" cy="73152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746504" y="444398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k_settings_screen.dart</a:t>
            </a:r>
            <a:endParaRPr sz="700"/>
          </a:p>
        </p:txBody>
      </p:sp>
      <p:sp>
        <p:nvSpPr>
          <p:cNvPr id="90" name="Rounded Rectangle 89"/>
          <p:cNvSpPr/>
          <p:nvPr/>
        </p:nvSpPr>
        <p:spPr>
          <a:xfrm>
            <a:off x="2980944" y="3456432"/>
            <a:ext cx="17830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가로 폰 — 측면 탭 (S-5)</a:t>
            </a:r>
            <a:endParaRPr sz="740"/>
          </a:p>
        </p:txBody>
      </p:sp>
      <p:sp>
        <p:nvSpPr>
          <p:cNvPr id="91" name="Rounded Rectangle 90"/>
          <p:cNvSpPr/>
          <p:nvPr/>
        </p:nvSpPr>
        <p:spPr>
          <a:xfrm>
            <a:off x="2980944" y="3657600"/>
            <a:ext cx="178308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2" name="Picture 91" descr="19_landscape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3080942" y="3694176"/>
            <a:ext cx="1583084" cy="73152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980944" y="4443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844×390</a:t>
            </a:r>
            <a:endParaRPr sz="700"/>
          </a:p>
        </p:txBody>
      </p:sp>
      <p:sp>
        <p:nvSpPr>
          <p:cNvPr id="94" name="Rounded Rectangle 93"/>
          <p:cNvSpPr/>
          <p:nvPr/>
        </p:nvSpPr>
        <p:spPr>
          <a:xfrm>
            <a:off x="4855464" y="3456432"/>
            <a:ext cx="1325880" cy="164592"/>
          </a:xfrm>
          <a:prstGeom prst="roundRect">
            <a:avLst>
              <a:gd name="adj" fmla="val 50000"/>
            </a:avLst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폴드 펼침 — 반반 (S-12)</a:t>
            </a:r>
            <a:endParaRPr sz="740"/>
          </a:p>
        </p:txBody>
      </p:sp>
      <p:sp>
        <p:nvSpPr>
          <p:cNvPr id="95" name="Rounded Rectangle 94"/>
          <p:cNvSpPr/>
          <p:nvPr/>
        </p:nvSpPr>
        <p:spPr>
          <a:xfrm>
            <a:off x="4855464" y="3657600"/>
            <a:ext cx="1325880" cy="10058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6" name="Picture 95" descr="20_fol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78432" y="3694176"/>
            <a:ext cx="879944" cy="7315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4855464" y="4443984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830×690</a:t>
            </a:r>
            <a:endParaRPr sz="700"/>
          </a:p>
        </p:txBody>
      </p:sp>
      <p:sp>
        <p:nvSpPr>
          <p:cNvPr id="98" name="TextBox 97"/>
          <p:cNvSpPr txBox="1"/>
          <p:nvPr/>
        </p:nvSpPr>
        <p:spPr>
          <a:xfrm>
            <a:off x="6272784" y="3456432"/>
            <a:ext cx="23682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영상 · 링크</a:t>
            </a:r>
            <a:endParaRPr sz="840"/>
          </a:p>
        </p:txBody>
      </p:sp>
      <p:sp>
        <p:nvSpPr>
          <p:cNvPr id="99" name="Rounded Rectangle 98"/>
          <p:cNvSpPr/>
          <p:nvPr/>
        </p:nvSpPr>
        <p:spPr>
          <a:xfrm>
            <a:off x="6272784" y="3657600"/>
            <a:ext cx="2368296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7가지 크기</a:t>
            </a:r>
            <a:endParaRPr sz="760"/>
          </a:p>
          <a:p>
            <a:pPr algn="l" marL="0" indent="0">
              <a:spcAft>
                <a:spcPts val="200"/>
              </a:spcAft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320×568 · 390×844 · 844×390 · 690×830 · 830×690 · 768×1024 · 1280×800</a:t>
            </a:r>
            <a:endParaRPr sz="700"/>
          </a:p>
          <a:p>
            <a:pPr algn="l" marL="0" indent="0">
              <a:spcAft>
                <a:spcPts val="200"/>
              </a:spcAft>
              <a:buNone/>
            </a:pPr>
            <a:r>
              <a:rPr sz="760" b="1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넘침 0 · 53개 통과</a:t>
            </a:r>
            <a:endParaRPr sz="76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P01 (1/10)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P01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상태의 가시성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B2·01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P01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1 — 지금 무슨 일이 일어나는지 늘 알려 준다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2025-07-28 ★3 "PLEASE FIX THE SCANNER" — 스캐너가 멈추거나 꺼져도 앱이 아무것도 알려 주지 않는다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E-4 "AI가 비교하는 중…" · E-6 일치도 막대 · G-4a Lv 막대(다음 레벨까지 n점) · N-3 안 읽음 점 · 모든 GET 화면 LoadingView (A-7 · B-8 · F-9) — 코드 // E-4 P01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18_camera_result.png · 04_v2_c.png / p01.mp4: 카메라 → 찍기 → "비교하는 중…" → 일치도 94%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돌아가는 원만 보여 주기 — 버림: 무엇을 하는 중인지 모른다(리뷰의 "멈춘 건지 모르겠다"). 문구 + 결과 일치도로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2025-07-28 ★3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"PLEASE FIX THE SCANNER" — 스캐너가 멈추거나 꺼져도 앱이 아무것도 알려 주지 않는다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18_camera_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P02 (2/10)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P02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시스템과 실세계의 일치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B2·02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P02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2 — 사용자가 아는 말 · 물건 · 순서로 보여 준다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현행 캡처: 미국 경매가(달러) 위주, 일본 정가 · 원래 이름이 없다. 잘된 점: 상자 사진 · 품번(그대로 가져감)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D-4 일본어 원래 이름 · D-5 "일본 정가" ¥ · D-2 공식 사진 · A-3 / J-1 공식 홍보 이미지 그대로 · 건담 작품명은 영어 공식명(The Witch from Mercury …)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03_v2_b.png / p02.mp4: 상세 위 → 일본어 이름 → "일본 정가" → 국내 시세 한 줄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정가를 원화로 바꿔 보여 주기 — 버림: 환율 계산은 "실제 계산"(감점)이고 매장 가격표와 달라진다(p27). 작품명 한글 줄임말 — 버림: 처음 보는 사람이 모른다(p25)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pic>
        <p:nvPicPr>
          <p:cNvPr id="57" name="Picture 56" descr="01_v1_curr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30161" y="1243584"/>
            <a:ext cx="672998" cy="146304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03_v2_b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P03 (3/10)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P03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통제와 자유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B2·03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P03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3 — 실수했을 때 쉽게 되돌아갈 비상구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2023-04-18 ★5 "the layout is a pain" — 누를 때마다 다른 창 · 2025-08-08 ★1: 원치 않게 처음 화면으로 튕긴다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켜고 끄기 토스트에 "되돌리기"(좋아요 · 구매함 · 점등 · 읽음) · F-10 휴지통 · S-6 IndexedStack(탭을 바꿔도 보던 자리) · O 전체 목록 = 같은 탭 안 보기 + ‹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12_collection.png / p03.mp4: 편집 → 2개 삭제 → 🗑 배지 → 휴지통에서 복원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삭제 전에 확인만 묻기 — 부족: 확인 뒤엔 방법이 없다 → 휴지통(p13). 전체 목록을 새 화면으로 쌓기 — 버림: "홈 머리 아래에서 바뀌어야" → 탭 안 보기(p20)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2023-04-18 ★5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"the layout is a pain" — 누를 때마다 다른 창 · 2025-08-08 ★1: 원치 않게 처음 화면으로 튕긴다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12_collec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P04 (4/10)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P04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일관성과 표준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B2·04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P04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4 — 같은 것은 어디서나 같은 모양 · 같은 말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2023-11-23 ★5: "쇼케이스와 컬렉션의 차이를 모르겠다" — 비슷한 기능이 다른 이름 · 모양으로 흩어져 있다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모양 둘: ♡ = 좋아요, 리본 + → ✓ = 구매함(A-9 · G-4b · D-6) · 색 둘: 파랑 = 고름, 민트 = 가진 것(S-15) · 앱 전체 한 벌(S-16 MarksHost) · 같은 부품(ProductTile · GpSearchBar)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02_v2_a · 03_v2_b · 04_v2_c / p04.mp4: 홈 ♡ → 컬렉션 좋아요 +1 → 상세 ♡ 켜짐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화면마다 다른 표시 — 버림: AI 반론 "같은 행동이 3–4가지 모양"(셀프 논증 쟁점 1) → 하나로(p26). 파랑 하나로 모든 상태 — 버림: 쟁점 2 → 민트 추가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2023-11-23 ★5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"쇼케이스와 컬렉션의 차이를 모르겠다" — 비슷한 기능이 다른 이름 · 모양으로 흩어져 있다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04_v2_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P05 (5/10)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P05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예방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B2·05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P05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5 — 실수가 일어나기 전에 막는다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2025-08-08 ★1: 원치 않는 새로고침 · 리셋 — 사용자가 의도하지 않은 큰 변화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F-7 여러 개 삭제 · D-12 오류 제보 · K-5 로그아웃 · O-6 기록 지우기 → 확인 대화상자 / G-5c 그 기체가 찍힌 사진이어야 켜짐 / I-9 · I-10 게시물 공개 범위 / 맞는 상품 0이면 필터 적용 잠김(O-2)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14_profile.png / p05.mp4: 도감 기체 → 내 사진 → 다른 사진 → "찾지 못했어요" → 맞는 사진 → 인증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"내 사진으로" 버튼 한 번에 점등 — 버림: 사용자 지적 "사진에 그 기체가 있어야 켜져야"(p09) → 사진 고르기 + 판정 흐름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2025-08-08 ★1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원치 않는 새로고침 · 리셋 — 사용자가 의도하지 않은 큰 변화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14_profil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P06 (6/10)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P06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기억보다 재인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B2·06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P06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6 — 외우지 않아도 보고 고를 수 있게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2023-11-23 ★5: "오래 썼지만 인터페이스를 익히기 어렵다"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늘 보이는 내 채널 바(C-1) · 밑줄 탭(F-2 · N-1 · L-1) · 검색창을 누르면 최근 · 인기 검색어 · AI 예시 문장(B-3 · B-4 · B-5) · 필터 패널: 작품 · 종류 · 라인 체크 목록(O-2)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10_search_all.png / p06.mp4: 검색 탭(전체 상품) → 검색창 → 최근 검색 칩 → 결과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필터를 알약 줄로 — 버림: "못생김, 상태가 아니라 작품별로" → 오른쪽 패널(p21). 검색 첫 화면 = 최근 · 인기 판 — 버림: "기본은 전체 상품"(p22)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2023-11-23 ★5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"오래 썼지만 인터페이스를 익히기 어렵다"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10_search_al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P07 (7/10)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P07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사용의 유연성과 효율성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B2·07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P07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7 — 익숙한 사람은 지름길로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2025-11-30 ★1: 시세를 한 달 10번만 볼 수 있게 막았다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위 ♡ · 리본 바로 누르기(A-9 · O-4 · G-4b) · 탭 바 가운데 카메라(S-4) · 국내 시세 한 줄, 횟수 제한 없음(D-5b) · 내 정보 숫자 → 컬렉션 그 목록(I-4 · F-11) · 홈 › → 같은 탭 전체 목록(A-5)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02_v2_a.png / p07.mp4: 홈 카드 리본 한 번 → ✓ (상세에 들어가지 않고 구매함)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시세를 "시장가" 칸 + 국내 시세 칸 두 곳에 — 버림: 사용자 "겹친다" → 정가 아래 한 줄 + 누르면 시트(p08)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2025-11-30 ★1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시세를 한 달 10번만 볼 수 있게 막았다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02_v2_a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P08 (8/10)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P08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미학적이고 미니멀한 디자인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B2·08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P08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8 — 지금 필요 없는 정보는 뺀다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2023-04-18 ★5 "the layout is a pain" · 2025-11-30 ★1 "TOO MANY ADS ON ONE SCREEN"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흑백 + 포인트 두 색 · 글자 6단계(S-15) · 홈 가로 줄은 사진 + 이름만(A-6) · 아래로 스크롤하면 탭 바와 아바타 줄 접힘(S-8 · S-13) · 광고 없음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02_v2_a.png · 01_v1_current.png(전) / p08.mp4: 홈을 내려 읽으면 위 · 아래가 접힘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큰 검정 바탕 + 흰 글자 면 — 버림(흰 바탕 위 떠 있는 버튼). 금색 장식 로고 — 버림: 48px 아이콘에서 뭉개지고 흑백 화면과 어긋남(로고 보류)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pic>
        <p:nvPicPr>
          <p:cNvPr id="57" name="Picture 56" descr="01_v1_curren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30161" y="1243584"/>
            <a:ext cx="672998" cy="146304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02_v2_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P09 (9/10)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P09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인식 · 진단 · 복구 돕기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B2·09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P09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9 — 무엇이 잘못됐는지 말하고 빠져나갈 길을 준다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2021-03-22 ★2: 목록에 없는 상품을 추가 · 오류 표시할 방법이 없다 · 2023-11-23: 일반판이 DB에서 자주 빠져 있다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GET 화면 ErrorView + "다시 시도" · 빈 상태 + 빠져나갈 길(F-9 "검색하러 가기", B-8 "전체 채널에서 찾기", O-8 "필터 초기화") · D-12 정보 오류 제보 · G-5c 판정 실패 안내 · E-9 다시 찍기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22_state_error.png / p09.mp4: DEMO_STATE=error → 오류 안내 → 다시 시도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토스트로만 "불러오기 실패" — 버림: 몇 초 뒤 사라지면 다음 행동을 모른다 → 화면에 남는 ErrorView + 버튼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2021-03-22 ★2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목록에 없는 상품을 추가 · 오류 표시할 방법이 없다 · 2023-11-23: 일반판이 DB에서 자주 빠져 있다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22_state_erro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886" y="304800"/>
            <a:ext cx="1503164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59836" y="342900"/>
            <a:ext cx="127424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B2 · P10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B2 — 원칙 카드 P10 (10/10)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 카드 P10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도움말과 문서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07950" y="4810125"/>
            <a:ext cx="426282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4장 1 · 5 · 7단계 · 7주차 덱 부록 A4(원칙 카드 5칸)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B2·10</a:t>
            </a:r>
            <a:endParaRPr lang="en-US" sz="680" dirty="0"/>
          </a:p>
        </p:txBody>
      </p:sp>
      <p:sp>
        <p:nvSpPr>
          <p:cNvPr id="44" name="Rectangle 43"/>
          <p:cNvSpPr/>
          <p:nvPr/>
        </p:nvSpPr>
        <p:spPr>
          <a:xfrm>
            <a:off x="512064" y="1005840"/>
            <a:ext cx="5852160" cy="24688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원칙 카드 P10</a:t>
            </a:r>
            <a:r>
              <a:rPr sz="760" b="0" i="0">
                <a:solidFill>
                  <a:srgbClr val="6EA8FF"/>
                </a:solidFill>
                <a:latin typeface="Arial"/>
                <a:ea typeface="맑은 고딕"/>
                <a:cs typeface="맑은 고딕"/>
              </a:rPr>
              <a:t>   5칸: 원칙 · 근거 · 적용 · 시연 · 판단</a:t>
            </a:r>
            <a:endParaRPr sz="760"/>
          </a:p>
        </p:txBody>
      </p:sp>
      <p:sp>
        <p:nvSpPr>
          <p:cNvPr id="45" name="Rectangle 44"/>
          <p:cNvSpPr/>
          <p:nvPr/>
        </p:nvSpPr>
        <p:spPr>
          <a:xfrm>
            <a:off x="512064" y="1252728"/>
            <a:ext cx="713232" cy="4023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원칙</a:t>
            </a:r>
            <a:endParaRPr sz="900"/>
          </a:p>
        </p:txBody>
      </p:sp>
      <p:sp>
        <p:nvSpPr>
          <p:cNvPr id="46" name="Rectangle 45"/>
          <p:cNvSpPr/>
          <p:nvPr/>
        </p:nvSpPr>
        <p:spPr>
          <a:xfrm>
            <a:off x="1225296" y="1252728"/>
            <a:ext cx="5138928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닐슨 10 — 필요할 때 그 자리에서 짧게</a:t>
            </a:r>
            <a:endParaRPr sz="900"/>
          </a:p>
        </p:txBody>
      </p:sp>
      <p:sp>
        <p:nvSpPr>
          <p:cNvPr id="47" name="Rectangle 46"/>
          <p:cNvSpPr/>
          <p:nvPr/>
        </p:nvSpPr>
        <p:spPr>
          <a:xfrm>
            <a:off x="512064" y="1655064"/>
            <a:ext cx="713232" cy="67665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근거</a:t>
            </a:r>
            <a:endParaRPr sz="900"/>
          </a:p>
        </p:txBody>
      </p:sp>
      <p:sp>
        <p:nvSpPr>
          <p:cNvPr id="48" name="Rectangle 47"/>
          <p:cNvSpPr/>
          <p:nvPr/>
        </p:nvSpPr>
        <p:spPr>
          <a:xfrm>
            <a:off x="1225296" y="1655064"/>
            <a:ext cx="5138928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2021-09-17 ★3: 시세가 어디서 나온 값인지 모르겠다</a:t>
            </a:r>
            <a:endParaRPr sz="819"/>
          </a:p>
        </p:txBody>
      </p:sp>
      <p:sp>
        <p:nvSpPr>
          <p:cNvPr id="49" name="Rectangle 48"/>
          <p:cNvSpPr/>
          <p:nvPr/>
        </p:nvSpPr>
        <p:spPr>
          <a:xfrm>
            <a:off x="512064" y="2331720"/>
            <a:ext cx="713232" cy="987552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적용</a:t>
            </a:r>
            <a:endParaRPr sz="900"/>
          </a:p>
        </p:txBody>
      </p:sp>
      <p:sp>
        <p:nvSpPr>
          <p:cNvPr id="50" name="Rectangle 49"/>
          <p:cNvSpPr/>
          <p:nvPr/>
        </p:nvSpPr>
        <p:spPr>
          <a:xfrm>
            <a:off x="1225296" y="2331720"/>
            <a:ext cx="5138928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G-2 도감 읽는 법(? → 4단계 · 점수) · D-5b 국내 시세 "거래 n건" + 시트에 플랫폼 3곳 · J-5 "공식으로 가기"(출처) · D-14 공식 상품 페이지 · B-5 "말로 설명해서 찾기" 예시 문장</a:t>
            </a:r>
            <a:endParaRPr sz="819"/>
          </a:p>
        </p:txBody>
      </p:sp>
      <p:sp>
        <p:nvSpPr>
          <p:cNvPr id="51" name="Rectangle 50"/>
          <p:cNvSpPr/>
          <p:nvPr/>
        </p:nvSpPr>
        <p:spPr>
          <a:xfrm>
            <a:off x="512064" y="3319272"/>
            <a:ext cx="713232" cy="56692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시연</a:t>
            </a:r>
            <a:endParaRPr sz="900"/>
          </a:p>
        </p:txBody>
      </p:sp>
      <p:sp>
        <p:nvSpPr>
          <p:cNvPr id="52" name="Rectangle 51"/>
          <p:cNvSpPr/>
          <p:nvPr/>
        </p:nvSpPr>
        <p:spPr>
          <a:xfrm>
            <a:off x="1225296" y="3319272"/>
            <a:ext cx="51389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04_v2_c.png / p10.mp4: 작품 도감 → ? → 도감 읽는 법 시트</a:t>
            </a:r>
            <a:endParaRPr sz="819"/>
          </a:p>
        </p:txBody>
      </p:sp>
      <p:sp>
        <p:nvSpPr>
          <p:cNvPr id="53" name="Rectangle 52"/>
          <p:cNvSpPr/>
          <p:nvPr/>
        </p:nvSpPr>
        <p:spPr>
          <a:xfrm>
            <a:off x="512064" y="3886200"/>
            <a:ext cx="713232" cy="749808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900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900"/>
          </a:p>
        </p:txBody>
      </p:sp>
      <p:sp>
        <p:nvSpPr>
          <p:cNvPr id="54" name="Rectangle 53"/>
          <p:cNvSpPr/>
          <p:nvPr/>
        </p:nvSpPr>
        <p:spPr>
          <a:xfrm>
            <a:off x="1225296" y="3886200"/>
            <a:ext cx="5138928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buNone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 위 긴 범례 줄 — 버림: 사용자 "긴 줄 대신 ? 아이콘"(p12). 시세 출처를 문장으로 길게 — 버림: 거래 건수 + 플랫폼 이름만</a:t>
            </a:r>
            <a:endParaRPr sz="819"/>
          </a:p>
        </p:txBody>
      </p:sp>
      <p:sp>
        <p:nvSpPr>
          <p:cNvPr id="55" name="Rounded Rectangle 54"/>
          <p:cNvSpPr/>
          <p:nvPr/>
        </p:nvSpPr>
        <p:spPr>
          <a:xfrm>
            <a:off x="6492240" y="1005840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6" name="TextBox 55"/>
          <p:cNvSpPr txBox="1"/>
          <p:nvPr/>
        </p:nvSpPr>
        <p:spPr>
          <a:xfrm>
            <a:off x="6583680" y="1060704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근거 캡처</a:t>
            </a:r>
            <a:endParaRPr sz="760"/>
          </a:p>
        </p:txBody>
      </p:sp>
      <p:sp>
        <p:nvSpPr>
          <p:cNvPr id="57" name="Rounded Rectangle 56"/>
          <p:cNvSpPr/>
          <p:nvPr/>
        </p:nvSpPr>
        <p:spPr>
          <a:xfrm>
            <a:off x="6601968" y="1298448"/>
            <a:ext cx="1929384" cy="13533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리뷰 · 2021-09-17 ★3</a:t>
            </a:r>
            <a:endParaRPr sz="760"/>
          </a:p>
          <a:p>
            <a:pPr algn="l" marL="0" indent="0">
              <a:spcAft>
                <a:spcPts val="300"/>
              </a:spcAft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시세가 어디서 나온 값인지 모르겠다</a:t>
            </a:r>
            <a:endParaRPr sz="840"/>
          </a:p>
        </p:txBody>
      </p:sp>
      <p:sp>
        <p:nvSpPr>
          <p:cNvPr id="58" name="Rounded Rectangle 57"/>
          <p:cNvSpPr/>
          <p:nvPr/>
        </p:nvSpPr>
        <p:spPr>
          <a:xfrm>
            <a:off x="6492240" y="2852928"/>
            <a:ext cx="2148840" cy="1755648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59" name="TextBox 58"/>
          <p:cNvSpPr txBox="1"/>
          <p:nvPr/>
        </p:nvSpPr>
        <p:spPr>
          <a:xfrm>
            <a:off x="6583680" y="2907792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60" b="1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시연 캡처</a:t>
            </a:r>
            <a:endParaRPr sz="760"/>
          </a:p>
        </p:txBody>
      </p:sp>
      <p:pic>
        <p:nvPicPr>
          <p:cNvPr id="60" name="Picture 59" descr="04_v2_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28635" y="3090672"/>
            <a:ext cx="67604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3942" y="304800"/>
            <a:ext cx="672108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90892" y="342900"/>
            <a:ext cx="4265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B3 — prompt-log (1/2)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prompt-log: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맡긴 일과 나의 판단</a:t>
            </a:r>
            <a:endParaRPr lang="en-US" sz="1900" dirty="0"/>
          </a:p>
        </p:txBody>
      </p:sp>
      <p:sp>
        <p:nvSpPr>
          <p:cNvPr id="74" name="Text 72"/>
          <p:cNvSpPr/>
          <p:nvPr/>
        </p:nvSpPr>
        <p:spPr>
          <a:xfrm>
            <a:off x="507950" y="4810125"/>
            <a:ext cx="546451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8장 FAQ("지문과 판정 결과를 기획 문서에 남긴다") · 5장 허용/감점 · 7주차 덱 부록 A5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B3-1</a:t>
            </a:r>
            <a:endParaRPr lang="en-US" sz="680" dirty="0"/>
          </a:p>
        </p:txBody>
      </p:sp>
      <p:sp>
        <p:nvSpPr>
          <p:cNvPr id="76" name="Rectangle 75"/>
          <p:cNvSpPr/>
          <p:nvPr/>
        </p:nvSpPr>
        <p:spPr>
          <a:xfrm>
            <a:off x="512064" y="1005840"/>
            <a:ext cx="4114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날짜</a:t>
            </a:r>
            <a:endParaRPr sz="740"/>
          </a:p>
        </p:txBody>
      </p:sp>
      <p:sp>
        <p:nvSpPr>
          <p:cNvPr id="77" name="Rectangle 76"/>
          <p:cNvSpPr/>
          <p:nvPr/>
        </p:nvSpPr>
        <p:spPr>
          <a:xfrm>
            <a:off x="923544" y="1005840"/>
            <a:ext cx="18745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요청 (지문 요약)</a:t>
            </a:r>
            <a:endParaRPr sz="740"/>
          </a:p>
        </p:txBody>
      </p:sp>
      <p:sp>
        <p:nvSpPr>
          <p:cNvPr id="78" name="Rectangle 77"/>
          <p:cNvSpPr/>
          <p:nvPr/>
        </p:nvSpPr>
        <p:spPr>
          <a:xfrm>
            <a:off x="2798064" y="1005840"/>
            <a:ext cx="18745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AI 결과</a:t>
            </a:r>
            <a:endParaRPr sz="740"/>
          </a:p>
        </p:txBody>
      </p:sp>
      <p:sp>
        <p:nvSpPr>
          <p:cNvPr id="79" name="Rectangle 78"/>
          <p:cNvSpPr/>
          <p:nvPr/>
        </p:nvSpPr>
        <p:spPr>
          <a:xfrm>
            <a:off x="4672584" y="1005840"/>
            <a:ext cx="56692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740"/>
          </a:p>
        </p:txBody>
      </p:sp>
      <p:sp>
        <p:nvSpPr>
          <p:cNvPr id="80" name="Rectangle 79"/>
          <p:cNvSpPr/>
          <p:nvPr/>
        </p:nvSpPr>
        <p:spPr>
          <a:xfrm>
            <a:off x="5239512" y="1005840"/>
            <a:ext cx="281635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이유 (안내문 · 원칙 · 리뷰 근거)</a:t>
            </a:r>
            <a:endParaRPr sz="740"/>
          </a:p>
        </p:txBody>
      </p:sp>
      <p:sp>
        <p:nvSpPr>
          <p:cNvPr id="81" name="Rectangle 80"/>
          <p:cNvSpPr/>
          <p:nvPr/>
        </p:nvSpPr>
        <p:spPr>
          <a:xfrm>
            <a:off x="8055864" y="1005840"/>
            <a:ext cx="58521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40"/>
          </a:p>
        </p:txBody>
      </p:sp>
      <p:sp>
        <p:nvSpPr>
          <p:cNvPr id="82" name="Rectangle 81"/>
          <p:cNvSpPr/>
          <p:nvPr/>
        </p:nvSpPr>
        <p:spPr>
          <a:xfrm>
            <a:off x="512064" y="1207008"/>
            <a:ext cx="41148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10/24</a:t>
            </a:r>
            <a:endParaRPr sz="720"/>
          </a:p>
        </p:txBody>
      </p:sp>
      <p:sp>
        <p:nvSpPr>
          <p:cNvPr id="83" name="Rectangle 82"/>
          <p:cNvSpPr/>
          <p:nvPr/>
        </p:nvSpPr>
        <p:spPr>
          <a:xfrm>
            <a:off x="923544" y="1207008"/>
            <a:ext cx="187452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★ (ChatGPT) 기존 Gunpula · hobbyDB 화면의 문제를 비판해 달라</a:t>
            </a:r>
            <a:endParaRPr sz="720"/>
          </a:p>
        </p:txBody>
      </p:sp>
      <p:sp>
        <p:nvSpPr>
          <p:cNvPr id="84" name="Rectangle 83"/>
          <p:cNvSpPr/>
          <p:nvPr/>
        </p:nvSpPr>
        <p:spPr>
          <a:xfrm>
            <a:off x="2798064" y="1207008"/>
            <a:ext cx="187452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메뉴 과다 · 정보 흩어짐 · 화면마다 다른 조작</a:t>
            </a:r>
            <a:endParaRPr sz="720"/>
          </a:p>
        </p:txBody>
      </p:sp>
      <p:sp>
        <p:nvSpPr>
          <p:cNvPr id="85" name="Rectangle 84"/>
          <p:cNvSpPr/>
          <p:nvPr/>
        </p:nvSpPr>
        <p:spPr>
          <a:xfrm>
            <a:off x="4672584" y="1207008"/>
            <a:ext cx="566928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86" name="Rectangle 85"/>
          <p:cNvSpPr/>
          <p:nvPr/>
        </p:nvSpPr>
        <p:spPr>
          <a:xfrm>
            <a:off x="5239512" y="1207008"/>
            <a:ext cx="2816352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그대로 따르지 않고 "아래 탭 5개 + 위 채널 바"로 내가 다시 설계 — 리뷰 "익히기 어렵다"</a:t>
            </a:r>
            <a:endParaRPr sz="720"/>
          </a:p>
        </p:txBody>
      </p:sp>
      <p:sp>
        <p:nvSpPr>
          <p:cNvPr id="87" name="Rectangle 86"/>
          <p:cNvSpPr/>
          <p:nvPr/>
        </p:nvSpPr>
        <p:spPr>
          <a:xfrm>
            <a:off x="8055864" y="1207008"/>
            <a:ext cx="585216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</a:t>
            </a:r>
            <a:endParaRPr sz="720"/>
          </a:p>
        </p:txBody>
      </p:sp>
      <p:sp>
        <p:nvSpPr>
          <p:cNvPr id="88" name="Rectangle 87"/>
          <p:cNvSpPr/>
          <p:nvPr/>
        </p:nvSpPr>
        <p:spPr>
          <a:xfrm>
            <a:off x="512064" y="1531620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10/24</a:t>
            </a:r>
            <a:endParaRPr sz="720"/>
          </a:p>
        </p:txBody>
      </p:sp>
      <p:sp>
        <p:nvSpPr>
          <p:cNvPr id="89" name="Rectangle 88"/>
          <p:cNvSpPr/>
          <p:nvPr/>
        </p:nvSpPr>
        <p:spPr>
          <a:xfrm>
            <a:off x="923544" y="153162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아래 탭을 무엇으로 나눌지 (홈 · 검색 · 카메라 + 2개)</a:t>
            </a:r>
            <a:endParaRPr sz="720"/>
          </a:p>
        </p:txBody>
      </p:sp>
      <p:sp>
        <p:nvSpPr>
          <p:cNvPr id="90" name="Rectangle 89"/>
          <p:cNvSpPr/>
          <p:nvPr/>
        </p:nvSpPr>
        <p:spPr>
          <a:xfrm>
            <a:off x="2798064" y="153162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캘린더 · 컬렉션, 도감은 컬렉션 안 보기</a:t>
            </a:r>
            <a:endParaRPr sz="720"/>
          </a:p>
        </p:txBody>
      </p:sp>
      <p:sp>
        <p:nvSpPr>
          <p:cNvPr id="91" name="Rectangle 90"/>
          <p:cNvSpPr/>
          <p:nvPr/>
        </p:nvSpPr>
        <p:spPr>
          <a:xfrm>
            <a:off x="4672584" y="1531620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92" name="Rectangle 91"/>
          <p:cNvSpPr/>
          <p:nvPr/>
        </p:nvSpPr>
        <p:spPr>
          <a:xfrm>
            <a:off x="5239512" y="1531620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저니 ⑤ "모은 것 보기"를 컬렉션 안에 — 탭 수 줄이기</a:t>
            </a:r>
            <a:endParaRPr sz="720"/>
          </a:p>
        </p:txBody>
      </p:sp>
      <p:sp>
        <p:nvSpPr>
          <p:cNvPr id="93" name="Rectangle 92"/>
          <p:cNvSpPr/>
          <p:nvPr/>
        </p:nvSpPr>
        <p:spPr>
          <a:xfrm>
            <a:off x="8055864" y="1531620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 P08</a:t>
            </a:r>
            <a:endParaRPr sz="720"/>
          </a:p>
        </p:txBody>
      </p:sp>
      <p:sp>
        <p:nvSpPr>
          <p:cNvPr id="94" name="Rectangle 93"/>
          <p:cNvSpPr/>
          <p:nvPr/>
        </p:nvSpPr>
        <p:spPr>
          <a:xfrm>
            <a:off x="512064" y="1856232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10/24</a:t>
            </a:r>
            <a:endParaRPr sz="720"/>
          </a:p>
        </p:txBody>
      </p:sp>
      <p:sp>
        <p:nvSpPr>
          <p:cNvPr id="95" name="Rectangle 94"/>
          <p:cNvSpPr/>
          <p:nvPr/>
        </p:nvSpPr>
        <p:spPr>
          <a:xfrm>
            <a:off x="923544" y="185623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홈 레이아웃 시안 여러 개</a:t>
            </a:r>
            <a:endParaRPr sz="720"/>
          </a:p>
        </p:txBody>
      </p:sp>
      <p:sp>
        <p:nvSpPr>
          <p:cNvPr id="96" name="Rectangle 95"/>
          <p:cNvSpPr/>
          <p:nvPr/>
        </p:nvSpPr>
        <p:spPr>
          <a:xfrm>
            <a:off x="2798064" y="185623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매거진형 · 목록형 등</a:t>
            </a:r>
            <a:endParaRPr sz="720"/>
          </a:p>
        </p:txBody>
      </p:sp>
      <p:sp>
        <p:nvSpPr>
          <p:cNvPr id="97" name="Rectangle 96"/>
          <p:cNvSpPr/>
          <p:nvPr/>
        </p:nvSpPr>
        <p:spPr>
          <a:xfrm>
            <a:off x="4672584" y="1856232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98" name="Rectangle 97"/>
          <p:cNvSpPr/>
          <p:nvPr/>
        </p:nvSpPr>
        <p:spPr>
          <a:xfrm>
            <a:off x="5239512" y="1856232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PS Store · IMDb 참고 캡처를 주고 "배너 + 가로 줄"로 바꿈</a:t>
            </a:r>
            <a:endParaRPr sz="720"/>
          </a:p>
        </p:txBody>
      </p:sp>
      <p:sp>
        <p:nvSpPr>
          <p:cNvPr id="99" name="Rectangle 98"/>
          <p:cNvSpPr/>
          <p:nvPr/>
        </p:nvSpPr>
        <p:spPr>
          <a:xfrm>
            <a:off x="8055864" y="1856232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512064" y="2180844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923544" y="218084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홈 · 검색 검색창이 다르다, 재사용 안 된 것 찾기</a:t>
            </a:r>
            <a:endParaRPr sz="720"/>
          </a:p>
        </p:txBody>
      </p:sp>
      <p:sp>
        <p:nvSpPr>
          <p:cNvPr id="102" name="Rectangle 101"/>
          <p:cNvSpPr/>
          <p:nvPr/>
        </p:nvSpPr>
        <p:spPr>
          <a:xfrm>
            <a:off x="2798064" y="218084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GpSearchBar 하나로, 중복 7종 공용 위젯화</a:t>
            </a:r>
            <a:endParaRPr sz="720"/>
          </a:p>
        </p:txBody>
      </p:sp>
      <p:sp>
        <p:nvSpPr>
          <p:cNvPr id="103" name="Rectangle 102"/>
          <p:cNvSpPr/>
          <p:nvPr/>
        </p:nvSpPr>
        <p:spPr>
          <a:xfrm>
            <a:off x="4672584" y="2180844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04" name="Rectangle 103"/>
          <p:cNvSpPr/>
          <p:nvPr/>
        </p:nvSpPr>
        <p:spPr>
          <a:xfrm>
            <a:off x="5239512" y="2180844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같은 것은 같은 모양</a:t>
            </a:r>
            <a:endParaRPr sz="720"/>
          </a:p>
        </p:txBody>
      </p:sp>
      <p:sp>
        <p:nvSpPr>
          <p:cNvPr id="105" name="Rectangle 104"/>
          <p:cNvSpPr/>
          <p:nvPr/>
        </p:nvSpPr>
        <p:spPr>
          <a:xfrm>
            <a:off x="8055864" y="2180844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</a:t>
            </a:r>
            <a:endParaRPr sz="720"/>
          </a:p>
        </p:txBody>
      </p:sp>
      <p:sp>
        <p:nvSpPr>
          <p:cNvPr id="106" name="Rectangle 105"/>
          <p:cNvSpPr/>
          <p:nvPr/>
        </p:nvSpPr>
        <p:spPr>
          <a:xfrm>
            <a:off x="512064" y="2505456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07" name="Rectangle 106"/>
          <p:cNvSpPr/>
          <p:nvPr/>
        </p:nvSpPr>
        <p:spPr>
          <a:xfrm>
            <a:off x="923544" y="250545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상세의 "시장가"와 "국내 시세"가 겹친다</a:t>
            </a:r>
            <a:endParaRPr sz="720"/>
          </a:p>
        </p:txBody>
      </p:sp>
      <p:sp>
        <p:nvSpPr>
          <p:cNvPr id="108" name="Rectangle 107"/>
          <p:cNvSpPr/>
          <p:nvPr/>
        </p:nvSpPr>
        <p:spPr>
          <a:xfrm>
            <a:off x="2798064" y="250545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아래 시세 한 줄 + 시트로 합침</a:t>
            </a:r>
            <a:endParaRPr sz="720"/>
          </a:p>
        </p:txBody>
      </p:sp>
      <p:sp>
        <p:nvSpPr>
          <p:cNvPr id="109" name="Rectangle 108"/>
          <p:cNvSpPr/>
          <p:nvPr/>
        </p:nvSpPr>
        <p:spPr>
          <a:xfrm>
            <a:off x="4672584" y="2505456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10" name="Rectangle 109"/>
          <p:cNvSpPr/>
          <p:nvPr/>
        </p:nvSpPr>
        <p:spPr>
          <a:xfrm>
            <a:off x="5239512" y="2505456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같은 정보 두 번 = 미니멀 위반 (p08)</a:t>
            </a:r>
            <a:endParaRPr sz="720"/>
          </a:p>
        </p:txBody>
      </p:sp>
      <p:sp>
        <p:nvSpPr>
          <p:cNvPr id="111" name="Rectangle 110"/>
          <p:cNvSpPr/>
          <p:nvPr/>
        </p:nvSpPr>
        <p:spPr>
          <a:xfrm>
            <a:off x="8055864" y="2505456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P08</a:t>
            </a:r>
            <a:endParaRPr sz="720"/>
          </a:p>
        </p:txBody>
      </p:sp>
      <p:sp>
        <p:nvSpPr>
          <p:cNvPr id="112" name="Rectangle 111"/>
          <p:cNvSpPr/>
          <p:nvPr/>
        </p:nvSpPr>
        <p:spPr>
          <a:xfrm>
            <a:off x="512064" y="2830068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13" name="Rectangle 112"/>
          <p:cNvSpPr/>
          <p:nvPr/>
        </p:nvSpPr>
        <p:spPr>
          <a:xfrm>
            <a:off x="923544" y="283006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도감을 내 사진으로 켜고 싶다</a:t>
            </a:r>
            <a:endParaRPr sz="720"/>
          </a:p>
        </p:txBody>
      </p:sp>
      <p:sp>
        <p:nvSpPr>
          <p:cNvPr id="114" name="Rectangle 113"/>
          <p:cNvSpPr/>
          <p:nvPr/>
        </p:nvSpPr>
        <p:spPr>
          <a:xfrm>
            <a:off x="2798064" y="283006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"내 사진으로" 토글 한 번에 점등</a:t>
            </a:r>
            <a:endParaRPr sz="720"/>
          </a:p>
        </p:txBody>
      </p:sp>
      <p:sp>
        <p:nvSpPr>
          <p:cNvPr id="115" name="Rectangle 114"/>
          <p:cNvSpPr/>
          <p:nvPr/>
        </p:nvSpPr>
        <p:spPr>
          <a:xfrm>
            <a:off x="4672584" y="2830068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116" name="Rectangle 115"/>
          <p:cNvSpPr/>
          <p:nvPr/>
        </p:nvSpPr>
        <p:spPr>
          <a:xfrm>
            <a:off x="5239512" y="2830068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지적: 그 기체가 찍힌 사진이어야 → 사진 고르기 + 판정 흐름 (p09)</a:t>
            </a:r>
            <a:endParaRPr sz="720"/>
          </a:p>
        </p:txBody>
      </p:sp>
      <p:sp>
        <p:nvSpPr>
          <p:cNvPr id="117" name="Rectangle 116"/>
          <p:cNvSpPr/>
          <p:nvPr/>
        </p:nvSpPr>
        <p:spPr>
          <a:xfrm>
            <a:off x="8055864" y="2830068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P05</a:t>
            </a:r>
            <a:endParaRPr sz="720"/>
          </a:p>
        </p:txBody>
      </p:sp>
      <p:sp>
        <p:nvSpPr>
          <p:cNvPr id="118" name="Rectangle 117"/>
          <p:cNvSpPr/>
          <p:nvPr/>
        </p:nvSpPr>
        <p:spPr>
          <a:xfrm>
            <a:off x="512064" y="3154680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19" name="Rectangle 118"/>
          <p:cNvSpPr/>
          <p:nvPr/>
        </p:nvSpPr>
        <p:spPr>
          <a:xfrm>
            <a:off x="923544" y="315468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 표시를 IMDb 처럼</a:t>
            </a:r>
            <a:endParaRPr sz="720"/>
          </a:p>
        </p:txBody>
      </p:sp>
      <p:sp>
        <p:nvSpPr>
          <p:cNvPr id="120" name="Rectangle 119"/>
          <p:cNvSpPr/>
          <p:nvPr/>
        </p:nvSpPr>
        <p:spPr>
          <a:xfrm>
            <a:off x="2798064" y="315468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왼쪽 위 리본 + · 왼쪽 아래 ♡</a:t>
            </a:r>
            <a:endParaRPr sz="720"/>
          </a:p>
        </p:txBody>
      </p:sp>
      <p:sp>
        <p:nvSpPr>
          <p:cNvPr id="121" name="Rectangle 120"/>
          <p:cNvSpPr/>
          <p:nvPr/>
        </p:nvSpPr>
        <p:spPr>
          <a:xfrm>
            <a:off x="4672584" y="3154680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22" name="Rectangle 121"/>
          <p:cNvSpPr/>
          <p:nvPr/>
        </p:nvSpPr>
        <p:spPr>
          <a:xfrm>
            <a:off x="5239512" y="3154680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상세에 들어가지 않고 바로 담기 (p14)</a:t>
            </a:r>
            <a:endParaRPr sz="720"/>
          </a:p>
        </p:txBody>
      </p:sp>
      <p:sp>
        <p:nvSpPr>
          <p:cNvPr id="123" name="Rectangle 122"/>
          <p:cNvSpPr/>
          <p:nvPr/>
        </p:nvSpPr>
        <p:spPr>
          <a:xfrm>
            <a:off x="8055864" y="3154680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</a:t>
            </a:r>
            <a:endParaRPr sz="720"/>
          </a:p>
        </p:txBody>
      </p:sp>
      <p:sp>
        <p:nvSpPr>
          <p:cNvPr id="124" name="Rectangle 123"/>
          <p:cNvSpPr/>
          <p:nvPr/>
        </p:nvSpPr>
        <p:spPr>
          <a:xfrm>
            <a:off x="512064" y="3479292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25" name="Rectangle 124"/>
          <p:cNvSpPr/>
          <p:nvPr/>
        </p:nvSpPr>
        <p:spPr>
          <a:xfrm>
            <a:off x="923544" y="347929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친구 화면을 QQ 옆 서랍처럼</a:t>
            </a:r>
            <a:endParaRPr sz="720"/>
          </a:p>
        </p:txBody>
      </p:sp>
      <p:sp>
        <p:nvSpPr>
          <p:cNvPr id="126" name="Rectangle 125"/>
          <p:cNvSpPr/>
          <p:nvPr/>
        </p:nvSpPr>
        <p:spPr>
          <a:xfrm>
            <a:off x="2798064" y="347929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가장자리 밀기 → 서랍, 아바타 → 서랍 → 내 정보</a:t>
            </a:r>
            <a:endParaRPr sz="720"/>
          </a:p>
        </p:txBody>
      </p:sp>
      <p:sp>
        <p:nvSpPr>
          <p:cNvPr id="127" name="Rectangle 126"/>
          <p:cNvSpPr/>
          <p:nvPr/>
        </p:nvSpPr>
        <p:spPr>
          <a:xfrm>
            <a:off x="4672584" y="3479292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28" name="Rectangle 127"/>
          <p:cNvSpPr/>
          <p:nvPr/>
        </p:nvSpPr>
        <p:spPr>
          <a:xfrm>
            <a:off x="5239512" y="3479292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친구 목록을 내 정보와 나눠 한 곳에 (p16 · p17)</a:t>
            </a:r>
            <a:endParaRPr sz="720"/>
          </a:p>
        </p:txBody>
      </p:sp>
      <p:sp>
        <p:nvSpPr>
          <p:cNvPr id="129" name="Rectangle 128"/>
          <p:cNvSpPr/>
          <p:nvPr/>
        </p:nvSpPr>
        <p:spPr>
          <a:xfrm>
            <a:off x="8055864" y="3479292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</a:t>
            </a:r>
            <a:endParaRPr sz="720"/>
          </a:p>
        </p:txBody>
      </p:sp>
      <p:sp>
        <p:nvSpPr>
          <p:cNvPr id="130" name="Rectangle 129"/>
          <p:cNvSpPr/>
          <p:nvPr/>
        </p:nvSpPr>
        <p:spPr>
          <a:xfrm>
            <a:off x="512064" y="3803904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31" name="Rectangle 130"/>
          <p:cNvSpPr/>
          <p:nvPr/>
        </p:nvSpPr>
        <p:spPr>
          <a:xfrm>
            <a:off x="923544" y="380390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홈 "›" 전체 목록 화면</a:t>
            </a:r>
            <a:endParaRPr sz="720"/>
          </a:p>
        </p:txBody>
      </p:sp>
      <p:sp>
        <p:nvSpPr>
          <p:cNvPr id="132" name="Rectangle 131"/>
          <p:cNvSpPr/>
          <p:nvPr/>
        </p:nvSpPr>
        <p:spPr>
          <a:xfrm>
            <a:off x="2798064" y="380390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새 화면 + 좋아요/구매함 알약 거르기</a:t>
            </a:r>
            <a:endParaRPr sz="720"/>
          </a:p>
        </p:txBody>
      </p:sp>
      <p:sp>
        <p:nvSpPr>
          <p:cNvPr id="133" name="Rectangle 132"/>
          <p:cNvSpPr/>
          <p:nvPr/>
        </p:nvSpPr>
        <p:spPr>
          <a:xfrm>
            <a:off x="4672584" y="3803904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수정 → 폐기</a:t>
            </a:r>
            <a:endParaRPr sz="720"/>
          </a:p>
        </p:txBody>
      </p:sp>
      <p:sp>
        <p:nvSpPr>
          <p:cNvPr id="134" name="Rectangle 133"/>
          <p:cNvSpPr/>
          <p:nvPr/>
        </p:nvSpPr>
        <p:spPr>
          <a:xfrm>
            <a:off x="5239512" y="3803904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지적: 홈 머리 아래에서 · 작품별로 · 알약은 못생김 → 탭 안 보기 + 오른쪽 필터 패널 (p20 · p21)</a:t>
            </a:r>
            <a:endParaRPr sz="720"/>
          </a:p>
        </p:txBody>
      </p:sp>
      <p:sp>
        <p:nvSpPr>
          <p:cNvPr id="135" name="Rectangle 134"/>
          <p:cNvSpPr/>
          <p:nvPr/>
        </p:nvSpPr>
        <p:spPr>
          <a:xfrm>
            <a:off x="8055864" y="3803904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P03 P06</a:t>
            </a:r>
            <a:endParaRPr sz="720"/>
          </a:p>
        </p:txBody>
      </p:sp>
      <p:sp>
        <p:nvSpPr>
          <p:cNvPr id="136" name="Rectangle 135"/>
          <p:cNvSpPr/>
          <p:nvPr/>
        </p:nvSpPr>
        <p:spPr>
          <a:xfrm>
            <a:off x="512064" y="4128516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37" name="Rectangle 136"/>
          <p:cNvSpPr/>
          <p:nvPr/>
        </p:nvSpPr>
        <p:spPr>
          <a:xfrm>
            <a:off x="923544" y="412851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검색 탭 첫 화면</a:t>
            </a:r>
            <a:endParaRPr sz="720"/>
          </a:p>
        </p:txBody>
      </p:sp>
      <p:sp>
        <p:nvSpPr>
          <p:cNvPr id="138" name="Rectangle 137"/>
          <p:cNvSpPr/>
          <p:nvPr/>
        </p:nvSpPr>
        <p:spPr>
          <a:xfrm>
            <a:off x="2798064" y="412851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"전체 상품 둘러보기" 카드 + 최근 · 인기 판</a:t>
            </a:r>
            <a:endParaRPr sz="720"/>
          </a:p>
        </p:txBody>
      </p:sp>
      <p:sp>
        <p:nvSpPr>
          <p:cNvPr id="139" name="Rectangle 138"/>
          <p:cNvSpPr/>
          <p:nvPr/>
        </p:nvSpPr>
        <p:spPr>
          <a:xfrm>
            <a:off x="4672584" y="4128516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140" name="Rectangle 139"/>
          <p:cNvSpPr/>
          <p:nvPr/>
        </p:nvSpPr>
        <p:spPr>
          <a:xfrm>
            <a:off x="5239512" y="4128516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지적: 기본 = 전체 상품, 검색창을 누르면 판 (p22)</a:t>
            </a:r>
            <a:endParaRPr sz="720"/>
          </a:p>
        </p:txBody>
      </p:sp>
      <p:sp>
        <p:nvSpPr>
          <p:cNvPr id="141" name="Rectangle 140"/>
          <p:cNvSpPr/>
          <p:nvPr/>
        </p:nvSpPr>
        <p:spPr>
          <a:xfrm>
            <a:off x="8055864" y="4128516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</a:t>
            </a:r>
            <a:endParaRPr sz="720"/>
          </a:p>
        </p:txBody>
      </p:sp>
      <p:sp>
        <p:nvSpPr>
          <p:cNvPr id="142" name="TextBox 141"/>
          <p:cNvSpPr txBox="1"/>
          <p:nvPr/>
        </p:nvSpPr>
        <p:spPr>
          <a:xfrm>
            <a:off x="512064" y="4507992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★ = AI에게 반론을 요청한 줄 — 셀프 논증(08장)의 증거  ·  판단: 수용 = 그대로 · 수정 = 고쳐서 · 폐기 = 버림  ·  원본 docs/prompt-log.md (커밋 pNN 으로 결과 확인)</a:t>
            </a:r>
            <a:endParaRPr sz="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3942" y="304800"/>
            <a:ext cx="672108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90892" y="342900"/>
            <a:ext cx="42657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B3 — prompt-log (2/2)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prompt-log: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맡긴 일과 나의 판단</a:t>
            </a:r>
            <a:endParaRPr lang="en-US" sz="1900" dirty="0"/>
          </a:p>
        </p:txBody>
      </p:sp>
      <p:sp>
        <p:nvSpPr>
          <p:cNvPr id="74" name="Text 72"/>
          <p:cNvSpPr/>
          <p:nvPr/>
        </p:nvSpPr>
        <p:spPr>
          <a:xfrm>
            <a:off x="507950" y="4810125"/>
            <a:ext cx="546451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8장 FAQ("지문과 판정 결과를 기획 문서에 남긴다") · 5장 허용/감점 · 7주차 덱 부록 A5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B3-2</a:t>
            </a:r>
            <a:endParaRPr lang="en-US" sz="680" dirty="0"/>
          </a:p>
        </p:txBody>
      </p:sp>
      <p:sp>
        <p:nvSpPr>
          <p:cNvPr id="76" name="Rectangle 75"/>
          <p:cNvSpPr/>
          <p:nvPr/>
        </p:nvSpPr>
        <p:spPr>
          <a:xfrm>
            <a:off x="512064" y="1005840"/>
            <a:ext cx="4114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날짜</a:t>
            </a:r>
            <a:endParaRPr sz="740"/>
          </a:p>
        </p:txBody>
      </p:sp>
      <p:sp>
        <p:nvSpPr>
          <p:cNvPr id="77" name="Rectangle 76"/>
          <p:cNvSpPr/>
          <p:nvPr/>
        </p:nvSpPr>
        <p:spPr>
          <a:xfrm>
            <a:off x="923544" y="1005840"/>
            <a:ext cx="18745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요청 (지문 요약)</a:t>
            </a:r>
            <a:endParaRPr sz="740"/>
          </a:p>
        </p:txBody>
      </p:sp>
      <p:sp>
        <p:nvSpPr>
          <p:cNvPr id="78" name="Rectangle 77"/>
          <p:cNvSpPr/>
          <p:nvPr/>
        </p:nvSpPr>
        <p:spPr>
          <a:xfrm>
            <a:off x="2798064" y="1005840"/>
            <a:ext cx="18745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AI 결과</a:t>
            </a:r>
            <a:endParaRPr sz="740"/>
          </a:p>
        </p:txBody>
      </p:sp>
      <p:sp>
        <p:nvSpPr>
          <p:cNvPr id="79" name="Rectangle 78"/>
          <p:cNvSpPr/>
          <p:nvPr/>
        </p:nvSpPr>
        <p:spPr>
          <a:xfrm>
            <a:off x="4672584" y="1005840"/>
            <a:ext cx="56692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판단</a:t>
            </a:r>
            <a:endParaRPr sz="740"/>
          </a:p>
        </p:txBody>
      </p:sp>
      <p:sp>
        <p:nvSpPr>
          <p:cNvPr id="80" name="Rectangle 79"/>
          <p:cNvSpPr/>
          <p:nvPr/>
        </p:nvSpPr>
        <p:spPr>
          <a:xfrm>
            <a:off x="5239512" y="1005840"/>
            <a:ext cx="281635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이유 (안내문 · 원칙 · 리뷰 근거)</a:t>
            </a:r>
            <a:endParaRPr sz="740"/>
          </a:p>
        </p:txBody>
      </p:sp>
      <p:sp>
        <p:nvSpPr>
          <p:cNvPr id="81" name="Rectangle 80"/>
          <p:cNvSpPr/>
          <p:nvPr/>
        </p:nvSpPr>
        <p:spPr>
          <a:xfrm>
            <a:off x="8055864" y="1005840"/>
            <a:ext cx="58521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40"/>
          </a:p>
        </p:txBody>
      </p:sp>
      <p:sp>
        <p:nvSpPr>
          <p:cNvPr id="82" name="Rectangle 81"/>
          <p:cNvSpPr/>
          <p:nvPr/>
        </p:nvSpPr>
        <p:spPr>
          <a:xfrm>
            <a:off x="512064" y="1207008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83" name="Rectangle 82"/>
          <p:cNvSpPr/>
          <p:nvPr/>
        </p:nvSpPr>
        <p:spPr>
          <a:xfrm>
            <a:off x="923544" y="120700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정렬 메뉴가 앱과 안 어울림 · 비율별 문제</a:t>
            </a:r>
            <a:endParaRPr sz="720"/>
          </a:p>
        </p:txBody>
      </p:sp>
      <p:sp>
        <p:nvSpPr>
          <p:cNvPr id="84" name="Rectangle 83"/>
          <p:cNvSpPr/>
          <p:nvPr/>
        </p:nvSpPr>
        <p:spPr>
          <a:xfrm>
            <a:off x="2798064" y="120700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바텀 시트 · 가로 폰 측면 탭 · 7가지 크기 테스트</a:t>
            </a:r>
            <a:endParaRPr sz="720"/>
          </a:p>
        </p:txBody>
      </p:sp>
      <p:sp>
        <p:nvSpPr>
          <p:cNvPr id="85" name="Rectangle 84"/>
          <p:cNvSpPr/>
          <p:nvPr/>
        </p:nvSpPr>
        <p:spPr>
          <a:xfrm>
            <a:off x="4672584" y="1207008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86" name="Rectangle 85"/>
          <p:cNvSpPr/>
          <p:nvPr/>
        </p:nvSpPr>
        <p:spPr>
          <a:xfrm>
            <a:off x="5239512" y="1207008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적응형 = 창 너비 기준(AGENTS.md), 넘침 0 확인 (p23)</a:t>
            </a:r>
            <a:endParaRPr sz="720"/>
          </a:p>
        </p:txBody>
      </p:sp>
      <p:sp>
        <p:nvSpPr>
          <p:cNvPr id="87" name="Rectangle 86"/>
          <p:cNvSpPr/>
          <p:nvPr/>
        </p:nvSpPr>
        <p:spPr>
          <a:xfrm>
            <a:off x="8055864" y="1207008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P08</a:t>
            </a:r>
            <a:endParaRPr sz="720"/>
          </a:p>
        </p:txBody>
      </p:sp>
      <p:sp>
        <p:nvSpPr>
          <p:cNvPr id="88" name="Rectangle 87"/>
          <p:cNvSpPr/>
          <p:nvPr/>
        </p:nvSpPr>
        <p:spPr>
          <a:xfrm>
            <a:off x="512064" y="1531620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89" name="Rectangle 88"/>
          <p:cNvSpPr/>
          <p:nvPr/>
        </p:nvSpPr>
        <p:spPr>
          <a:xfrm>
            <a:off x="923544" y="153162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폴드처럼 반반 화면 — 의견 먼저</a:t>
            </a:r>
            <a:endParaRPr sz="720"/>
          </a:p>
        </p:txBody>
      </p:sp>
      <p:sp>
        <p:nvSpPr>
          <p:cNvPr id="90" name="Rectangle 89"/>
          <p:cNvSpPr/>
          <p:nvPr/>
        </p:nvSpPr>
        <p:spPr>
          <a:xfrm>
            <a:off x="2798064" y="153162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목록-상세만 반반, 홈 제외 제안</a:t>
            </a:r>
            <a:endParaRPr sz="720"/>
          </a:p>
        </p:txBody>
      </p:sp>
      <p:sp>
        <p:nvSpPr>
          <p:cNvPr id="91" name="Rectangle 90"/>
          <p:cNvSpPr/>
          <p:nvPr/>
        </p:nvSpPr>
        <p:spPr>
          <a:xfrm>
            <a:off x="4672584" y="1531620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92" name="Rectangle 91"/>
          <p:cNvSpPr/>
          <p:nvPr/>
        </p:nvSpPr>
        <p:spPr>
          <a:xfrm>
            <a:off x="5239512" y="1531620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결정: QQ처럼 왼쪽 = 폰 화면 전체(탭 바 포함) (p24)</a:t>
            </a:r>
            <a:endParaRPr sz="720"/>
          </a:p>
        </p:txBody>
      </p:sp>
      <p:sp>
        <p:nvSpPr>
          <p:cNvPr id="93" name="Rectangle 92"/>
          <p:cNvSpPr/>
          <p:nvPr/>
        </p:nvSpPr>
        <p:spPr>
          <a:xfrm>
            <a:off x="8055864" y="1531620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</a:t>
            </a:r>
            <a:endParaRPr sz="720"/>
          </a:p>
        </p:txBody>
      </p:sp>
      <p:sp>
        <p:nvSpPr>
          <p:cNvPr id="94" name="Rectangle 93"/>
          <p:cNvSpPr/>
          <p:nvPr/>
        </p:nvSpPr>
        <p:spPr>
          <a:xfrm>
            <a:off x="512064" y="1856232"/>
            <a:ext cx="41148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95" name="Rectangle 94"/>
          <p:cNvSpPr/>
          <p:nvPr/>
        </p:nvSpPr>
        <p:spPr>
          <a:xfrm>
            <a:off x="923544" y="1856232"/>
            <a:ext cx="187452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★ UI 설계에 어떤 문제가 있는지 지적해 달라</a:t>
            </a:r>
            <a:endParaRPr sz="720"/>
          </a:p>
        </p:txBody>
      </p:sp>
      <p:sp>
        <p:nvSpPr>
          <p:cNvPr id="96" name="Rectangle 95"/>
          <p:cNvSpPr/>
          <p:nvPr/>
        </p:nvSpPr>
        <p:spPr>
          <a:xfrm>
            <a:off x="2798064" y="1856232"/>
            <a:ext cx="1874520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13가지: 표시 모양 3–4종 · 파랑 과다 · 위쪽 높이 · 동기화 · 글자 15종 · "프로토타입" 토스트 · 로고 없음 …</a:t>
            </a:r>
            <a:endParaRPr sz="720"/>
          </a:p>
        </p:txBody>
      </p:sp>
      <p:sp>
        <p:nvSpPr>
          <p:cNvPr id="97" name="Rectangle 96"/>
          <p:cNvSpPr/>
          <p:nvPr/>
        </p:nvSpPr>
        <p:spPr>
          <a:xfrm>
            <a:off x="4672584" y="1856232"/>
            <a:ext cx="566928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98" name="Rectangle 97"/>
          <p:cNvSpPr/>
          <p:nvPr/>
        </p:nvSpPr>
        <p:spPr>
          <a:xfrm>
            <a:off x="5239512" y="1856232"/>
            <a:ext cx="2816352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로고(13)만 보류, 12개 반영 — 셀프 논증 쟁점 1–5의 반론 (p25–p32)</a:t>
            </a:r>
            <a:endParaRPr sz="720"/>
          </a:p>
        </p:txBody>
      </p:sp>
      <p:sp>
        <p:nvSpPr>
          <p:cNvPr id="99" name="Rectangle 98"/>
          <p:cNvSpPr/>
          <p:nvPr/>
        </p:nvSpPr>
        <p:spPr>
          <a:xfrm>
            <a:off x="8055864" y="1856232"/>
            <a:ext cx="585216" cy="324612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P08 P01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512064" y="2180844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10/25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923544" y="218084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로고 디자인 (원형 아카이브 · 명품 로고 참고)</a:t>
            </a:r>
            <a:endParaRPr sz="720"/>
          </a:p>
        </p:txBody>
      </p:sp>
      <p:sp>
        <p:nvSpPr>
          <p:cNvPr id="102" name="Rectangle 101"/>
          <p:cNvSpPr/>
          <p:nvPr/>
        </p:nvSpPr>
        <p:spPr>
          <a:xfrm>
            <a:off x="2798064" y="218084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시안 4차례 (우물 · 비석 · 아틀라스 · 모노그램)</a:t>
            </a:r>
            <a:endParaRPr sz="720"/>
          </a:p>
        </p:txBody>
      </p:sp>
      <p:sp>
        <p:nvSpPr>
          <p:cNvPr id="103" name="Rectangle 102"/>
          <p:cNvSpPr/>
          <p:nvPr/>
        </p:nvSpPr>
        <p:spPr>
          <a:xfrm>
            <a:off x="4672584" y="2180844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폐기</a:t>
            </a:r>
            <a:endParaRPr sz="720"/>
          </a:p>
        </p:txBody>
      </p:sp>
      <p:sp>
        <p:nvSpPr>
          <p:cNvPr id="104" name="Rectangle 103"/>
          <p:cNvSpPr/>
          <p:nvPr/>
        </p:nvSpPr>
        <p:spPr>
          <a:xfrm>
            <a:off x="5239512" y="2180844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판단: 고급스럽지 않음 → 로고는 다음 단계로 보류</a:t>
            </a:r>
            <a:endParaRPr sz="720"/>
          </a:p>
        </p:txBody>
      </p:sp>
      <p:sp>
        <p:nvSpPr>
          <p:cNvPr id="105" name="Rectangle 104"/>
          <p:cNvSpPr/>
          <p:nvPr/>
        </p:nvSpPr>
        <p:spPr>
          <a:xfrm>
            <a:off x="8055864" y="2180844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</a:t>
            </a:r>
            <a:endParaRPr sz="720"/>
          </a:p>
        </p:txBody>
      </p:sp>
      <p:sp>
        <p:nvSpPr>
          <p:cNvPr id="106" name="Rectangle 105"/>
          <p:cNvSpPr/>
          <p:nvPr/>
        </p:nvSpPr>
        <p:spPr>
          <a:xfrm>
            <a:off x="512064" y="2505456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10/26</a:t>
            </a:r>
            <a:endParaRPr sz="720"/>
          </a:p>
        </p:txBody>
      </p:sp>
      <p:sp>
        <p:nvSpPr>
          <p:cNvPr id="107" name="Rectangle 106"/>
          <p:cNvSpPr/>
          <p:nvPr/>
        </p:nvSpPr>
        <p:spPr>
          <a:xfrm>
            <a:off x="923544" y="250545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반반 화면 선택 표시를 ValueNotifier 로</a:t>
            </a:r>
            <a:endParaRPr sz="720"/>
          </a:p>
        </p:txBody>
      </p:sp>
      <p:sp>
        <p:nvSpPr>
          <p:cNvPr id="108" name="Rectangle 107"/>
          <p:cNvSpPr/>
          <p:nvPr/>
        </p:nvSpPr>
        <p:spPr>
          <a:xfrm>
            <a:off x="2798064" y="2505456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동작함</a:t>
            </a:r>
            <a:endParaRPr sz="720"/>
          </a:p>
        </p:txBody>
      </p:sp>
      <p:sp>
        <p:nvSpPr>
          <p:cNvPr id="109" name="Rectangle 108"/>
          <p:cNvSpPr/>
          <p:nvPr/>
        </p:nvSpPr>
        <p:spPr>
          <a:xfrm>
            <a:off x="4672584" y="2505456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110" name="Rectangle 109"/>
          <p:cNvSpPr/>
          <p:nvPr/>
        </p:nvSpPr>
        <p:spPr>
          <a:xfrm>
            <a:off x="5239512" y="2505456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AGENTS.md "setState 만" → 맨 위 setState + InheritedWidget(PaneHost) (p33)</a:t>
            </a:r>
            <a:endParaRPr sz="720"/>
          </a:p>
        </p:txBody>
      </p:sp>
      <p:sp>
        <p:nvSpPr>
          <p:cNvPr id="111" name="Rectangle 110"/>
          <p:cNvSpPr/>
          <p:nvPr/>
        </p:nvSpPr>
        <p:spPr>
          <a:xfrm>
            <a:off x="8055864" y="2505456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20"/>
          </a:p>
        </p:txBody>
      </p:sp>
      <p:sp>
        <p:nvSpPr>
          <p:cNvPr id="112" name="Rectangle 111"/>
          <p:cNvSpPr/>
          <p:nvPr/>
        </p:nvSpPr>
        <p:spPr>
          <a:xfrm>
            <a:off x="512064" y="2830068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10/26</a:t>
            </a:r>
            <a:endParaRPr sz="720"/>
          </a:p>
        </p:txBody>
      </p:sp>
      <p:sp>
        <p:nvSpPr>
          <p:cNvPr id="113" name="Rectangle 112"/>
          <p:cNvSpPr/>
          <p:nvPr/>
        </p:nvSpPr>
        <p:spPr>
          <a:xfrm>
            <a:off x="923544" y="283006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구매함이 화면마다 따로 바뀜</a:t>
            </a:r>
            <a:endParaRPr sz="720"/>
          </a:p>
        </p:txBody>
      </p:sp>
      <p:sp>
        <p:nvSpPr>
          <p:cNvPr id="114" name="Rectangle 113"/>
          <p:cNvSpPr/>
          <p:nvPr/>
        </p:nvSpPr>
        <p:spPr>
          <a:xfrm>
            <a:off x="2798064" y="2830068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맨 위 MarksHost(setState)로 한 벌</a:t>
            </a:r>
            <a:endParaRPr sz="720"/>
          </a:p>
        </p:txBody>
      </p:sp>
      <p:sp>
        <p:nvSpPr>
          <p:cNvPr id="115" name="Rectangle 114"/>
          <p:cNvSpPr/>
          <p:nvPr/>
        </p:nvSpPr>
        <p:spPr>
          <a:xfrm>
            <a:off x="4672584" y="2830068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16" name="Rectangle 115"/>
          <p:cNvSpPr/>
          <p:nvPr/>
        </p:nvSpPr>
        <p:spPr>
          <a:xfrm>
            <a:off x="5239512" y="2830068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상태관리 패키지 없이 setState 를 위로 — 저장도 안 함 (p31)</a:t>
            </a:r>
            <a:endParaRPr sz="720"/>
          </a:p>
        </p:txBody>
      </p:sp>
      <p:sp>
        <p:nvSpPr>
          <p:cNvPr id="117" name="Rectangle 116"/>
          <p:cNvSpPr/>
          <p:nvPr/>
        </p:nvSpPr>
        <p:spPr>
          <a:xfrm>
            <a:off x="8055864" y="2830068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</a:t>
            </a:r>
            <a:endParaRPr sz="720"/>
          </a:p>
        </p:txBody>
      </p:sp>
      <p:sp>
        <p:nvSpPr>
          <p:cNvPr id="118" name="Rectangle 117"/>
          <p:cNvSpPr/>
          <p:nvPr/>
        </p:nvSpPr>
        <p:spPr>
          <a:xfrm>
            <a:off x="512064" y="3154680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10/26</a:t>
            </a:r>
            <a:endParaRPr sz="720"/>
          </a:p>
        </p:txBody>
      </p:sp>
      <p:sp>
        <p:nvSpPr>
          <p:cNvPr id="119" name="Rectangle 118"/>
          <p:cNvSpPr/>
          <p:nvPr/>
        </p:nvSpPr>
        <p:spPr>
          <a:xfrm>
            <a:off x="923544" y="315468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디자인 가이드를 지금 코드와 맞게</a:t>
            </a:r>
            <a:endParaRPr sz="720"/>
          </a:p>
        </p:txBody>
      </p:sp>
      <p:sp>
        <p:nvSpPr>
          <p:cNvPr id="120" name="Rectangle 119"/>
          <p:cNvSpPr/>
          <p:nvPr/>
        </p:nvSpPr>
        <p:spPr>
          <a:xfrm>
            <a:off x="2798064" y="3154680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코드 대응표 → 요소표 생성기 + 문서</a:t>
            </a:r>
            <a:endParaRPr sz="720"/>
          </a:p>
        </p:txBody>
      </p:sp>
      <p:sp>
        <p:nvSpPr>
          <p:cNvPr id="121" name="Rectangle 120"/>
          <p:cNvSpPr/>
          <p:nvPr/>
        </p:nvSpPr>
        <p:spPr>
          <a:xfrm>
            <a:off x="4672584" y="3154680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수용</a:t>
            </a:r>
            <a:endParaRPr sz="720"/>
          </a:p>
        </p:txBody>
      </p:sp>
      <p:sp>
        <p:nvSpPr>
          <p:cNvPr id="122" name="Rectangle 121"/>
          <p:cNvSpPr/>
          <p:nvPr/>
        </p:nvSpPr>
        <p:spPr>
          <a:xfrm>
            <a:off x="5239512" y="3154680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"기획과 일치"(UI 25) — 번호 · 명칭이 코드와 같게 (p34)</a:t>
            </a:r>
            <a:endParaRPr sz="720"/>
          </a:p>
        </p:txBody>
      </p:sp>
      <p:sp>
        <p:nvSpPr>
          <p:cNvPr id="123" name="Rectangle 122"/>
          <p:cNvSpPr/>
          <p:nvPr/>
        </p:nvSpPr>
        <p:spPr>
          <a:xfrm>
            <a:off x="8055864" y="3154680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20"/>
          </a:p>
        </p:txBody>
      </p:sp>
      <p:sp>
        <p:nvSpPr>
          <p:cNvPr id="124" name="Rectangle 123"/>
          <p:cNvSpPr/>
          <p:nvPr/>
        </p:nvSpPr>
        <p:spPr>
          <a:xfrm>
            <a:off x="512064" y="3479292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10/26</a:t>
            </a:r>
            <a:endParaRPr sz="720"/>
          </a:p>
        </p:txBody>
      </p:sp>
      <p:sp>
        <p:nvSpPr>
          <p:cNvPr id="125" name="Rectangle 124"/>
          <p:cNvSpPr/>
          <p:nvPr/>
        </p:nvSpPr>
        <p:spPr>
          <a:xfrm>
            <a:off x="923544" y="347929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제출물 준비 (README · 스크린샷 · 문서 · 발표자료)</a:t>
            </a:r>
            <a:endParaRPr sz="720"/>
          </a:p>
        </p:txBody>
      </p:sp>
      <p:sp>
        <p:nvSpPr>
          <p:cNvPr id="126" name="Rectangle 125"/>
          <p:cNvSpPr/>
          <p:nvPr/>
        </p:nvSpPr>
        <p:spPr>
          <a:xfrm>
            <a:off x="2798064" y="3479292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테스트로 스크린샷 · 리뷰 원문 확인 · 초안</a:t>
            </a:r>
            <a:endParaRPr sz="720"/>
          </a:p>
        </p:txBody>
      </p:sp>
      <p:sp>
        <p:nvSpPr>
          <p:cNvPr id="127" name="Rectangle 126"/>
          <p:cNvSpPr/>
          <p:nvPr/>
        </p:nvSpPr>
        <p:spPr>
          <a:xfrm>
            <a:off x="4672584" y="3479292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128" name="Rectangle 127"/>
          <p:cNvSpPr/>
          <p:nvPr/>
        </p:nvSpPr>
        <p:spPr>
          <a:xfrm>
            <a:off x="5239512" y="3479292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셀프 논증 · 자가 점수는 내가 확인 후 확정</a:t>
            </a:r>
            <a:endParaRPr sz="720"/>
          </a:p>
        </p:txBody>
      </p:sp>
      <p:sp>
        <p:nvSpPr>
          <p:cNvPr id="129" name="Rectangle 128"/>
          <p:cNvSpPr/>
          <p:nvPr/>
        </p:nvSpPr>
        <p:spPr>
          <a:xfrm>
            <a:off x="8055864" y="3479292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20"/>
          </a:p>
        </p:txBody>
      </p:sp>
      <p:sp>
        <p:nvSpPr>
          <p:cNvPr id="130" name="Rectangle 129"/>
          <p:cNvSpPr/>
          <p:nvPr/>
        </p:nvSpPr>
        <p:spPr>
          <a:xfrm>
            <a:off x="512064" y="3803904"/>
            <a:ext cx="41148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10/26</a:t>
            </a:r>
            <a:endParaRPr sz="720"/>
          </a:p>
        </p:txBody>
      </p:sp>
      <p:sp>
        <p:nvSpPr>
          <p:cNvPr id="131" name="Rectangle 130"/>
          <p:cNvSpPr/>
          <p:nvPr/>
        </p:nvSpPr>
        <p:spPr>
          <a:xfrm>
            <a:off x="923544" y="380390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현행 앱 스크린샷</a:t>
            </a:r>
            <a:endParaRPr sz="720"/>
          </a:p>
        </p:txBody>
      </p:sp>
      <p:sp>
        <p:nvSpPr>
          <p:cNvPr id="132" name="Rectangle 131"/>
          <p:cNvSpPr/>
          <p:nvPr/>
        </p:nvSpPr>
        <p:spPr>
          <a:xfrm>
            <a:off x="2798064" y="3803904"/>
            <a:ext cx="1874520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이메일이 보이는 스토어 이미지 제외</a:t>
            </a:r>
            <a:endParaRPr sz="720"/>
          </a:p>
        </p:txBody>
      </p:sp>
      <p:sp>
        <p:nvSpPr>
          <p:cNvPr id="133" name="Rectangle 132"/>
          <p:cNvSpPr/>
          <p:nvPr/>
        </p:nvSpPr>
        <p:spPr>
          <a:xfrm>
            <a:off x="4672584" y="3803904"/>
            <a:ext cx="566928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수정</a:t>
            </a:r>
            <a:endParaRPr sz="720"/>
          </a:p>
        </p:txBody>
      </p:sp>
      <p:sp>
        <p:nvSpPr>
          <p:cNvPr id="134" name="Rectangle 133"/>
          <p:cNvSpPr/>
          <p:nvPr/>
        </p:nvSpPr>
        <p:spPr>
          <a:xfrm>
            <a:off x="5239512" y="3803904"/>
            <a:ext cx="2816352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실제 개인정보 사용 금지 (안내문 5장)</a:t>
            </a:r>
            <a:endParaRPr sz="720"/>
          </a:p>
        </p:txBody>
      </p:sp>
      <p:sp>
        <p:nvSpPr>
          <p:cNvPr id="135" name="Rectangle 134"/>
          <p:cNvSpPr/>
          <p:nvPr/>
        </p:nvSpPr>
        <p:spPr>
          <a:xfrm>
            <a:off x="8055864" y="3803904"/>
            <a:ext cx="585216" cy="324612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2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20"/>
          </a:p>
        </p:txBody>
      </p:sp>
      <p:sp>
        <p:nvSpPr>
          <p:cNvPr id="136" name="TextBox 135"/>
          <p:cNvSpPr txBox="1"/>
          <p:nvPr/>
        </p:nvSpPr>
        <p:spPr>
          <a:xfrm>
            <a:off x="512064" y="4183380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★ = AI에게 반론을 요청한 줄 — 셀프 논증(08장)의 증거  ·  판단: 수용 = 그대로 · 수정 = 고쳐서 · 폐기 = 버림  ·  원본 docs/prompt-log.md (커밋 pNN 으로 결과 확인)</a:t>
            </a:r>
            <a:endParaRPr sz="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4295" y="304800"/>
            <a:ext cx="1421755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41245" y="342900"/>
            <a:ext cx="119121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B4 · 제출 전 점검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B4 — 자가평가 요약 (개인 점검용)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자가평가: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공개 배점 그대로, 근거 위치를 채웠다</a:t>
            </a:r>
            <a:endParaRPr lang="en-US" sz="1900" dirty="0"/>
          </a:p>
        </p:txBody>
      </p:sp>
      <p:sp>
        <p:nvSpPr>
          <p:cNvPr id="145" name="Text 143"/>
          <p:cNvSpPr/>
          <p:nvPr/>
        </p:nvSpPr>
        <p:spPr>
          <a:xfrm>
            <a:off x="507950" y="4810125"/>
            <a:ext cx="3577277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7장 평가(배점 그대로) · 5장 감점</a:t>
            </a:r>
            <a:endParaRPr lang="en-US" sz="680" dirty="0"/>
          </a:p>
        </p:txBody>
      </p:sp>
      <p:sp>
        <p:nvSpPr>
          <p:cNvPr id="146" name="Text 144"/>
          <p:cNvSpPr/>
          <p:nvPr/>
        </p:nvSpPr>
        <p:spPr>
          <a:xfrm>
            <a:off x="8530382" y="4810125"/>
            <a:ext cx="10778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endParaRPr lang="en-US" sz="680" dirty="0"/>
          </a:p>
        </p:txBody>
      </p:sp>
      <p:sp>
        <p:nvSpPr>
          <p:cNvPr id="147" name="Rectangle 146"/>
          <p:cNvSpPr/>
          <p:nvPr/>
        </p:nvSpPr>
        <p:spPr>
          <a:xfrm>
            <a:off x="512064" y="1005840"/>
            <a:ext cx="7772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영역</a:t>
            </a:r>
            <a:endParaRPr sz="760"/>
          </a:p>
        </p:txBody>
      </p:sp>
      <p:sp>
        <p:nvSpPr>
          <p:cNvPr id="148" name="Rectangle 147"/>
          <p:cNvSpPr/>
          <p:nvPr/>
        </p:nvSpPr>
        <p:spPr>
          <a:xfrm>
            <a:off x="1289304" y="1005840"/>
            <a:ext cx="160020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세부</a:t>
            </a:r>
            <a:endParaRPr sz="760"/>
          </a:p>
        </p:txBody>
      </p:sp>
      <p:sp>
        <p:nvSpPr>
          <p:cNvPr id="149" name="Rectangle 148"/>
          <p:cNvSpPr/>
          <p:nvPr/>
        </p:nvSpPr>
        <p:spPr>
          <a:xfrm>
            <a:off x="2889504" y="100584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배점</a:t>
            </a:r>
            <a:endParaRPr sz="760"/>
          </a:p>
        </p:txBody>
      </p:sp>
      <p:sp>
        <p:nvSpPr>
          <p:cNvPr id="150" name="Rectangle 149"/>
          <p:cNvSpPr/>
          <p:nvPr/>
        </p:nvSpPr>
        <p:spPr>
          <a:xfrm>
            <a:off x="3392424" y="1005840"/>
            <a:ext cx="2788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확인할 것 (안내문 문구)</a:t>
            </a:r>
            <a:endParaRPr sz="760"/>
          </a:p>
        </p:txBody>
      </p:sp>
      <p:sp>
        <p:nvSpPr>
          <p:cNvPr id="151" name="Rectangle 150"/>
          <p:cNvSpPr/>
          <p:nvPr/>
        </p:nvSpPr>
        <p:spPr>
          <a:xfrm>
            <a:off x="6181344" y="1005840"/>
            <a:ext cx="17830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근거 위치</a:t>
            </a:r>
            <a:endParaRPr sz="760"/>
          </a:p>
        </p:txBody>
      </p:sp>
      <p:sp>
        <p:nvSpPr>
          <p:cNvPr id="152" name="Rectangle 151"/>
          <p:cNvSpPr/>
          <p:nvPr/>
        </p:nvSpPr>
        <p:spPr>
          <a:xfrm>
            <a:off x="7964424" y="1005840"/>
            <a:ext cx="67665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자가</a:t>
            </a:r>
            <a:endParaRPr sz="760"/>
          </a:p>
        </p:txBody>
      </p:sp>
      <p:sp>
        <p:nvSpPr>
          <p:cNvPr id="153" name="Rectangle 152"/>
          <p:cNvSpPr/>
          <p:nvPr/>
        </p:nvSpPr>
        <p:spPr>
          <a:xfrm>
            <a:off x="512064" y="1207008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기획</a:t>
            </a:r>
            <a:endParaRPr sz="760"/>
          </a:p>
        </p:txBody>
      </p:sp>
      <p:sp>
        <p:nvSpPr>
          <p:cNvPr id="154" name="Rectangle 153"/>
          <p:cNvSpPr/>
          <p:nvPr/>
        </p:nvSpPr>
        <p:spPr>
          <a:xfrm>
            <a:off x="1289304" y="1207008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현행 분석 · 리뷰 근거</a:t>
            </a:r>
            <a:endParaRPr sz="760"/>
          </a:p>
        </p:txBody>
      </p:sp>
      <p:sp>
        <p:nvSpPr>
          <p:cNvPr id="155" name="Rectangle 154"/>
          <p:cNvSpPr/>
          <p:nvPr/>
        </p:nvSpPr>
        <p:spPr>
          <a:xfrm>
            <a:off x="2889504" y="1207008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10</a:t>
            </a:r>
            <a:endParaRPr sz="760"/>
          </a:p>
        </p:txBody>
      </p:sp>
      <p:sp>
        <p:nvSpPr>
          <p:cNvPr id="156" name="Rectangle 155"/>
          <p:cNvSpPr/>
          <p:nvPr/>
        </p:nvSpPr>
        <p:spPr>
          <a:xfrm>
            <a:off x="3392424" y="1207008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잘된 점 원칙 번호 · 별점 분포 · 인용(날짜 · 별점) · 유형</a:t>
            </a:r>
            <a:endParaRPr sz="760"/>
          </a:p>
        </p:txBody>
      </p:sp>
      <p:sp>
        <p:nvSpPr>
          <p:cNvPr id="157" name="Rectangle 156"/>
          <p:cNvSpPr/>
          <p:nvPr/>
        </p:nvSpPr>
        <p:spPr>
          <a:xfrm>
            <a:off x="6181344" y="1207008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05장 · docs/기획.md 1장</a:t>
            </a:r>
            <a:endParaRPr sz="760"/>
          </a:p>
        </p:txBody>
      </p:sp>
      <p:sp>
        <p:nvSpPr>
          <p:cNvPr id="158" name="Rectangle 157"/>
          <p:cNvSpPr/>
          <p:nvPr/>
        </p:nvSpPr>
        <p:spPr>
          <a:xfrm>
            <a:off x="7964424" y="1207008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10</a:t>
            </a:r>
            <a:endParaRPr sz="760"/>
          </a:p>
        </p:txBody>
      </p:sp>
      <p:sp>
        <p:nvSpPr>
          <p:cNvPr id="159" name="Rectangle 158"/>
          <p:cNvSpPr/>
          <p:nvPr/>
        </p:nvSpPr>
        <p:spPr>
          <a:xfrm>
            <a:off x="512064" y="1499616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160" name="Rectangle 159"/>
          <p:cNvSpPr/>
          <p:nvPr/>
        </p:nvSpPr>
        <p:spPr>
          <a:xfrm>
            <a:off x="1289304" y="1499616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사업 요약</a:t>
            </a:r>
            <a:endParaRPr sz="760"/>
          </a:p>
        </p:txBody>
      </p:sp>
      <p:sp>
        <p:nvSpPr>
          <p:cNvPr id="161" name="Rectangle 160"/>
          <p:cNvSpPr/>
          <p:nvPr/>
        </p:nvSpPr>
        <p:spPr>
          <a:xfrm>
            <a:off x="2889504" y="1499616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5</a:t>
            </a:r>
            <a:endParaRPr sz="760"/>
          </a:p>
        </p:txBody>
      </p:sp>
      <p:sp>
        <p:nvSpPr>
          <p:cNvPr id="162" name="Rectangle 161"/>
          <p:cNvSpPr/>
          <p:nvPr/>
        </p:nvSpPr>
        <p:spPr>
          <a:xfrm>
            <a:off x="3392424" y="1499616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목표 · 퍼소나 · 문제 · v2 핵심 가치</a:t>
            </a:r>
            <a:endParaRPr sz="760"/>
          </a:p>
        </p:txBody>
      </p:sp>
      <p:sp>
        <p:nvSpPr>
          <p:cNvPr id="163" name="Rectangle 162"/>
          <p:cNvSpPr/>
          <p:nvPr/>
        </p:nvSpPr>
        <p:spPr>
          <a:xfrm>
            <a:off x="6181344" y="1499616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03장 · B5-1</a:t>
            </a:r>
            <a:endParaRPr sz="760"/>
          </a:p>
        </p:txBody>
      </p:sp>
      <p:sp>
        <p:nvSpPr>
          <p:cNvPr id="164" name="Rectangle 163"/>
          <p:cNvSpPr/>
          <p:nvPr/>
        </p:nvSpPr>
        <p:spPr>
          <a:xfrm>
            <a:off x="7964424" y="1499616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5</a:t>
            </a:r>
            <a:endParaRPr sz="760"/>
          </a:p>
        </p:txBody>
      </p:sp>
      <p:sp>
        <p:nvSpPr>
          <p:cNvPr id="165" name="Rectangle 164"/>
          <p:cNvSpPr/>
          <p:nvPr/>
        </p:nvSpPr>
        <p:spPr>
          <a:xfrm>
            <a:off x="512064" y="1792224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166" name="Rectangle 165"/>
          <p:cNvSpPr/>
          <p:nvPr/>
        </p:nvSpPr>
        <p:spPr>
          <a:xfrm>
            <a:off x="1289304" y="1792224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저니</a:t>
            </a:r>
            <a:endParaRPr sz="760"/>
          </a:p>
        </p:txBody>
      </p:sp>
      <p:sp>
        <p:nvSpPr>
          <p:cNvPr id="167" name="Rectangle 166"/>
          <p:cNvSpPr/>
          <p:nvPr/>
        </p:nvSpPr>
        <p:spPr>
          <a:xfrm>
            <a:off x="2889504" y="1792224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8</a:t>
            </a:r>
            <a:endParaRPr sz="760"/>
          </a:p>
        </p:txBody>
      </p:sp>
      <p:sp>
        <p:nvSpPr>
          <p:cNvPr id="168" name="Rectangle 167"/>
          <p:cNvSpPr/>
          <p:nvPr/>
        </p:nvSpPr>
        <p:spPr>
          <a:xfrm>
            <a:off x="3392424" y="1792224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목표 · 단계별 리뷰 · 감정 최저점 · 확장 4줄</a:t>
            </a:r>
            <a:endParaRPr sz="760"/>
          </a:p>
        </p:txBody>
      </p:sp>
      <p:sp>
        <p:nvSpPr>
          <p:cNvPr id="169" name="Rectangle 168"/>
          <p:cNvSpPr/>
          <p:nvPr/>
        </p:nvSpPr>
        <p:spPr>
          <a:xfrm>
            <a:off x="6181344" y="1792224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06장 · B5-2</a:t>
            </a:r>
            <a:endParaRPr sz="760"/>
          </a:p>
        </p:txBody>
      </p:sp>
      <p:sp>
        <p:nvSpPr>
          <p:cNvPr id="170" name="Rectangle 169"/>
          <p:cNvSpPr/>
          <p:nvPr/>
        </p:nvSpPr>
        <p:spPr>
          <a:xfrm>
            <a:off x="7964424" y="1792224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8</a:t>
            </a:r>
            <a:endParaRPr sz="760"/>
          </a:p>
        </p:txBody>
      </p:sp>
      <p:sp>
        <p:nvSpPr>
          <p:cNvPr id="171" name="Rectangle 170"/>
          <p:cNvSpPr/>
          <p:nvPr/>
        </p:nvSpPr>
        <p:spPr>
          <a:xfrm>
            <a:off x="512064" y="2084832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172" name="Rectangle 171"/>
          <p:cNvSpPr/>
          <p:nvPr/>
        </p:nvSpPr>
        <p:spPr>
          <a:xfrm>
            <a:off x="1289304" y="2084832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피쉬본 · 5 Why</a:t>
            </a:r>
            <a:endParaRPr sz="760"/>
          </a:p>
        </p:txBody>
      </p:sp>
      <p:sp>
        <p:nvSpPr>
          <p:cNvPr id="173" name="Rectangle 172"/>
          <p:cNvSpPr/>
          <p:nvPr/>
        </p:nvSpPr>
        <p:spPr>
          <a:xfrm>
            <a:off x="2889504" y="2084832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5</a:t>
            </a:r>
            <a:endParaRPr sz="760"/>
          </a:p>
        </p:txBody>
      </p:sp>
      <p:sp>
        <p:nvSpPr>
          <p:cNvPr id="174" name="Rectangle 173"/>
          <p:cNvSpPr/>
          <p:nvPr/>
        </p:nvSpPr>
        <p:spPr>
          <a:xfrm>
            <a:off x="3392424" y="2084832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여섯 시각 · 우선순위 1개 · 근본 원인까지</a:t>
            </a:r>
            <a:endParaRPr sz="760"/>
          </a:p>
        </p:txBody>
      </p:sp>
      <p:sp>
        <p:nvSpPr>
          <p:cNvPr id="175" name="Rectangle 174"/>
          <p:cNvSpPr/>
          <p:nvPr/>
        </p:nvSpPr>
        <p:spPr>
          <a:xfrm>
            <a:off x="6181344" y="2084832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06장 · B5-3</a:t>
            </a:r>
            <a:endParaRPr sz="760"/>
          </a:p>
        </p:txBody>
      </p:sp>
      <p:sp>
        <p:nvSpPr>
          <p:cNvPr id="176" name="Rectangle 175"/>
          <p:cNvSpPr/>
          <p:nvPr/>
        </p:nvSpPr>
        <p:spPr>
          <a:xfrm>
            <a:off x="7964424" y="2084832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5</a:t>
            </a:r>
            <a:endParaRPr sz="760"/>
          </a:p>
        </p:txBody>
      </p:sp>
      <p:sp>
        <p:nvSpPr>
          <p:cNvPr id="177" name="Rectangle 176"/>
          <p:cNvSpPr/>
          <p:nvPr/>
        </p:nvSpPr>
        <p:spPr>
          <a:xfrm>
            <a:off x="512064" y="2377440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178" name="Rectangle 177"/>
          <p:cNvSpPr/>
          <p:nvPr/>
        </p:nvSpPr>
        <p:spPr>
          <a:xfrm>
            <a:off x="1289304" y="2377440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요소 분석 · 기준 · 가이드 글</a:t>
            </a:r>
            <a:endParaRPr sz="760"/>
          </a:p>
        </p:txBody>
      </p:sp>
      <p:sp>
        <p:nvSpPr>
          <p:cNvPr id="179" name="Rectangle 178"/>
          <p:cNvSpPr/>
          <p:nvPr/>
        </p:nvSpPr>
        <p:spPr>
          <a:xfrm>
            <a:off x="2889504" y="2377440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8</a:t>
            </a:r>
            <a:endParaRPr sz="760"/>
          </a:p>
        </p:txBody>
      </p:sp>
      <p:sp>
        <p:nvSpPr>
          <p:cNvPr id="180" name="Rectangle 179"/>
          <p:cNvSpPr/>
          <p:nvPr/>
        </p:nvSpPr>
        <p:spPr>
          <a:xfrm>
            <a:off x="3392424" y="2377440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번호 · 위젯명 · 비즈니스 명칭 · 명칭 일관</a:t>
            </a:r>
            <a:endParaRPr sz="760"/>
          </a:p>
        </p:txBody>
      </p:sp>
      <p:sp>
        <p:nvSpPr>
          <p:cNvPr id="181" name="Rectangle 180"/>
          <p:cNvSpPr/>
          <p:nvPr/>
        </p:nvSpPr>
        <p:spPr>
          <a:xfrm>
            <a:off x="6181344" y="2377440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07장 · B5-4 · 디자인가이드 3 · 4장</a:t>
            </a:r>
            <a:endParaRPr sz="760"/>
          </a:p>
        </p:txBody>
      </p:sp>
      <p:sp>
        <p:nvSpPr>
          <p:cNvPr id="182" name="Rectangle 181"/>
          <p:cNvSpPr/>
          <p:nvPr/>
        </p:nvSpPr>
        <p:spPr>
          <a:xfrm>
            <a:off x="7964424" y="2377440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8</a:t>
            </a:r>
            <a:endParaRPr sz="760"/>
          </a:p>
        </p:txBody>
      </p:sp>
      <p:sp>
        <p:nvSpPr>
          <p:cNvPr id="183" name="Rectangle 182"/>
          <p:cNvSpPr/>
          <p:nvPr/>
        </p:nvSpPr>
        <p:spPr>
          <a:xfrm>
            <a:off x="512064" y="2670048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184" name="Rectangle 183"/>
          <p:cNvSpPr/>
          <p:nvPr/>
        </p:nvSpPr>
        <p:spPr>
          <a:xfrm>
            <a:off x="1289304" y="2670048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상태관리 포인트</a:t>
            </a:r>
            <a:endParaRPr sz="760"/>
          </a:p>
        </p:txBody>
      </p:sp>
      <p:sp>
        <p:nvSpPr>
          <p:cNvPr id="185" name="Rectangle 184"/>
          <p:cNvSpPr/>
          <p:nvPr/>
        </p:nvSpPr>
        <p:spPr>
          <a:xfrm>
            <a:off x="2889504" y="2670048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4</a:t>
            </a:r>
            <a:endParaRPr sz="760"/>
          </a:p>
        </p:txBody>
      </p:sp>
      <p:sp>
        <p:nvSpPr>
          <p:cNvPr id="186" name="Rectangle 185"/>
          <p:cNvSpPr/>
          <p:nvPr/>
        </p:nvSpPr>
        <p:spPr>
          <a:xfrm>
            <a:off x="3392424" y="2670048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바뀌는 데이터 → 화면 · 위젯 · 구현 안 함</a:t>
            </a:r>
            <a:endParaRPr sz="760"/>
          </a:p>
        </p:txBody>
      </p:sp>
      <p:sp>
        <p:nvSpPr>
          <p:cNvPr id="187" name="Rectangle 186"/>
          <p:cNvSpPr/>
          <p:nvPr/>
        </p:nvSpPr>
        <p:spPr>
          <a:xfrm>
            <a:off x="6181344" y="2670048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07장 · B5-5 · STATE: 74곳</a:t>
            </a:r>
            <a:endParaRPr sz="760"/>
          </a:p>
        </p:txBody>
      </p:sp>
      <p:sp>
        <p:nvSpPr>
          <p:cNvPr id="188" name="Rectangle 187"/>
          <p:cNvSpPr/>
          <p:nvPr/>
        </p:nvSpPr>
        <p:spPr>
          <a:xfrm>
            <a:off x="7964424" y="2670048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4</a:t>
            </a:r>
            <a:endParaRPr sz="760"/>
          </a:p>
        </p:txBody>
      </p:sp>
      <p:sp>
        <p:nvSpPr>
          <p:cNvPr id="189" name="Rectangle 188"/>
          <p:cNvSpPr/>
          <p:nvPr/>
        </p:nvSpPr>
        <p:spPr>
          <a:xfrm>
            <a:off x="512064" y="2962656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셀프 논증</a:t>
            </a:r>
            <a:endParaRPr sz="760"/>
          </a:p>
        </p:txBody>
      </p:sp>
      <p:sp>
        <p:nvSpPr>
          <p:cNvPr id="190" name="Rectangle 189"/>
          <p:cNvSpPr/>
          <p:nvPr/>
        </p:nvSpPr>
        <p:spPr>
          <a:xfrm>
            <a:off x="1289304" y="2962656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주장 · 반론 · 결론 · 전후</a:t>
            </a:r>
            <a:endParaRPr sz="760"/>
          </a:p>
        </p:txBody>
      </p:sp>
      <p:sp>
        <p:nvSpPr>
          <p:cNvPr id="191" name="Rectangle 190"/>
          <p:cNvSpPr/>
          <p:nvPr/>
        </p:nvSpPr>
        <p:spPr>
          <a:xfrm>
            <a:off x="2889504" y="2962656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20</a:t>
            </a:r>
            <a:endParaRPr sz="760"/>
          </a:p>
        </p:txBody>
      </p:sp>
      <p:sp>
        <p:nvSpPr>
          <p:cNvPr id="192" name="Rectangle 191"/>
          <p:cNvSpPr/>
          <p:nvPr/>
        </p:nvSpPr>
        <p:spPr>
          <a:xfrm>
            <a:off x="3392424" y="2962656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쟁점마다 주장 · 반론(AI) · 재반론 · 결론 · 근거 · 전 · 후</a:t>
            </a:r>
            <a:endParaRPr sz="760"/>
          </a:p>
        </p:txBody>
      </p:sp>
      <p:sp>
        <p:nvSpPr>
          <p:cNvPr id="193" name="Rectangle 192"/>
          <p:cNvSpPr/>
          <p:nvPr/>
        </p:nvSpPr>
        <p:spPr>
          <a:xfrm>
            <a:off x="6181344" y="2962656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08장 · B3 · docs/셀프논증.md</a:t>
            </a:r>
            <a:endParaRPr sz="760"/>
          </a:p>
        </p:txBody>
      </p:sp>
      <p:sp>
        <p:nvSpPr>
          <p:cNvPr id="194" name="Rectangle 193"/>
          <p:cNvSpPr/>
          <p:nvPr/>
        </p:nvSpPr>
        <p:spPr>
          <a:xfrm>
            <a:off x="7964424" y="2962656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20</a:t>
            </a:r>
            <a:endParaRPr sz="760"/>
          </a:p>
        </p:txBody>
      </p:sp>
      <p:sp>
        <p:nvSpPr>
          <p:cNvPr id="195" name="Rectangle 194"/>
          <p:cNvSpPr/>
          <p:nvPr/>
        </p:nvSpPr>
        <p:spPr>
          <a:xfrm>
            <a:off x="512064" y="3255264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UI 구현</a:t>
            </a:r>
            <a:endParaRPr sz="760"/>
          </a:p>
        </p:txBody>
      </p:sp>
      <p:sp>
        <p:nvSpPr>
          <p:cNvPr id="196" name="Rectangle 195"/>
          <p:cNvSpPr/>
          <p:nvPr/>
        </p:nvSpPr>
        <p:spPr>
          <a:xfrm>
            <a:off x="1289304" y="3255264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일치 · 기능 · 3상태 · 적응형</a:t>
            </a:r>
            <a:endParaRPr sz="760"/>
          </a:p>
        </p:txBody>
      </p:sp>
      <p:sp>
        <p:nvSpPr>
          <p:cNvPr id="197" name="Rectangle 196"/>
          <p:cNvSpPr/>
          <p:nvPr/>
        </p:nvSpPr>
        <p:spPr>
          <a:xfrm>
            <a:off x="2889504" y="3255264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25</a:t>
            </a:r>
            <a:endParaRPr sz="760"/>
          </a:p>
        </p:txBody>
      </p:sp>
      <p:sp>
        <p:nvSpPr>
          <p:cNvPr id="198" name="Rectangle 197"/>
          <p:cNvSpPr/>
          <p:nvPr/>
        </p:nvSpPr>
        <p:spPr>
          <a:xfrm>
            <a:off x="3392424" y="3255264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명칭 · 원칙 일치 · 전환 · 임의 결과 · GET · 로딩/오류/빈 · 넓은 화면</a:t>
            </a:r>
            <a:endParaRPr sz="760"/>
          </a:p>
        </p:txBody>
      </p:sp>
      <p:sp>
        <p:nvSpPr>
          <p:cNvPr id="199" name="Rectangle 198"/>
          <p:cNvSpPr/>
          <p:nvPr/>
        </p:nvSpPr>
        <p:spPr>
          <a:xfrm>
            <a:off x="6181344" y="3255264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09–10장 · B1 · 테스트 53개</a:t>
            </a:r>
            <a:endParaRPr sz="760"/>
          </a:p>
        </p:txBody>
      </p:sp>
      <p:sp>
        <p:nvSpPr>
          <p:cNvPr id="200" name="Rectangle 199"/>
          <p:cNvSpPr/>
          <p:nvPr/>
        </p:nvSpPr>
        <p:spPr>
          <a:xfrm>
            <a:off x="7964424" y="3255264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25</a:t>
            </a:r>
            <a:endParaRPr sz="760"/>
          </a:p>
        </p:txBody>
      </p:sp>
      <p:sp>
        <p:nvSpPr>
          <p:cNvPr id="201" name="Rectangle 200"/>
          <p:cNvSpPr/>
          <p:nvPr/>
        </p:nvSpPr>
        <p:spPr>
          <a:xfrm>
            <a:off x="512064" y="3547872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발표</a:t>
            </a:r>
            <a:endParaRPr sz="760"/>
          </a:p>
        </p:txBody>
      </p:sp>
      <p:sp>
        <p:nvSpPr>
          <p:cNvPr id="202" name="Rectangle 201"/>
          <p:cNvSpPr/>
          <p:nvPr/>
        </p:nvSpPr>
        <p:spPr>
          <a:xfrm>
            <a:off x="1289304" y="3547872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6분 · 데모 · 질의</a:t>
            </a:r>
            <a:endParaRPr sz="760"/>
          </a:p>
        </p:txBody>
      </p:sp>
      <p:sp>
        <p:nvSpPr>
          <p:cNvPr id="203" name="Rectangle 202"/>
          <p:cNvSpPr/>
          <p:nvPr/>
        </p:nvSpPr>
        <p:spPr>
          <a:xfrm>
            <a:off x="2889504" y="3547872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15</a:t>
            </a:r>
            <a:endParaRPr sz="760"/>
          </a:p>
        </p:txBody>
      </p:sp>
      <p:sp>
        <p:nvSpPr>
          <p:cNvPr id="204" name="Rectangle 203"/>
          <p:cNvSpPr/>
          <p:nvPr/>
        </p:nvSpPr>
        <p:spPr>
          <a:xfrm>
            <a:off x="3392424" y="3547872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리허설 6분 이내 · 데모 · 질의 2분에 부록으로 답함</a:t>
            </a:r>
            <a:endParaRPr sz="760"/>
          </a:p>
        </p:txBody>
      </p:sp>
      <p:sp>
        <p:nvSpPr>
          <p:cNvPr id="205" name="Rectangle 204"/>
          <p:cNvSpPr/>
          <p:nvPr/>
        </p:nvSpPr>
        <p:spPr>
          <a:xfrm>
            <a:off x="6181344" y="3547872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리허설 기록 (02장 리허설 칸)</a:t>
            </a:r>
            <a:endParaRPr sz="760"/>
          </a:p>
        </p:txBody>
      </p:sp>
      <p:sp>
        <p:nvSpPr>
          <p:cNvPr id="206" name="Rectangle 205"/>
          <p:cNvSpPr/>
          <p:nvPr/>
        </p:nvSpPr>
        <p:spPr>
          <a:xfrm>
            <a:off x="7964424" y="3547872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15</a:t>
            </a:r>
            <a:endParaRPr sz="760"/>
          </a:p>
        </p:txBody>
      </p:sp>
      <p:sp>
        <p:nvSpPr>
          <p:cNvPr id="207" name="Rectangle 206"/>
          <p:cNvSpPr/>
          <p:nvPr/>
        </p:nvSpPr>
        <p:spPr>
          <a:xfrm>
            <a:off x="512064" y="3840480"/>
            <a:ext cx="7772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가산 · 감점</a:t>
            </a:r>
            <a:endParaRPr sz="760"/>
          </a:p>
        </p:txBody>
      </p:sp>
      <p:sp>
        <p:nvSpPr>
          <p:cNvPr id="208" name="Rectangle 207"/>
          <p:cNvSpPr/>
          <p:nvPr/>
        </p:nvSpPr>
        <p:spPr>
          <a:xfrm>
            <a:off x="1289304" y="3840480"/>
            <a:ext cx="16002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Vercel · 감점 항목</a:t>
            </a:r>
            <a:endParaRPr sz="760"/>
          </a:p>
        </p:txBody>
      </p:sp>
      <p:sp>
        <p:nvSpPr>
          <p:cNvPr id="209" name="Rectangle 208"/>
          <p:cNvSpPr/>
          <p:nvPr/>
        </p:nvSpPr>
        <p:spPr>
          <a:xfrm>
            <a:off x="2889504" y="3840480"/>
            <a:ext cx="502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+5 / −5</a:t>
            </a:r>
            <a:endParaRPr sz="760"/>
          </a:p>
        </p:txBody>
      </p:sp>
      <p:sp>
        <p:nvSpPr>
          <p:cNvPr id="210" name="Rectangle 209"/>
          <p:cNvSpPr/>
          <p:nvPr/>
        </p:nvSpPr>
        <p:spPr>
          <a:xfrm>
            <a:off x="3392424" y="3840480"/>
            <a:ext cx="278892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배포 URL(선택) · 감점 항목 없음</a:t>
            </a:r>
            <a:endParaRPr sz="760"/>
          </a:p>
        </p:txBody>
      </p:sp>
      <p:sp>
        <p:nvSpPr>
          <p:cNvPr id="211" name="Rectangle 210"/>
          <p:cNvSpPr/>
          <p:nvPr/>
        </p:nvSpPr>
        <p:spPr>
          <a:xfrm>
            <a:off x="6181344" y="3840480"/>
            <a:ext cx="17830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Vercel 없음 · grep 결과 없음</a:t>
            </a:r>
            <a:endParaRPr sz="760"/>
          </a:p>
        </p:txBody>
      </p:sp>
      <p:sp>
        <p:nvSpPr>
          <p:cNvPr id="212" name="Rectangle 211"/>
          <p:cNvSpPr/>
          <p:nvPr/>
        </p:nvSpPr>
        <p:spPr>
          <a:xfrm>
            <a:off x="7964424" y="3840480"/>
            <a:ext cx="67665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15803D"/>
                </a:solidFill>
                <a:latin typeface="Arial"/>
                <a:ea typeface="맑은 고딕"/>
                <a:cs typeface="맑은 고딕"/>
              </a:rPr>
              <a:t>+0 −0</a:t>
            </a:r>
            <a:endParaRPr sz="760"/>
          </a:p>
        </p:txBody>
      </p:sp>
      <p:sp>
        <p:nvSpPr>
          <p:cNvPr id="213" name="Rectangle 212"/>
          <p:cNvSpPr/>
          <p:nvPr/>
        </p:nvSpPr>
        <p:spPr>
          <a:xfrm>
            <a:off x="512064" y="4133088"/>
            <a:ext cx="777240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합계</a:t>
            </a:r>
            <a:endParaRPr sz="760"/>
          </a:p>
        </p:txBody>
      </p:sp>
      <p:sp>
        <p:nvSpPr>
          <p:cNvPr id="214" name="Rectangle 213"/>
          <p:cNvSpPr/>
          <p:nvPr/>
        </p:nvSpPr>
        <p:spPr>
          <a:xfrm>
            <a:off x="1289304" y="4133088"/>
            <a:ext cx="1600200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215" name="Rectangle 214"/>
          <p:cNvSpPr/>
          <p:nvPr/>
        </p:nvSpPr>
        <p:spPr>
          <a:xfrm>
            <a:off x="2889504" y="4133088"/>
            <a:ext cx="502920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100</a:t>
            </a:r>
            <a:endParaRPr sz="760"/>
          </a:p>
        </p:txBody>
      </p:sp>
      <p:sp>
        <p:nvSpPr>
          <p:cNvPr id="216" name="Rectangle 215"/>
          <p:cNvSpPr/>
          <p:nvPr/>
        </p:nvSpPr>
        <p:spPr>
          <a:xfrm>
            <a:off x="3392424" y="4133088"/>
            <a:ext cx="2788920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가산 · 감점 반영 전후 모두</a:t>
            </a:r>
            <a:endParaRPr sz="760"/>
          </a:p>
        </p:txBody>
      </p:sp>
      <p:sp>
        <p:nvSpPr>
          <p:cNvPr id="217" name="Rectangle 216"/>
          <p:cNvSpPr/>
          <p:nvPr/>
        </p:nvSpPr>
        <p:spPr>
          <a:xfrm>
            <a:off x="6181344" y="4133088"/>
            <a:ext cx="1783080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760"/>
          </a:p>
        </p:txBody>
      </p:sp>
      <p:sp>
        <p:nvSpPr>
          <p:cNvPr id="218" name="Rectangle 217"/>
          <p:cNvSpPr/>
          <p:nvPr/>
        </p:nvSpPr>
        <p:spPr>
          <a:xfrm>
            <a:off x="7964424" y="4133088"/>
            <a:ext cx="676656" cy="292608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60" b="0" i="0">
                <a:solidFill>
                  <a:srgbClr val="93A4BB"/>
                </a:solidFill>
                <a:latin typeface="Arial"/>
                <a:ea typeface="맑은 고딕"/>
                <a:cs typeface="맑은 고딕"/>
              </a:rPr>
              <a:t>__ / 100</a:t>
            </a:r>
            <a:endParaRPr sz="760"/>
          </a:p>
        </p:txBody>
      </p:sp>
      <p:sp>
        <p:nvSpPr>
          <p:cNvPr id="219" name="TextBox 218"/>
          <p:cNvSpPr txBox="1"/>
          <p:nvPr/>
        </p:nvSpPr>
        <p:spPr>
          <a:xfrm>
            <a:off x="512064" y="4462272"/>
            <a:ext cx="8138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점수는 안내문 7장 배점 안에서 강사가 매긴다 — 이 표는 빠진 칸을 찾는 점검 도구 · 자가 칸은 제출 전 직접 채운다 · 원본 docs/자가평가.md</a:t>
            </a:r>
            <a:endParaRPr sz="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B5-1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B5-1 — 기획 상세: 사업 요약 1쪽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요약: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민준의 흩어진 소식 · 기록을 한 앱으로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7950" y="4810125"/>
            <a:ext cx="39047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2단계 · 7장 기획 "사업 요약 5"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B5-1</a:t>
            </a:r>
            <a:endParaRPr lang="en-US" sz="680" dirty="0"/>
          </a:p>
        </p:txBody>
      </p:sp>
      <p:sp>
        <p:nvSpPr>
          <p:cNvPr id="24" name="TextBox 23"/>
          <p:cNvSpPr txBox="1"/>
          <p:nvPr/>
        </p:nvSpPr>
        <p:spPr>
          <a:xfrm>
            <a:off x="512064" y="100584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목표</a:t>
            </a:r>
            <a:endParaRPr sz="840"/>
          </a:p>
        </p:txBody>
      </p:sp>
      <p:sp>
        <p:nvSpPr>
          <p:cNvPr id="25" name="Rectangle 24"/>
          <p:cNvSpPr/>
          <p:nvPr/>
        </p:nvSpPr>
        <p:spPr>
          <a:xfrm>
            <a:off x="512064" y="1170432"/>
            <a:ext cx="32461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95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관심 IP의 새 소식과 내 컬렉션을 한 앱에서</a:t>
            </a:r>
            <a:endParaRPr sz="950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소식 → 기록까지 앱 3곳(공식 X · 중고 앱 · hobbyDB) → 1곳</a:t>
            </a:r>
            <a:endParaRPr sz="819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구매함 기록: 상세에 들어가서 → 사진 위 리본 1번 (A-9)</a:t>
            </a:r>
            <a:endParaRPr sz="819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보기 제한: 한 달 10번 → 없음 (D-5b)</a:t>
            </a:r>
            <a:endParaRPr sz="819"/>
          </a:p>
        </p:txBody>
      </p:sp>
      <p:sp>
        <p:nvSpPr>
          <p:cNvPr id="26" name="Rounded Rectangle 25"/>
          <p:cNvSpPr/>
          <p:nvPr/>
        </p:nvSpPr>
        <p:spPr>
          <a:xfrm>
            <a:off x="3886200" y="1005840"/>
            <a:ext cx="1005840" cy="15819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sp>
        <p:nvSpPr>
          <p:cNvPr id="27" name="Oval 26"/>
          <p:cNvSpPr/>
          <p:nvPr/>
        </p:nvSpPr>
        <p:spPr>
          <a:xfrm>
            <a:off x="4069080" y="1261872"/>
            <a:ext cx="640080" cy="640080"/>
          </a:xfrm>
          <a:prstGeom prst="ellipse">
            <a:avLst/>
          </a:prstGeom>
          <a:solidFill>
            <a:srgbClr val="2F6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marL="0" indent="0">
              <a:buNone/>
            </a:pPr>
            <a:r>
              <a:rPr sz="200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민</a:t>
            </a:r>
            <a:endParaRPr sz="2000"/>
          </a:p>
        </p:txBody>
      </p:sp>
      <p:sp>
        <p:nvSpPr>
          <p:cNvPr id="28" name="TextBox 27"/>
          <p:cNvSpPr txBox="1"/>
          <p:nvPr/>
        </p:nvSpPr>
        <p:spPr>
          <a:xfrm>
            <a:off x="3886200" y="2011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민준 · 23</a:t>
            </a:r>
            <a:endParaRPr sz="840"/>
          </a:p>
          <a:p>
            <a:pPr algn="ctr" marL="0" indent="0">
              <a:buNone/>
            </a:pP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퍼소나</a:t>
            </a:r>
            <a:endParaRPr sz="720"/>
          </a:p>
        </p:txBody>
      </p:sp>
      <p:sp>
        <p:nvSpPr>
          <p:cNvPr id="29" name="TextBox 28"/>
          <p:cNvSpPr txBox="1"/>
          <p:nvPr/>
        </p:nvSpPr>
        <p:spPr>
          <a:xfrm>
            <a:off x="5029200" y="1005840"/>
            <a:ext cx="3566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대상 사용자 (퍼소나)</a:t>
            </a:r>
            <a:endParaRPr sz="840"/>
          </a:p>
        </p:txBody>
      </p:sp>
      <p:sp>
        <p:nvSpPr>
          <p:cNvPr id="30" name="Rectangle 29"/>
          <p:cNvSpPr/>
          <p:nvPr/>
        </p:nvSpPr>
        <p:spPr>
          <a:xfrm>
            <a:off x="5029200" y="1170432"/>
            <a:ext cx="36118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8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대학생 · 수집 4년차 — 건프라 · 베이블레이드 X · 포켓몬 피규어</a:t>
            </a:r>
            <a:endParaRPr sz="860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재판 · 신상 소식은 반다이 공식 X · 유튜브, 가격은 중고 앱에서 따로</a:t>
            </a:r>
            <a:endParaRPr sz="819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갤럭시 폴드 사용 — 밖에선 접어서, 집에선 펼쳐서</a:t>
            </a:r>
            <a:endParaRPr sz="819"/>
          </a:p>
          <a:p>
            <a:pPr algn="l" marL="114300" indent="-114300">
              <a:spcAft>
                <a:spcPts val="300"/>
              </a:spcAft>
              <a:buChar char="•"/>
            </a:pPr>
            <a:r>
              <a:rPr sz="819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동생과 같은 방에 컬렉션 — 겹쳐 사는 일이 생긴다</a:t>
            </a:r>
            <a:endParaRPr sz="819"/>
          </a:p>
        </p:txBody>
      </p:sp>
      <p:sp>
        <p:nvSpPr>
          <p:cNvPr id="31" name="TextBox 30"/>
          <p:cNvSpPr txBox="1"/>
          <p:nvPr/>
        </p:nvSpPr>
        <p:spPr>
          <a:xfrm>
            <a:off x="512064" y="2706624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해결할 문제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리뷰 · 저니 최저점 · 근본 원인(B5-3)과 같은 문제</a:t>
            </a:r>
            <a:endParaRPr sz="720"/>
          </a:p>
        </p:txBody>
      </p:sp>
      <p:sp>
        <p:nvSpPr>
          <p:cNvPr id="32" name="Rectangle 31"/>
          <p:cNvSpPr/>
          <p:nvPr/>
        </p:nvSpPr>
        <p:spPr>
          <a:xfrm>
            <a:off x="512064" y="2871216"/>
            <a:ext cx="3977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 marL="114300" indent="-114300">
              <a:spcAft>
                <a:spcPts val="400"/>
              </a:spcAft>
              <a:buChar char="•"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① 정보가 흩어져 있다 </a:t>
            </a: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 공식 예고 · 발매일 · 시세 · 내 기록</a:t>
            </a:r>
            <a:endParaRPr sz="840"/>
          </a:p>
          <a:p>
            <a:pPr algn="l" marL="114300" indent="-114300">
              <a:spcAft>
                <a:spcPts val="400"/>
              </a:spcAft>
              <a:buChar char="•"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② 익히기 어렵다 </a:t>
            </a: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 웹 메뉴 구조, 창이 따로 열림 (#1 · #2)</a:t>
            </a:r>
            <a:endParaRPr sz="840"/>
          </a:p>
          <a:p>
            <a:pPr algn="l" marL="114300" indent="-114300">
              <a:spcAft>
                <a:spcPts val="400"/>
              </a:spcAft>
              <a:buChar char="•"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③ 한 번 막히면 떠난다 </a:t>
            </a: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 스캐너 멈춤 · 광고 · 시세 제한 (#3 · #4)</a:t>
            </a:r>
            <a:endParaRPr sz="840"/>
          </a:p>
          <a:p>
            <a:pPr algn="l" marL="114300" indent="-114300">
              <a:spcAft>
                <a:spcPts val="400"/>
              </a:spcAft>
              <a:buChar char="•"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④ 나눌 방법이 없다 </a:t>
            </a: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 동생과 겹쳐 사고, 친구에게 보여 줄 곳이 없다</a:t>
            </a:r>
            <a:endParaRPr sz="840"/>
          </a:p>
          <a:p>
            <a:pPr algn="l" marL="0" indent="0">
              <a:spcAft>
                <a:spcPts val="400"/>
              </a:spcAft>
              <a:buNone/>
            </a:pPr>
            <a:r>
              <a:rPr sz="76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근본 원인: 내 관심 분야와 내가 하는 일의 순서가 화면 구조의 기준이 아니다</a:t>
            </a:r>
            <a:endParaRPr sz="760"/>
          </a:p>
        </p:txBody>
      </p:sp>
      <p:sp>
        <p:nvSpPr>
          <p:cNvPr id="33" name="TextBox 32"/>
          <p:cNvSpPr txBox="1"/>
          <p:nvPr/>
        </p:nvSpPr>
        <p:spPr>
          <a:xfrm>
            <a:off x="4617720" y="2706624"/>
            <a:ext cx="4023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v2의 핵심 가치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화면 · 원칙 P번호</a:t>
            </a:r>
            <a:endParaRPr sz="720"/>
          </a:p>
        </p:txBody>
      </p:sp>
      <p:sp>
        <p:nvSpPr>
          <p:cNvPr id="34" name="Rounded Rectangle 33"/>
          <p:cNvSpPr/>
          <p:nvPr/>
        </p:nvSpPr>
        <p:spPr>
          <a:xfrm>
            <a:off x="4617720" y="2871216"/>
            <a:ext cx="4023360" cy="402336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8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 소식</a:t>
            </a:r>
            <a:r>
              <a:rPr sz="7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 A 홈 · H 캘린더 · C-1 채널 바</a:t>
            </a:r>
            <a:endParaRPr sz="780"/>
          </a:p>
        </p:txBody>
      </p:sp>
      <p:sp>
        <p:nvSpPr>
          <p:cNvPr id="35" name="TextBox 34"/>
          <p:cNvSpPr txBox="1"/>
          <p:nvPr/>
        </p:nvSpPr>
        <p:spPr>
          <a:xfrm>
            <a:off x="7863840" y="2990088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78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P06</a:t>
            </a:r>
            <a:endParaRPr sz="780"/>
          </a:p>
        </p:txBody>
      </p:sp>
      <p:sp>
        <p:nvSpPr>
          <p:cNvPr id="36" name="Rounded Rectangle 35"/>
          <p:cNvSpPr/>
          <p:nvPr/>
        </p:nvSpPr>
        <p:spPr>
          <a:xfrm>
            <a:off x="4617720" y="3319272"/>
            <a:ext cx="4023360" cy="402336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8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한 번에 기록</a:t>
            </a:r>
            <a:r>
              <a:rPr sz="7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 A-9 ♡ · 리본, 앱 전체 한 벌 (S-16)</a:t>
            </a:r>
            <a:endParaRPr sz="780"/>
          </a:p>
        </p:txBody>
      </p:sp>
      <p:sp>
        <p:nvSpPr>
          <p:cNvPr id="37" name="TextBox 36"/>
          <p:cNvSpPr txBox="1"/>
          <p:nvPr/>
        </p:nvSpPr>
        <p:spPr>
          <a:xfrm>
            <a:off x="7863840" y="343814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78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P04 P07</a:t>
            </a:r>
            <a:endParaRPr sz="780"/>
          </a:p>
        </p:txBody>
      </p:sp>
      <p:sp>
        <p:nvSpPr>
          <p:cNvPr id="38" name="Rounded Rectangle 37"/>
          <p:cNvSpPr/>
          <p:nvPr/>
        </p:nvSpPr>
        <p:spPr>
          <a:xfrm>
            <a:off x="4617720" y="3767328"/>
            <a:ext cx="4023360" cy="402336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8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도감 레벨</a:t>
            </a:r>
            <a:r>
              <a:rPr sz="7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 G-4 4단계 · G-4a Lv</a:t>
            </a:r>
            <a:endParaRPr sz="780"/>
          </a:p>
        </p:txBody>
      </p:sp>
      <p:sp>
        <p:nvSpPr>
          <p:cNvPr id="39" name="TextBox 38"/>
          <p:cNvSpPr txBox="1"/>
          <p:nvPr/>
        </p:nvSpPr>
        <p:spPr>
          <a:xfrm>
            <a:off x="7863840" y="38862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78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P01</a:t>
            </a:r>
            <a:endParaRPr sz="780"/>
          </a:p>
        </p:txBody>
      </p:sp>
      <p:sp>
        <p:nvSpPr>
          <p:cNvPr id="40" name="Rounded Rectangle 39"/>
          <p:cNvSpPr/>
          <p:nvPr/>
        </p:nvSpPr>
        <p:spPr>
          <a:xfrm>
            <a:off x="4617720" y="4215384"/>
            <a:ext cx="4023360" cy="402336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l" marL="0" indent="0">
              <a:buNone/>
            </a:pPr>
            <a:r>
              <a:rPr sz="8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겹쳐 사지 않기</a:t>
            </a:r>
            <a:r>
              <a:rPr sz="7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 M 친구 서랍 · L "나도 있음"</a:t>
            </a:r>
            <a:endParaRPr sz="780"/>
          </a:p>
        </p:txBody>
      </p:sp>
      <p:sp>
        <p:nvSpPr>
          <p:cNvPr id="41" name="TextBox 40"/>
          <p:cNvSpPr txBox="1"/>
          <p:nvPr/>
        </p:nvSpPr>
        <p:spPr>
          <a:xfrm>
            <a:off x="7863840" y="43342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buNone/>
            </a:pPr>
            <a:r>
              <a:rPr sz="780" b="1" i="0">
                <a:solidFill>
                  <a:srgbClr val="2F6FE4"/>
                </a:solidFill>
                <a:latin typeface="Arial"/>
                <a:ea typeface="맑은 고딕"/>
                <a:cs typeface="맑은 고딕"/>
              </a:rPr>
              <a:t>P07</a:t>
            </a:r>
            <a:endParaRPr sz="78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B5-2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B5-2 — 기획 상세: 사용자 저니 전체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저니: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최저점은 ③ 살지 판단 — 시세 제한 · 광고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507950" y="4810125"/>
            <a:ext cx="37280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3단계 · 7장 기획 "저니 8"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B5-2</a:t>
            </a:r>
            <a:endParaRPr lang="en-US" sz="680" dirty="0"/>
          </a:p>
        </p:txBody>
      </p:sp>
      <p:sp>
        <p:nvSpPr>
          <p:cNvPr id="77" name="TextBox 76"/>
          <p:cNvSpPr txBox="1"/>
          <p:nvPr/>
        </p:nvSpPr>
        <p:spPr>
          <a:xfrm>
            <a:off x="512064" y="100584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목표</a:t>
            </a:r>
            <a:endParaRPr sz="840"/>
          </a:p>
        </p:txBody>
      </p:sp>
      <p:sp>
        <p:nvSpPr>
          <p:cNvPr id="78" name="Rectangle 77"/>
          <p:cNvSpPr/>
          <p:nvPr/>
        </p:nvSpPr>
        <p:spPr>
          <a:xfrm>
            <a:off x="512064" y="1170432"/>
            <a:ext cx="39776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새 재판 소식을 보고 → 사서 → 도감에 기록하기</a:t>
            </a:r>
            <a:endParaRPr sz="840"/>
          </a:p>
        </p:txBody>
      </p:sp>
      <p:sp>
        <p:nvSpPr>
          <p:cNvPr id="79" name="TextBox 78"/>
          <p:cNvSpPr txBox="1"/>
          <p:nvPr/>
        </p:nvSpPr>
        <p:spPr>
          <a:xfrm>
            <a:off x="4617720" y="1005840"/>
            <a:ext cx="3931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감정 최저점</a:t>
            </a:r>
            <a:endParaRPr sz="840"/>
          </a:p>
        </p:txBody>
      </p:sp>
      <p:sp>
        <p:nvSpPr>
          <p:cNvPr id="80" name="Rectangle 79"/>
          <p:cNvSpPr/>
          <p:nvPr/>
        </p:nvSpPr>
        <p:spPr>
          <a:xfrm>
            <a:off x="4617720" y="1170432"/>
            <a:ext cx="4023360" cy="274320"/>
          </a:xfrm>
          <a:prstGeom prst="rect">
            <a:avLst/>
          </a:prstGeom>
          <a:solidFill>
            <a:srgbClr val="FFF7ED"/>
          </a:solidFill>
          <a:ln w="9525">
            <a:solidFill>
              <a:srgbClr val="F5B5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819" b="1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③ 살지 판단 · 시세 월 10회 · 광고(#3) · 어긴 원칙 P07 P08 P10</a:t>
            </a:r>
            <a:endParaRPr sz="819"/>
          </a:p>
        </p:txBody>
      </p:sp>
      <p:sp>
        <p:nvSpPr>
          <p:cNvPr id="81" name="Rectangle 80"/>
          <p:cNvSpPr/>
          <p:nvPr/>
        </p:nvSpPr>
        <p:spPr>
          <a:xfrm>
            <a:off x="512064" y="1536192"/>
            <a:ext cx="105156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단계 →</a:t>
            </a:r>
            <a:endParaRPr sz="740"/>
          </a:p>
        </p:txBody>
      </p:sp>
      <p:sp>
        <p:nvSpPr>
          <p:cNvPr id="82" name="Rectangle 81"/>
          <p:cNvSpPr/>
          <p:nvPr/>
        </p:nvSpPr>
        <p:spPr>
          <a:xfrm>
            <a:off x="1563624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① 소식 알기</a:t>
            </a:r>
            <a:endParaRPr sz="740"/>
          </a:p>
        </p:txBody>
      </p:sp>
      <p:sp>
        <p:nvSpPr>
          <p:cNvPr id="83" name="Rectangle 82"/>
          <p:cNvSpPr/>
          <p:nvPr/>
        </p:nvSpPr>
        <p:spPr>
          <a:xfrm>
            <a:off x="2743200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② 찾기</a:t>
            </a:r>
            <a:endParaRPr sz="740"/>
          </a:p>
        </p:txBody>
      </p:sp>
      <p:sp>
        <p:nvSpPr>
          <p:cNvPr id="84" name="Rectangle 83"/>
          <p:cNvSpPr/>
          <p:nvPr/>
        </p:nvSpPr>
        <p:spPr>
          <a:xfrm>
            <a:off x="3922776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③ 살지 판단</a:t>
            </a:r>
            <a:endParaRPr sz="740"/>
          </a:p>
        </p:txBody>
      </p:sp>
      <p:sp>
        <p:nvSpPr>
          <p:cNvPr id="85" name="Rectangle 84"/>
          <p:cNvSpPr/>
          <p:nvPr/>
        </p:nvSpPr>
        <p:spPr>
          <a:xfrm>
            <a:off x="5102352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④ 기록</a:t>
            </a:r>
            <a:endParaRPr sz="740"/>
          </a:p>
        </p:txBody>
      </p:sp>
      <p:sp>
        <p:nvSpPr>
          <p:cNvPr id="86" name="Rectangle 85"/>
          <p:cNvSpPr/>
          <p:nvPr/>
        </p:nvSpPr>
        <p:spPr>
          <a:xfrm>
            <a:off x="6281928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⑤ 모은 것 보기</a:t>
            </a:r>
            <a:endParaRPr sz="740"/>
          </a:p>
        </p:txBody>
      </p:sp>
      <p:sp>
        <p:nvSpPr>
          <p:cNvPr id="87" name="Rectangle 86"/>
          <p:cNvSpPr/>
          <p:nvPr/>
        </p:nvSpPr>
        <p:spPr>
          <a:xfrm>
            <a:off x="7461504" y="1536192"/>
            <a:ext cx="1179576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⑥ 나누기</a:t>
            </a:r>
            <a:endParaRPr sz="740"/>
          </a:p>
        </p:txBody>
      </p:sp>
      <p:sp>
        <p:nvSpPr>
          <p:cNvPr id="88" name="Rectangle 87"/>
          <p:cNvSpPr/>
          <p:nvPr/>
        </p:nvSpPr>
        <p:spPr>
          <a:xfrm>
            <a:off x="512064" y="1737360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사용자 행동</a:t>
            </a:r>
            <a:endParaRPr sz="700"/>
          </a:p>
        </p:txBody>
      </p:sp>
      <p:sp>
        <p:nvSpPr>
          <p:cNvPr id="89" name="Rectangle 88"/>
          <p:cNvSpPr/>
          <p:nvPr/>
        </p:nvSpPr>
        <p:spPr>
          <a:xfrm>
            <a:off x="1563624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재판 · 신상 소식 확인</a:t>
            </a:r>
            <a:endParaRPr sz="700"/>
          </a:p>
        </p:txBody>
      </p:sp>
      <p:sp>
        <p:nvSpPr>
          <p:cNvPr id="90" name="Rectangle 89"/>
          <p:cNvSpPr/>
          <p:nvPr/>
        </p:nvSpPr>
        <p:spPr>
          <a:xfrm>
            <a:off x="2743200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이름 · 번호 · 생김새로 찾기</a:t>
            </a:r>
            <a:endParaRPr sz="700"/>
          </a:p>
        </p:txBody>
      </p:sp>
      <p:sp>
        <p:nvSpPr>
          <p:cNvPr id="91" name="Rectangle 90"/>
          <p:cNvSpPr/>
          <p:nvPr/>
        </p:nvSpPr>
        <p:spPr>
          <a:xfrm>
            <a:off x="3922776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· 시세 · 이미 가졌나</a:t>
            </a:r>
            <a:endParaRPr sz="700"/>
          </a:p>
        </p:txBody>
      </p:sp>
      <p:sp>
        <p:nvSpPr>
          <p:cNvPr id="92" name="Rectangle 91"/>
          <p:cNvSpPr/>
          <p:nvPr/>
        </p:nvSpPr>
        <p:spPr>
          <a:xfrm>
            <a:off x="5102352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산 것 · 갖고 싶은 것 표시</a:t>
            </a:r>
            <a:endParaRPr sz="700"/>
          </a:p>
        </p:txBody>
      </p:sp>
      <p:sp>
        <p:nvSpPr>
          <p:cNvPr id="93" name="Rectangle 92"/>
          <p:cNvSpPr/>
          <p:nvPr/>
        </p:nvSpPr>
        <p:spPr>
          <a:xfrm>
            <a:off x="6281928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무엇이 남았나</a:t>
            </a:r>
            <a:endParaRPr sz="700"/>
          </a:p>
        </p:txBody>
      </p:sp>
      <p:sp>
        <p:nvSpPr>
          <p:cNvPr id="94" name="Rectangle 93"/>
          <p:cNvSpPr/>
          <p:nvPr/>
        </p:nvSpPr>
        <p:spPr>
          <a:xfrm>
            <a:off x="7461504" y="1737360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동생 · 친구에게 보여 주기</a:t>
            </a:r>
            <a:endParaRPr sz="700"/>
          </a:p>
        </p:txBody>
      </p:sp>
      <p:sp>
        <p:nvSpPr>
          <p:cNvPr id="95" name="Rectangle 94"/>
          <p:cNvSpPr/>
          <p:nvPr/>
        </p:nvSpPr>
        <p:spPr>
          <a:xfrm>
            <a:off x="512064" y="2048256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현행 앱</a:t>
            </a:r>
            <a:endParaRPr sz="700"/>
          </a:p>
        </p:txBody>
      </p:sp>
      <p:sp>
        <p:nvSpPr>
          <p:cNvPr id="96" name="Rectangle 95"/>
          <p:cNvSpPr/>
          <p:nvPr/>
        </p:nvSpPr>
        <p:spPr>
          <a:xfrm>
            <a:off x="1563624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소식 없음(외부 SNS)</a:t>
            </a:r>
            <a:endParaRPr sz="700"/>
          </a:p>
        </p:txBody>
      </p:sp>
      <p:sp>
        <p:nvSpPr>
          <p:cNvPr id="97" name="Rectangle 96"/>
          <p:cNvSpPr/>
          <p:nvPr/>
        </p:nvSpPr>
        <p:spPr>
          <a:xfrm>
            <a:off x="2743200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웹 메뉴 · 스캐너</a:t>
            </a:r>
            <a:endParaRPr sz="700"/>
          </a:p>
        </p:txBody>
      </p:sp>
      <p:sp>
        <p:nvSpPr>
          <p:cNvPr id="98" name="Rectangle 97"/>
          <p:cNvSpPr/>
          <p:nvPr/>
        </p:nvSpPr>
        <p:spPr>
          <a:xfrm>
            <a:off x="3922776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월 10회 · 광고</a:t>
            </a:r>
            <a:endParaRPr sz="700"/>
          </a:p>
        </p:txBody>
      </p:sp>
      <p:sp>
        <p:nvSpPr>
          <p:cNvPr id="99" name="Rectangle 98"/>
          <p:cNvSpPr/>
          <p:nvPr/>
        </p:nvSpPr>
        <p:spPr>
          <a:xfrm>
            <a:off x="5102352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쇼케이스/컬렉션 모호</a:t>
            </a:r>
            <a:endParaRPr sz="700"/>
          </a:p>
        </p:txBody>
      </p:sp>
      <p:sp>
        <p:nvSpPr>
          <p:cNvPr id="100" name="Rectangle 99"/>
          <p:cNvSpPr/>
          <p:nvPr/>
        </p:nvSpPr>
        <p:spPr>
          <a:xfrm>
            <a:off x="6281928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목록만</a:t>
            </a:r>
            <a:endParaRPr sz="700"/>
          </a:p>
        </p:txBody>
      </p:sp>
      <p:sp>
        <p:nvSpPr>
          <p:cNvPr id="101" name="Rectangle 100"/>
          <p:cNvSpPr/>
          <p:nvPr/>
        </p:nvSpPr>
        <p:spPr>
          <a:xfrm>
            <a:off x="7461504" y="2048256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쇼케이스(공개만)</a:t>
            </a:r>
            <a:endParaRPr sz="700"/>
          </a:p>
        </p:txBody>
      </p:sp>
      <p:sp>
        <p:nvSpPr>
          <p:cNvPr id="102" name="Rectangle 101"/>
          <p:cNvSpPr/>
          <p:nvPr/>
        </p:nvSpPr>
        <p:spPr>
          <a:xfrm>
            <a:off x="512064" y="2359152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리뷰 근거 #</a:t>
            </a:r>
            <a:endParaRPr sz="700"/>
          </a:p>
        </p:txBody>
      </p:sp>
      <p:sp>
        <p:nvSpPr>
          <p:cNvPr id="103" name="Rectangle 102"/>
          <p:cNvSpPr/>
          <p:nvPr/>
        </p:nvSpPr>
        <p:spPr>
          <a:xfrm>
            <a:off x="1563624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04" name="Rectangle 103"/>
          <p:cNvSpPr/>
          <p:nvPr/>
        </p:nvSpPr>
        <p:spPr>
          <a:xfrm>
            <a:off x="2743200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#4 스캐너 · 2021-03-22 없는 상품</a:t>
            </a:r>
            <a:endParaRPr sz="700"/>
          </a:p>
        </p:txBody>
      </p:sp>
      <p:sp>
        <p:nvSpPr>
          <p:cNvPr id="105" name="Rectangle 104"/>
          <p:cNvSpPr/>
          <p:nvPr/>
        </p:nvSpPr>
        <p:spPr>
          <a:xfrm>
            <a:off x="3922776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#3 시세 제한 · 2021-09-17 출처</a:t>
            </a:r>
            <a:endParaRPr sz="700"/>
          </a:p>
        </p:txBody>
      </p:sp>
      <p:sp>
        <p:nvSpPr>
          <p:cNvPr id="106" name="Rectangle 105"/>
          <p:cNvSpPr/>
          <p:nvPr/>
        </p:nvSpPr>
        <p:spPr>
          <a:xfrm>
            <a:off x="5102352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#1 쇼케이스 vs 컬렉션</a:t>
            </a:r>
            <a:endParaRPr sz="700"/>
          </a:p>
        </p:txBody>
      </p:sp>
      <p:sp>
        <p:nvSpPr>
          <p:cNvPr id="107" name="Rectangle 106"/>
          <p:cNvSpPr/>
          <p:nvPr/>
        </p:nvSpPr>
        <p:spPr>
          <a:xfrm>
            <a:off x="6281928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#2 창이 따로</a:t>
            </a:r>
            <a:endParaRPr sz="700"/>
          </a:p>
        </p:txBody>
      </p:sp>
      <p:sp>
        <p:nvSpPr>
          <p:cNvPr id="108" name="Rectangle 107"/>
          <p:cNvSpPr/>
          <p:nvPr/>
        </p:nvSpPr>
        <p:spPr>
          <a:xfrm>
            <a:off x="7461504" y="2359152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09" name="Rectangle 108"/>
          <p:cNvSpPr/>
          <p:nvPr/>
        </p:nvSpPr>
        <p:spPr>
          <a:xfrm>
            <a:off x="512064" y="2670048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감정 +2 ~ −2</a:t>
            </a:r>
            <a:endParaRPr sz="700"/>
          </a:p>
        </p:txBody>
      </p:sp>
      <p:sp>
        <p:nvSpPr>
          <p:cNvPr id="110" name="Rectangle 109"/>
          <p:cNvSpPr/>
          <p:nvPr/>
        </p:nvSpPr>
        <p:spPr>
          <a:xfrm>
            <a:off x="1563624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</a:t>
            </a:r>
            <a:endParaRPr sz="700"/>
          </a:p>
        </p:txBody>
      </p:sp>
      <p:sp>
        <p:nvSpPr>
          <p:cNvPr id="111" name="Rectangle 110"/>
          <p:cNvSpPr/>
          <p:nvPr/>
        </p:nvSpPr>
        <p:spPr>
          <a:xfrm>
            <a:off x="2743200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−1</a:t>
            </a:r>
            <a:endParaRPr sz="700"/>
          </a:p>
        </p:txBody>
      </p:sp>
      <p:sp>
        <p:nvSpPr>
          <p:cNvPr id="112" name="Rectangle 111"/>
          <p:cNvSpPr/>
          <p:nvPr/>
        </p:nvSpPr>
        <p:spPr>
          <a:xfrm>
            <a:off x="3922776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D97706"/>
                </a:solidFill>
                <a:latin typeface="Arial"/>
                <a:ea typeface="맑은 고딕"/>
                <a:cs typeface="맑은 고딕"/>
              </a:rPr>
              <a:t>−2 최저점</a:t>
            </a:r>
            <a:endParaRPr sz="700"/>
          </a:p>
        </p:txBody>
      </p:sp>
      <p:sp>
        <p:nvSpPr>
          <p:cNvPr id="113" name="Rectangle 112"/>
          <p:cNvSpPr/>
          <p:nvPr/>
        </p:nvSpPr>
        <p:spPr>
          <a:xfrm>
            <a:off x="5102352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−1</a:t>
            </a:r>
            <a:endParaRPr sz="700"/>
          </a:p>
        </p:txBody>
      </p:sp>
      <p:sp>
        <p:nvSpPr>
          <p:cNvPr id="114" name="Rectangle 113"/>
          <p:cNvSpPr/>
          <p:nvPr/>
        </p:nvSpPr>
        <p:spPr>
          <a:xfrm>
            <a:off x="6281928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0</a:t>
            </a:r>
            <a:endParaRPr sz="700"/>
          </a:p>
        </p:txBody>
      </p:sp>
      <p:sp>
        <p:nvSpPr>
          <p:cNvPr id="115" name="Rectangle 114"/>
          <p:cNvSpPr/>
          <p:nvPr/>
        </p:nvSpPr>
        <p:spPr>
          <a:xfrm>
            <a:off x="7461504" y="2670048"/>
            <a:ext cx="1179576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+1</a:t>
            </a:r>
            <a:endParaRPr sz="700"/>
          </a:p>
        </p:txBody>
      </p:sp>
      <p:sp>
        <p:nvSpPr>
          <p:cNvPr id="116" name="Rectangle 115"/>
          <p:cNvSpPr/>
          <p:nvPr/>
        </p:nvSpPr>
        <p:spPr>
          <a:xfrm>
            <a:off x="512064" y="2980944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 기기</a:t>
            </a:r>
            <a:endParaRPr sz="700"/>
          </a:p>
        </p:txBody>
      </p:sp>
      <p:sp>
        <p:nvSpPr>
          <p:cNvPr id="117" name="Rectangle 116"/>
          <p:cNvSpPr/>
          <p:nvPr/>
        </p:nvSpPr>
        <p:spPr>
          <a:xfrm>
            <a:off x="1563624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폰</a:t>
            </a:r>
            <a:endParaRPr sz="700"/>
          </a:p>
        </p:txBody>
      </p:sp>
      <p:sp>
        <p:nvSpPr>
          <p:cNvPr id="118" name="Rectangle 117"/>
          <p:cNvSpPr/>
          <p:nvPr/>
        </p:nvSpPr>
        <p:spPr>
          <a:xfrm>
            <a:off x="2743200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폰(매장) · 카메라</a:t>
            </a:r>
            <a:endParaRPr sz="700"/>
          </a:p>
        </p:txBody>
      </p:sp>
      <p:sp>
        <p:nvSpPr>
          <p:cNvPr id="119" name="Rectangle 118"/>
          <p:cNvSpPr/>
          <p:nvPr/>
        </p:nvSpPr>
        <p:spPr>
          <a:xfrm>
            <a:off x="3922776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폰 · 폴드(반반)</a:t>
            </a:r>
            <a:endParaRPr sz="700"/>
          </a:p>
        </p:txBody>
      </p:sp>
      <p:sp>
        <p:nvSpPr>
          <p:cNvPr id="120" name="Rectangle 119"/>
          <p:cNvSpPr/>
          <p:nvPr/>
        </p:nvSpPr>
        <p:spPr>
          <a:xfrm>
            <a:off x="5102352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폰</a:t>
            </a:r>
            <a:endParaRPr sz="700"/>
          </a:p>
        </p:txBody>
      </p:sp>
      <p:sp>
        <p:nvSpPr>
          <p:cNvPr id="121" name="Rectangle 120"/>
          <p:cNvSpPr/>
          <p:nvPr/>
        </p:nvSpPr>
        <p:spPr>
          <a:xfrm>
            <a:off x="6281928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폴드 · 태블릿</a:t>
            </a:r>
            <a:endParaRPr sz="700"/>
          </a:p>
        </p:txBody>
      </p:sp>
      <p:sp>
        <p:nvSpPr>
          <p:cNvPr id="122" name="Rectangle 121"/>
          <p:cNvSpPr/>
          <p:nvPr/>
        </p:nvSpPr>
        <p:spPr>
          <a:xfrm>
            <a:off x="7461504" y="2980944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폰</a:t>
            </a:r>
            <a:endParaRPr sz="700"/>
          </a:p>
        </p:txBody>
      </p:sp>
      <p:sp>
        <p:nvSpPr>
          <p:cNvPr id="123" name="Rectangle 122"/>
          <p:cNvSpPr/>
          <p:nvPr/>
        </p:nvSpPr>
        <p:spPr>
          <a:xfrm>
            <a:off x="512064" y="3291840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AI 활용 기회</a:t>
            </a:r>
            <a:endParaRPr sz="700"/>
          </a:p>
        </p:txBody>
      </p:sp>
      <p:sp>
        <p:nvSpPr>
          <p:cNvPr id="124" name="Rectangle 123"/>
          <p:cNvSpPr/>
          <p:nvPr/>
        </p:nvSpPr>
        <p:spPr>
          <a:xfrm>
            <a:off x="1563624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 소식 요약</a:t>
            </a:r>
            <a:endParaRPr sz="700"/>
          </a:p>
        </p:txBody>
      </p:sp>
      <p:sp>
        <p:nvSpPr>
          <p:cNvPr id="125" name="Rectangle 124"/>
          <p:cNvSpPr/>
          <p:nvPr/>
        </p:nvSpPr>
        <p:spPr>
          <a:xfrm>
            <a:off x="2743200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말로 설명해서 찾기 · 사진 인식</a:t>
            </a:r>
            <a:endParaRPr sz="700"/>
          </a:p>
        </p:txBody>
      </p:sp>
      <p:sp>
        <p:nvSpPr>
          <p:cNvPr id="126" name="Rectangle 125"/>
          <p:cNvSpPr/>
          <p:nvPr/>
        </p:nvSpPr>
        <p:spPr>
          <a:xfrm>
            <a:off x="3922776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범위 설명</a:t>
            </a:r>
            <a:endParaRPr sz="700"/>
          </a:p>
        </p:txBody>
      </p:sp>
      <p:sp>
        <p:nvSpPr>
          <p:cNvPr id="127" name="Rectangle 126"/>
          <p:cNvSpPr/>
          <p:nvPr/>
        </p:nvSpPr>
        <p:spPr>
          <a:xfrm>
            <a:off x="5102352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28" name="Rectangle 127"/>
          <p:cNvSpPr/>
          <p:nvPr/>
        </p:nvSpPr>
        <p:spPr>
          <a:xfrm>
            <a:off x="6281928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속 기체 판정</a:t>
            </a:r>
            <a:endParaRPr sz="700"/>
          </a:p>
        </p:txBody>
      </p:sp>
      <p:sp>
        <p:nvSpPr>
          <p:cNvPr id="129" name="Rectangle 128"/>
          <p:cNvSpPr/>
          <p:nvPr/>
        </p:nvSpPr>
        <p:spPr>
          <a:xfrm>
            <a:off x="7461504" y="3291840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30" name="Rectangle 129"/>
          <p:cNvSpPr/>
          <p:nvPr/>
        </p:nvSpPr>
        <p:spPr>
          <a:xfrm>
            <a:off x="512064" y="3602736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어긴 원칙</a:t>
            </a:r>
            <a:endParaRPr sz="700"/>
          </a:p>
        </p:txBody>
      </p:sp>
      <p:sp>
        <p:nvSpPr>
          <p:cNvPr id="131" name="Rectangle 130"/>
          <p:cNvSpPr/>
          <p:nvPr/>
        </p:nvSpPr>
        <p:spPr>
          <a:xfrm>
            <a:off x="1563624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32" name="Rectangle 131"/>
          <p:cNvSpPr/>
          <p:nvPr/>
        </p:nvSpPr>
        <p:spPr>
          <a:xfrm>
            <a:off x="2743200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· P09</a:t>
            </a:r>
            <a:endParaRPr sz="700"/>
          </a:p>
        </p:txBody>
      </p:sp>
      <p:sp>
        <p:nvSpPr>
          <p:cNvPr id="133" name="Rectangle 132"/>
          <p:cNvSpPr/>
          <p:nvPr/>
        </p:nvSpPr>
        <p:spPr>
          <a:xfrm>
            <a:off x="3922776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· P08 · P10</a:t>
            </a:r>
            <a:endParaRPr sz="700"/>
          </a:p>
        </p:txBody>
      </p:sp>
      <p:sp>
        <p:nvSpPr>
          <p:cNvPr id="134" name="Rectangle 133"/>
          <p:cNvSpPr/>
          <p:nvPr/>
        </p:nvSpPr>
        <p:spPr>
          <a:xfrm>
            <a:off x="5102352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· P06</a:t>
            </a:r>
            <a:endParaRPr sz="700"/>
          </a:p>
        </p:txBody>
      </p:sp>
      <p:sp>
        <p:nvSpPr>
          <p:cNvPr id="135" name="Rectangle 134"/>
          <p:cNvSpPr/>
          <p:nvPr/>
        </p:nvSpPr>
        <p:spPr>
          <a:xfrm>
            <a:off x="6281928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P03 · P08</a:t>
            </a:r>
            <a:endParaRPr sz="700"/>
          </a:p>
        </p:txBody>
      </p:sp>
      <p:sp>
        <p:nvSpPr>
          <p:cNvPr id="136" name="Rectangle 135"/>
          <p:cNvSpPr/>
          <p:nvPr/>
        </p:nvSpPr>
        <p:spPr>
          <a:xfrm>
            <a:off x="7461504" y="3602736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—</a:t>
            </a:r>
            <a:endParaRPr sz="700"/>
          </a:p>
        </p:txBody>
      </p:sp>
      <p:sp>
        <p:nvSpPr>
          <p:cNvPr id="137" name="Rectangle 136"/>
          <p:cNvSpPr/>
          <p:nvPr/>
        </p:nvSpPr>
        <p:spPr>
          <a:xfrm>
            <a:off x="512064" y="3913632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필요한 데이터 (GET)</a:t>
            </a:r>
            <a:endParaRPr sz="700"/>
          </a:p>
        </p:txBody>
      </p:sp>
      <p:sp>
        <p:nvSpPr>
          <p:cNvPr id="138" name="Rectangle 137"/>
          <p:cNvSpPr/>
          <p:nvPr/>
        </p:nvSpPr>
        <p:spPr>
          <a:xfrm>
            <a:off x="1563624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announcements · franchises</a:t>
            </a:r>
            <a:endParaRPr sz="700"/>
          </a:p>
        </p:txBody>
      </p:sp>
      <p:sp>
        <p:nvSpPr>
          <p:cNvPr id="139" name="Rectangle 138"/>
          <p:cNvSpPr/>
          <p:nvPr/>
        </p:nvSpPr>
        <p:spPr>
          <a:xfrm>
            <a:off x="2743200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kits · keywords</a:t>
            </a:r>
            <a:endParaRPr sz="700"/>
          </a:p>
        </p:txBody>
      </p:sp>
      <p:sp>
        <p:nvSpPr>
          <p:cNvPr id="140" name="Rectangle 139"/>
          <p:cNvSpPr/>
          <p:nvPr/>
        </p:nvSpPr>
        <p:spPr>
          <a:xfrm>
            <a:off x="3922776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kits.priceJpy · market</a:t>
            </a:r>
            <a:endParaRPr sz="700"/>
          </a:p>
        </p:txBody>
      </p:sp>
      <p:sp>
        <p:nvSpPr>
          <p:cNvPr id="141" name="Rectangle 140"/>
          <p:cNvSpPr/>
          <p:nvPr/>
        </p:nvSpPr>
        <p:spPr>
          <a:xfrm>
            <a:off x="5102352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좋아요 · 구매함</a:t>
            </a:r>
            <a:endParaRPr sz="700"/>
          </a:p>
        </p:txBody>
      </p:sp>
      <p:sp>
        <p:nvSpPr>
          <p:cNvPr id="142" name="Rectangle 141"/>
          <p:cNvSpPr/>
          <p:nvPr/>
        </p:nvSpPr>
        <p:spPr>
          <a:xfrm>
            <a:off x="6281928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guideWorks · guideUnits</a:t>
            </a:r>
            <a:endParaRPr sz="700"/>
          </a:p>
        </p:txBody>
      </p:sp>
      <p:sp>
        <p:nvSpPr>
          <p:cNvPr id="143" name="Rectangle 142"/>
          <p:cNvSpPr/>
          <p:nvPr/>
        </p:nvSpPr>
        <p:spPr>
          <a:xfrm>
            <a:off x="7461504" y="3913632"/>
            <a:ext cx="1179576" cy="310896"/>
          </a:xfrm>
          <a:prstGeom prst="rect">
            <a:avLst/>
          </a:prstGeom>
          <a:solidFill>
            <a:srgbClr val="FFF7E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profile.friends · showcase</a:t>
            </a:r>
            <a:endParaRPr sz="700"/>
          </a:p>
        </p:txBody>
      </p:sp>
      <p:sp>
        <p:nvSpPr>
          <p:cNvPr id="144" name="Rectangle 143"/>
          <p:cNvSpPr/>
          <p:nvPr/>
        </p:nvSpPr>
        <p:spPr>
          <a:xfrm>
            <a:off x="512064" y="4224528"/>
            <a:ext cx="1051560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0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v2에서</a:t>
            </a:r>
            <a:endParaRPr sz="700"/>
          </a:p>
        </p:txBody>
      </p:sp>
      <p:sp>
        <p:nvSpPr>
          <p:cNvPr id="145" name="Rectangle 144"/>
          <p:cNvSpPr/>
          <p:nvPr/>
        </p:nvSpPr>
        <p:spPr>
          <a:xfrm>
            <a:off x="1563624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홈 배너 · 캘린더 · 알림</a:t>
            </a:r>
            <a:endParaRPr sz="700"/>
          </a:p>
        </p:txBody>
      </p:sp>
      <p:sp>
        <p:nvSpPr>
          <p:cNvPr id="146" name="Rectangle 145"/>
          <p:cNvSpPr/>
          <p:nvPr/>
        </p:nvSpPr>
        <p:spPr>
          <a:xfrm>
            <a:off x="2743200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검색 · 카메라 · 필터 패널</a:t>
            </a:r>
            <a:endParaRPr sz="700"/>
          </a:p>
        </p:txBody>
      </p:sp>
      <p:sp>
        <p:nvSpPr>
          <p:cNvPr id="147" name="Rectangle 146"/>
          <p:cNvSpPr/>
          <p:nvPr/>
        </p:nvSpPr>
        <p:spPr>
          <a:xfrm>
            <a:off x="3922776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+ 시세 한 줄 · "나도 있음"</a:t>
            </a:r>
            <a:endParaRPr sz="700"/>
          </a:p>
        </p:txBody>
      </p:sp>
      <p:sp>
        <p:nvSpPr>
          <p:cNvPr id="148" name="Rectangle 147"/>
          <p:cNvSpPr/>
          <p:nvPr/>
        </p:nvSpPr>
        <p:spPr>
          <a:xfrm>
            <a:off x="5102352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♡ · 리본 바로</a:t>
            </a:r>
            <a:endParaRPr sz="700"/>
          </a:p>
        </p:txBody>
      </p:sp>
      <p:sp>
        <p:nvSpPr>
          <p:cNvPr id="149" name="Rectangle 148"/>
          <p:cNvSpPr/>
          <p:nvPr/>
        </p:nvSpPr>
        <p:spPr>
          <a:xfrm>
            <a:off x="6281928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도감 4단계 · Lv · 휴지통</a:t>
            </a:r>
            <a:endParaRPr sz="700"/>
          </a:p>
        </p:txBody>
      </p:sp>
      <p:sp>
        <p:nvSpPr>
          <p:cNvPr id="150" name="Rectangle 149"/>
          <p:cNvSpPr/>
          <p:nvPr/>
        </p:nvSpPr>
        <p:spPr>
          <a:xfrm>
            <a:off x="7461504" y="4224528"/>
            <a:ext cx="1179576" cy="310896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친구 서랍 · 게시물 · 워터마크</a:t>
            </a:r>
            <a:endParaRPr sz="700"/>
          </a:p>
        </p:txBody>
      </p:sp>
      <p:sp>
        <p:nvSpPr>
          <p:cNvPr id="151" name="TextBox 150"/>
          <p:cNvSpPr txBox="1"/>
          <p:nvPr/>
        </p:nvSpPr>
        <p:spPr>
          <a:xfrm>
            <a:off x="512064" y="4572000"/>
            <a:ext cx="8138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주황 줄 = 확장 4줄(사용 기기 · AI 활용 기회 · 어긴 원칙 · 필요한 데이터) · 파랑 줄 = v2 해결 · 감정 곡선은 06장 · 원본 docs/기획.md 3장</a:t>
            </a:r>
            <a:endParaRPr sz="68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B5-3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B5-3 — 기획 상세: 피쉬본 · 5 Why 전체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근본 원인: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채널과 일의 순서가 화면의 기준이 아니다</a:t>
            </a:r>
            <a:endParaRPr lang="en-US" sz="1900" dirty="0"/>
          </a:p>
        </p:txBody>
      </p:sp>
      <p:sp>
        <p:nvSpPr>
          <p:cNvPr id="53" name="Text 51"/>
          <p:cNvSpPr/>
          <p:nvPr/>
        </p:nvSpPr>
        <p:spPr>
          <a:xfrm>
            <a:off x="507950" y="4810125"/>
            <a:ext cx="413182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4단계 · 7장 기획 "피쉬본 · 5 Why 5"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B5-3</a:t>
            </a:r>
            <a:endParaRPr lang="en-US" sz="680" dirty="0"/>
          </a:p>
        </p:txBody>
      </p:sp>
      <p:sp>
        <p:nvSpPr>
          <p:cNvPr id="55" name="TextBox 54"/>
          <p:cNvSpPr txBox="1"/>
          <p:nvPr/>
        </p:nvSpPr>
        <p:spPr>
          <a:xfrm>
            <a:off x="512064" y="1005840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피쉬본 — 여섯 시각의 원인</a:t>
            </a:r>
            <a:r>
              <a:rPr sz="72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  머리 = 수집가가 컬렉션 관리를 그만둔다</a:t>
            </a:r>
            <a:endParaRPr sz="720"/>
          </a:p>
        </p:txBody>
      </p:sp>
      <p:sp>
        <p:nvSpPr>
          <p:cNvPr id="56" name="Rectangle 55"/>
          <p:cNvSpPr/>
          <p:nvPr/>
        </p:nvSpPr>
        <p:spPr>
          <a:xfrm>
            <a:off x="512064" y="1170432"/>
            <a:ext cx="7772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시각</a:t>
            </a:r>
            <a:endParaRPr sz="760"/>
          </a:p>
        </p:txBody>
      </p:sp>
      <p:sp>
        <p:nvSpPr>
          <p:cNvPr id="57" name="Rectangle 56"/>
          <p:cNvSpPr/>
          <p:nvPr/>
        </p:nvSpPr>
        <p:spPr>
          <a:xfrm>
            <a:off x="1289304" y="1170432"/>
            <a:ext cx="30632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원인 (리뷰 # · 저니 단계)</a:t>
            </a:r>
            <a:endParaRPr sz="760"/>
          </a:p>
        </p:txBody>
      </p:sp>
      <p:sp>
        <p:nvSpPr>
          <p:cNvPr id="58" name="Rectangle 57"/>
          <p:cNvSpPr/>
          <p:nvPr/>
        </p:nvSpPr>
        <p:spPr>
          <a:xfrm>
            <a:off x="512064" y="137160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모바일 UX</a:t>
            </a:r>
            <a:endParaRPr sz="780"/>
          </a:p>
        </p:txBody>
      </p:sp>
      <p:sp>
        <p:nvSpPr>
          <p:cNvPr id="59" name="Rectangle 58"/>
          <p:cNvSpPr/>
          <p:nvPr/>
        </p:nvSpPr>
        <p:spPr>
          <a:xfrm>
            <a:off x="1289304" y="137160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웹 메뉴(Database · Subjects · Market …)를 앱에 그대로 · 기능마다 새 창 (#2)</a:t>
            </a:r>
            <a:endParaRPr sz="780"/>
          </a:p>
        </p:txBody>
      </p:sp>
      <p:sp>
        <p:nvSpPr>
          <p:cNvPr id="60" name="Rectangle 59"/>
          <p:cNvSpPr/>
          <p:nvPr/>
        </p:nvSpPr>
        <p:spPr>
          <a:xfrm>
            <a:off x="512064" y="192024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사용성</a:t>
            </a:r>
            <a:endParaRPr sz="780"/>
          </a:p>
        </p:txBody>
      </p:sp>
      <p:sp>
        <p:nvSpPr>
          <p:cNvPr id="61" name="Rectangle 60"/>
          <p:cNvSpPr/>
          <p:nvPr/>
        </p:nvSpPr>
        <p:spPr>
          <a:xfrm>
            <a:off x="1289304" y="1920240"/>
            <a:ext cx="3063240" cy="548640"/>
          </a:xfrm>
          <a:prstGeom prst="rect">
            <a:avLst/>
          </a:prstGeom>
          <a:solidFill>
            <a:srgbClr val="EAF1FD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쇼케이스 · 컬렉션 · 위시의 차이가 안 보임 · 상태가 모양으로 안 갈림 (#1)</a:t>
            </a:r>
            <a:endParaRPr sz="780"/>
          </a:p>
        </p:txBody>
      </p:sp>
      <p:sp>
        <p:nvSpPr>
          <p:cNvPr id="62" name="Rectangle 61"/>
          <p:cNvSpPr/>
          <p:nvPr/>
        </p:nvSpPr>
        <p:spPr>
          <a:xfrm>
            <a:off x="512064" y="246888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데이터</a:t>
            </a:r>
            <a:endParaRPr sz="780"/>
          </a:p>
        </p:txBody>
      </p:sp>
      <p:sp>
        <p:nvSpPr>
          <p:cNvPr id="63" name="Rectangle 62"/>
          <p:cNvSpPr/>
          <p:nvPr/>
        </p:nvSpPr>
        <p:spPr>
          <a:xfrm>
            <a:off x="1289304" y="246888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일반판 누락 · 사용자가 추가 · 오류 표시를 못 함 · 시세 출처 불명</a:t>
            </a:r>
            <a:endParaRPr sz="780"/>
          </a:p>
        </p:txBody>
      </p:sp>
      <p:sp>
        <p:nvSpPr>
          <p:cNvPr id="64" name="Rectangle 63"/>
          <p:cNvSpPr/>
          <p:nvPr/>
        </p:nvSpPr>
        <p:spPr>
          <a:xfrm>
            <a:off x="512064" y="301752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API</a:t>
            </a:r>
            <a:endParaRPr sz="780"/>
          </a:p>
        </p:txBody>
      </p:sp>
      <p:sp>
        <p:nvSpPr>
          <p:cNvPr id="65" name="Rectangle 64"/>
          <p:cNvSpPr/>
          <p:nvPr/>
        </p:nvSpPr>
        <p:spPr>
          <a:xfrm>
            <a:off x="1289304" y="301752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조회 횟수 제한(유료 유도) · 스캔 → 검색 연결이 멈춤 (#3)</a:t>
            </a:r>
            <a:endParaRPr sz="780"/>
          </a:p>
        </p:txBody>
      </p:sp>
      <p:sp>
        <p:nvSpPr>
          <p:cNvPr id="66" name="Rectangle 65"/>
          <p:cNvSpPr/>
          <p:nvPr/>
        </p:nvSpPr>
        <p:spPr>
          <a:xfrm>
            <a:off x="512064" y="356616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네트워크</a:t>
            </a:r>
            <a:endParaRPr sz="780"/>
          </a:p>
        </p:txBody>
      </p:sp>
      <p:sp>
        <p:nvSpPr>
          <p:cNvPr id="67" name="Rectangle 66"/>
          <p:cNvSpPr/>
          <p:nvPr/>
        </p:nvSpPr>
        <p:spPr>
          <a:xfrm>
            <a:off x="1289304" y="356616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스캐너 멈춤 · 원치 않는 새로고침 · 처음 화면으로 튕김 (#4)</a:t>
            </a:r>
            <a:endParaRPr sz="780"/>
          </a:p>
        </p:txBody>
      </p:sp>
      <p:sp>
        <p:nvSpPr>
          <p:cNvPr id="68" name="Rectangle 67"/>
          <p:cNvSpPr/>
          <p:nvPr/>
        </p:nvSpPr>
        <p:spPr>
          <a:xfrm>
            <a:off x="512064" y="4114800"/>
            <a:ext cx="77724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프로세스</a:t>
            </a:r>
            <a:endParaRPr sz="780"/>
          </a:p>
        </p:txBody>
      </p:sp>
      <p:sp>
        <p:nvSpPr>
          <p:cNvPr id="69" name="Rectangle 68"/>
          <p:cNvSpPr/>
          <p:nvPr/>
        </p:nvSpPr>
        <p:spPr>
          <a:xfrm>
            <a:off x="1289304" y="411480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화면마다 광고 · 구독 정책 변경 · 오래된 사이트를 흡수하며 복잡해짐</a:t>
            </a:r>
            <a:endParaRPr sz="780"/>
          </a:p>
        </p:txBody>
      </p:sp>
      <p:sp>
        <p:nvSpPr>
          <p:cNvPr id="70" name="TextBox 69"/>
          <p:cNvSpPr txBox="1"/>
          <p:nvPr/>
        </p:nvSpPr>
        <p:spPr>
          <a:xfrm>
            <a:off x="4526280" y="1005840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우선순위 1개 — 고른 이유</a:t>
            </a:r>
            <a:endParaRPr sz="840"/>
          </a:p>
        </p:txBody>
      </p:sp>
      <p:sp>
        <p:nvSpPr>
          <p:cNvPr id="71" name="Rectangle 70"/>
          <p:cNvSpPr/>
          <p:nvPr/>
        </p:nvSpPr>
        <p:spPr>
          <a:xfrm>
            <a:off x="4526280" y="1170432"/>
            <a:ext cx="4114800" cy="438912"/>
          </a:xfrm>
          <a:prstGeom prst="rect">
            <a:avLst/>
          </a:prstGeom>
          <a:solidFill>
            <a:srgbClr val="FFF7ED"/>
          </a:solidFill>
          <a:ln w="9525">
            <a:solidFill>
              <a:srgbClr val="F5B5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 marL="0" indent="0">
              <a:buNone/>
            </a:pPr>
            <a:r>
              <a:rPr sz="78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사용성 "익히기 어렵다" </a:t>
            </a:r>
            <a:r>
              <a:rPr sz="7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— 리뷰 #1 · #2(★5도 지적), 모든 단계에 영향, UI로 고칠 수 있다</a:t>
            </a:r>
            <a:endParaRPr sz="780"/>
          </a:p>
        </p:txBody>
      </p:sp>
      <p:sp>
        <p:nvSpPr>
          <p:cNvPr id="72" name="TextBox 71"/>
          <p:cNvSpPr txBox="1"/>
          <p:nvPr/>
        </p:nvSpPr>
        <p:spPr>
          <a:xfrm>
            <a:off x="4526280" y="1682496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5 Why</a:t>
            </a:r>
            <a:endParaRPr sz="840"/>
          </a:p>
        </p:txBody>
      </p:sp>
      <p:sp>
        <p:nvSpPr>
          <p:cNvPr id="73" name="Rectangle 72"/>
          <p:cNvSpPr/>
          <p:nvPr/>
        </p:nvSpPr>
        <p:spPr>
          <a:xfrm>
            <a:off x="4526280" y="1847088"/>
            <a:ext cx="566928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1</a:t>
            </a:r>
            <a:endParaRPr sz="760"/>
          </a:p>
        </p:txBody>
      </p:sp>
      <p:sp>
        <p:nvSpPr>
          <p:cNvPr id="74" name="Rectangle 73"/>
          <p:cNvSpPr/>
          <p:nvPr/>
        </p:nvSpPr>
        <p:spPr>
          <a:xfrm>
            <a:off x="5093208" y="1847088"/>
            <a:ext cx="35478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왜 익히기 어렵나? → 메뉴가 많고, 누를 때마다 다른 창이 열린다</a:t>
            </a:r>
            <a:endParaRPr sz="760"/>
          </a:p>
        </p:txBody>
      </p:sp>
      <p:sp>
        <p:nvSpPr>
          <p:cNvPr id="75" name="Rectangle 74"/>
          <p:cNvSpPr/>
          <p:nvPr/>
        </p:nvSpPr>
        <p:spPr>
          <a:xfrm>
            <a:off x="4526280" y="2212848"/>
            <a:ext cx="566928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2</a:t>
            </a:r>
            <a:endParaRPr sz="760"/>
          </a:p>
        </p:txBody>
      </p:sp>
      <p:sp>
        <p:nvSpPr>
          <p:cNvPr id="76" name="Rectangle 75"/>
          <p:cNvSpPr/>
          <p:nvPr/>
        </p:nvSpPr>
        <p:spPr>
          <a:xfrm>
            <a:off x="5093208" y="2212848"/>
            <a:ext cx="35478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왜 메뉴가 많고 창이 열리나? → 웹사이트 정보 구조를 그대로 앱에 넣었다</a:t>
            </a:r>
            <a:endParaRPr sz="760"/>
          </a:p>
        </p:txBody>
      </p:sp>
      <p:sp>
        <p:nvSpPr>
          <p:cNvPr id="77" name="Rectangle 76"/>
          <p:cNvSpPr/>
          <p:nvPr/>
        </p:nvSpPr>
        <p:spPr>
          <a:xfrm>
            <a:off x="4526280" y="2578608"/>
            <a:ext cx="566928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3</a:t>
            </a:r>
            <a:endParaRPr sz="760"/>
          </a:p>
        </p:txBody>
      </p:sp>
      <p:sp>
        <p:nvSpPr>
          <p:cNvPr id="78" name="Rectangle 77"/>
          <p:cNvSpPr/>
          <p:nvPr/>
        </p:nvSpPr>
        <p:spPr>
          <a:xfrm>
            <a:off x="5093208" y="2578608"/>
            <a:ext cx="35478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왜 웹 구조를 그대로? → "데이터베이스를 보여 주는 창"으로 설계 — 데이터 종류로 나눔</a:t>
            </a:r>
            <a:endParaRPr sz="760"/>
          </a:p>
        </p:txBody>
      </p:sp>
      <p:sp>
        <p:nvSpPr>
          <p:cNvPr id="79" name="Rectangle 78"/>
          <p:cNvSpPr/>
          <p:nvPr/>
        </p:nvSpPr>
        <p:spPr>
          <a:xfrm>
            <a:off x="4526280" y="2944368"/>
            <a:ext cx="566928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4</a:t>
            </a:r>
            <a:endParaRPr sz="760"/>
          </a:p>
        </p:txBody>
      </p:sp>
      <p:sp>
        <p:nvSpPr>
          <p:cNvPr id="80" name="Rectangle 79"/>
          <p:cNvSpPr/>
          <p:nvPr/>
        </p:nvSpPr>
        <p:spPr>
          <a:xfrm>
            <a:off x="5093208" y="2944368"/>
            <a:ext cx="35478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l" marL="0" indent="0">
              <a:buNone/>
            </a:pPr>
            <a:r>
              <a:rPr sz="76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왜 데이터 종류로? → 모든 수집 분야를 한 메뉴로 덮으려 해 관심 분야가 화면에 없다</a:t>
            </a:r>
            <a:endParaRPr sz="760"/>
          </a:p>
        </p:txBody>
      </p:sp>
      <p:sp>
        <p:nvSpPr>
          <p:cNvPr id="81" name="Rectangle 80"/>
          <p:cNvSpPr/>
          <p:nvPr/>
        </p:nvSpPr>
        <p:spPr>
          <a:xfrm>
            <a:off x="4526280" y="3310128"/>
            <a:ext cx="566928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Why 5</a:t>
            </a:r>
            <a:endParaRPr sz="760"/>
          </a:p>
        </p:txBody>
      </p:sp>
      <p:sp>
        <p:nvSpPr>
          <p:cNvPr id="82" name="Rectangle 81"/>
          <p:cNvSpPr/>
          <p:nvPr/>
        </p:nvSpPr>
        <p:spPr>
          <a:xfrm>
            <a:off x="5093208" y="3310128"/>
            <a:ext cx="35478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/>
          <a:lstStyle/>
          <a:p>
            <a:pPr algn="l" marL="0" indent="0">
              <a:buNone/>
            </a:pPr>
            <a:r>
              <a:rPr sz="76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근본 원인 → 내 관심 분야(채널)와 내가 하는 일의 순서가 화면 구조의 기준이 아니다</a:t>
            </a:r>
            <a:endParaRPr sz="760"/>
          </a:p>
        </p:txBody>
      </p:sp>
      <p:sp>
        <p:nvSpPr>
          <p:cNvPr id="83" name="TextBox 82"/>
          <p:cNvSpPr txBox="1"/>
          <p:nvPr/>
        </p:nvSpPr>
        <p:spPr>
          <a:xfrm>
            <a:off x="4526280" y="3749040"/>
            <a:ext cx="4114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8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근본 원인 → v2에서 고칠 것</a:t>
            </a:r>
            <a:endParaRPr sz="840"/>
          </a:p>
        </p:txBody>
      </p:sp>
      <p:sp>
        <p:nvSpPr>
          <p:cNvPr id="84" name="Rounded Rectangle 83"/>
          <p:cNvSpPr/>
          <p:nvPr/>
        </p:nvSpPr>
        <p:spPr>
          <a:xfrm>
            <a:off x="4526280" y="3913632"/>
            <a:ext cx="4114800" cy="749808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 w="9525">
            <a:solidFill>
              <a:srgbClr val="2F6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위: 내 채널 바 하나 (C-1 · P06) / 아래 탭 = 일의 순서: 홈 · 검색 · 카메라 · 캘린더 · 컬렉션 (S-3)</a:t>
            </a:r>
            <a:endParaRPr sz="780"/>
          </a:p>
          <a:p>
            <a:pPr algn="l" marL="0" indent="0">
              <a:spcAft>
                <a:spcPts val="300"/>
              </a:spcAft>
              <a:buNone/>
            </a:pPr>
            <a:r>
              <a:rPr sz="78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한 화면 안에서 끝나는 일은 시트(덮기), 전체 보기는 같은 탭 안 O (P03 · P08)</a:t>
            </a:r>
            <a:endParaRPr sz="78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B5-4 · 화면마다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B5-4 — 기획 상세: 화면별 요소 분석표 (1/3)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 분석: 화면 A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900" dirty="0"/>
          </a:p>
        </p:txBody>
      </p:sp>
      <p:sp>
        <p:nvSpPr>
          <p:cNvPr id="94" name="Text 92"/>
          <p:cNvSpPr/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7장 기획 "요소 분석 · 기준 · 가이드 글 8"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B5-4a</a:t>
            </a:r>
            <a:endParaRPr lang="en-US" sz="680" dirty="0"/>
          </a:p>
        </p:txBody>
      </p:sp>
      <p:sp>
        <p:nvSpPr>
          <p:cNvPr id="96" name="Rounded Rectangle 95"/>
          <p:cNvSpPr/>
          <p:nvPr/>
        </p:nvSpPr>
        <p:spPr>
          <a:xfrm>
            <a:off x="512064" y="1005840"/>
            <a:ext cx="1783080" cy="33649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7" name="Picture 96" descr="02_v2_a_number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3049" y="1042416"/>
            <a:ext cx="1521111" cy="329184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512064" y="4425696"/>
            <a:ext cx="17830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a_home_screen.dart</a:t>
            </a:r>
            <a:endParaRPr sz="680"/>
          </a:p>
        </p:txBody>
      </p:sp>
      <p:sp>
        <p:nvSpPr>
          <p:cNvPr id="99" name="Rectangle 98"/>
          <p:cNvSpPr/>
          <p:nvPr/>
        </p:nvSpPr>
        <p:spPr>
          <a:xfrm>
            <a:off x="2423160" y="1005840"/>
            <a:ext cx="38404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번호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280720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Flutter 위젯명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399592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비즈니스 명칭</a:t>
            </a:r>
            <a:endParaRPr sz="720"/>
          </a:p>
        </p:txBody>
      </p:sp>
      <p:sp>
        <p:nvSpPr>
          <p:cNvPr id="102" name="Rectangle 101"/>
          <p:cNvSpPr/>
          <p:nvPr/>
        </p:nvSpPr>
        <p:spPr>
          <a:xfrm>
            <a:off x="5184648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정보 전달 기준</a:t>
            </a:r>
            <a:endParaRPr sz="720"/>
          </a:p>
        </p:txBody>
      </p:sp>
      <p:sp>
        <p:nvSpPr>
          <p:cNvPr id="103" name="Rectangle 102"/>
          <p:cNvSpPr/>
          <p:nvPr/>
        </p:nvSpPr>
        <p:spPr>
          <a:xfrm>
            <a:off x="6190488" y="100584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20"/>
          </a:p>
        </p:txBody>
      </p:sp>
      <p:sp>
        <p:nvSpPr>
          <p:cNvPr id="104" name="Rectangle 103"/>
          <p:cNvSpPr/>
          <p:nvPr/>
        </p:nvSpPr>
        <p:spPr>
          <a:xfrm>
            <a:off x="6693408" y="1005840"/>
            <a:ext cx="94183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편의성</a:t>
            </a:r>
            <a:endParaRPr sz="720"/>
          </a:p>
        </p:txBody>
      </p:sp>
      <p:sp>
        <p:nvSpPr>
          <p:cNvPr id="105" name="Rectangle 104"/>
          <p:cNvSpPr/>
          <p:nvPr/>
        </p:nvSpPr>
        <p:spPr>
          <a:xfrm>
            <a:off x="7635240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가이드 글</a:t>
            </a:r>
            <a:endParaRPr sz="720"/>
          </a:p>
        </p:txBody>
      </p:sp>
      <p:sp>
        <p:nvSpPr>
          <p:cNvPr id="106" name="Rectangle 105"/>
          <p:cNvSpPr/>
          <p:nvPr/>
        </p:nvSpPr>
        <p:spPr>
          <a:xfrm>
            <a:off x="2423160" y="120700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A-1</a:t>
            </a:r>
            <a:endParaRPr sz="690"/>
          </a:p>
        </p:txBody>
      </p:sp>
      <p:sp>
        <p:nvSpPr>
          <p:cNvPr id="107" name="Rectangle 106"/>
          <p:cNvSpPr/>
          <p:nvPr/>
        </p:nvSpPr>
        <p:spPr>
          <a:xfrm>
            <a:off x="280720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ChannelHeader</a:t>
            </a:r>
            <a:endParaRPr sz="690"/>
          </a:p>
        </p:txBody>
      </p:sp>
      <p:sp>
        <p:nvSpPr>
          <p:cNvPr id="108" name="Rectangle 107"/>
          <p:cNvSpPr/>
          <p:nvPr/>
        </p:nvSpPr>
        <p:spPr>
          <a:xfrm>
            <a:off x="399592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아바타 줄 + 내 채널 바</a:t>
            </a:r>
            <a:endParaRPr sz="690"/>
          </a:p>
        </p:txBody>
      </p:sp>
      <p:sp>
        <p:nvSpPr>
          <p:cNvPr id="109" name="Rectangle 108"/>
          <p:cNvSpPr/>
          <p:nvPr/>
        </p:nvSpPr>
        <p:spPr>
          <a:xfrm>
            <a:off x="5184648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채널이 먼저</a:t>
            </a:r>
            <a:endParaRPr sz="690"/>
          </a:p>
        </p:txBody>
      </p:sp>
      <p:sp>
        <p:nvSpPr>
          <p:cNvPr id="110" name="Rectangle 109"/>
          <p:cNvSpPr/>
          <p:nvPr/>
        </p:nvSpPr>
        <p:spPr>
          <a:xfrm>
            <a:off x="6190488" y="120700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P04 P06</a:t>
            </a:r>
            <a:endParaRPr sz="690"/>
          </a:p>
        </p:txBody>
      </p:sp>
      <p:sp>
        <p:nvSpPr>
          <p:cNvPr id="111" name="Rectangle 110"/>
          <p:cNvSpPr/>
          <p:nvPr/>
        </p:nvSpPr>
        <p:spPr>
          <a:xfrm>
            <a:off x="6693408" y="120700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채널을 외우지 않음</a:t>
            </a:r>
            <a:endParaRPr sz="690"/>
          </a:p>
        </p:txBody>
      </p:sp>
      <p:sp>
        <p:nvSpPr>
          <p:cNvPr id="112" name="Rectangle 111"/>
          <p:cNvSpPr/>
          <p:nvPr/>
        </p:nvSpPr>
        <p:spPr>
          <a:xfrm>
            <a:off x="7635240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네 탭 같은 머리</a:t>
            </a:r>
            <a:endParaRPr sz="690"/>
          </a:p>
        </p:txBody>
      </p:sp>
      <p:sp>
        <p:nvSpPr>
          <p:cNvPr id="113" name="Rectangle 112"/>
          <p:cNvSpPr/>
          <p:nvPr/>
        </p:nvSpPr>
        <p:spPr>
          <a:xfrm>
            <a:off x="2423160" y="153619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A-2</a:t>
            </a:r>
            <a:endParaRPr sz="690"/>
          </a:p>
        </p:txBody>
      </p:sp>
      <p:sp>
        <p:nvSpPr>
          <p:cNvPr id="114" name="Rectangle 113"/>
          <p:cNvSpPr/>
          <p:nvPr/>
        </p:nvSpPr>
        <p:spPr>
          <a:xfrm>
            <a:off x="280720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GpSearchBar 입구</a:t>
            </a:r>
            <a:endParaRPr sz="690"/>
          </a:p>
        </p:txBody>
      </p:sp>
      <p:sp>
        <p:nvSpPr>
          <p:cNvPr id="115" name="Rectangle 114"/>
          <p:cNvSpPr/>
          <p:nvPr/>
        </p:nvSpPr>
        <p:spPr>
          <a:xfrm>
            <a:off x="399592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검색창 · 카메라</a:t>
            </a:r>
            <a:endParaRPr sz="690"/>
          </a:p>
        </p:txBody>
      </p:sp>
      <p:sp>
        <p:nvSpPr>
          <p:cNvPr id="116" name="Rectangle 115"/>
          <p:cNvSpPr/>
          <p:nvPr/>
        </p:nvSpPr>
        <p:spPr>
          <a:xfrm>
            <a:off x="5184648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찾기는 늘 위</a:t>
            </a:r>
            <a:endParaRPr sz="690"/>
          </a:p>
        </p:txBody>
      </p:sp>
      <p:sp>
        <p:nvSpPr>
          <p:cNvPr id="117" name="Rectangle 116"/>
          <p:cNvSpPr/>
          <p:nvPr/>
        </p:nvSpPr>
        <p:spPr>
          <a:xfrm>
            <a:off x="6190488" y="153619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P04</a:t>
            </a:r>
            <a:endParaRPr sz="690"/>
          </a:p>
        </p:txBody>
      </p:sp>
      <p:sp>
        <p:nvSpPr>
          <p:cNvPr id="118" name="Rectangle 117"/>
          <p:cNvSpPr/>
          <p:nvPr/>
        </p:nvSpPr>
        <p:spPr>
          <a:xfrm>
            <a:off x="6693408" y="153619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탭 이동 없이 검색</a:t>
            </a:r>
            <a:endParaRPr sz="690"/>
          </a:p>
        </p:txBody>
      </p:sp>
      <p:sp>
        <p:nvSpPr>
          <p:cNvPr id="119" name="Rectangle 118"/>
          <p:cNvSpPr/>
          <p:nvPr/>
        </p:nvSpPr>
        <p:spPr>
          <a:xfrm>
            <a:off x="7635240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검색 화면과 같은 모양</a:t>
            </a:r>
            <a:endParaRPr sz="690"/>
          </a:p>
        </p:txBody>
      </p:sp>
      <p:sp>
        <p:nvSpPr>
          <p:cNvPr id="120" name="Rectangle 119"/>
          <p:cNvSpPr/>
          <p:nvPr/>
        </p:nvSpPr>
        <p:spPr>
          <a:xfrm>
            <a:off x="2423160" y="186537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A-3</a:t>
            </a:r>
            <a:endParaRPr sz="690"/>
          </a:p>
        </p:txBody>
      </p:sp>
      <p:sp>
        <p:nvSpPr>
          <p:cNvPr id="121" name="Rectangle 120"/>
          <p:cNvSpPr/>
          <p:nvPr/>
        </p:nvSpPr>
        <p:spPr>
          <a:xfrm>
            <a:off x="280720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PageView + 점</a:t>
            </a:r>
            <a:endParaRPr sz="690"/>
          </a:p>
        </p:txBody>
      </p:sp>
      <p:sp>
        <p:nvSpPr>
          <p:cNvPr id="122" name="Rectangle 121"/>
          <p:cNvSpPr/>
          <p:nvPr/>
        </p:nvSpPr>
        <p:spPr>
          <a:xfrm>
            <a:off x="399592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예고 배너</a:t>
            </a:r>
            <a:endParaRPr sz="690"/>
          </a:p>
        </p:txBody>
      </p:sp>
      <p:sp>
        <p:nvSpPr>
          <p:cNvPr id="123" name="Rectangle 122"/>
          <p:cNvSpPr/>
          <p:nvPr/>
        </p:nvSpPr>
        <p:spPr>
          <a:xfrm>
            <a:off x="5184648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가장 큰 소식 1장</a:t>
            </a:r>
            <a:endParaRPr sz="690"/>
          </a:p>
        </p:txBody>
      </p:sp>
      <p:sp>
        <p:nvSpPr>
          <p:cNvPr id="124" name="Rectangle 123"/>
          <p:cNvSpPr/>
          <p:nvPr/>
        </p:nvSpPr>
        <p:spPr>
          <a:xfrm>
            <a:off x="6190488" y="186537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 P02</a:t>
            </a:r>
            <a:endParaRPr sz="690"/>
          </a:p>
        </p:txBody>
      </p:sp>
      <p:sp>
        <p:nvSpPr>
          <p:cNvPr id="125" name="Rectangle 124"/>
          <p:cNvSpPr/>
          <p:nvPr/>
        </p:nvSpPr>
        <p:spPr>
          <a:xfrm>
            <a:off x="6693408" y="186537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4초마다 자동 넘김</a:t>
            </a:r>
            <a:endParaRPr sz="690"/>
          </a:p>
        </p:txBody>
      </p:sp>
      <p:sp>
        <p:nvSpPr>
          <p:cNvPr id="126" name="Rectangle 125"/>
          <p:cNvSpPr/>
          <p:nvPr/>
        </p:nvSpPr>
        <p:spPr>
          <a:xfrm>
            <a:off x="7635240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이미지 그대로</a:t>
            </a:r>
            <a:endParaRPr sz="690"/>
          </a:p>
        </p:txBody>
      </p:sp>
      <p:sp>
        <p:nvSpPr>
          <p:cNvPr id="127" name="Rectangle 126"/>
          <p:cNvSpPr/>
          <p:nvPr/>
        </p:nvSpPr>
        <p:spPr>
          <a:xfrm>
            <a:off x="2423160" y="219456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A-4</a:t>
            </a:r>
            <a:endParaRPr sz="690"/>
          </a:p>
        </p:txBody>
      </p:sp>
      <p:sp>
        <p:nvSpPr>
          <p:cNvPr id="128" name="Rectangle 127"/>
          <p:cNvSpPr/>
          <p:nvPr/>
        </p:nvSpPr>
        <p:spPr>
          <a:xfrm>
            <a:off x="280720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배너 아래 상태 · 제목</a:t>
            </a:r>
            <a:endParaRPr sz="690"/>
          </a:p>
        </p:txBody>
      </p:sp>
      <p:sp>
        <p:nvSpPr>
          <p:cNvPr id="129" name="Rectangle 128"/>
          <p:cNvSpPr/>
          <p:nvPr/>
        </p:nvSpPr>
        <p:spPr>
          <a:xfrm>
            <a:off x="399592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예고 상태</a:t>
            </a:r>
            <a:endParaRPr sz="690"/>
          </a:p>
        </p:txBody>
      </p:sp>
      <p:sp>
        <p:nvSpPr>
          <p:cNvPr id="130" name="Rectangle 129"/>
          <p:cNvSpPr/>
          <p:nvPr/>
        </p:nvSpPr>
        <p:spPr>
          <a:xfrm>
            <a:off x="5184648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발표 → 확정 → 예약</a:t>
            </a:r>
            <a:endParaRPr sz="690"/>
          </a:p>
        </p:txBody>
      </p:sp>
      <p:sp>
        <p:nvSpPr>
          <p:cNvPr id="131" name="Rectangle 130"/>
          <p:cNvSpPr/>
          <p:nvPr/>
        </p:nvSpPr>
        <p:spPr>
          <a:xfrm>
            <a:off x="6190488" y="219456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</a:t>
            </a:r>
            <a:endParaRPr sz="690"/>
          </a:p>
        </p:txBody>
      </p:sp>
      <p:sp>
        <p:nvSpPr>
          <p:cNvPr id="132" name="Rectangle 131"/>
          <p:cNvSpPr/>
          <p:nvPr/>
        </p:nvSpPr>
        <p:spPr>
          <a:xfrm>
            <a:off x="6693408" y="219456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지금 단계를 한눈에</a:t>
            </a:r>
            <a:endParaRPr sz="690"/>
          </a:p>
        </p:txBody>
      </p:sp>
      <p:sp>
        <p:nvSpPr>
          <p:cNvPr id="133" name="Rectangle 132"/>
          <p:cNvSpPr/>
          <p:nvPr/>
        </p:nvSpPr>
        <p:spPr>
          <a:xfrm>
            <a:off x="7635240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 글자 고정</a:t>
            </a:r>
            <a:endParaRPr sz="690"/>
          </a:p>
        </p:txBody>
      </p:sp>
      <p:sp>
        <p:nvSpPr>
          <p:cNvPr id="134" name="Rectangle 133"/>
          <p:cNvSpPr/>
          <p:nvPr/>
        </p:nvSpPr>
        <p:spPr>
          <a:xfrm>
            <a:off x="2423160" y="2523744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A-5</a:t>
            </a:r>
            <a:endParaRPr sz="690"/>
          </a:p>
        </p:txBody>
      </p:sp>
      <p:sp>
        <p:nvSpPr>
          <p:cNvPr id="135" name="Rectangle 134"/>
          <p:cNvSpPr/>
          <p:nvPr/>
        </p:nvSpPr>
        <p:spPr>
          <a:xfrm>
            <a:off x="280720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SectionHeader (막대 + ›)</a:t>
            </a:r>
            <a:endParaRPr sz="690"/>
          </a:p>
        </p:txBody>
      </p:sp>
      <p:sp>
        <p:nvSpPr>
          <p:cNvPr id="136" name="Rectangle 135"/>
          <p:cNvSpPr/>
          <p:nvPr/>
        </p:nvSpPr>
        <p:spPr>
          <a:xfrm>
            <a:off x="399592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줄 이름 · 전체 보기</a:t>
            </a:r>
            <a:endParaRPr sz="690"/>
          </a:p>
        </p:txBody>
      </p:sp>
      <p:sp>
        <p:nvSpPr>
          <p:cNvPr id="137" name="Rectangle 136"/>
          <p:cNvSpPr/>
          <p:nvPr/>
        </p:nvSpPr>
        <p:spPr>
          <a:xfrm>
            <a:off x="5184648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줄마다 이름 하나</a:t>
            </a:r>
            <a:endParaRPr sz="690"/>
          </a:p>
        </p:txBody>
      </p:sp>
      <p:sp>
        <p:nvSpPr>
          <p:cNvPr id="138" name="Rectangle 137"/>
          <p:cNvSpPr/>
          <p:nvPr/>
        </p:nvSpPr>
        <p:spPr>
          <a:xfrm>
            <a:off x="6190488" y="2523744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P06 P07</a:t>
            </a:r>
            <a:endParaRPr sz="690"/>
          </a:p>
        </p:txBody>
      </p:sp>
      <p:sp>
        <p:nvSpPr>
          <p:cNvPr id="139" name="Rectangle 138"/>
          <p:cNvSpPr/>
          <p:nvPr/>
        </p:nvSpPr>
        <p:spPr>
          <a:xfrm>
            <a:off x="6693408" y="2523744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› 로 같은 탭 전체 목록</a:t>
            </a:r>
            <a:endParaRPr sz="690"/>
          </a:p>
        </p:txBody>
      </p:sp>
      <p:sp>
        <p:nvSpPr>
          <p:cNvPr id="140" name="Rectangle 139"/>
          <p:cNvSpPr/>
          <p:nvPr/>
        </p:nvSpPr>
        <p:spPr>
          <a:xfrm>
            <a:off x="7635240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새 창 대신 탭 안</a:t>
            </a:r>
            <a:endParaRPr sz="690"/>
          </a:p>
        </p:txBody>
      </p:sp>
      <p:sp>
        <p:nvSpPr>
          <p:cNvPr id="141" name="Rectangle 140"/>
          <p:cNvSpPr/>
          <p:nvPr/>
        </p:nvSpPr>
        <p:spPr>
          <a:xfrm>
            <a:off x="2423160" y="285292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A-6</a:t>
            </a:r>
            <a:endParaRPr sz="690"/>
          </a:p>
        </p:txBody>
      </p:sp>
      <p:sp>
        <p:nvSpPr>
          <p:cNvPr id="142" name="Rectangle 141"/>
          <p:cNvSpPr/>
          <p:nvPr/>
        </p:nvSpPr>
        <p:spPr>
          <a:xfrm>
            <a:off x="280720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가로 ListView + ProductTile</a:t>
            </a:r>
            <a:endParaRPr sz="690"/>
          </a:p>
        </p:txBody>
      </p:sp>
      <p:sp>
        <p:nvSpPr>
          <p:cNvPr id="143" name="Rectangle 142"/>
          <p:cNvSpPr/>
          <p:nvPr/>
        </p:nvSpPr>
        <p:spPr>
          <a:xfrm>
            <a:off x="399592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최근 추가 · 발매 · 예고</a:t>
            </a:r>
            <a:endParaRPr sz="690"/>
          </a:p>
        </p:txBody>
      </p:sp>
      <p:sp>
        <p:nvSpPr>
          <p:cNvPr id="144" name="Rectangle 143"/>
          <p:cNvSpPr/>
          <p:nvPr/>
        </p:nvSpPr>
        <p:spPr>
          <a:xfrm>
            <a:off x="5184648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+ 이름만</a:t>
            </a:r>
            <a:endParaRPr sz="690"/>
          </a:p>
        </p:txBody>
      </p:sp>
      <p:sp>
        <p:nvSpPr>
          <p:cNvPr id="145" name="Rectangle 144"/>
          <p:cNvSpPr/>
          <p:nvPr/>
        </p:nvSpPr>
        <p:spPr>
          <a:xfrm>
            <a:off x="6190488" y="285292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</a:t>
            </a:r>
            <a:endParaRPr sz="690"/>
          </a:p>
        </p:txBody>
      </p:sp>
      <p:sp>
        <p:nvSpPr>
          <p:cNvPr id="146" name="Rectangle 145"/>
          <p:cNvSpPr/>
          <p:nvPr/>
        </p:nvSpPr>
        <p:spPr>
          <a:xfrm>
            <a:off x="6693408" y="285292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옆으로 훑기</a:t>
            </a:r>
            <a:endParaRPr sz="690"/>
          </a:p>
        </p:txBody>
      </p:sp>
      <p:sp>
        <p:nvSpPr>
          <p:cNvPr id="147" name="Rectangle 146"/>
          <p:cNvSpPr/>
          <p:nvPr/>
        </p:nvSpPr>
        <p:spPr>
          <a:xfrm>
            <a:off x="7635240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날짜 · 가격은 상세에</a:t>
            </a:r>
            <a:endParaRPr sz="690"/>
          </a:p>
        </p:txBody>
      </p:sp>
      <p:sp>
        <p:nvSpPr>
          <p:cNvPr id="148" name="Rectangle 147"/>
          <p:cNvSpPr/>
          <p:nvPr/>
        </p:nvSpPr>
        <p:spPr>
          <a:xfrm>
            <a:off x="2423160" y="318211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A-7</a:t>
            </a:r>
            <a:endParaRPr sz="690"/>
          </a:p>
        </p:txBody>
      </p:sp>
      <p:sp>
        <p:nvSpPr>
          <p:cNvPr id="149" name="Rectangle 148"/>
          <p:cNvSpPr/>
          <p:nvPr/>
        </p:nvSpPr>
        <p:spPr>
          <a:xfrm>
            <a:off x="280720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Loading / Error / Empty</a:t>
            </a:r>
            <a:endParaRPr sz="690"/>
          </a:p>
        </p:txBody>
      </p:sp>
      <p:sp>
        <p:nvSpPr>
          <p:cNvPr id="150" name="Rectangle 149"/>
          <p:cNvSpPr/>
          <p:nvPr/>
        </p:nvSpPr>
        <p:spPr>
          <a:xfrm>
            <a:off x="399592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불러오는 중 · 오류 · 빈 채널</a:t>
            </a:r>
            <a:endParaRPr sz="690"/>
          </a:p>
        </p:txBody>
      </p:sp>
      <p:sp>
        <p:nvSpPr>
          <p:cNvPr id="151" name="Rectangle 150"/>
          <p:cNvSpPr/>
          <p:nvPr/>
        </p:nvSpPr>
        <p:spPr>
          <a:xfrm>
            <a:off x="5184648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상태를 화면에 남김</a:t>
            </a:r>
            <a:endParaRPr sz="690"/>
          </a:p>
        </p:txBody>
      </p:sp>
      <p:sp>
        <p:nvSpPr>
          <p:cNvPr id="152" name="Rectangle 151"/>
          <p:cNvSpPr/>
          <p:nvPr/>
        </p:nvSpPr>
        <p:spPr>
          <a:xfrm>
            <a:off x="6190488" y="318211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P09</a:t>
            </a:r>
            <a:endParaRPr sz="690"/>
          </a:p>
        </p:txBody>
      </p:sp>
      <p:sp>
        <p:nvSpPr>
          <p:cNvPr id="153" name="Rectangle 152"/>
          <p:cNvSpPr/>
          <p:nvPr/>
        </p:nvSpPr>
        <p:spPr>
          <a:xfrm>
            <a:off x="6693408" y="318211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다시 시도 버튼</a:t>
            </a:r>
            <a:endParaRPr sz="690"/>
          </a:p>
        </p:txBody>
      </p:sp>
      <p:sp>
        <p:nvSpPr>
          <p:cNvPr id="154" name="Rectangle 153"/>
          <p:cNvSpPr/>
          <p:nvPr/>
        </p:nvSpPr>
        <p:spPr>
          <a:xfrm>
            <a:off x="7635240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3상태 모든 GET</a:t>
            </a:r>
            <a:endParaRPr sz="690"/>
          </a:p>
        </p:txBody>
      </p:sp>
      <p:sp>
        <p:nvSpPr>
          <p:cNvPr id="155" name="Rectangle 154"/>
          <p:cNvSpPr/>
          <p:nvPr/>
        </p:nvSpPr>
        <p:spPr>
          <a:xfrm>
            <a:off x="2423160" y="351129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A-8</a:t>
            </a:r>
            <a:endParaRPr sz="690"/>
          </a:p>
        </p:txBody>
      </p:sp>
      <p:sp>
        <p:nvSpPr>
          <p:cNvPr id="156" name="Rectangle 155"/>
          <p:cNvSpPr/>
          <p:nvPr/>
        </p:nvSpPr>
        <p:spPr>
          <a:xfrm>
            <a:off x="280720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흰 띠 + 회백색 틈</a:t>
            </a:r>
            <a:endParaRPr sz="690"/>
          </a:p>
        </p:txBody>
      </p:sp>
      <p:sp>
        <p:nvSpPr>
          <p:cNvPr id="157" name="Rectangle 156"/>
          <p:cNvSpPr/>
          <p:nvPr/>
        </p:nvSpPr>
        <p:spPr>
          <a:xfrm>
            <a:off x="399592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줄 사이 층 구분</a:t>
            </a:r>
            <a:endParaRPr sz="690"/>
          </a:p>
        </p:txBody>
      </p:sp>
      <p:sp>
        <p:nvSpPr>
          <p:cNvPr id="158" name="Rectangle 157"/>
          <p:cNvSpPr/>
          <p:nvPr/>
        </p:nvSpPr>
        <p:spPr>
          <a:xfrm>
            <a:off x="5184648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선 없이 경계</a:t>
            </a:r>
            <a:endParaRPr sz="690"/>
          </a:p>
        </p:txBody>
      </p:sp>
      <p:sp>
        <p:nvSpPr>
          <p:cNvPr id="159" name="Rectangle 158"/>
          <p:cNvSpPr/>
          <p:nvPr/>
        </p:nvSpPr>
        <p:spPr>
          <a:xfrm>
            <a:off x="6190488" y="351129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 P04</a:t>
            </a:r>
            <a:endParaRPr sz="690"/>
          </a:p>
        </p:txBody>
      </p:sp>
      <p:sp>
        <p:nvSpPr>
          <p:cNvPr id="160" name="Rectangle 159"/>
          <p:cNvSpPr/>
          <p:nvPr/>
        </p:nvSpPr>
        <p:spPr>
          <a:xfrm>
            <a:off x="6693408" y="351129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덜 복잡해 보임</a:t>
            </a:r>
            <a:endParaRPr sz="690"/>
          </a:p>
        </p:txBody>
      </p:sp>
      <p:sp>
        <p:nvSpPr>
          <p:cNvPr id="161" name="Rectangle 160"/>
          <p:cNvSpPr/>
          <p:nvPr/>
        </p:nvSpPr>
        <p:spPr>
          <a:xfrm>
            <a:off x="7635240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흰 띠 10dp 틈</a:t>
            </a:r>
            <a:endParaRPr sz="690"/>
          </a:p>
        </p:txBody>
      </p:sp>
      <p:sp>
        <p:nvSpPr>
          <p:cNvPr id="162" name="Rectangle 161"/>
          <p:cNvSpPr/>
          <p:nvPr/>
        </p:nvSpPr>
        <p:spPr>
          <a:xfrm>
            <a:off x="2423160" y="384048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A-9</a:t>
            </a:r>
            <a:endParaRPr sz="690"/>
          </a:p>
        </p:txBody>
      </p:sp>
      <p:sp>
        <p:nvSpPr>
          <p:cNvPr id="163" name="Rectangle 162"/>
          <p:cNvSpPr/>
          <p:nvPr/>
        </p:nvSpPr>
        <p:spPr>
          <a:xfrm>
            <a:off x="280720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QuickMarks (리본 · ♡)</a:t>
            </a:r>
            <a:endParaRPr sz="690"/>
          </a:p>
        </p:txBody>
      </p:sp>
      <p:sp>
        <p:nvSpPr>
          <p:cNvPr id="164" name="Rectangle 163"/>
          <p:cNvSpPr/>
          <p:nvPr/>
        </p:nvSpPr>
        <p:spPr>
          <a:xfrm>
            <a:off x="399592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 바로 담기</a:t>
            </a:r>
            <a:endParaRPr sz="690"/>
          </a:p>
        </p:txBody>
      </p:sp>
      <p:sp>
        <p:nvSpPr>
          <p:cNvPr id="165" name="Rectangle 164"/>
          <p:cNvSpPr/>
          <p:nvPr/>
        </p:nvSpPr>
        <p:spPr>
          <a:xfrm>
            <a:off x="5184648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왼쪽 위 리본 · 아래 ♡</a:t>
            </a:r>
            <a:endParaRPr sz="690"/>
          </a:p>
        </p:txBody>
      </p:sp>
      <p:sp>
        <p:nvSpPr>
          <p:cNvPr id="166" name="Rectangle 165"/>
          <p:cNvSpPr/>
          <p:nvPr/>
        </p:nvSpPr>
        <p:spPr>
          <a:xfrm>
            <a:off x="6190488" y="384048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P04</a:t>
            </a:r>
            <a:endParaRPr sz="690"/>
          </a:p>
        </p:txBody>
      </p:sp>
      <p:sp>
        <p:nvSpPr>
          <p:cNvPr id="167" name="Rectangle 166"/>
          <p:cNvSpPr/>
          <p:nvPr/>
        </p:nvSpPr>
        <p:spPr>
          <a:xfrm>
            <a:off x="6693408" y="384048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상세에 안 들어감</a:t>
            </a:r>
            <a:endParaRPr sz="690"/>
          </a:p>
        </p:txBody>
      </p:sp>
      <p:sp>
        <p:nvSpPr>
          <p:cNvPr id="168" name="Rectangle 167"/>
          <p:cNvSpPr/>
          <p:nvPr/>
        </p:nvSpPr>
        <p:spPr>
          <a:xfrm>
            <a:off x="7635240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앱 전체 한 벌</a:t>
            </a:r>
            <a:endParaRPr sz="690"/>
          </a:p>
        </p:txBody>
      </p:sp>
      <p:sp>
        <p:nvSpPr>
          <p:cNvPr id="169" name="TextBox 168"/>
          <p:cNvSpPr txBox="1"/>
          <p:nvPr/>
        </p:nvSpPr>
        <p:spPr>
          <a:xfrm>
            <a:off x="2423160" y="4224528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16화면 147요소 전체: docs/디자인가이드.md 3장 (코드 맨 위 대응표에서 생성) · 코드 주석 // A-1 P0x</a:t>
            </a:r>
            <a:endParaRPr sz="68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B5-4 · 화면마다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B5-4 — 기획 상세: 화면별 요소 분석표 (2/3)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 분석: 화면 D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 상세</a:t>
            </a:r>
            <a:endParaRPr lang="en-US" sz="1900" dirty="0"/>
          </a:p>
        </p:txBody>
      </p:sp>
      <p:sp>
        <p:nvSpPr>
          <p:cNvPr id="94" name="Text 92"/>
          <p:cNvSpPr/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7장 기획 "요소 분석 · 기준 · 가이드 글 8"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B5-4b</a:t>
            </a:r>
            <a:endParaRPr lang="en-US" sz="680" dirty="0"/>
          </a:p>
        </p:txBody>
      </p:sp>
      <p:sp>
        <p:nvSpPr>
          <p:cNvPr id="96" name="Rounded Rectangle 95"/>
          <p:cNvSpPr/>
          <p:nvPr/>
        </p:nvSpPr>
        <p:spPr>
          <a:xfrm>
            <a:off x="512064" y="1005840"/>
            <a:ext cx="1783080" cy="33649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7" name="Picture 96" descr="03_v2_b_number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3049" y="1042416"/>
            <a:ext cx="1521111" cy="329184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512064" y="4425696"/>
            <a:ext cx="17830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d_kit_detail_screen.dart</a:t>
            </a:r>
            <a:endParaRPr sz="680"/>
          </a:p>
        </p:txBody>
      </p:sp>
      <p:sp>
        <p:nvSpPr>
          <p:cNvPr id="99" name="Rectangle 98"/>
          <p:cNvSpPr/>
          <p:nvPr/>
        </p:nvSpPr>
        <p:spPr>
          <a:xfrm>
            <a:off x="2423160" y="1005840"/>
            <a:ext cx="38404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번호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280720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Flutter 위젯명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399592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비즈니스 명칭</a:t>
            </a:r>
            <a:endParaRPr sz="720"/>
          </a:p>
        </p:txBody>
      </p:sp>
      <p:sp>
        <p:nvSpPr>
          <p:cNvPr id="102" name="Rectangle 101"/>
          <p:cNvSpPr/>
          <p:nvPr/>
        </p:nvSpPr>
        <p:spPr>
          <a:xfrm>
            <a:off x="5184648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정보 전달 기준</a:t>
            </a:r>
            <a:endParaRPr sz="720"/>
          </a:p>
        </p:txBody>
      </p:sp>
      <p:sp>
        <p:nvSpPr>
          <p:cNvPr id="103" name="Rectangle 102"/>
          <p:cNvSpPr/>
          <p:nvPr/>
        </p:nvSpPr>
        <p:spPr>
          <a:xfrm>
            <a:off x="6190488" y="100584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20"/>
          </a:p>
        </p:txBody>
      </p:sp>
      <p:sp>
        <p:nvSpPr>
          <p:cNvPr id="104" name="Rectangle 103"/>
          <p:cNvSpPr/>
          <p:nvPr/>
        </p:nvSpPr>
        <p:spPr>
          <a:xfrm>
            <a:off x="6693408" y="1005840"/>
            <a:ext cx="94183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편의성</a:t>
            </a:r>
            <a:endParaRPr sz="720"/>
          </a:p>
        </p:txBody>
      </p:sp>
      <p:sp>
        <p:nvSpPr>
          <p:cNvPr id="105" name="Rectangle 104"/>
          <p:cNvSpPr/>
          <p:nvPr/>
        </p:nvSpPr>
        <p:spPr>
          <a:xfrm>
            <a:off x="7635240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가이드 글</a:t>
            </a:r>
            <a:endParaRPr sz="720"/>
          </a:p>
        </p:txBody>
      </p:sp>
      <p:sp>
        <p:nvSpPr>
          <p:cNvPr id="106" name="Rectangle 105"/>
          <p:cNvSpPr/>
          <p:nvPr/>
        </p:nvSpPr>
        <p:spPr>
          <a:xfrm>
            <a:off x="2423160" y="120700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D-2</a:t>
            </a:r>
            <a:endParaRPr sz="690"/>
          </a:p>
        </p:txBody>
      </p:sp>
      <p:sp>
        <p:nvSpPr>
          <p:cNvPr id="107" name="Rectangle 106"/>
          <p:cNvSpPr/>
          <p:nvPr/>
        </p:nvSpPr>
        <p:spPr>
          <a:xfrm>
            <a:off x="280720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PageView + 점</a:t>
            </a:r>
            <a:endParaRPr sz="690"/>
          </a:p>
        </p:txBody>
      </p:sp>
      <p:sp>
        <p:nvSpPr>
          <p:cNvPr id="108" name="Rectangle 107"/>
          <p:cNvSpPr/>
          <p:nvPr/>
        </p:nvSpPr>
        <p:spPr>
          <a:xfrm>
            <a:off x="399592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사진</a:t>
            </a:r>
            <a:endParaRPr sz="690"/>
          </a:p>
        </p:txBody>
      </p:sp>
      <p:sp>
        <p:nvSpPr>
          <p:cNvPr id="109" name="Rectangle 108"/>
          <p:cNvSpPr/>
          <p:nvPr/>
        </p:nvSpPr>
        <p:spPr>
          <a:xfrm>
            <a:off x="5184648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사진이 먼저</a:t>
            </a:r>
            <a:endParaRPr sz="690"/>
          </a:p>
        </p:txBody>
      </p:sp>
      <p:sp>
        <p:nvSpPr>
          <p:cNvPr id="110" name="Rectangle 109"/>
          <p:cNvSpPr/>
          <p:nvPr/>
        </p:nvSpPr>
        <p:spPr>
          <a:xfrm>
            <a:off x="6190488" y="120700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P02 P08</a:t>
            </a:r>
            <a:endParaRPr sz="690"/>
          </a:p>
        </p:txBody>
      </p:sp>
      <p:sp>
        <p:nvSpPr>
          <p:cNvPr id="111" name="Rectangle 110"/>
          <p:cNvSpPr/>
          <p:nvPr/>
        </p:nvSpPr>
        <p:spPr>
          <a:xfrm>
            <a:off x="6693408" y="120700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넘겨 보기</a:t>
            </a:r>
            <a:endParaRPr sz="690"/>
          </a:p>
        </p:txBody>
      </p:sp>
      <p:sp>
        <p:nvSpPr>
          <p:cNvPr id="112" name="Rectangle 111"/>
          <p:cNvSpPr/>
          <p:nvPr/>
        </p:nvSpPr>
        <p:spPr>
          <a:xfrm>
            <a:off x="7635240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사진만</a:t>
            </a:r>
            <a:endParaRPr sz="690"/>
          </a:p>
        </p:txBody>
      </p:sp>
      <p:sp>
        <p:nvSpPr>
          <p:cNvPr id="113" name="Rectangle 112"/>
          <p:cNvSpPr/>
          <p:nvPr/>
        </p:nvSpPr>
        <p:spPr>
          <a:xfrm>
            <a:off x="2423160" y="153619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D-4</a:t>
            </a:r>
            <a:endParaRPr sz="690"/>
          </a:p>
        </p:txBody>
      </p:sp>
      <p:sp>
        <p:nvSpPr>
          <p:cNvPr id="114" name="Rectangle 113"/>
          <p:cNvSpPr/>
          <p:nvPr/>
        </p:nvSpPr>
        <p:spPr>
          <a:xfrm>
            <a:off x="280720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제목 + 일본어 이름</a:t>
            </a:r>
            <a:endParaRPr sz="690"/>
          </a:p>
        </p:txBody>
      </p:sp>
      <p:sp>
        <p:nvSpPr>
          <p:cNvPr id="115" name="Rectangle 114"/>
          <p:cNvSpPr/>
          <p:nvPr/>
        </p:nvSpPr>
        <p:spPr>
          <a:xfrm>
            <a:off x="399592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상품명 (원문)</a:t>
            </a:r>
            <a:endParaRPr sz="690"/>
          </a:p>
        </p:txBody>
      </p:sp>
      <p:sp>
        <p:nvSpPr>
          <p:cNvPr id="116" name="Rectangle 115"/>
          <p:cNvSpPr/>
          <p:nvPr/>
        </p:nvSpPr>
        <p:spPr>
          <a:xfrm>
            <a:off x="5184648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이름 → 원래 이름</a:t>
            </a:r>
            <a:endParaRPr sz="690"/>
          </a:p>
        </p:txBody>
      </p:sp>
      <p:sp>
        <p:nvSpPr>
          <p:cNvPr id="117" name="Rectangle 116"/>
          <p:cNvSpPr/>
          <p:nvPr/>
        </p:nvSpPr>
        <p:spPr>
          <a:xfrm>
            <a:off x="6190488" y="153619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P02</a:t>
            </a:r>
            <a:endParaRPr sz="690"/>
          </a:p>
        </p:txBody>
      </p:sp>
      <p:sp>
        <p:nvSpPr>
          <p:cNvPr id="118" name="Rectangle 117"/>
          <p:cNvSpPr/>
          <p:nvPr/>
        </p:nvSpPr>
        <p:spPr>
          <a:xfrm>
            <a:off x="6693408" y="153619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검색에 복사</a:t>
            </a:r>
            <a:endParaRPr sz="690"/>
          </a:p>
        </p:txBody>
      </p:sp>
      <p:sp>
        <p:nvSpPr>
          <p:cNvPr id="119" name="Rectangle 118"/>
          <p:cNvSpPr/>
          <p:nvPr/>
        </p:nvSpPr>
        <p:spPr>
          <a:xfrm>
            <a:off x="7635240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원문 그대로</a:t>
            </a:r>
            <a:endParaRPr sz="690"/>
          </a:p>
        </p:txBody>
      </p:sp>
      <p:sp>
        <p:nvSpPr>
          <p:cNvPr id="120" name="Rectangle 119"/>
          <p:cNvSpPr/>
          <p:nvPr/>
        </p:nvSpPr>
        <p:spPr>
          <a:xfrm>
            <a:off x="2423160" y="186537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D-5</a:t>
            </a:r>
            <a:endParaRPr sz="690"/>
          </a:p>
        </p:txBody>
      </p:sp>
      <p:sp>
        <p:nvSpPr>
          <p:cNvPr id="121" name="Rectangle 120"/>
          <p:cNvSpPr/>
          <p:nvPr/>
        </p:nvSpPr>
        <p:spPr>
          <a:xfrm>
            <a:off x="280720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Text(¥) + 발매일</a:t>
            </a:r>
            <a:endParaRPr sz="690"/>
          </a:p>
        </p:txBody>
      </p:sp>
      <p:sp>
        <p:nvSpPr>
          <p:cNvPr id="122" name="Rectangle 121"/>
          <p:cNvSpPr/>
          <p:nvPr/>
        </p:nvSpPr>
        <p:spPr>
          <a:xfrm>
            <a:off x="399592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일본 정가 · 발매</a:t>
            </a:r>
            <a:endParaRPr sz="690"/>
          </a:p>
        </p:txBody>
      </p:sp>
      <p:sp>
        <p:nvSpPr>
          <p:cNvPr id="123" name="Rectangle 122"/>
          <p:cNvSpPr/>
          <p:nvPr/>
        </p:nvSpPr>
        <p:spPr>
          <a:xfrm>
            <a:off x="5184648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가장 큰 숫자 = 정가</a:t>
            </a:r>
            <a:endParaRPr sz="690"/>
          </a:p>
        </p:txBody>
      </p:sp>
      <p:sp>
        <p:nvSpPr>
          <p:cNvPr id="124" name="Rectangle 123"/>
          <p:cNvSpPr/>
          <p:nvPr/>
        </p:nvSpPr>
        <p:spPr>
          <a:xfrm>
            <a:off x="6190488" y="186537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P02 P01</a:t>
            </a:r>
            <a:endParaRPr sz="690"/>
          </a:p>
        </p:txBody>
      </p:sp>
      <p:sp>
        <p:nvSpPr>
          <p:cNvPr id="125" name="Rectangle 124"/>
          <p:cNvSpPr/>
          <p:nvPr/>
        </p:nvSpPr>
        <p:spPr>
          <a:xfrm>
            <a:off x="6693408" y="186537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한눈에</a:t>
            </a:r>
            <a:endParaRPr sz="690"/>
          </a:p>
        </p:txBody>
      </p:sp>
      <p:sp>
        <p:nvSpPr>
          <p:cNvPr id="126" name="Rectangle 125"/>
          <p:cNvSpPr/>
          <p:nvPr/>
        </p:nvSpPr>
        <p:spPr>
          <a:xfrm>
            <a:off x="7635240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엔화 = 일본 정가</a:t>
            </a:r>
            <a:endParaRPr sz="690"/>
          </a:p>
        </p:txBody>
      </p:sp>
      <p:sp>
        <p:nvSpPr>
          <p:cNvPr id="127" name="Rectangle 126"/>
          <p:cNvSpPr/>
          <p:nvPr/>
        </p:nvSpPr>
        <p:spPr>
          <a:xfrm>
            <a:off x="2423160" y="219456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D-5b</a:t>
            </a:r>
            <a:endParaRPr sz="690"/>
          </a:p>
        </p:txBody>
      </p:sp>
      <p:sp>
        <p:nvSpPr>
          <p:cNvPr id="128" name="Rectangle 127"/>
          <p:cNvSpPr/>
          <p:nvPr/>
        </p:nvSpPr>
        <p:spPr>
          <a:xfrm>
            <a:off x="280720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한 줄 → 시트</a:t>
            </a:r>
            <a:endParaRPr sz="690"/>
          </a:p>
        </p:txBody>
      </p:sp>
      <p:sp>
        <p:nvSpPr>
          <p:cNvPr id="129" name="Rectangle 128"/>
          <p:cNvSpPr/>
          <p:nvPr/>
        </p:nvSpPr>
        <p:spPr>
          <a:xfrm>
            <a:off x="399592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국내 시세</a:t>
            </a:r>
            <a:endParaRPr sz="690"/>
          </a:p>
        </p:txBody>
      </p:sp>
      <p:sp>
        <p:nvSpPr>
          <p:cNvPr id="130" name="Rectangle 129"/>
          <p:cNvSpPr/>
          <p:nvPr/>
        </p:nvSpPr>
        <p:spPr>
          <a:xfrm>
            <a:off x="5184648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정가 바로 아래</a:t>
            </a:r>
            <a:endParaRPr sz="690"/>
          </a:p>
        </p:txBody>
      </p:sp>
      <p:sp>
        <p:nvSpPr>
          <p:cNvPr id="131" name="Rectangle 130"/>
          <p:cNvSpPr/>
          <p:nvPr/>
        </p:nvSpPr>
        <p:spPr>
          <a:xfrm>
            <a:off x="6190488" y="219456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P08</a:t>
            </a:r>
            <a:endParaRPr sz="690"/>
          </a:p>
        </p:txBody>
      </p:sp>
      <p:sp>
        <p:nvSpPr>
          <p:cNvPr id="132" name="Rectangle 131"/>
          <p:cNvSpPr/>
          <p:nvPr/>
        </p:nvSpPr>
        <p:spPr>
          <a:xfrm>
            <a:off x="6693408" y="219456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횟수 제한 없음</a:t>
            </a:r>
            <a:endParaRPr sz="690"/>
          </a:p>
        </p:txBody>
      </p:sp>
      <p:sp>
        <p:nvSpPr>
          <p:cNvPr id="133" name="Rectangle 132"/>
          <p:cNvSpPr/>
          <p:nvPr/>
        </p:nvSpPr>
        <p:spPr>
          <a:xfrm>
            <a:off x="7635240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시세는 이 한 곳</a:t>
            </a:r>
            <a:endParaRPr sz="690"/>
          </a:p>
        </p:txBody>
      </p:sp>
      <p:sp>
        <p:nvSpPr>
          <p:cNvPr id="134" name="Rectangle 133"/>
          <p:cNvSpPr/>
          <p:nvPr/>
        </p:nvSpPr>
        <p:spPr>
          <a:xfrm>
            <a:off x="2423160" y="2523744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D-5c</a:t>
            </a:r>
            <a:endParaRPr sz="690"/>
          </a:p>
        </p:txBody>
      </p:sp>
      <p:sp>
        <p:nvSpPr>
          <p:cNvPr id="135" name="Rectangle 134"/>
          <p:cNvSpPr/>
          <p:nvPr/>
        </p:nvSpPr>
        <p:spPr>
          <a:xfrm>
            <a:off x="280720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"내 구매가" 줄</a:t>
            </a:r>
            <a:endParaRPr sz="690"/>
          </a:p>
        </p:txBody>
      </p:sp>
      <p:sp>
        <p:nvSpPr>
          <p:cNvPr id="136" name="Rectangle 135"/>
          <p:cNvSpPr/>
          <p:nvPr/>
        </p:nvSpPr>
        <p:spPr>
          <a:xfrm>
            <a:off x="399592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내가 낸 돈</a:t>
            </a:r>
            <a:endParaRPr sz="690"/>
          </a:p>
        </p:txBody>
      </p:sp>
      <p:sp>
        <p:nvSpPr>
          <p:cNvPr id="137" name="Rectangle 136"/>
          <p:cNvSpPr/>
          <p:nvPr/>
        </p:nvSpPr>
        <p:spPr>
          <a:xfrm>
            <a:off x="5184648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구매함일 때만</a:t>
            </a:r>
            <a:endParaRPr sz="690"/>
          </a:p>
        </p:txBody>
      </p:sp>
      <p:sp>
        <p:nvSpPr>
          <p:cNvPr id="138" name="Rectangle 137"/>
          <p:cNvSpPr/>
          <p:nvPr/>
        </p:nvSpPr>
        <p:spPr>
          <a:xfrm>
            <a:off x="6190488" y="2523744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P03</a:t>
            </a:r>
            <a:endParaRPr sz="690"/>
          </a:p>
        </p:txBody>
      </p:sp>
      <p:sp>
        <p:nvSpPr>
          <p:cNvPr id="139" name="Rectangle 138"/>
          <p:cNvSpPr/>
          <p:nvPr/>
        </p:nvSpPr>
        <p:spPr>
          <a:xfrm>
            <a:off x="6693408" y="2523744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수정 시트</a:t>
            </a:r>
            <a:endParaRPr sz="690"/>
          </a:p>
        </p:txBody>
      </p:sp>
      <p:sp>
        <p:nvSpPr>
          <p:cNvPr id="140" name="Rectangle 139"/>
          <p:cNvSpPr/>
          <p:nvPr/>
        </p:nvSpPr>
        <p:spPr>
          <a:xfrm>
            <a:off x="7635240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원화 = 내 구매가</a:t>
            </a:r>
            <a:endParaRPr sz="690"/>
          </a:p>
        </p:txBody>
      </p:sp>
      <p:sp>
        <p:nvSpPr>
          <p:cNvPr id="141" name="Rectangle 140"/>
          <p:cNvSpPr/>
          <p:nvPr/>
        </p:nvSpPr>
        <p:spPr>
          <a:xfrm>
            <a:off x="2423160" y="285292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D-6</a:t>
            </a:r>
            <a:endParaRPr sz="690"/>
          </a:p>
        </p:txBody>
      </p:sp>
      <p:sp>
        <p:nvSpPr>
          <p:cNvPr id="142" name="Rectangle 141"/>
          <p:cNvSpPr/>
          <p:nvPr/>
        </p:nvSpPr>
        <p:spPr>
          <a:xfrm>
            <a:off x="280720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하단 고정 ♡ · 리본</a:t>
            </a:r>
            <a:endParaRPr sz="690"/>
          </a:p>
        </p:txBody>
      </p:sp>
      <p:sp>
        <p:nvSpPr>
          <p:cNvPr id="143" name="Rectangle 142"/>
          <p:cNvSpPr/>
          <p:nvPr/>
        </p:nvSpPr>
        <p:spPr>
          <a:xfrm>
            <a:off x="399592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</a:t>
            </a:r>
            <a:endParaRPr sz="690"/>
          </a:p>
        </p:txBody>
      </p:sp>
      <p:sp>
        <p:nvSpPr>
          <p:cNvPr id="144" name="Rectangle 143"/>
          <p:cNvSpPr/>
          <p:nvPr/>
        </p:nvSpPr>
        <p:spPr>
          <a:xfrm>
            <a:off x="5184648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화면 아래 늘 보임</a:t>
            </a:r>
            <a:endParaRPr sz="690"/>
          </a:p>
        </p:txBody>
      </p:sp>
      <p:sp>
        <p:nvSpPr>
          <p:cNvPr id="145" name="Rectangle 144"/>
          <p:cNvSpPr/>
          <p:nvPr/>
        </p:nvSpPr>
        <p:spPr>
          <a:xfrm>
            <a:off x="6190488" y="285292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P03 P04</a:t>
            </a:r>
            <a:endParaRPr sz="690"/>
          </a:p>
        </p:txBody>
      </p:sp>
      <p:sp>
        <p:nvSpPr>
          <p:cNvPr id="146" name="Rectangle 145"/>
          <p:cNvSpPr/>
          <p:nvPr/>
        </p:nvSpPr>
        <p:spPr>
          <a:xfrm>
            <a:off x="6693408" y="285292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내려 읽어도 바로</a:t>
            </a:r>
            <a:endParaRPr sz="690"/>
          </a:p>
        </p:txBody>
      </p:sp>
      <p:sp>
        <p:nvSpPr>
          <p:cNvPr id="147" name="Rectangle 146"/>
          <p:cNvSpPr/>
          <p:nvPr/>
        </p:nvSpPr>
        <p:spPr>
          <a:xfrm>
            <a:off x="7635240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쇼핑 앱 같은 자리</a:t>
            </a:r>
            <a:endParaRPr sz="690"/>
          </a:p>
        </p:txBody>
      </p:sp>
      <p:sp>
        <p:nvSpPr>
          <p:cNvPr id="148" name="Rectangle 147"/>
          <p:cNvSpPr/>
          <p:nvPr/>
        </p:nvSpPr>
        <p:spPr>
          <a:xfrm>
            <a:off x="2423160" y="318211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D-8</a:t>
            </a:r>
            <a:endParaRPr sz="690"/>
          </a:p>
        </p:txBody>
      </p:sp>
      <p:sp>
        <p:nvSpPr>
          <p:cNvPr id="149" name="Rectangle 148"/>
          <p:cNvSpPr/>
          <p:nvPr/>
        </p:nvSpPr>
        <p:spPr>
          <a:xfrm>
            <a:off x="280720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요약 줄 → 시트</a:t>
            </a:r>
            <a:endParaRPr sz="690"/>
          </a:p>
        </p:txBody>
      </p:sp>
      <p:sp>
        <p:nvSpPr>
          <p:cNvPr id="150" name="Rectangle 149"/>
          <p:cNvSpPr/>
          <p:nvPr/>
        </p:nvSpPr>
        <p:spPr>
          <a:xfrm>
            <a:off x="399592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정보</a:t>
            </a:r>
            <a:endParaRPr sz="690"/>
          </a:p>
        </p:txBody>
      </p:sp>
      <p:sp>
        <p:nvSpPr>
          <p:cNvPr id="151" name="Rectangle 150"/>
          <p:cNvSpPr/>
          <p:nvPr/>
        </p:nvSpPr>
        <p:spPr>
          <a:xfrm>
            <a:off x="5184648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요약 → 전체 표</a:t>
            </a:r>
            <a:endParaRPr sz="690"/>
          </a:p>
        </p:txBody>
      </p:sp>
      <p:sp>
        <p:nvSpPr>
          <p:cNvPr id="152" name="Rectangle 151"/>
          <p:cNvSpPr/>
          <p:nvPr/>
        </p:nvSpPr>
        <p:spPr>
          <a:xfrm>
            <a:off x="6190488" y="318211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P08 P06</a:t>
            </a:r>
            <a:endParaRPr sz="690"/>
          </a:p>
        </p:txBody>
      </p:sp>
      <p:sp>
        <p:nvSpPr>
          <p:cNvPr id="153" name="Rectangle 152"/>
          <p:cNvSpPr/>
          <p:nvPr/>
        </p:nvSpPr>
        <p:spPr>
          <a:xfrm>
            <a:off x="6693408" y="318211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필요할 때만 펼침</a:t>
            </a:r>
            <a:endParaRPr sz="690"/>
          </a:p>
        </p:txBody>
      </p:sp>
      <p:sp>
        <p:nvSpPr>
          <p:cNvPr id="154" name="Rectangle 153"/>
          <p:cNvSpPr/>
          <p:nvPr/>
        </p:nvSpPr>
        <p:spPr>
          <a:xfrm>
            <a:off x="7635240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분류 · 작품 · 라인</a:t>
            </a:r>
            <a:endParaRPr sz="690"/>
          </a:p>
        </p:txBody>
      </p:sp>
      <p:sp>
        <p:nvSpPr>
          <p:cNvPr id="155" name="Rectangle 154"/>
          <p:cNvSpPr/>
          <p:nvPr/>
        </p:nvSpPr>
        <p:spPr>
          <a:xfrm>
            <a:off x="2423160" y="351129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D-9</a:t>
            </a:r>
            <a:endParaRPr sz="690"/>
          </a:p>
        </p:txBody>
      </p:sp>
      <p:sp>
        <p:nvSpPr>
          <p:cNvPr id="156" name="Rectangle 155"/>
          <p:cNvSpPr/>
          <p:nvPr/>
        </p:nvSpPr>
        <p:spPr>
          <a:xfrm>
            <a:off x="280720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시세 시트 3칸</a:t>
            </a:r>
            <a:endParaRPr sz="690"/>
          </a:p>
        </p:txBody>
      </p:sp>
      <p:sp>
        <p:nvSpPr>
          <p:cNvPr id="157" name="Rectangle 156"/>
          <p:cNvSpPr/>
          <p:nvPr/>
        </p:nvSpPr>
        <p:spPr>
          <a:xfrm>
            <a:off x="399592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국내 시세 자세히</a:t>
            </a:r>
            <a:endParaRPr sz="690"/>
          </a:p>
        </p:txBody>
      </p:sp>
      <p:sp>
        <p:nvSpPr>
          <p:cNvPr id="158" name="Rectangle 157"/>
          <p:cNvSpPr/>
          <p:nvPr/>
        </p:nvSpPr>
        <p:spPr>
          <a:xfrm>
            <a:off x="5184648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범위 · 플랫폼 3곳</a:t>
            </a:r>
            <a:endParaRPr sz="690"/>
          </a:p>
        </p:txBody>
      </p:sp>
      <p:sp>
        <p:nvSpPr>
          <p:cNvPr id="159" name="Rectangle 158"/>
          <p:cNvSpPr/>
          <p:nvPr/>
        </p:nvSpPr>
        <p:spPr>
          <a:xfrm>
            <a:off x="6190488" y="351129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P08</a:t>
            </a:r>
            <a:endParaRPr sz="690"/>
          </a:p>
        </p:txBody>
      </p:sp>
      <p:sp>
        <p:nvSpPr>
          <p:cNvPr id="160" name="Rectangle 159"/>
          <p:cNvSpPr/>
          <p:nvPr/>
        </p:nvSpPr>
        <p:spPr>
          <a:xfrm>
            <a:off x="6693408" y="351129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없으면 찾을 곳</a:t>
            </a:r>
            <a:endParaRPr sz="690"/>
          </a:p>
        </p:txBody>
      </p:sp>
      <p:sp>
        <p:nvSpPr>
          <p:cNvPr id="161" name="Rectangle 160"/>
          <p:cNvSpPr/>
          <p:nvPr/>
        </p:nvSpPr>
        <p:spPr>
          <a:xfrm>
            <a:off x="7635240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거래 n건 표시</a:t>
            </a:r>
            <a:endParaRPr sz="690"/>
          </a:p>
        </p:txBody>
      </p:sp>
      <p:sp>
        <p:nvSpPr>
          <p:cNvPr id="162" name="Rectangle 161"/>
          <p:cNvSpPr/>
          <p:nvPr/>
        </p:nvSpPr>
        <p:spPr>
          <a:xfrm>
            <a:off x="2423160" y="384048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D-12</a:t>
            </a:r>
            <a:endParaRPr sz="690"/>
          </a:p>
        </p:txBody>
      </p:sp>
      <p:sp>
        <p:nvSpPr>
          <p:cNvPr id="163" name="Rectangle 162"/>
          <p:cNvSpPr/>
          <p:nvPr/>
        </p:nvSpPr>
        <p:spPr>
          <a:xfrm>
            <a:off x="280720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TextButton → 확인</a:t>
            </a:r>
            <a:endParaRPr sz="690"/>
          </a:p>
        </p:txBody>
      </p:sp>
      <p:sp>
        <p:nvSpPr>
          <p:cNvPr id="164" name="Rectangle 163"/>
          <p:cNvSpPr/>
          <p:nvPr/>
        </p:nvSpPr>
        <p:spPr>
          <a:xfrm>
            <a:off x="399592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정보 오류 제보</a:t>
            </a:r>
            <a:endParaRPr sz="690"/>
          </a:p>
        </p:txBody>
      </p:sp>
      <p:sp>
        <p:nvSpPr>
          <p:cNvPr id="165" name="Rectangle 164"/>
          <p:cNvSpPr/>
          <p:nvPr/>
        </p:nvSpPr>
        <p:spPr>
          <a:xfrm>
            <a:off x="5184648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보내기 전 확인</a:t>
            </a:r>
            <a:endParaRPr sz="690"/>
          </a:p>
        </p:txBody>
      </p:sp>
      <p:sp>
        <p:nvSpPr>
          <p:cNvPr id="166" name="Rectangle 165"/>
          <p:cNvSpPr/>
          <p:nvPr/>
        </p:nvSpPr>
        <p:spPr>
          <a:xfrm>
            <a:off x="6190488" y="384048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P05 P09</a:t>
            </a:r>
            <a:endParaRPr sz="690"/>
          </a:p>
        </p:txBody>
      </p:sp>
      <p:sp>
        <p:nvSpPr>
          <p:cNvPr id="167" name="Rectangle 166"/>
          <p:cNvSpPr/>
          <p:nvPr/>
        </p:nvSpPr>
        <p:spPr>
          <a:xfrm>
            <a:off x="6693408" y="384048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실수 전송 막음</a:t>
            </a:r>
            <a:endParaRPr sz="690"/>
          </a:p>
        </p:txBody>
      </p:sp>
      <p:sp>
        <p:nvSpPr>
          <p:cNvPr id="168" name="Rectangle 167"/>
          <p:cNvSpPr/>
          <p:nvPr/>
        </p:nvSpPr>
        <p:spPr>
          <a:xfrm>
            <a:off x="7635240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수정 폼 대신 한 줄</a:t>
            </a:r>
            <a:endParaRPr sz="690"/>
          </a:p>
        </p:txBody>
      </p:sp>
      <p:sp>
        <p:nvSpPr>
          <p:cNvPr id="169" name="Rectangle 168"/>
          <p:cNvSpPr/>
          <p:nvPr/>
        </p:nvSpPr>
        <p:spPr>
          <a:xfrm>
            <a:off x="2423160" y="4169664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D-14</a:t>
            </a:r>
            <a:endParaRPr sz="690"/>
          </a:p>
        </p:txBody>
      </p:sp>
      <p:sp>
        <p:nvSpPr>
          <p:cNvPr id="170" name="Rectangle 169"/>
          <p:cNvSpPr/>
          <p:nvPr/>
        </p:nvSpPr>
        <p:spPr>
          <a:xfrm>
            <a:off x="2807208" y="416966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하단 왼쪽 복사 · 공식</a:t>
            </a:r>
            <a:endParaRPr sz="690"/>
          </a:p>
        </p:txBody>
      </p:sp>
      <p:sp>
        <p:nvSpPr>
          <p:cNvPr id="171" name="Rectangle 170"/>
          <p:cNvSpPr/>
          <p:nvPr/>
        </p:nvSpPr>
        <p:spPr>
          <a:xfrm>
            <a:off x="3995928" y="416966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복사 · 공식 페이지</a:t>
            </a:r>
            <a:endParaRPr sz="690"/>
          </a:p>
        </p:txBody>
      </p:sp>
      <p:sp>
        <p:nvSpPr>
          <p:cNvPr id="172" name="Rectangle 171"/>
          <p:cNvSpPr/>
          <p:nvPr/>
        </p:nvSpPr>
        <p:spPr>
          <a:xfrm>
            <a:off x="5184648" y="416966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출처는 작게</a:t>
            </a:r>
            <a:endParaRPr sz="690"/>
          </a:p>
        </p:txBody>
      </p:sp>
      <p:sp>
        <p:nvSpPr>
          <p:cNvPr id="173" name="Rectangle 172"/>
          <p:cNvSpPr/>
          <p:nvPr/>
        </p:nvSpPr>
        <p:spPr>
          <a:xfrm>
            <a:off x="6190488" y="4169664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P10</a:t>
            </a:r>
            <a:endParaRPr sz="690"/>
          </a:p>
        </p:txBody>
      </p:sp>
      <p:sp>
        <p:nvSpPr>
          <p:cNvPr id="174" name="Rectangle 173"/>
          <p:cNvSpPr/>
          <p:nvPr/>
        </p:nvSpPr>
        <p:spPr>
          <a:xfrm>
            <a:off x="6693408" y="4169664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한 번에 복사</a:t>
            </a:r>
            <a:endParaRPr sz="690"/>
          </a:p>
        </p:txBody>
      </p:sp>
      <p:sp>
        <p:nvSpPr>
          <p:cNvPr id="175" name="Rectangle 174"/>
          <p:cNvSpPr/>
          <p:nvPr/>
        </p:nvSpPr>
        <p:spPr>
          <a:xfrm>
            <a:off x="7635240" y="416966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공식 = 출처</a:t>
            </a:r>
            <a:endParaRPr sz="690"/>
          </a:p>
        </p:txBody>
      </p:sp>
      <p:sp>
        <p:nvSpPr>
          <p:cNvPr id="176" name="TextBox 175"/>
          <p:cNvSpPr txBox="1"/>
          <p:nvPr/>
        </p:nvSpPr>
        <p:spPr>
          <a:xfrm>
            <a:off x="2423160" y="4553712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나머지 D-1 · D-10 · D-11 · D-13 → 16화면 147요소 전체: docs/디자인가이드.md 3장 (코드 맨 위 대응표에서 생성) · 코드 주석 // D-2 P0x</a:t>
            </a:r>
            <a:endParaRPr sz="68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9599" y="304800"/>
            <a:ext cx="160645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56549" y="342900"/>
            <a:ext cx="13796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B5-4 · 화면마다 복제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B5-4 — 기획 상세: 화면별 요소 분석표 (3/3)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요소 분석: 화면 G —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도감</a:t>
            </a:r>
            <a:endParaRPr lang="en-US" sz="1900" dirty="0"/>
          </a:p>
        </p:txBody>
      </p:sp>
      <p:sp>
        <p:nvSpPr>
          <p:cNvPr id="94" name="Text 92"/>
          <p:cNvSpPr/>
          <p:nvPr/>
        </p:nvSpPr>
        <p:spPr>
          <a:xfrm>
            <a:off x="507950" y="4810125"/>
            <a:ext cx="454245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7장 기획 "요소 분석 · 기준 · 가이드 글 8"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B5-4c</a:t>
            </a:r>
            <a:endParaRPr lang="en-US" sz="680" dirty="0"/>
          </a:p>
        </p:txBody>
      </p:sp>
      <p:sp>
        <p:nvSpPr>
          <p:cNvPr id="96" name="Rounded Rectangle 95"/>
          <p:cNvSpPr/>
          <p:nvPr/>
        </p:nvSpPr>
        <p:spPr>
          <a:xfrm>
            <a:off x="512064" y="1005840"/>
            <a:ext cx="1783080" cy="336499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/>
          <a:lstStyle/>
          <a:p>
            <a:pPr algn="l" marL="0" indent="0">
              <a:buNone/>
            </a:pPr>
            <a:r>
              <a:rPr sz="90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/>
            </a:r>
            <a:endParaRPr sz="900"/>
          </a:p>
        </p:txBody>
      </p:sp>
      <p:pic>
        <p:nvPicPr>
          <p:cNvPr id="97" name="Picture 96" descr="04_v2_c_number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3049" y="1042416"/>
            <a:ext cx="1521111" cy="3291840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512064" y="4425696"/>
            <a:ext cx="178308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g_guide_view.dart</a:t>
            </a:r>
            <a:endParaRPr sz="680"/>
          </a:p>
        </p:txBody>
      </p:sp>
      <p:sp>
        <p:nvSpPr>
          <p:cNvPr id="99" name="Rectangle 98"/>
          <p:cNvSpPr/>
          <p:nvPr/>
        </p:nvSpPr>
        <p:spPr>
          <a:xfrm>
            <a:off x="2423160" y="1005840"/>
            <a:ext cx="384048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번호</a:t>
            </a:r>
            <a:endParaRPr sz="720"/>
          </a:p>
        </p:txBody>
      </p:sp>
      <p:sp>
        <p:nvSpPr>
          <p:cNvPr id="100" name="Rectangle 99"/>
          <p:cNvSpPr/>
          <p:nvPr/>
        </p:nvSpPr>
        <p:spPr>
          <a:xfrm>
            <a:off x="280720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Flutter 위젯명</a:t>
            </a:r>
            <a:endParaRPr sz="720"/>
          </a:p>
        </p:txBody>
      </p:sp>
      <p:sp>
        <p:nvSpPr>
          <p:cNvPr id="101" name="Rectangle 100"/>
          <p:cNvSpPr/>
          <p:nvPr/>
        </p:nvSpPr>
        <p:spPr>
          <a:xfrm>
            <a:off x="3995928" y="1005840"/>
            <a:ext cx="11887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비즈니스 명칭</a:t>
            </a:r>
            <a:endParaRPr sz="720"/>
          </a:p>
        </p:txBody>
      </p:sp>
      <p:sp>
        <p:nvSpPr>
          <p:cNvPr id="102" name="Rectangle 101"/>
          <p:cNvSpPr/>
          <p:nvPr/>
        </p:nvSpPr>
        <p:spPr>
          <a:xfrm>
            <a:off x="5184648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정보 전달 기준</a:t>
            </a:r>
            <a:endParaRPr sz="720"/>
          </a:p>
        </p:txBody>
      </p:sp>
      <p:sp>
        <p:nvSpPr>
          <p:cNvPr id="103" name="Rectangle 102"/>
          <p:cNvSpPr/>
          <p:nvPr/>
        </p:nvSpPr>
        <p:spPr>
          <a:xfrm>
            <a:off x="6190488" y="1005840"/>
            <a:ext cx="5029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P번호</a:t>
            </a:r>
            <a:endParaRPr sz="720"/>
          </a:p>
        </p:txBody>
      </p:sp>
      <p:sp>
        <p:nvSpPr>
          <p:cNvPr id="104" name="Rectangle 103"/>
          <p:cNvSpPr/>
          <p:nvPr/>
        </p:nvSpPr>
        <p:spPr>
          <a:xfrm>
            <a:off x="6693408" y="1005840"/>
            <a:ext cx="94183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편의성</a:t>
            </a:r>
            <a:endParaRPr sz="720"/>
          </a:p>
        </p:txBody>
      </p:sp>
      <p:sp>
        <p:nvSpPr>
          <p:cNvPr id="105" name="Rectangle 104"/>
          <p:cNvSpPr/>
          <p:nvPr/>
        </p:nvSpPr>
        <p:spPr>
          <a:xfrm>
            <a:off x="7635240" y="1005840"/>
            <a:ext cx="100584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2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가이드 글</a:t>
            </a:r>
            <a:endParaRPr sz="720"/>
          </a:p>
        </p:txBody>
      </p:sp>
      <p:sp>
        <p:nvSpPr>
          <p:cNvPr id="106" name="Rectangle 105"/>
          <p:cNvSpPr/>
          <p:nvPr/>
        </p:nvSpPr>
        <p:spPr>
          <a:xfrm>
            <a:off x="2423160" y="120700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G-2</a:t>
            </a:r>
            <a:endParaRPr sz="690"/>
          </a:p>
        </p:txBody>
      </p:sp>
      <p:sp>
        <p:nvSpPr>
          <p:cNvPr id="107" name="Rectangle 106"/>
          <p:cNvSpPr/>
          <p:nvPr/>
        </p:nvSpPr>
        <p:spPr>
          <a:xfrm>
            <a:off x="280720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? → 바텀 시트</a:t>
            </a:r>
            <a:endParaRPr sz="690"/>
          </a:p>
        </p:txBody>
      </p:sp>
      <p:sp>
        <p:nvSpPr>
          <p:cNvPr id="108" name="Rectangle 107"/>
          <p:cNvSpPr/>
          <p:nvPr/>
        </p:nvSpPr>
        <p:spPr>
          <a:xfrm>
            <a:off x="3995928" y="120700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도감 읽는 법</a:t>
            </a:r>
            <a:endParaRPr sz="690"/>
          </a:p>
        </p:txBody>
      </p:sp>
      <p:sp>
        <p:nvSpPr>
          <p:cNvPr id="109" name="Rectangle 108"/>
          <p:cNvSpPr/>
          <p:nvPr/>
        </p:nvSpPr>
        <p:spPr>
          <a:xfrm>
            <a:off x="5184648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범례는 숨김</a:t>
            </a:r>
            <a:endParaRPr sz="690"/>
          </a:p>
        </p:txBody>
      </p:sp>
      <p:sp>
        <p:nvSpPr>
          <p:cNvPr id="110" name="Rectangle 109"/>
          <p:cNvSpPr/>
          <p:nvPr/>
        </p:nvSpPr>
        <p:spPr>
          <a:xfrm>
            <a:off x="6190488" y="120700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P10 P08</a:t>
            </a:r>
            <a:endParaRPr sz="690"/>
          </a:p>
        </p:txBody>
      </p:sp>
      <p:sp>
        <p:nvSpPr>
          <p:cNvPr id="111" name="Rectangle 110"/>
          <p:cNvSpPr/>
          <p:nvPr/>
        </p:nvSpPr>
        <p:spPr>
          <a:xfrm>
            <a:off x="6693408" y="120700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필요할 때 ?</a:t>
            </a:r>
            <a:endParaRPr sz="690"/>
          </a:p>
        </p:txBody>
      </p:sp>
      <p:sp>
        <p:nvSpPr>
          <p:cNvPr id="112" name="Rectangle 111"/>
          <p:cNvSpPr/>
          <p:nvPr/>
        </p:nvSpPr>
        <p:spPr>
          <a:xfrm>
            <a:off x="7635240" y="120700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긴 범례 줄 대신</a:t>
            </a:r>
            <a:endParaRPr sz="690"/>
          </a:p>
        </p:txBody>
      </p:sp>
      <p:sp>
        <p:nvSpPr>
          <p:cNvPr id="113" name="Rectangle 112"/>
          <p:cNvSpPr/>
          <p:nvPr/>
        </p:nvSpPr>
        <p:spPr>
          <a:xfrm>
            <a:off x="2423160" y="153619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G-3</a:t>
            </a:r>
            <a:endParaRPr sz="690"/>
          </a:p>
        </p:txBody>
      </p:sp>
      <p:sp>
        <p:nvSpPr>
          <p:cNvPr id="114" name="Rectangle 113"/>
          <p:cNvSpPr/>
          <p:nvPr/>
        </p:nvSpPr>
        <p:spPr>
          <a:xfrm>
            <a:off x="280720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작품 카드 + 진행 막대</a:t>
            </a:r>
            <a:endParaRPr sz="690"/>
          </a:p>
        </p:txBody>
      </p:sp>
      <p:sp>
        <p:nvSpPr>
          <p:cNvPr id="115" name="Rectangle 114"/>
          <p:cNvSpPr/>
          <p:nvPr/>
        </p:nvSpPr>
        <p:spPr>
          <a:xfrm>
            <a:off x="3995928" y="153619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작품 도감 (n/전체)</a:t>
            </a:r>
            <a:endParaRPr sz="690"/>
          </a:p>
        </p:txBody>
      </p:sp>
      <p:sp>
        <p:nvSpPr>
          <p:cNvPr id="116" name="Rectangle 115"/>
          <p:cNvSpPr/>
          <p:nvPr/>
        </p:nvSpPr>
        <p:spPr>
          <a:xfrm>
            <a:off x="5184648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작품 → 수집 수</a:t>
            </a:r>
            <a:endParaRPr sz="690"/>
          </a:p>
        </p:txBody>
      </p:sp>
      <p:sp>
        <p:nvSpPr>
          <p:cNvPr id="117" name="Rectangle 116"/>
          <p:cNvSpPr/>
          <p:nvPr/>
        </p:nvSpPr>
        <p:spPr>
          <a:xfrm>
            <a:off x="6190488" y="153619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P06</a:t>
            </a:r>
            <a:endParaRPr sz="690"/>
          </a:p>
        </p:txBody>
      </p:sp>
      <p:sp>
        <p:nvSpPr>
          <p:cNvPr id="118" name="Rectangle 117"/>
          <p:cNvSpPr/>
          <p:nvPr/>
        </p:nvSpPr>
        <p:spPr>
          <a:xfrm>
            <a:off x="6693408" y="153619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남은 개수 보임</a:t>
            </a:r>
            <a:endParaRPr sz="690"/>
          </a:p>
        </p:txBody>
      </p:sp>
      <p:sp>
        <p:nvSpPr>
          <p:cNvPr id="119" name="Rectangle 118"/>
          <p:cNvSpPr/>
          <p:nvPr/>
        </p:nvSpPr>
        <p:spPr>
          <a:xfrm>
            <a:off x="7635240" y="153619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막대 = 민트</a:t>
            </a:r>
            <a:endParaRPr sz="690"/>
          </a:p>
        </p:txBody>
      </p:sp>
      <p:sp>
        <p:nvSpPr>
          <p:cNvPr id="120" name="Rectangle 119"/>
          <p:cNvSpPr/>
          <p:nvPr/>
        </p:nvSpPr>
        <p:spPr>
          <a:xfrm>
            <a:off x="2423160" y="186537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G-4</a:t>
            </a:r>
            <a:endParaRPr sz="690"/>
          </a:p>
        </p:txBody>
      </p:sp>
      <p:sp>
        <p:nvSpPr>
          <p:cNvPr id="121" name="Rectangle 120"/>
          <p:cNvSpPr/>
          <p:nvPr/>
        </p:nvSpPr>
        <p:spPr>
          <a:xfrm>
            <a:off x="280720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기체 칸 격자 4단계</a:t>
            </a:r>
            <a:endParaRPr sz="690"/>
          </a:p>
        </p:txBody>
      </p:sp>
      <p:sp>
        <p:nvSpPr>
          <p:cNvPr id="122" name="Rectangle 121"/>
          <p:cNvSpPr/>
          <p:nvPr/>
        </p:nvSpPr>
        <p:spPr>
          <a:xfrm>
            <a:off x="3995928" y="186537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흑백 → 컬러 → 테두리 → 사진</a:t>
            </a:r>
            <a:endParaRPr sz="690"/>
          </a:p>
        </p:txBody>
      </p:sp>
      <p:sp>
        <p:nvSpPr>
          <p:cNvPr id="123" name="Rectangle 122"/>
          <p:cNvSpPr/>
          <p:nvPr/>
        </p:nvSpPr>
        <p:spPr>
          <a:xfrm>
            <a:off x="5184648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모을수록 밝아짐</a:t>
            </a:r>
            <a:endParaRPr sz="690"/>
          </a:p>
        </p:txBody>
      </p:sp>
      <p:sp>
        <p:nvSpPr>
          <p:cNvPr id="124" name="Rectangle 123"/>
          <p:cNvSpPr/>
          <p:nvPr/>
        </p:nvSpPr>
        <p:spPr>
          <a:xfrm>
            <a:off x="6190488" y="186537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P04</a:t>
            </a:r>
            <a:endParaRPr sz="690"/>
          </a:p>
        </p:txBody>
      </p:sp>
      <p:sp>
        <p:nvSpPr>
          <p:cNvPr id="125" name="Rectangle 124"/>
          <p:cNvSpPr/>
          <p:nvPr/>
        </p:nvSpPr>
        <p:spPr>
          <a:xfrm>
            <a:off x="6693408" y="186537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한눈에 진행</a:t>
            </a:r>
            <a:endParaRPr sz="690"/>
          </a:p>
        </p:txBody>
      </p:sp>
      <p:sp>
        <p:nvSpPr>
          <p:cNvPr id="126" name="Rectangle 125"/>
          <p:cNvSpPr/>
          <p:nvPr/>
        </p:nvSpPr>
        <p:spPr>
          <a:xfrm>
            <a:off x="7635240" y="186537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4단계 고정</a:t>
            </a:r>
            <a:endParaRPr sz="690"/>
          </a:p>
        </p:txBody>
      </p:sp>
      <p:sp>
        <p:nvSpPr>
          <p:cNvPr id="127" name="Rectangle 126"/>
          <p:cNvSpPr/>
          <p:nvPr/>
        </p:nvSpPr>
        <p:spPr>
          <a:xfrm>
            <a:off x="2423160" y="219456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G-4a</a:t>
            </a:r>
            <a:endParaRPr sz="690"/>
          </a:p>
        </p:txBody>
      </p:sp>
      <p:sp>
        <p:nvSpPr>
          <p:cNvPr id="128" name="Rectangle 127"/>
          <p:cNvSpPr/>
          <p:nvPr/>
        </p:nvSpPr>
        <p:spPr>
          <a:xfrm>
            <a:off x="280720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Lv 막대</a:t>
            </a:r>
            <a:endParaRPr sz="690"/>
          </a:p>
        </p:txBody>
      </p:sp>
      <p:sp>
        <p:nvSpPr>
          <p:cNvPr id="129" name="Rectangle 128"/>
          <p:cNvSpPr/>
          <p:nvPr/>
        </p:nvSpPr>
        <p:spPr>
          <a:xfrm>
            <a:off x="3995928" y="219456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작품 레벨</a:t>
            </a:r>
            <a:endParaRPr sz="690"/>
          </a:p>
        </p:txBody>
      </p:sp>
      <p:sp>
        <p:nvSpPr>
          <p:cNvPr id="130" name="Rectangle 129"/>
          <p:cNvSpPr/>
          <p:nvPr/>
        </p:nvSpPr>
        <p:spPr>
          <a:xfrm>
            <a:off x="5184648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1 · 2 · 3점, 5점마다</a:t>
            </a:r>
            <a:endParaRPr sz="690"/>
          </a:p>
        </p:txBody>
      </p:sp>
      <p:sp>
        <p:nvSpPr>
          <p:cNvPr id="131" name="Rectangle 130"/>
          <p:cNvSpPr/>
          <p:nvPr/>
        </p:nvSpPr>
        <p:spPr>
          <a:xfrm>
            <a:off x="6190488" y="219456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</a:t>
            </a:r>
            <a:endParaRPr sz="690"/>
          </a:p>
        </p:txBody>
      </p:sp>
      <p:sp>
        <p:nvSpPr>
          <p:cNvPr id="132" name="Rectangle 131"/>
          <p:cNvSpPr/>
          <p:nvPr/>
        </p:nvSpPr>
        <p:spPr>
          <a:xfrm>
            <a:off x="6693408" y="219456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다음 레벨까지 n점</a:t>
            </a:r>
            <a:endParaRPr sz="690"/>
          </a:p>
        </p:txBody>
      </p:sp>
      <p:sp>
        <p:nvSpPr>
          <p:cNvPr id="133" name="Rectangle 132"/>
          <p:cNvSpPr/>
          <p:nvPr/>
        </p:nvSpPr>
        <p:spPr>
          <a:xfrm>
            <a:off x="7635240" y="219456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오르는 느낌</a:t>
            </a:r>
            <a:endParaRPr sz="690"/>
          </a:p>
        </p:txBody>
      </p:sp>
      <p:sp>
        <p:nvSpPr>
          <p:cNvPr id="134" name="Rectangle 133"/>
          <p:cNvSpPr/>
          <p:nvPr/>
        </p:nvSpPr>
        <p:spPr>
          <a:xfrm>
            <a:off x="2423160" y="2523744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G-4b</a:t>
            </a:r>
            <a:endParaRPr sz="690"/>
          </a:p>
        </p:txBody>
      </p:sp>
      <p:sp>
        <p:nvSpPr>
          <p:cNvPr id="135" name="Rectangle 134"/>
          <p:cNvSpPr/>
          <p:nvPr/>
        </p:nvSpPr>
        <p:spPr>
          <a:xfrm>
            <a:off x="280720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칸 위 MarkOverlay</a:t>
            </a:r>
            <a:endParaRPr sz="690"/>
          </a:p>
        </p:txBody>
      </p:sp>
      <p:sp>
        <p:nvSpPr>
          <p:cNvPr id="136" name="Rectangle 135"/>
          <p:cNvSpPr/>
          <p:nvPr/>
        </p:nvSpPr>
        <p:spPr>
          <a:xfrm>
            <a:off x="3995928" y="252374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칸에서 바로 담기</a:t>
            </a:r>
            <a:endParaRPr sz="690"/>
          </a:p>
        </p:txBody>
      </p:sp>
      <p:sp>
        <p:nvSpPr>
          <p:cNvPr id="137" name="Rectangle 136"/>
          <p:cNvSpPr/>
          <p:nvPr/>
        </p:nvSpPr>
        <p:spPr>
          <a:xfrm>
            <a:off x="5184648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상품 사진과 같은 자리</a:t>
            </a:r>
            <a:endParaRPr sz="690"/>
          </a:p>
        </p:txBody>
      </p:sp>
      <p:sp>
        <p:nvSpPr>
          <p:cNvPr id="138" name="Rectangle 137"/>
          <p:cNvSpPr/>
          <p:nvPr/>
        </p:nvSpPr>
        <p:spPr>
          <a:xfrm>
            <a:off x="6190488" y="2523744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 P04</a:t>
            </a:r>
            <a:endParaRPr sz="690"/>
          </a:p>
        </p:txBody>
      </p:sp>
      <p:sp>
        <p:nvSpPr>
          <p:cNvPr id="139" name="Rectangle 138"/>
          <p:cNvSpPr/>
          <p:nvPr/>
        </p:nvSpPr>
        <p:spPr>
          <a:xfrm>
            <a:off x="6693408" y="2523744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시트 없이 바로</a:t>
            </a:r>
            <a:endParaRPr sz="690"/>
          </a:p>
        </p:txBody>
      </p:sp>
      <p:sp>
        <p:nvSpPr>
          <p:cNvPr id="140" name="Rectangle 139"/>
          <p:cNvSpPr/>
          <p:nvPr/>
        </p:nvSpPr>
        <p:spPr>
          <a:xfrm>
            <a:off x="7635240" y="252374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리본 · ♡ 같은 모양</a:t>
            </a:r>
            <a:endParaRPr sz="690"/>
          </a:p>
        </p:txBody>
      </p:sp>
      <p:sp>
        <p:nvSpPr>
          <p:cNvPr id="141" name="Rectangle 140"/>
          <p:cNvSpPr/>
          <p:nvPr/>
        </p:nvSpPr>
        <p:spPr>
          <a:xfrm>
            <a:off x="2423160" y="2852928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G-5</a:t>
            </a:r>
            <a:endParaRPr sz="690"/>
          </a:p>
        </p:txBody>
      </p:sp>
      <p:sp>
        <p:nvSpPr>
          <p:cNvPr id="142" name="Rectangle 141"/>
          <p:cNvSpPr/>
          <p:nvPr/>
        </p:nvSpPr>
        <p:spPr>
          <a:xfrm>
            <a:off x="280720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바텀 시트: 기체 → 상품</a:t>
            </a:r>
            <a:endParaRPr sz="690"/>
          </a:p>
        </p:txBody>
      </p:sp>
      <p:sp>
        <p:nvSpPr>
          <p:cNvPr id="143" name="Rectangle 142"/>
          <p:cNvSpPr/>
          <p:nvPr/>
        </p:nvSpPr>
        <p:spPr>
          <a:xfrm>
            <a:off x="3995928" y="2852928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이 기체의 상품</a:t>
            </a:r>
            <a:endParaRPr sz="690"/>
          </a:p>
        </p:txBody>
      </p:sp>
      <p:sp>
        <p:nvSpPr>
          <p:cNvPr id="144" name="Rectangle 143"/>
          <p:cNvSpPr/>
          <p:nvPr/>
        </p:nvSpPr>
        <p:spPr>
          <a:xfrm>
            <a:off x="5184648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기체 → 상품</a:t>
            </a:r>
            <a:endParaRPr sz="690"/>
          </a:p>
        </p:txBody>
      </p:sp>
      <p:sp>
        <p:nvSpPr>
          <p:cNvPr id="145" name="Rectangle 144"/>
          <p:cNvSpPr/>
          <p:nvPr/>
        </p:nvSpPr>
        <p:spPr>
          <a:xfrm>
            <a:off x="6190488" y="2852928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P07</a:t>
            </a:r>
            <a:endParaRPr sz="690"/>
          </a:p>
        </p:txBody>
      </p:sp>
      <p:sp>
        <p:nvSpPr>
          <p:cNvPr id="146" name="Rectangle 145"/>
          <p:cNvSpPr/>
          <p:nvPr/>
        </p:nvSpPr>
        <p:spPr>
          <a:xfrm>
            <a:off x="6693408" y="2852928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상세로 바로</a:t>
            </a:r>
            <a:endParaRPr sz="690"/>
          </a:p>
        </p:txBody>
      </p:sp>
      <p:sp>
        <p:nvSpPr>
          <p:cNvPr id="147" name="Rectangle 146"/>
          <p:cNvSpPr/>
          <p:nvPr/>
        </p:nvSpPr>
        <p:spPr>
          <a:xfrm>
            <a:off x="7635240" y="2852928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덮기</a:t>
            </a:r>
            <a:endParaRPr sz="690"/>
          </a:p>
        </p:txBody>
      </p:sp>
      <p:sp>
        <p:nvSpPr>
          <p:cNvPr id="148" name="Rectangle 147"/>
          <p:cNvSpPr/>
          <p:nvPr/>
        </p:nvSpPr>
        <p:spPr>
          <a:xfrm>
            <a:off x="2423160" y="3182112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G-5b</a:t>
            </a:r>
            <a:endParaRPr sz="690"/>
          </a:p>
        </p:txBody>
      </p:sp>
      <p:sp>
        <p:nvSpPr>
          <p:cNvPr id="149" name="Rectangle 148"/>
          <p:cNvSpPr/>
          <p:nvPr/>
        </p:nvSpPr>
        <p:spPr>
          <a:xfrm>
            <a:off x="280720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시트 TogglePill 3개</a:t>
            </a:r>
            <a:endParaRPr sz="690"/>
          </a:p>
        </p:txBody>
      </p:sp>
      <p:sp>
        <p:nvSpPr>
          <p:cNvPr id="150" name="Rectangle 149"/>
          <p:cNvSpPr/>
          <p:nvPr/>
        </p:nvSpPr>
        <p:spPr>
          <a:xfrm>
            <a:off x="3995928" y="318211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 · 내 사진</a:t>
            </a:r>
            <a:endParaRPr sz="690"/>
          </a:p>
        </p:txBody>
      </p:sp>
      <p:sp>
        <p:nvSpPr>
          <p:cNvPr id="151" name="Rectangle 150"/>
          <p:cNvSpPr/>
          <p:nvPr/>
        </p:nvSpPr>
        <p:spPr>
          <a:xfrm>
            <a:off x="5184648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세 단계 따로</a:t>
            </a:r>
            <a:endParaRPr sz="690"/>
          </a:p>
        </p:txBody>
      </p:sp>
      <p:sp>
        <p:nvSpPr>
          <p:cNvPr id="152" name="Rectangle 151"/>
          <p:cNvSpPr/>
          <p:nvPr/>
        </p:nvSpPr>
        <p:spPr>
          <a:xfrm>
            <a:off x="6190488" y="3182112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P03 P07</a:t>
            </a:r>
            <a:endParaRPr sz="690"/>
          </a:p>
        </p:txBody>
      </p:sp>
      <p:sp>
        <p:nvSpPr>
          <p:cNvPr id="153" name="Rectangle 152"/>
          <p:cNvSpPr/>
          <p:nvPr/>
        </p:nvSpPr>
        <p:spPr>
          <a:xfrm>
            <a:off x="6693408" y="3182112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따로 켜고 끔</a:t>
            </a:r>
            <a:endParaRPr sz="690"/>
          </a:p>
        </p:txBody>
      </p:sp>
      <p:sp>
        <p:nvSpPr>
          <p:cNvPr id="154" name="Rectangle 153"/>
          <p:cNvSpPr/>
          <p:nvPr/>
        </p:nvSpPr>
        <p:spPr>
          <a:xfrm>
            <a:off x="7635240" y="318211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되돌리기 토스트</a:t>
            </a:r>
            <a:endParaRPr sz="690"/>
          </a:p>
        </p:txBody>
      </p:sp>
      <p:sp>
        <p:nvSpPr>
          <p:cNvPr id="155" name="Rectangle 154"/>
          <p:cNvSpPr/>
          <p:nvPr/>
        </p:nvSpPr>
        <p:spPr>
          <a:xfrm>
            <a:off x="2423160" y="3511296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G-5c</a:t>
            </a:r>
            <a:endParaRPr sz="690"/>
          </a:p>
        </p:txBody>
      </p:sp>
      <p:sp>
        <p:nvSpPr>
          <p:cNvPr id="156" name="Rectangle 155"/>
          <p:cNvSpPr/>
          <p:nvPr/>
        </p:nvSpPr>
        <p:spPr>
          <a:xfrm>
            <a:off x="280720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사진 고르기 → 확인</a:t>
            </a:r>
            <a:endParaRPr sz="690"/>
          </a:p>
        </p:txBody>
      </p:sp>
      <p:sp>
        <p:nvSpPr>
          <p:cNvPr id="157" name="Rectangle 156"/>
          <p:cNvSpPr/>
          <p:nvPr/>
        </p:nvSpPr>
        <p:spPr>
          <a:xfrm>
            <a:off x="3995928" y="3511296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사진 인증</a:t>
            </a:r>
            <a:endParaRPr sz="690"/>
          </a:p>
        </p:txBody>
      </p:sp>
      <p:sp>
        <p:nvSpPr>
          <p:cNvPr id="158" name="Rectangle 157"/>
          <p:cNvSpPr/>
          <p:nvPr/>
        </p:nvSpPr>
        <p:spPr>
          <a:xfrm>
            <a:off x="5184648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그 기체가 찍혀야</a:t>
            </a:r>
            <a:endParaRPr sz="690"/>
          </a:p>
        </p:txBody>
      </p:sp>
      <p:sp>
        <p:nvSpPr>
          <p:cNvPr id="159" name="Rectangle 158"/>
          <p:cNvSpPr/>
          <p:nvPr/>
        </p:nvSpPr>
        <p:spPr>
          <a:xfrm>
            <a:off x="6190488" y="3511296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P05 P09</a:t>
            </a:r>
            <a:endParaRPr sz="690"/>
          </a:p>
        </p:txBody>
      </p:sp>
      <p:sp>
        <p:nvSpPr>
          <p:cNvPr id="160" name="Rectangle 159"/>
          <p:cNvSpPr/>
          <p:nvPr/>
        </p:nvSpPr>
        <p:spPr>
          <a:xfrm>
            <a:off x="6693408" y="3511296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실패하면 안내</a:t>
            </a:r>
            <a:endParaRPr sz="690"/>
          </a:p>
        </p:txBody>
      </p:sp>
      <p:sp>
        <p:nvSpPr>
          <p:cNvPr id="161" name="Rectangle 160"/>
          <p:cNvSpPr/>
          <p:nvPr/>
        </p:nvSpPr>
        <p:spPr>
          <a:xfrm>
            <a:off x="7635240" y="3511296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가짜 판정 (프로토타입)</a:t>
            </a:r>
            <a:endParaRPr sz="690"/>
          </a:p>
        </p:txBody>
      </p:sp>
      <p:sp>
        <p:nvSpPr>
          <p:cNvPr id="162" name="Rectangle 161"/>
          <p:cNvSpPr/>
          <p:nvPr/>
        </p:nvSpPr>
        <p:spPr>
          <a:xfrm>
            <a:off x="2423160" y="3840480"/>
            <a:ext cx="384048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G-8</a:t>
            </a:r>
            <a:endParaRPr sz="690"/>
          </a:p>
        </p:txBody>
      </p:sp>
      <p:sp>
        <p:nvSpPr>
          <p:cNvPr id="163" name="Rectangle 162"/>
          <p:cNvSpPr/>
          <p:nvPr/>
        </p:nvSpPr>
        <p:spPr>
          <a:xfrm>
            <a:off x="280720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Loading / Error / Empty</a:t>
            </a:r>
            <a:endParaRPr sz="690"/>
          </a:p>
        </p:txBody>
      </p:sp>
      <p:sp>
        <p:nvSpPr>
          <p:cNvPr id="164" name="Rectangle 163"/>
          <p:cNvSpPr/>
          <p:nvPr/>
        </p:nvSpPr>
        <p:spPr>
          <a:xfrm>
            <a:off x="3995928" y="3840480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불러오는 중 · 오류</a:t>
            </a:r>
            <a:endParaRPr sz="690"/>
          </a:p>
        </p:txBody>
      </p:sp>
      <p:sp>
        <p:nvSpPr>
          <p:cNvPr id="165" name="Rectangle 164"/>
          <p:cNvSpPr/>
          <p:nvPr/>
        </p:nvSpPr>
        <p:spPr>
          <a:xfrm>
            <a:off x="5184648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상태를 화면에</a:t>
            </a:r>
            <a:endParaRPr sz="690"/>
          </a:p>
        </p:txBody>
      </p:sp>
      <p:sp>
        <p:nvSpPr>
          <p:cNvPr id="166" name="Rectangle 165"/>
          <p:cNvSpPr/>
          <p:nvPr/>
        </p:nvSpPr>
        <p:spPr>
          <a:xfrm>
            <a:off x="6190488" y="3840480"/>
            <a:ext cx="502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P01 P09</a:t>
            </a:r>
            <a:endParaRPr sz="690"/>
          </a:p>
        </p:txBody>
      </p:sp>
      <p:sp>
        <p:nvSpPr>
          <p:cNvPr id="167" name="Rectangle 166"/>
          <p:cNvSpPr/>
          <p:nvPr/>
        </p:nvSpPr>
        <p:spPr>
          <a:xfrm>
            <a:off x="6693408" y="3840480"/>
            <a:ext cx="941832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다시 시도</a:t>
            </a:r>
            <a:endParaRPr sz="690"/>
          </a:p>
        </p:txBody>
      </p:sp>
      <p:sp>
        <p:nvSpPr>
          <p:cNvPr id="168" name="Rectangle 167"/>
          <p:cNvSpPr/>
          <p:nvPr/>
        </p:nvSpPr>
        <p:spPr>
          <a:xfrm>
            <a:off x="7635240" y="3840480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69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3상태</a:t>
            </a:r>
            <a:endParaRPr sz="690"/>
          </a:p>
        </p:txBody>
      </p:sp>
      <p:sp>
        <p:nvSpPr>
          <p:cNvPr id="169" name="TextBox 168"/>
          <p:cNvSpPr txBox="1"/>
          <p:nvPr/>
        </p:nvSpPr>
        <p:spPr>
          <a:xfrm>
            <a:off x="2423160" y="4224528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buNone/>
            </a:pPr>
            <a:r>
              <a:rPr sz="68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나머지 G-1 · G-6 · G-7 → 16화면 147요소 전체: docs/디자인가이드.md 3장 (코드 맨 위 대응표에서 생성) · 코드 주석 // G-2 P0x</a:t>
            </a:r>
            <a:endParaRPr sz="68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1679" y="304800"/>
            <a:ext cx="1394371" cy="200025"/>
          </a:xfrm>
          <a:prstGeom prst="roundRect">
            <a:avLst>
              <a:gd name="adj" fmla="val 63492"/>
            </a:avLst>
          </a:prstGeom>
          <a:solidFill>
            <a:srgbClr val="1620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8629" y="342900"/>
            <a:ext cx="1163279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B5-5 · 기획 상세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7950" y="330101"/>
            <a:ext cx="82906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B5-5 — 기획 상세: 상태관리 포인트 (표시만)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536377"/>
            <a:ext cx="8290661" cy="313581"/>
          </a:xfrm>
          <a:prstGeom prst="rect">
            <a:avLst/>
          </a:prstGeom>
          <a:noFill/>
          <a:ln/>
        </p:spPr>
        <p:txBody>
          <a:bodyPr wrap="none" lIns="0" tIns="0" rIns="1498597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상태관리 포인트: </a:t>
            </a:r>
            <a:r>
              <a:rPr lang="en-US" sz="1900" b="1" dirty="0">
                <a:solidFill>
                  <a:srgbClr val="2F6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바뀌는 데이터와 그것을 보여 줄 위젯</a:t>
            </a:r>
            <a:endParaRPr lang="en-US" sz="1900" dirty="0"/>
          </a:p>
        </p:txBody>
      </p:sp>
      <p:sp>
        <p:nvSpPr>
          <p:cNvPr id="72" name="Text 70"/>
          <p:cNvSpPr/>
          <p:nvPr/>
        </p:nvSpPr>
        <p:spPr>
          <a:xfrm>
            <a:off x="507950" y="4810125"/>
            <a:ext cx="505312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GAI3008-01 중간고사 발표 양식 v1.0.0 · 기준: 중간고사_안내.md · 안내문 4장 5단계 · 5장 감점(상태관리 구현) · 7장 기획 "상태관리 포인트 4"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8453735" y="4810125"/>
            <a:ext cx="18596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3A4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B5-5</a:t>
            </a:r>
            <a:endParaRPr lang="en-US" sz="680" dirty="0"/>
          </a:p>
        </p:txBody>
      </p:sp>
      <p:sp>
        <p:nvSpPr>
          <p:cNvPr id="74" name="Rectangle 73"/>
          <p:cNvSpPr/>
          <p:nvPr/>
        </p:nvSpPr>
        <p:spPr>
          <a:xfrm>
            <a:off x="512064" y="1005840"/>
            <a:ext cx="347472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#</a:t>
            </a:r>
            <a:endParaRPr sz="760"/>
          </a:p>
        </p:txBody>
      </p:sp>
      <p:sp>
        <p:nvSpPr>
          <p:cNvPr id="75" name="Rectangle 74"/>
          <p:cNvSpPr/>
          <p:nvPr/>
        </p:nvSpPr>
        <p:spPr>
          <a:xfrm>
            <a:off x="859536" y="1005840"/>
            <a:ext cx="8686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화면</a:t>
            </a:r>
            <a:endParaRPr sz="760"/>
          </a:p>
        </p:txBody>
      </p:sp>
      <p:sp>
        <p:nvSpPr>
          <p:cNvPr id="76" name="Rectangle 75"/>
          <p:cNvSpPr/>
          <p:nvPr/>
        </p:nvSpPr>
        <p:spPr>
          <a:xfrm>
            <a:off x="1728216" y="1005840"/>
            <a:ext cx="132588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바뀌는 데이터</a:t>
            </a:r>
            <a:endParaRPr sz="760"/>
          </a:p>
        </p:txBody>
      </p:sp>
      <p:sp>
        <p:nvSpPr>
          <p:cNvPr id="77" name="Rectangle 76"/>
          <p:cNvSpPr/>
          <p:nvPr/>
        </p:nvSpPr>
        <p:spPr>
          <a:xfrm>
            <a:off x="3054096" y="1005840"/>
            <a:ext cx="205740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언제 바뀌나 (사용자 행동)</a:t>
            </a:r>
            <a:endParaRPr sz="760"/>
          </a:p>
        </p:txBody>
      </p:sp>
      <p:sp>
        <p:nvSpPr>
          <p:cNvPr id="78" name="Rectangle 77"/>
          <p:cNvSpPr/>
          <p:nvPr/>
        </p:nvSpPr>
        <p:spPr>
          <a:xfrm>
            <a:off x="5111496" y="1005840"/>
            <a:ext cx="1874520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보여질 위젯 (요소 번호)</a:t>
            </a:r>
            <a:endParaRPr sz="760"/>
          </a:p>
        </p:txBody>
      </p:sp>
      <p:sp>
        <p:nvSpPr>
          <p:cNvPr id="79" name="Rectangle 78"/>
          <p:cNvSpPr/>
          <p:nvPr/>
        </p:nvSpPr>
        <p:spPr>
          <a:xfrm>
            <a:off x="6986016" y="1005840"/>
            <a:ext cx="1655064" cy="201168"/>
          </a:xfrm>
          <a:prstGeom prst="rect">
            <a:avLst/>
          </a:prstGeom>
          <a:solidFill>
            <a:srgbClr val="16202E"/>
          </a:solidFill>
          <a:ln w="9525">
            <a:solidFill>
              <a:srgbClr val="16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60" b="1" i="0">
                <a:solidFill>
                  <a:srgbClr val="FFFFFF"/>
                </a:solidFill>
                <a:latin typeface="Arial"/>
                <a:ea typeface="맑은 고딕"/>
                <a:cs typeface="맑은 고딕"/>
              </a:rPr>
              <a:t>코드 표시 위치 // STATE:</a:t>
            </a:r>
            <a:endParaRPr sz="760"/>
          </a:p>
        </p:txBody>
      </p:sp>
      <p:sp>
        <p:nvSpPr>
          <p:cNvPr id="80" name="Rectangle 79"/>
          <p:cNvSpPr/>
          <p:nvPr/>
        </p:nvSpPr>
        <p:spPr>
          <a:xfrm>
            <a:off x="512064" y="1207008"/>
            <a:ext cx="347472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S1</a:t>
            </a:r>
            <a:endParaRPr sz="740"/>
          </a:p>
        </p:txBody>
      </p:sp>
      <p:sp>
        <p:nvSpPr>
          <p:cNvPr id="81" name="Rectangle 80"/>
          <p:cNvSpPr/>
          <p:nvPr/>
        </p:nvSpPr>
        <p:spPr>
          <a:xfrm>
            <a:off x="859536" y="1207008"/>
            <a:ext cx="86868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앱 전체</a:t>
            </a:r>
            <a:endParaRPr sz="740"/>
          </a:p>
        </p:txBody>
      </p:sp>
      <p:sp>
        <p:nvSpPr>
          <p:cNvPr id="82" name="Rectangle 81"/>
          <p:cNvSpPr/>
          <p:nvPr/>
        </p:nvSpPr>
        <p:spPr>
          <a:xfrm>
            <a:off x="1728216" y="1207008"/>
            <a:ext cx="132588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좋아요 · 구매함</a:t>
            </a:r>
            <a:endParaRPr sz="740"/>
          </a:p>
        </p:txBody>
      </p:sp>
      <p:sp>
        <p:nvSpPr>
          <p:cNvPr id="83" name="Rectangle 82"/>
          <p:cNvSpPr/>
          <p:nvPr/>
        </p:nvSpPr>
        <p:spPr>
          <a:xfrm>
            <a:off x="3054096" y="1207008"/>
            <a:ext cx="205740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A-9 · D-6 · G-4b 누름 · F-6 삭제 · F-10 복원</a:t>
            </a:r>
            <a:endParaRPr sz="740"/>
          </a:p>
        </p:txBody>
      </p:sp>
      <p:sp>
        <p:nvSpPr>
          <p:cNvPr id="84" name="Rectangle 83"/>
          <p:cNvSpPr/>
          <p:nvPr/>
        </p:nvSpPr>
        <p:spPr>
          <a:xfrm>
            <a:off x="5111496" y="1207008"/>
            <a:ext cx="187452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모든 ♡ · 리본 · F-2 개수 · I-4 숫자 · L-2</a:t>
            </a:r>
            <a:endParaRPr sz="740"/>
          </a:p>
        </p:txBody>
      </p:sp>
      <p:sp>
        <p:nvSpPr>
          <p:cNvPr id="85" name="Rectangle 84"/>
          <p:cNvSpPr/>
          <p:nvPr/>
        </p:nvSpPr>
        <p:spPr>
          <a:xfrm>
            <a:off x="6986016" y="1207008"/>
            <a:ext cx="1655064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marks.dart:25</a:t>
            </a:r>
            <a:endParaRPr sz="740"/>
          </a:p>
        </p:txBody>
      </p:sp>
      <p:sp>
        <p:nvSpPr>
          <p:cNvPr id="86" name="Rectangle 85"/>
          <p:cNvSpPr/>
          <p:nvPr/>
        </p:nvSpPr>
        <p:spPr>
          <a:xfrm>
            <a:off x="512064" y="1581912"/>
            <a:ext cx="347472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S2</a:t>
            </a:r>
            <a:endParaRPr sz="740"/>
          </a:p>
        </p:txBody>
      </p:sp>
      <p:sp>
        <p:nvSpPr>
          <p:cNvPr id="87" name="Rectangle 86"/>
          <p:cNvSpPr/>
          <p:nvPr/>
        </p:nvSpPr>
        <p:spPr>
          <a:xfrm>
            <a:off x="859536" y="1581912"/>
            <a:ext cx="86868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반반 화면</a:t>
            </a:r>
            <a:endParaRPr sz="740"/>
          </a:p>
        </p:txBody>
      </p:sp>
      <p:sp>
        <p:nvSpPr>
          <p:cNvPr id="88" name="Rectangle 87"/>
          <p:cNvSpPr/>
          <p:nvPr/>
        </p:nvSpPr>
        <p:spPr>
          <a:xfrm>
            <a:off x="1728216" y="1581912"/>
            <a:ext cx="132588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오른쪽 칸에 연 것</a:t>
            </a:r>
            <a:endParaRPr sz="740"/>
          </a:p>
        </p:txBody>
      </p:sp>
      <p:sp>
        <p:nvSpPr>
          <p:cNvPr id="89" name="Rectangle 88"/>
          <p:cNvSpPr/>
          <p:nvPr/>
        </p:nvSpPr>
        <p:spPr>
          <a:xfrm>
            <a:off x="3054096" y="1581912"/>
            <a:ext cx="205740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카드를 눌러 openPage</a:t>
            </a:r>
            <a:endParaRPr sz="740"/>
          </a:p>
        </p:txBody>
      </p:sp>
      <p:sp>
        <p:nvSpPr>
          <p:cNvPr id="90" name="Rectangle 89"/>
          <p:cNvSpPr/>
          <p:nvPr/>
        </p:nvSpPr>
        <p:spPr>
          <a:xfrm>
            <a:off x="5111496" y="1581912"/>
            <a:ext cx="1874520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왼쪽 카드 테두리 · 줄 바탕</a:t>
            </a:r>
            <a:endParaRPr sz="740"/>
          </a:p>
        </p:txBody>
      </p:sp>
      <p:sp>
        <p:nvSpPr>
          <p:cNvPr id="91" name="Rectangle 90"/>
          <p:cNvSpPr/>
          <p:nvPr/>
        </p:nvSpPr>
        <p:spPr>
          <a:xfrm>
            <a:off x="6986016" y="1581912"/>
            <a:ext cx="1655064" cy="374904"/>
          </a:xfrm>
          <a:prstGeom prst="rect">
            <a:avLst/>
          </a:prstGeom>
          <a:solidFill>
            <a:srgbClr val="ECF8F3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detail_pane.dart:30</a:t>
            </a:r>
            <a:endParaRPr sz="740"/>
          </a:p>
        </p:txBody>
      </p:sp>
      <p:sp>
        <p:nvSpPr>
          <p:cNvPr id="92" name="Rectangle 91"/>
          <p:cNvSpPr/>
          <p:nvPr/>
        </p:nvSpPr>
        <p:spPr>
          <a:xfrm>
            <a:off x="512064" y="1956816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S3</a:t>
            </a:r>
            <a:endParaRPr sz="740"/>
          </a:p>
        </p:txBody>
      </p:sp>
      <p:sp>
        <p:nvSpPr>
          <p:cNvPr id="93" name="Rectangle 92"/>
          <p:cNvSpPr/>
          <p:nvPr/>
        </p:nvSpPr>
        <p:spPr>
          <a:xfrm>
            <a:off x="859536" y="1956816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 앱 셸</a:t>
            </a:r>
            <a:endParaRPr sz="740"/>
          </a:p>
        </p:txBody>
      </p:sp>
      <p:sp>
        <p:nvSpPr>
          <p:cNvPr id="94" name="Rectangle 93"/>
          <p:cNvSpPr/>
          <p:nvPr/>
        </p:nvSpPr>
        <p:spPr>
          <a:xfrm>
            <a:off x="1728216" y="1956816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내 채널 목록</a:t>
            </a:r>
            <a:endParaRPr sz="740"/>
          </a:p>
        </p:txBody>
      </p:sp>
      <p:sp>
        <p:nvSpPr>
          <p:cNvPr id="95" name="Rectangle 94"/>
          <p:cNvSpPr/>
          <p:nvPr/>
        </p:nvSpPr>
        <p:spPr>
          <a:xfrm>
            <a:off x="3054096" y="1956816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C-4 · C-5 더하기 · 빼기 · 순서</a:t>
            </a:r>
            <a:endParaRPr sz="740"/>
          </a:p>
        </p:txBody>
      </p:sp>
      <p:sp>
        <p:nvSpPr>
          <p:cNvPr id="96" name="Rectangle 95"/>
          <p:cNvSpPr/>
          <p:nvPr/>
        </p:nvSpPr>
        <p:spPr>
          <a:xfrm>
            <a:off x="5111496" y="1956816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네 탭의 채널 바 · 목록 범위</a:t>
            </a:r>
            <a:endParaRPr sz="740"/>
          </a:p>
        </p:txBody>
      </p:sp>
      <p:sp>
        <p:nvSpPr>
          <p:cNvPr id="97" name="Rectangle 96"/>
          <p:cNvSpPr/>
          <p:nvPr/>
        </p:nvSpPr>
        <p:spPr>
          <a:xfrm>
            <a:off x="6986016" y="1956816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s_app_shell.dart:83</a:t>
            </a:r>
            <a:endParaRPr sz="740"/>
          </a:p>
        </p:txBody>
      </p:sp>
      <p:sp>
        <p:nvSpPr>
          <p:cNvPr id="98" name="Rectangle 97"/>
          <p:cNvSpPr/>
          <p:nvPr/>
        </p:nvSpPr>
        <p:spPr>
          <a:xfrm>
            <a:off x="512064" y="2331720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S4</a:t>
            </a:r>
            <a:endParaRPr sz="740"/>
          </a:p>
        </p:txBody>
      </p:sp>
      <p:sp>
        <p:nvSpPr>
          <p:cNvPr id="99" name="Rectangle 98"/>
          <p:cNvSpPr/>
          <p:nvPr/>
        </p:nvSpPr>
        <p:spPr>
          <a:xfrm>
            <a:off x="859536" y="2331720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 앱 셸</a:t>
            </a:r>
            <a:endParaRPr sz="740"/>
          </a:p>
        </p:txBody>
      </p:sp>
      <p:sp>
        <p:nvSpPr>
          <p:cNvPr id="100" name="Rectangle 99"/>
          <p:cNvSpPr/>
          <p:nvPr/>
        </p:nvSpPr>
        <p:spPr>
          <a:xfrm>
            <a:off x="1728216" y="2331720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탭 바 · 위 줄 보임</a:t>
            </a:r>
            <a:endParaRPr sz="740"/>
          </a:p>
        </p:txBody>
      </p:sp>
      <p:sp>
        <p:nvSpPr>
          <p:cNvPr id="101" name="Rectangle 100"/>
          <p:cNvSpPr/>
          <p:nvPr/>
        </p:nvSpPr>
        <p:spPr>
          <a:xfrm>
            <a:off x="3054096" y="2331720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아래로 / 위로 스크롤</a:t>
            </a:r>
            <a:endParaRPr sz="740"/>
          </a:p>
        </p:txBody>
      </p:sp>
      <p:sp>
        <p:nvSpPr>
          <p:cNvPr id="102" name="Rectangle 101"/>
          <p:cNvSpPr/>
          <p:nvPr/>
        </p:nvSpPr>
        <p:spPr>
          <a:xfrm>
            <a:off x="5111496" y="2331720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S-8 탭 바 · S-13 아바타 줄</a:t>
            </a:r>
            <a:endParaRPr sz="740"/>
          </a:p>
        </p:txBody>
      </p:sp>
      <p:sp>
        <p:nvSpPr>
          <p:cNvPr id="103" name="Rectangle 102"/>
          <p:cNvSpPr/>
          <p:nvPr/>
        </p:nvSpPr>
        <p:spPr>
          <a:xfrm>
            <a:off x="6986016" y="2331720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s_app_shell.dart:236</a:t>
            </a:r>
            <a:endParaRPr sz="740"/>
          </a:p>
        </p:txBody>
      </p:sp>
      <p:sp>
        <p:nvSpPr>
          <p:cNvPr id="104" name="Rectangle 103"/>
          <p:cNvSpPr/>
          <p:nvPr/>
        </p:nvSpPr>
        <p:spPr>
          <a:xfrm>
            <a:off x="512064" y="2706624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S5</a:t>
            </a:r>
            <a:endParaRPr sz="740"/>
          </a:p>
        </p:txBody>
      </p:sp>
      <p:sp>
        <p:nvSpPr>
          <p:cNvPr id="105" name="Rectangle 104"/>
          <p:cNvSpPr/>
          <p:nvPr/>
        </p:nvSpPr>
        <p:spPr>
          <a:xfrm>
            <a:off x="859536" y="2706624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O 전체 목록</a:t>
            </a:r>
            <a:endParaRPr sz="740"/>
          </a:p>
        </p:txBody>
      </p:sp>
      <p:sp>
        <p:nvSpPr>
          <p:cNvPr id="106" name="Rectangle 105"/>
          <p:cNvSpPr/>
          <p:nvPr/>
        </p:nvSpPr>
        <p:spPr>
          <a:xfrm>
            <a:off x="1728216" y="2706624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필터 · 정렬 · 보기</a:t>
            </a:r>
            <a:endParaRPr sz="740"/>
          </a:p>
        </p:txBody>
      </p:sp>
      <p:sp>
        <p:nvSpPr>
          <p:cNvPr id="107" name="Rectangle 106"/>
          <p:cNvSpPr/>
          <p:nvPr/>
        </p:nvSpPr>
        <p:spPr>
          <a:xfrm>
            <a:off x="3054096" y="2706624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O-2 패널 적용 · O-3 정렬 · O-1</a:t>
            </a:r>
            <a:endParaRPr sz="740"/>
          </a:p>
        </p:txBody>
      </p:sp>
      <p:sp>
        <p:nvSpPr>
          <p:cNvPr id="108" name="Rectangle 107"/>
          <p:cNvSpPr/>
          <p:nvPr/>
        </p:nvSpPr>
        <p:spPr>
          <a:xfrm>
            <a:off x="5111496" y="2706624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O-4 격자/목록 · 조건 줄</a:t>
            </a:r>
            <a:endParaRPr sz="740"/>
          </a:p>
        </p:txBody>
      </p:sp>
      <p:sp>
        <p:nvSpPr>
          <p:cNvPr id="109" name="Rectangle 108"/>
          <p:cNvSpPr/>
          <p:nvPr/>
        </p:nvSpPr>
        <p:spPr>
          <a:xfrm>
            <a:off x="6986016" y="2706624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o_see_all_screen.dart:243</a:t>
            </a:r>
            <a:endParaRPr sz="740"/>
          </a:p>
        </p:txBody>
      </p:sp>
      <p:sp>
        <p:nvSpPr>
          <p:cNvPr id="110" name="Rectangle 109"/>
          <p:cNvSpPr/>
          <p:nvPr/>
        </p:nvSpPr>
        <p:spPr>
          <a:xfrm>
            <a:off x="512064" y="3081528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S6</a:t>
            </a:r>
            <a:endParaRPr sz="740"/>
          </a:p>
        </p:txBody>
      </p:sp>
      <p:sp>
        <p:nvSpPr>
          <p:cNvPr id="111" name="Rectangle 110"/>
          <p:cNvSpPr/>
          <p:nvPr/>
        </p:nvSpPr>
        <p:spPr>
          <a:xfrm>
            <a:off x="859536" y="3081528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 도감</a:t>
            </a:r>
            <a:endParaRPr sz="740"/>
          </a:p>
        </p:txBody>
      </p:sp>
      <p:sp>
        <p:nvSpPr>
          <p:cNvPr id="112" name="Rectangle 111"/>
          <p:cNvSpPr/>
          <p:nvPr/>
        </p:nvSpPr>
        <p:spPr>
          <a:xfrm>
            <a:off x="1728216" y="3081528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칸 단계 · 내 사진</a:t>
            </a:r>
            <a:endParaRPr sz="740"/>
          </a:p>
        </p:txBody>
      </p:sp>
      <p:sp>
        <p:nvSpPr>
          <p:cNvPr id="113" name="Rectangle 112"/>
          <p:cNvSpPr/>
          <p:nvPr/>
        </p:nvSpPr>
        <p:spPr>
          <a:xfrm>
            <a:off x="3054096" y="3081528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G-4b · G-5b · G-5c 인증</a:t>
            </a:r>
            <a:endParaRPr sz="740"/>
          </a:p>
        </p:txBody>
      </p:sp>
      <p:sp>
        <p:nvSpPr>
          <p:cNvPr id="114" name="Rectangle 113"/>
          <p:cNvSpPr/>
          <p:nvPr/>
        </p:nvSpPr>
        <p:spPr>
          <a:xfrm>
            <a:off x="5111496" y="3081528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G-4 칸 색 · 테두리 · G-4a Lv</a:t>
            </a:r>
            <a:endParaRPr sz="740"/>
          </a:p>
        </p:txBody>
      </p:sp>
      <p:sp>
        <p:nvSpPr>
          <p:cNvPr id="115" name="Rectangle 114"/>
          <p:cNvSpPr/>
          <p:nvPr/>
        </p:nvSpPr>
        <p:spPr>
          <a:xfrm>
            <a:off x="6986016" y="3081528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g_guide_view.dart:486</a:t>
            </a:r>
            <a:endParaRPr sz="740"/>
          </a:p>
        </p:txBody>
      </p:sp>
      <p:sp>
        <p:nvSpPr>
          <p:cNvPr id="116" name="Rectangle 115"/>
          <p:cNvSpPr/>
          <p:nvPr/>
        </p:nvSpPr>
        <p:spPr>
          <a:xfrm>
            <a:off x="512064" y="3456432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S7</a:t>
            </a:r>
            <a:endParaRPr sz="740"/>
          </a:p>
        </p:txBody>
      </p:sp>
      <p:sp>
        <p:nvSpPr>
          <p:cNvPr id="117" name="Rectangle 116"/>
          <p:cNvSpPr/>
          <p:nvPr/>
        </p:nvSpPr>
        <p:spPr>
          <a:xfrm>
            <a:off x="859536" y="3456432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 알림</a:t>
            </a:r>
            <a:endParaRPr sz="740"/>
          </a:p>
        </p:txBody>
      </p:sp>
      <p:sp>
        <p:nvSpPr>
          <p:cNvPr id="118" name="Rectangle 117"/>
          <p:cNvSpPr/>
          <p:nvPr/>
        </p:nvSpPr>
        <p:spPr>
          <a:xfrm>
            <a:off x="1728216" y="3456432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읽음 · 지움 · 탭</a:t>
            </a:r>
            <a:endParaRPr sz="740"/>
          </a:p>
        </p:txBody>
      </p:sp>
      <p:sp>
        <p:nvSpPr>
          <p:cNvPr id="119" name="Rectangle 118"/>
          <p:cNvSpPr/>
          <p:nvPr/>
        </p:nvSpPr>
        <p:spPr>
          <a:xfrm>
            <a:off x="3054096" y="3456432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N-4 모두 읽음 · 밀어 지우기 · 누름</a:t>
            </a:r>
            <a:endParaRPr sz="740"/>
          </a:p>
        </p:txBody>
      </p:sp>
      <p:sp>
        <p:nvSpPr>
          <p:cNvPr id="120" name="Rectangle 119"/>
          <p:cNvSpPr/>
          <p:nvPr/>
        </p:nvSpPr>
        <p:spPr>
          <a:xfrm>
            <a:off x="5111496" y="3456432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N-3 점 · 굵은 제목 · 탭 개수</a:t>
            </a:r>
            <a:endParaRPr sz="740"/>
          </a:p>
        </p:txBody>
      </p:sp>
      <p:sp>
        <p:nvSpPr>
          <p:cNvPr id="121" name="Rectangle 120"/>
          <p:cNvSpPr/>
          <p:nvPr/>
        </p:nvSpPr>
        <p:spPr>
          <a:xfrm>
            <a:off x="6986016" y="3456432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n_notifications_screen.dart:112</a:t>
            </a:r>
            <a:endParaRPr sz="740"/>
          </a:p>
        </p:txBody>
      </p:sp>
      <p:sp>
        <p:nvSpPr>
          <p:cNvPr id="122" name="Rectangle 121"/>
          <p:cNvSpPr/>
          <p:nvPr/>
        </p:nvSpPr>
        <p:spPr>
          <a:xfrm>
            <a:off x="512064" y="3831336"/>
            <a:ext cx="347472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 marL="0" indent="0">
              <a:buNone/>
            </a:pP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S8</a:t>
            </a:r>
            <a:endParaRPr sz="740"/>
          </a:p>
        </p:txBody>
      </p:sp>
      <p:sp>
        <p:nvSpPr>
          <p:cNvPr id="123" name="Rectangle 122"/>
          <p:cNvSpPr/>
          <p:nvPr/>
        </p:nvSpPr>
        <p:spPr>
          <a:xfrm>
            <a:off x="859536" y="3831336"/>
            <a:ext cx="8686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 내 정보</a:t>
            </a:r>
            <a:endParaRPr sz="740"/>
          </a:p>
        </p:txBody>
      </p:sp>
      <p:sp>
        <p:nvSpPr>
          <p:cNvPr id="124" name="Rectangle 123"/>
          <p:cNvSpPr/>
          <p:nvPr/>
        </p:nvSpPr>
        <p:spPr>
          <a:xfrm>
            <a:off x="1728216" y="3831336"/>
            <a:ext cx="132588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게시물 공개 범위 · 워터마크</a:t>
            </a:r>
            <a:endParaRPr sz="740"/>
          </a:p>
        </p:txBody>
      </p:sp>
      <p:sp>
        <p:nvSpPr>
          <p:cNvPr id="125" name="Rectangle 124"/>
          <p:cNvSpPr/>
          <p:nvPr/>
        </p:nvSpPr>
        <p:spPr>
          <a:xfrm>
            <a:off x="3054096" y="3831336"/>
            <a:ext cx="205740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I-9 · I-10 · I-7</a:t>
            </a:r>
            <a:endParaRPr sz="740"/>
          </a:p>
        </p:txBody>
      </p:sp>
      <p:sp>
        <p:nvSpPr>
          <p:cNvPr id="126" name="Rectangle 125"/>
          <p:cNvSpPr/>
          <p:nvPr/>
        </p:nvSpPr>
        <p:spPr>
          <a:xfrm>
            <a:off x="5111496" y="3831336"/>
            <a:ext cx="1874520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I-6 게시물 칸 · 제목 줄</a:t>
            </a:r>
            <a:endParaRPr sz="740"/>
          </a:p>
        </p:txBody>
      </p:sp>
      <p:sp>
        <p:nvSpPr>
          <p:cNvPr id="127" name="Rectangle 126"/>
          <p:cNvSpPr/>
          <p:nvPr/>
        </p:nvSpPr>
        <p:spPr>
          <a:xfrm>
            <a:off x="6986016" y="3831336"/>
            <a:ext cx="1655064" cy="37490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l" marL="0" indent="0"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i_profile_screen.dart:119</a:t>
            </a:r>
            <a:endParaRPr sz="740"/>
          </a:p>
        </p:txBody>
      </p:sp>
      <p:sp>
        <p:nvSpPr>
          <p:cNvPr id="128" name="TextBox 127"/>
          <p:cNvSpPr txBox="1"/>
          <p:nvPr/>
        </p:nvSpPr>
        <p:spPr>
          <a:xfrm>
            <a:off x="512064" y="4279392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740" b="0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S1 · S2 = 맨 위 StatefulWidget 의 setState + InheritedWidget (여러 화면), 나머지 = 그 화면 setState. </a:t>
            </a:r>
            <a:r>
              <a:rPr sz="740" b="1" i="0">
                <a:solidFill>
                  <a:srgbClr val="16202E"/>
                </a:solidFill>
                <a:latin typeface="Arial"/>
                <a:ea typeface="맑은 고딕"/>
                <a:cs typeface="맑은 고딕"/>
              </a:rPr>
              <a:t>표시는 74곳: grep -rn "STATE:" lib</a:t>
            </a:r>
            <a:endParaRPr sz="740"/>
          </a:p>
          <a:p>
            <a:pPr algn="l" marL="0" indent="0">
              <a:spcAft>
                <a:spcPts val="200"/>
              </a:spcAft>
              <a:buNone/>
            </a:pPr>
            <a:r>
              <a:rPr sz="700" b="0" i="0">
                <a:solidFill>
                  <a:srgbClr val="5A6B80"/>
                </a:solidFill>
                <a:latin typeface="Arial"/>
                <a:ea typeface="맑은 고딕"/>
                <a:cs typeface="맑은 고딕"/>
              </a:rPr>
              <a:t>구현하지 않는 것: Provider · Riverpod · Bloc 등 상태관리 패키지, 영구 저장 (안내문 5장 감점) — 앱을 끄면 db.json 처음 값. 이 표가 13주 상태관리 수업의 구현 목록이 된다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8628</Words>
  <Application>Microsoft Macintosh PowerPoint</Application>
  <PresentationFormat>화면 슬라이드 쇼(16:9)</PresentationFormat>
  <Paragraphs>1003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GAI3008-01 중간고사 발표 양식 (2026-2학기)</dc:title>
  <dc:subject>PptxGenJS Presentation</dc:subject>
  <dc:creator>홍승우 겸임교수</dc:creator>
  <cp:lastModifiedBy>Seungwoo Hong</cp:lastModifiedBy>
  <cp:revision>3</cp:revision>
  <dcterms:created xsi:type="dcterms:W3CDTF">2026-10-15T06:26:30Z</dcterms:created>
  <dcterms:modified xsi:type="dcterms:W3CDTF">2026-10-15T08:36:17Z</dcterms:modified>
</cp:coreProperties>
</file>